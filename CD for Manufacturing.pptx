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Figtree"/>
      <p:regular r:id="rId21"/>
      <p:bold r:id="rId22"/>
      <p:italic r:id="rId23"/>
      <p:boldItalic r:id="rId24"/>
    </p:embeddedFont>
    <p:embeddedFont>
      <p:font typeface="Figtree Medium"/>
      <p:regular r:id="rId25"/>
      <p:bold r:id="rId26"/>
      <p:italic r:id="rId27"/>
      <p:boldItalic r:id="rId28"/>
    </p:embeddedFont>
    <p:embeddedFont>
      <p:font typeface="Golos Text"/>
      <p:regular r:id="rId29"/>
      <p:bold r:id="rId30"/>
    </p:embeddedFont>
    <p:embeddedFont>
      <p:font typeface="Anaheim"/>
      <p:regular r:id="rId31"/>
    </p:embeddedFont>
    <p:embeddedFont>
      <p:font typeface="EB Garamond Medium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EB Garamon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BGaramond-boldItalic.fntdata"/><Relationship Id="rId20" Type="http://schemas.openxmlformats.org/officeDocument/2006/relationships/slide" Target="slides/slide16.xml"/><Relationship Id="rId22" Type="http://schemas.openxmlformats.org/officeDocument/2006/relationships/font" Target="fonts/Figtree-bold.fntdata"/><Relationship Id="rId21" Type="http://schemas.openxmlformats.org/officeDocument/2006/relationships/font" Target="fonts/Figtree-regular.fntdata"/><Relationship Id="rId24" Type="http://schemas.openxmlformats.org/officeDocument/2006/relationships/font" Target="fonts/Figtree-boldItalic.fntdata"/><Relationship Id="rId23" Type="http://schemas.openxmlformats.org/officeDocument/2006/relationships/font" Target="fonts/Figtre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gtreeMedium-bold.fntdata"/><Relationship Id="rId25" Type="http://schemas.openxmlformats.org/officeDocument/2006/relationships/font" Target="fonts/FigtreeMedium-regular.fntdata"/><Relationship Id="rId28" Type="http://schemas.openxmlformats.org/officeDocument/2006/relationships/font" Target="fonts/FigtreeMedium-boldItalic.fntdata"/><Relationship Id="rId27" Type="http://schemas.openxmlformats.org/officeDocument/2006/relationships/font" Target="fonts/Figtree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GolosTex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naheim-regular.fntdata"/><Relationship Id="rId30" Type="http://schemas.openxmlformats.org/officeDocument/2006/relationships/font" Target="fonts/GolosText-bold.fntdata"/><Relationship Id="rId11" Type="http://schemas.openxmlformats.org/officeDocument/2006/relationships/slide" Target="slides/slide7.xml"/><Relationship Id="rId33" Type="http://schemas.openxmlformats.org/officeDocument/2006/relationships/font" Target="fonts/EBGaramondMedium-bold.fntdata"/><Relationship Id="rId10" Type="http://schemas.openxmlformats.org/officeDocument/2006/relationships/slide" Target="slides/slide6.xml"/><Relationship Id="rId32" Type="http://schemas.openxmlformats.org/officeDocument/2006/relationships/font" Target="fonts/EBGaramondMedium-regular.fntdata"/><Relationship Id="rId13" Type="http://schemas.openxmlformats.org/officeDocument/2006/relationships/slide" Target="slides/slide9.xml"/><Relationship Id="rId35" Type="http://schemas.openxmlformats.org/officeDocument/2006/relationships/font" Target="fonts/EBGaramondMedium-boldItalic.fntdata"/><Relationship Id="rId12" Type="http://schemas.openxmlformats.org/officeDocument/2006/relationships/slide" Target="slides/slide8.xml"/><Relationship Id="rId34" Type="http://schemas.openxmlformats.org/officeDocument/2006/relationships/font" Target="fonts/EBGaramondMedium-italic.fntdata"/><Relationship Id="rId15" Type="http://schemas.openxmlformats.org/officeDocument/2006/relationships/slide" Target="slides/slide11.xml"/><Relationship Id="rId37" Type="http://schemas.openxmlformats.org/officeDocument/2006/relationships/font" Target="fonts/EBGaramond-regular.fntdata"/><Relationship Id="rId14" Type="http://schemas.openxmlformats.org/officeDocument/2006/relationships/slide" Target="slides/slide10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3.xml"/><Relationship Id="rId39" Type="http://schemas.openxmlformats.org/officeDocument/2006/relationships/font" Target="fonts/EBGaramond-italic.fntdata"/><Relationship Id="rId16" Type="http://schemas.openxmlformats.org/officeDocument/2006/relationships/slide" Target="slides/slide12.xml"/><Relationship Id="rId38" Type="http://schemas.openxmlformats.org/officeDocument/2006/relationships/font" Target="fonts/EBGaramond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4665fcedb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4665fcedb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4fff49dc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4fff49dc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4665fcedb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4665fcedb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53288bb9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253288bb9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253288bb9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253288bb9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253288bb9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253288bb9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665fcedb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4665fcedb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4665fcedb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4665fcedb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4665fcedb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4665fcedb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4665fcedb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4665fcedb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4665fcedb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4665fcedb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4665fcedb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4665fcedb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24fff49dc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24fff49dc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4665fcedb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4665fcedb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24fff49dc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24fff49dc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24fff49dc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24fff49dc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526375" y="719800"/>
            <a:ext cx="6091200" cy="22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solidFill>
                  <a:srgbClr val="191919"/>
                </a:solidFill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375" y="3343650"/>
            <a:ext cx="6091200" cy="409500"/>
          </a:xfrm>
          <a:prstGeom prst="rect">
            <a:avLst/>
          </a:prstGeom>
          <a:solidFill>
            <a:schemeClr val="dk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4761800"/>
            <a:ext cx="9162000" cy="1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4952599"/>
            <a:ext cx="9162000" cy="19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385700" y="491188"/>
            <a:ext cx="874150" cy="1656438"/>
            <a:chOff x="385700" y="491188"/>
            <a:chExt cx="874150" cy="1656438"/>
          </a:xfrm>
        </p:grpSpPr>
        <p:sp>
          <p:nvSpPr>
            <p:cNvPr id="15" name="Google Shape;15;p2"/>
            <p:cNvSpPr/>
            <p:nvPr/>
          </p:nvSpPr>
          <p:spPr>
            <a:xfrm>
              <a:off x="905850" y="630950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5100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905850" y="1793625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73300" y="1905825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5700" y="148476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5100" y="491188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7979525" y="2508025"/>
            <a:ext cx="898750" cy="1608525"/>
            <a:chOff x="8024600" y="2712150"/>
            <a:chExt cx="898750" cy="1608525"/>
          </a:xfrm>
        </p:grpSpPr>
        <p:sp>
          <p:nvSpPr>
            <p:cNvPr id="22" name="Google Shape;22;p2"/>
            <p:cNvSpPr/>
            <p:nvPr/>
          </p:nvSpPr>
          <p:spPr>
            <a:xfrm>
              <a:off x="8215375" y="3245950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457150" y="3966675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024600" y="4078875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569350" y="2712150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835750" y="3812075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2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>
            <p:ph idx="2" type="pic"/>
          </p:nvPr>
        </p:nvSpPr>
        <p:spPr>
          <a:xfrm>
            <a:off x="0" y="-10650"/>
            <a:ext cx="9153000" cy="26844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3"/>
          <p:cNvSpPr txBox="1"/>
          <p:nvPr>
            <p:ph type="title"/>
          </p:nvPr>
        </p:nvSpPr>
        <p:spPr>
          <a:xfrm>
            <a:off x="2391900" y="2982525"/>
            <a:ext cx="43602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3"/>
          <p:cNvSpPr txBox="1"/>
          <p:nvPr>
            <p:ph hasCustomPrompt="1" idx="3" type="title"/>
          </p:nvPr>
        </p:nvSpPr>
        <p:spPr>
          <a:xfrm>
            <a:off x="4021650" y="832025"/>
            <a:ext cx="1100700" cy="951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1" type="subTitle"/>
          </p:nvPr>
        </p:nvSpPr>
        <p:spPr>
          <a:xfrm>
            <a:off x="2391900" y="3657233"/>
            <a:ext cx="4360200" cy="405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6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2347800"/>
            <a:ext cx="9144000" cy="279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1290763" y="289507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4945638" y="289507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1290763" y="35315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4945638" y="35315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520576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7"/>
          <p:cNvSpPr/>
          <p:nvPr/>
        </p:nvSpPr>
        <p:spPr>
          <a:xfrm>
            <a:off x="0" y="4608500"/>
            <a:ext cx="9162000" cy="3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0" y="4768446"/>
            <a:ext cx="9162000" cy="37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y-content">
  <p:cSld name="TITLE_ONLY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" name="Google Shape;56;p8"/>
          <p:cNvSpPr/>
          <p:nvPr/>
        </p:nvSpPr>
        <p:spPr>
          <a:xfrm>
            <a:off x="0" y="4761800"/>
            <a:ext cx="9162000" cy="1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/>
          <p:nvPr/>
        </p:nvSpPr>
        <p:spPr>
          <a:xfrm>
            <a:off x="0" y="4952599"/>
            <a:ext cx="9162000" cy="19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8"/>
          <p:cNvGrpSpPr/>
          <p:nvPr/>
        </p:nvGrpSpPr>
        <p:grpSpPr>
          <a:xfrm flipH="1" rot="5400000">
            <a:off x="-638425" y="956075"/>
            <a:ext cx="2121775" cy="585288"/>
            <a:chOff x="-754050" y="1114125"/>
            <a:chExt cx="2121775" cy="585288"/>
          </a:xfrm>
        </p:grpSpPr>
        <p:sp>
          <p:nvSpPr>
            <p:cNvPr id="59" name="Google Shape;59;p8"/>
            <p:cNvSpPr/>
            <p:nvPr/>
          </p:nvSpPr>
          <p:spPr>
            <a:xfrm>
              <a:off x="1013725" y="1114125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75275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37325" y="13472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-366275" y="128240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-754050" y="161181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flipH="1" rot="10800000">
              <a:off x="374682" y="1611831"/>
              <a:ext cx="83700" cy="84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8"/>
          <p:cNvGrpSpPr/>
          <p:nvPr/>
        </p:nvGrpSpPr>
        <p:grpSpPr>
          <a:xfrm rot="-5400000">
            <a:off x="7659962" y="3711763"/>
            <a:ext cx="2063744" cy="410081"/>
            <a:chOff x="-696019" y="1114125"/>
            <a:chExt cx="2063744" cy="410081"/>
          </a:xfrm>
        </p:grpSpPr>
        <p:sp>
          <p:nvSpPr>
            <p:cNvPr id="66" name="Google Shape;66;p8"/>
            <p:cNvSpPr/>
            <p:nvPr/>
          </p:nvSpPr>
          <p:spPr>
            <a:xfrm>
              <a:off x="1013725" y="1114125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8"/>
            <p:cNvSpPr/>
            <p:nvPr/>
          </p:nvSpPr>
          <p:spPr>
            <a:xfrm>
              <a:off x="575275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37325" y="13472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8"/>
            <p:cNvSpPr/>
            <p:nvPr/>
          </p:nvSpPr>
          <p:spPr>
            <a:xfrm>
              <a:off x="-366275" y="128240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8"/>
            <p:cNvSpPr/>
            <p:nvPr/>
          </p:nvSpPr>
          <p:spPr>
            <a:xfrm>
              <a:off x="-696019" y="1152481"/>
              <a:ext cx="84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8"/>
            <p:cNvSpPr/>
            <p:nvPr/>
          </p:nvSpPr>
          <p:spPr>
            <a:xfrm flipH="1" rot="10800000">
              <a:off x="360181" y="1439606"/>
              <a:ext cx="89400" cy="84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y-content 3">
  <p:cSld name="TITLE_ONLY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9"/>
          <p:cNvSpPr/>
          <p:nvPr/>
        </p:nvSpPr>
        <p:spPr>
          <a:xfrm>
            <a:off x="0" y="4761800"/>
            <a:ext cx="9162000" cy="1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/>
          <p:nvPr/>
        </p:nvSpPr>
        <p:spPr>
          <a:xfrm>
            <a:off x="0" y="4952599"/>
            <a:ext cx="9162000" cy="19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 rot="-5400000">
            <a:off x="8138212" y="4190013"/>
            <a:ext cx="1145600" cy="371725"/>
            <a:chOff x="-696019" y="1152481"/>
            <a:chExt cx="1145600" cy="371725"/>
          </a:xfrm>
        </p:grpSpPr>
        <p:sp>
          <p:nvSpPr>
            <p:cNvPr id="79" name="Google Shape;79;p9"/>
            <p:cNvSpPr/>
            <p:nvPr/>
          </p:nvSpPr>
          <p:spPr>
            <a:xfrm>
              <a:off x="37325" y="13472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-366275" y="128240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-696019" y="1152481"/>
              <a:ext cx="84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9"/>
            <p:cNvSpPr/>
            <p:nvPr/>
          </p:nvSpPr>
          <p:spPr>
            <a:xfrm flipH="1" rot="10800000">
              <a:off x="360181" y="1439606"/>
              <a:ext cx="89400" cy="84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grpSp>
        <p:nvGrpSpPr>
          <p:cNvPr id="84" name="Google Shape;84;p9"/>
          <p:cNvGrpSpPr/>
          <p:nvPr/>
        </p:nvGrpSpPr>
        <p:grpSpPr>
          <a:xfrm flipH="1" rot="5400000">
            <a:off x="-72569" y="393200"/>
            <a:ext cx="993043" cy="582306"/>
            <a:chOff x="374682" y="1114125"/>
            <a:chExt cx="993043" cy="582306"/>
          </a:xfrm>
        </p:grpSpPr>
        <p:sp>
          <p:nvSpPr>
            <p:cNvPr id="85" name="Google Shape;85;p9"/>
            <p:cNvSpPr/>
            <p:nvPr/>
          </p:nvSpPr>
          <p:spPr>
            <a:xfrm>
              <a:off x="1013725" y="1114125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575275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 flipH="1" rot="10800000">
              <a:off x="374682" y="1611831"/>
              <a:ext cx="83700" cy="84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y-content 2">
  <p:cSld name="TITLE_ONLY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1" name="Google Shape;91;p10"/>
          <p:cNvSpPr/>
          <p:nvPr/>
        </p:nvSpPr>
        <p:spPr>
          <a:xfrm>
            <a:off x="0" y="4761800"/>
            <a:ext cx="9162000" cy="1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0" y="4952599"/>
            <a:ext cx="9162000" cy="1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10"/>
          <p:cNvGrpSpPr/>
          <p:nvPr/>
        </p:nvGrpSpPr>
        <p:grpSpPr>
          <a:xfrm flipH="1" rot="5400000">
            <a:off x="-638425" y="956075"/>
            <a:ext cx="2121775" cy="585288"/>
            <a:chOff x="-754050" y="1114125"/>
            <a:chExt cx="2121775" cy="585288"/>
          </a:xfrm>
        </p:grpSpPr>
        <p:sp>
          <p:nvSpPr>
            <p:cNvPr id="94" name="Google Shape;94;p10"/>
            <p:cNvSpPr/>
            <p:nvPr/>
          </p:nvSpPr>
          <p:spPr>
            <a:xfrm>
              <a:off x="1013725" y="1114125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95" name="Google Shape;95;p10"/>
            <p:cNvSpPr/>
            <p:nvPr/>
          </p:nvSpPr>
          <p:spPr>
            <a:xfrm>
              <a:off x="575275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0"/>
            <p:cNvSpPr/>
            <p:nvPr/>
          </p:nvSpPr>
          <p:spPr>
            <a:xfrm>
              <a:off x="37325" y="13472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-366275" y="128240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-754050" y="161181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0"/>
            <p:cNvSpPr/>
            <p:nvPr/>
          </p:nvSpPr>
          <p:spPr>
            <a:xfrm flipH="1" rot="10800000">
              <a:off x="374682" y="1611831"/>
              <a:ext cx="83700" cy="84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10"/>
          <p:cNvGrpSpPr/>
          <p:nvPr/>
        </p:nvGrpSpPr>
        <p:grpSpPr>
          <a:xfrm rot="-5400000">
            <a:off x="7659962" y="3711763"/>
            <a:ext cx="2063744" cy="410081"/>
            <a:chOff x="-696019" y="1114125"/>
            <a:chExt cx="2063744" cy="410081"/>
          </a:xfrm>
        </p:grpSpPr>
        <p:sp>
          <p:nvSpPr>
            <p:cNvPr id="101" name="Google Shape;101;p10"/>
            <p:cNvSpPr/>
            <p:nvPr/>
          </p:nvSpPr>
          <p:spPr>
            <a:xfrm>
              <a:off x="1013725" y="1114125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575275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37325" y="13472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366275" y="128240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696019" y="1152481"/>
              <a:ext cx="84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 flipH="1" rot="10800000">
              <a:off x="360181" y="1439606"/>
              <a:ext cx="89400" cy="84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459325" y="1216450"/>
            <a:ext cx="8129700" cy="1660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11"/>
          <p:cNvSpPr/>
          <p:nvPr>
            <p:ph idx="2" type="pic"/>
          </p:nvPr>
        </p:nvSpPr>
        <p:spPr>
          <a:xfrm>
            <a:off x="459325" y="3075375"/>
            <a:ext cx="8129700" cy="18600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-10125" y="-1900"/>
            <a:ext cx="9221700" cy="35754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1973250" y="3020475"/>
            <a:ext cx="5197500" cy="158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7" name="Google Shape;117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/>
          <p:nvPr>
            <p:ph idx="2" type="pic"/>
          </p:nvPr>
        </p:nvSpPr>
        <p:spPr>
          <a:xfrm>
            <a:off x="10450" y="-12175"/>
            <a:ext cx="9144000" cy="5155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3"/>
          <p:cNvSpPr txBox="1"/>
          <p:nvPr>
            <p:ph type="title"/>
          </p:nvPr>
        </p:nvSpPr>
        <p:spPr>
          <a:xfrm>
            <a:off x="1022725" y="1426950"/>
            <a:ext cx="39744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1022725" y="2268750"/>
            <a:ext cx="3974400" cy="16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>
            <p:ph idx="2" type="pic"/>
          </p:nvPr>
        </p:nvSpPr>
        <p:spPr>
          <a:xfrm>
            <a:off x="10125" y="-19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/>
          <p:nvPr>
            <p:ph type="title"/>
          </p:nvPr>
        </p:nvSpPr>
        <p:spPr>
          <a:xfrm>
            <a:off x="421350" y="4035800"/>
            <a:ext cx="80076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>
            <p:ph idx="2" type="pic"/>
          </p:nvPr>
        </p:nvSpPr>
        <p:spPr>
          <a:xfrm>
            <a:off x="-20425" y="-1900"/>
            <a:ext cx="9164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hasCustomPrompt="1" type="title"/>
          </p:nvPr>
        </p:nvSpPr>
        <p:spPr>
          <a:xfrm>
            <a:off x="4917725" y="1414700"/>
            <a:ext cx="3255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5"/>
          <p:cNvSpPr txBox="1"/>
          <p:nvPr>
            <p:ph idx="1" type="subTitle"/>
          </p:nvPr>
        </p:nvSpPr>
        <p:spPr>
          <a:xfrm>
            <a:off x="4917750" y="2925800"/>
            <a:ext cx="3255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1" name="Google Shape;13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724075" y="445072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hasCustomPrompt="1" idx="2" type="title"/>
          </p:nvPr>
        </p:nvSpPr>
        <p:spPr>
          <a:xfrm>
            <a:off x="1016348" y="1594379"/>
            <a:ext cx="782100" cy="786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7"/>
          <p:cNvSpPr txBox="1"/>
          <p:nvPr>
            <p:ph idx="1" type="subTitle"/>
          </p:nvPr>
        </p:nvSpPr>
        <p:spPr>
          <a:xfrm>
            <a:off x="1798325" y="1896206"/>
            <a:ext cx="271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hasCustomPrompt="1" idx="3" type="title"/>
          </p:nvPr>
        </p:nvSpPr>
        <p:spPr>
          <a:xfrm>
            <a:off x="1016350" y="3100513"/>
            <a:ext cx="782100" cy="786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7"/>
          <p:cNvSpPr txBox="1"/>
          <p:nvPr>
            <p:ph idx="4" type="subTitle"/>
          </p:nvPr>
        </p:nvSpPr>
        <p:spPr>
          <a:xfrm>
            <a:off x="5709900" y="1884606"/>
            <a:ext cx="271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hasCustomPrompt="1" idx="5" type="title"/>
          </p:nvPr>
        </p:nvSpPr>
        <p:spPr>
          <a:xfrm>
            <a:off x="4898450" y="1605975"/>
            <a:ext cx="782100" cy="786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7"/>
          <p:cNvSpPr txBox="1"/>
          <p:nvPr>
            <p:ph idx="6" type="subTitle"/>
          </p:nvPr>
        </p:nvSpPr>
        <p:spPr>
          <a:xfrm>
            <a:off x="1798325" y="3398162"/>
            <a:ext cx="271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hasCustomPrompt="1" idx="7" type="title"/>
          </p:nvPr>
        </p:nvSpPr>
        <p:spPr>
          <a:xfrm>
            <a:off x="4898450" y="3100513"/>
            <a:ext cx="782100" cy="786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3" name="Google Shape;143;p17"/>
          <p:cNvSpPr txBox="1"/>
          <p:nvPr>
            <p:ph idx="8" type="subTitle"/>
          </p:nvPr>
        </p:nvSpPr>
        <p:spPr>
          <a:xfrm>
            <a:off x="5709900" y="3386562"/>
            <a:ext cx="2714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9" type="subTitle"/>
          </p:nvPr>
        </p:nvSpPr>
        <p:spPr>
          <a:xfrm>
            <a:off x="1798325" y="1605975"/>
            <a:ext cx="27141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7"/>
          <p:cNvSpPr txBox="1"/>
          <p:nvPr>
            <p:ph idx="13" type="subTitle"/>
          </p:nvPr>
        </p:nvSpPr>
        <p:spPr>
          <a:xfrm>
            <a:off x="5709900" y="1594375"/>
            <a:ext cx="27141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17"/>
          <p:cNvSpPr txBox="1"/>
          <p:nvPr>
            <p:ph idx="14" type="subTitle"/>
          </p:nvPr>
        </p:nvSpPr>
        <p:spPr>
          <a:xfrm>
            <a:off x="1798325" y="3107690"/>
            <a:ext cx="27141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7" name="Google Shape;147;p17"/>
          <p:cNvSpPr txBox="1"/>
          <p:nvPr>
            <p:ph idx="15" type="subTitle"/>
          </p:nvPr>
        </p:nvSpPr>
        <p:spPr>
          <a:xfrm>
            <a:off x="5709900" y="3096090"/>
            <a:ext cx="27141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8" name="Google Shape;148;p17"/>
          <p:cNvSpPr/>
          <p:nvPr/>
        </p:nvSpPr>
        <p:spPr>
          <a:xfrm>
            <a:off x="0" y="4608500"/>
            <a:ext cx="9162000" cy="3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0" y="4768446"/>
            <a:ext cx="9162000" cy="37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>
            <p:ph idx="2" type="pic"/>
          </p:nvPr>
        </p:nvSpPr>
        <p:spPr>
          <a:xfrm>
            <a:off x="-10125" y="2974675"/>
            <a:ext cx="9199200" cy="22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8"/>
          <p:cNvSpPr txBox="1"/>
          <p:nvPr>
            <p:ph type="title"/>
          </p:nvPr>
        </p:nvSpPr>
        <p:spPr>
          <a:xfrm>
            <a:off x="715050" y="797150"/>
            <a:ext cx="7713900" cy="99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0"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idx="3" type="title"/>
          </p:nvPr>
        </p:nvSpPr>
        <p:spPr>
          <a:xfrm>
            <a:off x="715000" y="2285400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000">
                <a:latin typeface="Figtree Medium"/>
                <a:ea typeface="Figtree Medium"/>
                <a:cs typeface="Figtree Medium"/>
                <a:sym typeface="Figtree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>
            <p:ph idx="2" type="pic"/>
          </p:nvPr>
        </p:nvSpPr>
        <p:spPr>
          <a:xfrm flipH="1">
            <a:off x="3" y="-900"/>
            <a:ext cx="9144000" cy="51453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9"/>
          <p:cNvSpPr txBox="1"/>
          <p:nvPr>
            <p:ph idx="1" type="subTitle"/>
          </p:nvPr>
        </p:nvSpPr>
        <p:spPr>
          <a:xfrm>
            <a:off x="709200" y="2182232"/>
            <a:ext cx="40254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type="title"/>
          </p:nvPr>
        </p:nvSpPr>
        <p:spPr>
          <a:xfrm>
            <a:off x="709200" y="1557868"/>
            <a:ext cx="4025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idx="1" type="subTitle"/>
          </p:nvPr>
        </p:nvSpPr>
        <p:spPr>
          <a:xfrm>
            <a:off x="715100" y="2862421"/>
            <a:ext cx="35643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715100" y="1505075"/>
            <a:ext cx="3564300" cy="13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>
            <p:ph idx="2" type="pic"/>
          </p:nvPr>
        </p:nvSpPr>
        <p:spPr>
          <a:xfrm>
            <a:off x="-1" y="0"/>
            <a:ext cx="9144000" cy="3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8" name="Google Shape;168;p21"/>
          <p:cNvSpPr txBox="1"/>
          <p:nvPr>
            <p:ph idx="1" type="subTitle"/>
          </p:nvPr>
        </p:nvSpPr>
        <p:spPr>
          <a:xfrm>
            <a:off x="698925" y="2784100"/>
            <a:ext cx="2389500" cy="513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9" name="Google Shape;169;p21"/>
          <p:cNvSpPr txBox="1"/>
          <p:nvPr>
            <p:ph idx="3" type="subTitle"/>
          </p:nvPr>
        </p:nvSpPr>
        <p:spPr>
          <a:xfrm>
            <a:off x="698925" y="3297100"/>
            <a:ext cx="2389500" cy="117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4" type="subTitle"/>
          </p:nvPr>
        </p:nvSpPr>
        <p:spPr>
          <a:xfrm>
            <a:off x="3394864" y="3325150"/>
            <a:ext cx="2389500" cy="11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5" type="subTitle"/>
          </p:nvPr>
        </p:nvSpPr>
        <p:spPr>
          <a:xfrm>
            <a:off x="6040003" y="3320000"/>
            <a:ext cx="2389500" cy="11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6" type="subTitle"/>
          </p:nvPr>
        </p:nvSpPr>
        <p:spPr>
          <a:xfrm>
            <a:off x="3394864" y="2812150"/>
            <a:ext cx="2389500" cy="513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7" type="subTitle"/>
          </p:nvPr>
        </p:nvSpPr>
        <p:spPr>
          <a:xfrm>
            <a:off x="6040003" y="2807000"/>
            <a:ext cx="2389500" cy="513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1" type="subTitle"/>
          </p:nvPr>
        </p:nvSpPr>
        <p:spPr>
          <a:xfrm>
            <a:off x="721410" y="2614863"/>
            <a:ext cx="24129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2" type="subTitle"/>
          </p:nvPr>
        </p:nvSpPr>
        <p:spPr>
          <a:xfrm>
            <a:off x="3381908" y="2614864"/>
            <a:ext cx="24129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3" type="subTitle"/>
          </p:nvPr>
        </p:nvSpPr>
        <p:spPr>
          <a:xfrm>
            <a:off x="6009691" y="2614864"/>
            <a:ext cx="2412900" cy="46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Bebas Neue"/>
              <a:buNone/>
              <a:defRPr sz="2400">
                <a:solidFill>
                  <a:srgbClr val="FF0000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4" type="subTitle"/>
          </p:nvPr>
        </p:nvSpPr>
        <p:spPr>
          <a:xfrm>
            <a:off x="719963" y="1535925"/>
            <a:ext cx="24129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5" type="subTitle"/>
          </p:nvPr>
        </p:nvSpPr>
        <p:spPr>
          <a:xfrm>
            <a:off x="3380458" y="1535936"/>
            <a:ext cx="24129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6" type="subTitle"/>
          </p:nvPr>
        </p:nvSpPr>
        <p:spPr>
          <a:xfrm>
            <a:off x="6008239" y="1535948"/>
            <a:ext cx="24129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2"/>
          <p:cNvSpPr/>
          <p:nvPr>
            <p:ph idx="7" type="pic"/>
          </p:nvPr>
        </p:nvSpPr>
        <p:spPr>
          <a:xfrm>
            <a:off x="-15300" y="3385800"/>
            <a:ext cx="9174600" cy="17577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" name="Google Shape;187;p23"/>
          <p:cNvSpPr txBox="1"/>
          <p:nvPr>
            <p:ph idx="1" type="subTitle"/>
          </p:nvPr>
        </p:nvSpPr>
        <p:spPr>
          <a:xfrm>
            <a:off x="838961" y="1585277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subTitle"/>
          </p:nvPr>
        </p:nvSpPr>
        <p:spPr>
          <a:xfrm>
            <a:off x="839025" y="1953578"/>
            <a:ext cx="228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3"/>
          <p:cNvSpPr txBox="1"/>
          <p:nvPr>
            <p:ph idx="3" type="subTitle"/>
          </p:nvPr>
        </p:nvSpPr>
        <p:spPr>
          <a:xfrm>
            <a:off x="6024298" y="1953578"/>
            <a:ext cx="228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4" type="subTitle"/>
          </p:nvPr>
        </p:nvSpPr>
        <p:spPr>
          <a:xfrm>
            <a:off x="839063" y="3456253"/>
            <a:ext cx="228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3"/>
          <p:cNvSpPr txBox="1"/>
          <p:nvPr>
            <p:ph idx="5" type="subTitle"/>
          </p:nvPr>
        </p:nvSpPr>
        <p:spPr>
          <a:xfrm>
            <a:off x="6024335" y="3456253"/>
            <a:ext cx="22806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6" type="subTitle"/>
          </p:nvPr>
        </p:nvSpPr>
        <p:spPr>
          <a:xfrm>
            <a:off x="839059" y="3087952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7" type="subTitle"/>
          </p:nvPr>
        </p:nvSpPr>
        <p:spPr>
          <a:xfrm>
            <a:off x="6024287" y="1585277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4" name="Google Shape;194;p23"/>
          <p:cNvSpPr txBox="1"/>
          <p:nvPr>
            <p:ph idx="8" type="subTitle"/>
          </p:nvPr>
        </p:nvSpPr>
        <p:spPr>
          <a:xfrm>
            <a:off x="6024324" y="3087952"/>
            <a:ext cx="22806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5" name="Google Shape;195;p23"/>
          <p:cNvSpPr/>
          <p:nvPr/>
        </p:nvSpPr>
        <p:spPr>
          <a:xfrm>
            <a:off x="0" y="4608500"/>
            <a:ext cx="9162000" cy="3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0" y="4768446"/>
            <a:ext cx="9162000" cy="37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8475" y="11800"/>
            <a:ext cx="9144000" cy="3263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715100" y="2369125"/>
            <a:ext cx="3528300" cy="90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715100" y="445025"/>
            <a:ext cx="482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7" name="Google Shape;207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idx="1" type="subTitle"/>
          </p:nvPr>
        </p:nvSpPr>
        <p:spPr>
          <a:xfrm>
            <a:off x="801875" y="1971543"/>
            <a:ext cx="2112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7"/>
          <p:cNvSpPr txBox="1"/>
          <p:nvPr>
            <p:ph idx="2" type="subTitle"/>
          </p:nvPr>
        </p:nvSpPr>
        <p:spPr>
          <a:xfrm>
            <a:off x="3517343" y="1971543"/>
            <a:ext cx="2112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7"/>
          <p:cNvSpPr txBox="1"/>
          <p:nvPr>
            <p:ph idx="3" type="subTitle"/>
          </p:nvPr>
        </p:nvSpPr>
        <p:spPr>
          <a:xfrm>
            <a:off x="6234560" y="1971543"/>
            <a:ext cx="2107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7"/>
          <p:cNvSpPr txBox="1"/>
          <p:nvPr>
            <p:ph idx="4" type="subTitle"/>
          </p:nvPr>
        </p:nvSpPr>
        <p:spPr>
          <a:xfrm>
            <a:off x="801875" y="3502091"/>
            <a:ext cx="2112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5" type="subTitle"/>
          </p:nvPr>
        </p:nvSpPr>
        <p:spPr>
          <a:xfrm>
            <a:off x="3516668" y="3502091"/>
            <a:ext cx="2112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7"/>
          <p:cNvSpPr txBox="1"/>
          <p:nvPr>
            <p:ph idx="6" type="subTitle"/>
          </p:nvPr>
        </p:nvSpPr>
        <p:spPr>
          <a:xfrm>
            <a:off x="6234560" y="3502091"/>
            <a:ext cx="21075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7" type="subTitle"/>
          </p:nvPr>
        </p:nvSpPr>
        <p:spPr>
          <a:xfrm>
            <a:off x="801875" y="1591700"/>
            <a:ext cx="2112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8" type="subTitle"/>
          </p:nvPr>
        </p:nvSpPr>
        <p:spPr>
          <a:xfrm>
            <a:off x="3515993" y="1591700"/>
            <a:ext cx="211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9" type="subTitle"/>
          </p:nvPr>
        </p:nvSpPr>
        <p:spPr>
          <a:xfrm>
            <a:off x="6232160" y="1591700"/>
            <a:ext cx="211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8" name="Google Shape;218;p27"/>
          <p:cNvSpPr txBox="1"/>
          <p:nvPr>
            <p:ph idx="13" type="subTitle"/>
          </p:nvPr>
        </p:nvSpPr>
        <p:spPr>
          <a:xfrm>
            <a:off x="801875" y="3122250"/>
            <a:ext cx="21120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14" type="subTitle"/>
          </p:nvPr>
        </p:nvSpPr>
        <p:spPr>
          <a:xfrm>
            <a:off x="3515318" y="3122239"/>
            <a:ext cx="211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15" type="subTitle"/>
          </p:nvPr>
        </p:nvSpPr>
        <p:spPr>
          <a:xfrm>
            <a:off x="6232160" y="3122239"/>
            <a:ext cx="2112300" cy="46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" name="Google Shape;222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/>
          <p:nvPr>
            <p:ph idx="2" type="pic"/>
          </p:nvPr>
        </p:nvSpPr>
        <p:spPr>
          <a:xfrm>
            <a:off x="10125" y="3073925"/>
            <a:ext cx="9144000" cy="2069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8"/>
          <p:cNvSpPr txBox="1"/>
          <p:nvPr>
            <p:ph hasCustomPrompt="1" idx="3" type="title"/>
          </p:nvPr>
        </p:nvSpPr>
        <p:spPr>
          <a:xfrm>
            <a:off x="1715669" y="1621425"/>
            <a:ext cx="2298600" cy="69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27" name="Google Shape;227;p28"/>
          <p:cNvSpPr txBox="1"/>
          <p:nvPr>
            <p:ph idx="1" type="subTitle"/>
          </p:nvPr>
        </p:nvSpPr>
        <p:spPr>
          <a:xfrm flipH="1">
            <a:off x="1715361" y="2432428"/>
            <a:ext cx="2298600" cy="12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hasCustomPrompt="1" idx="4" type="title"/>
          </p:nvPr>
        </p:nvSpPr>
        <p:spPr>
          <a:xfrm>
            <a:off x="4962565" y="1621425"/>
            <a:ext cx="2298600" cy="699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t>xx%</a:t>
            </a:r>
          </a:p>
        </p:txBody>
      </p:sp>
      <p:sp>
        <p:nvSpPr>
          <p:cNvPr id="229" name="Google Shape;229;p28"/>
          <p:cNvSpPr txBox="1"/>
          <p:nvPr>
            <p:ph idx="5" type="subTitle"/>
          </p:nvPr>
        </p:nvSpPr>
        <p:spPr>
          <a:xfrm flipH="1">
            <a:off x="4962257" y="2472875"/>
            <a:ext cx="2298600" cy="12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" type="subTitle"/>
          </p:nvPr>
        </p:nvSpPr>
        <p:spPr>
          <a:xfrm>
            <a:off x="2347900" y="17738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0"/>
          <p:cNvGrpSpPr/>
          <p:nvPr/>
        </p:nvGrpSpPr>
        <p:grpSpPr>
          <a:xfrm flipH="1" rot="5400000">
            <a:off x="584525" y="-96837"/>
            <a:ext cx="874150" cy="1656438"/>
            <a:chOff x="385700" y="491188"/>
            <a:chExt cx="874150" cy="1656438"/>
          </a:xfrm>
        </p:grpSpPr>
        <p:sp>
          <p:nvSpPr>
            <p:cNvPr id="237" name="Google Shape;237;p30"/>
            <p:cNvSpPr/>
            <p:nvPr/>
          </p:nvSpPr>
          <p:spPr>
            <a:xfrm>
              <a:off x="905850" y="630950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715100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905850" y="1793625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473300" y="1905825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385700" y="148476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715100" y="491188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30"/>
          <p:cNvGrpSpPr/>
          <p:nvPr/>
        </p:nvGrpSpPr>
        <p:grpSpPr>
          <a:xfrm rot="-5400000">
            <a:off x="7528550" y="-32912"/>
            <a:ext cx="874150" cy="1656438"/>
            <a:chOff x="385700" y="491188"/>
            <a:chExt cx="874150" cy="1656438"/>
          </a:xfrm>
        </p:grpSpPr>
        <p:sp>
          <p:nvSpPr>
            <p:cNvPr id="244" name="Google Shape;244;p30"/>
            <p:cNvSpPr/>
            <p:nvPr/>
          </p:nvSpPr>
          <p:spPr>
            <a:xfrm>
              <a:off x="905850" y="630950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715100" y="120952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905850" y="1793625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473300" y="1905825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385700" y="148476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715100" y="491188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30"/>
          <p:cNvSpPr/>
          <p:nvPr/>
        </p:nvSpPr>
        <p:spPr>
          <a:xfrm>
            <a:off x="0" y="4608500"/>
            <a:ext cx="9162000" cy="3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0" y="4768446"/>
            <a:ext cx="9162000" cy="37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/>
          <p:nvPr/>
        </p:nvSpPr>
        <p:spPr>
          <a:xfrm>
            <a:off x="0" y="2633325"/>
            <a:ext cx="9144000" cy="250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31"/>
          <p:cNvGrpSpPr/>
          <p:nvPr/>
        </p:nvGrpSpPr>
        <p:grpSpPr>
          <a:xfrm>
            <a:off x="255688" y="2920838"/>
            <a:ext cx="1246725" cy="1529563"/>
            <a:chOff x="385700" y="491188"/>
            <a:chExt cx="1246725" cy="1529563"/>
          </a:xfrm>
        </p:grpSpPr>
        <p:sp>
          <p:nvSpPr>
            <p:cNvPr id="256" name="Google Shape;256;p31"/>
            <p:cNvSpPr/>
            <p:nvPr/>
          </p:nvSpPr>
          <p:spPr>
            <a:xfrm>
              <a:off x="905850" y="630950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677300" y="109727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1520225" y="5788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527975" y="177895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385700" y="148476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715100" y="491188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" name="Google Shape;262;p31"/>
          <p:cNvGrpSpPr/>
          <p:nvPr/>
        </p:nvGrpSpPr>
        <p:grpSpPr>
          <a:xfrm flipH="1">
            <a:off x="7629263" y="2920838"/>
            <a:ext cx="1246725" cy="1529563"/>
            <a:chOff x="385700" y="491188"/>
            <a:chExt cx="1246725" cy="1529563"/>
          </a:xfrm>
        </p:grpSpPr>
        <p:sp>
          <p:nvSpPr>
            <p:cNvPr id="263" name="Google Shape;263;p31"/>
            <p:cNvSpPr/>
            <p:nvPr/>
          </p:nvSpPr>
          <p:spPr>
            <a:xfrm>
              <a:off x="905850" y="630950"/>
              <a:ext cx="354000" cy="354000"/>
            </a:xfrm>
            <a:prstGeom prst="mathPlus">
              <a:avLst>
                <a:gd fmla="val 23520" name="adj1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677300" y="1097275"/>
              <a:ext cx="163200" cy="1632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1520225" y="578800"/>
              <a:ext cx="112200" cy="1122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527975" y="1778950"/>
              <a:ext cx="241800" cy="241800"/>
            </a:xfrm>
            <a:prstGeom prst="mathPlus">
              <a:avLst>
                <a:gd fmla="val 23520" name="adj1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385700" y="1484763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715100" y="491188"/>
              <a:ext cx="87600" cy="87600"/>
            </a:xfrm>
            <a:prstGeom prst="ellipse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175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175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175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175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175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175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175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ataverse.harvard.edu/dataset.xhtml?persistentId=doi:10.7910/DVN/6C3JR1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ataverse.harvard.edu/dataset.xhtml?persistentId=doi:10.7910/DVN/6C3JR1" TargetMode="External"/><Relationship Id="rId4" Type="http://schemas.openxmlformats.org/officeDocument/2006/relationships/hyperlink" Target="https://www.sciencedirect.com/science/article/pii/S2405896318320135?via%3Dihub" TargetMode="External"/><Relationship Id="rId5" Type="http://schemas.openxmlformats.org/officeDocument/2006/relationships/hyperlink" Target="https://www.notion.so/TSMC-Dataset-CD-fbe231acee0e447aae42d8afff0f457f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ataverse.harvard.edu/dataset.xhtml?persistentId=doi:10.7910/DVN/6C3JR1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ataverse.harvard.edu/dataset.xhtml?persistentId=doi:10.7910/DVN/6C3JR1" TargetMode="External"/><Relationship Id="rId4" Type="http://schemas.openxmlformats.org/officeDocument/2006/relationships/hyperlink" Target="https://www.sciencedirect.com/science/article/pii/S2405896317328793?via%3Dihub" TargetMode="External"/><Relationship Id="rId5" Type="http://schemas.openxmlformats.org/officeDocument/2006/relationships/hyperlink" Target="https://pubs.acs.org/doi/10.1021/acs.iecr.8b03009" TargetMode="External"/><Relationship Id="rId6" Type="http://schemas.openxmlformats.org/officeDocument/2006/relationships/hyperlink" Target="https://ieeexplore.ieee.org/document/6883151" TargetMode="External"/><Relationship Id="rId7" Type="http://schemas.openxmlformats.org/officeDocument/2006/relationships/hyperlink" Target="https://www.notion.so/TSMC-Dataset-CD-fbe231acee0e447aae42d8afff0f457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ieeexplore.ieee.org/document/8622059" TargetMode="External"/><Relationship Id="rId4" Type="http://schemas.openxmlformats.org/officeDocument/2006/relationships/hyperlink" Target="https://ieeexplore.ieee.org/document/8258087" TargetMode="External"/><Relationship Id="rId9" Type="http://schemas.openxmlformats.org/officeDocument/2006/relationships/hyperlink" Target="https://dl.acm.org/doi/10.1145/2824443" TargetMode="External"/><Relationship Id="rId5" Type="http://schemas.openxmlformats.org/officeDocument/2006/relationships/hyperlink" Target="https://ieeexplore.ieee.org/document/8258087" TargetMode="External"/><Relationship Id="rId6" Type="http://schemas.openxmlformats.org/officeDocument/2006/relationships/hyperlink" Target="https://ieeexplore.ieee.org/document/8258087" TargetMode="External"/><Relationship Id="rId7" Type="http://schemas.openxmlformats.org/officeDocument/2006/relationships/hyperlink" Target="https://www.sciencedirect.com/science/article/pii/S0304407606000480" TargetMode="External"/><Relationship Id="rId8" Type="http://schemas.openxmlformats.org/officeDocument/2006/relationships/hyperlink" Target="https://dl.acm.org/doi/10.1145/1281192.1281203" TargetMode="External"/><Relationship Id="rId11" Type="http://schemas.openxmlformats.org/officeDocument/2006/relationships/hyperlink" Target="https://dl.acm.org/doi/10.1145/2824443" TargetMode="External"/><Relationship Id="rId10" Type="http://schemas.openxmlformats.org/officeDocument/2006/relationships/hyperlink" Target="https://dl.acm.org/doi/10.1145/2824443" TargetMode="External"/><Relationship Id="rId12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hyperlink" Target="https://www.sciencedirect.com/science/article/pii/S2405896315017607" TargetMode="External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hyperlink" Target="https://www.sciencedirect.com/science/article/pii/S2405896318322304" TargetMode="External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hyperlink" Target="https://www.mdpi.com/2075-1702/2/4/255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sciencedirect.com/science/article/pii/S0967066119301418?via%3Dihub" TargetMode="External"/><Relationship Id="rId4" Type="http://schemas.openxmlformats.org/officeDocument/2006/relationships/hyperlink" Target="https://www.sciencedirect.com/science/article/abs/pii/S009813541400283X?via%3Dihub" TargetMode="External"/><Relationship Id="rId5" Type="http://schemas.openxmlformats.org/officeDocument/2006/relationships/hyperlink" Target="https://www.sciencedirect.com/topics/engineering/propagation-path" TargetMode="External"/><Relationship Id="rId6" Type="http://schemas.openxmlformats.org/officeDocument/2006/relationships/hyperlink" Target="https://ieeexplore.ieee.org/document/773974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ataverse.harvard.edu/dataset.xhtml?persistentId=doi:10.7910/DVN/6C3JR1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ctrTitle"/>
          </p:nvPr>
        </p:nvSpPr>
        <p:spPr>
          <a:xfrm>
            <a:off x="0" y="1558000"/>
            <a:ext cx="9144000" cy="188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3000"/>
              </a:lnSpc>
              <a:spcBef>
                <a:spcPts val="1700"/>
              </a:spcBef>
              <a:spcAft>
                <a:spcPts val="1700"/>
              </a:spcAft>
              <a:buNone/>
            </a:pPr>
            <a:r>
              <a:rPr lang="en" sz="3450">
                <a:solidFill>
                  <a:srgbClr val="000000"/>
                </a:solidFill>
              </a:rPr>
              <a:t>Causal Discovery in Manufacturing: </a:t>
            </a:r>
            <a:br>
              <a:rPr lang="en" sz="3450">
                <a:solidFill>
                  <a:srgbClr val="000000"/>
                </a:solidFill>
              </a:rPr>
            </a:br>
            <a:r>
              <a:rPr lang="en" sz="3450">
                <a:solidFill>
                  <a:srgbClr val="000000"/>
                </a:solidFill>
              </a:rPr>
              <a:t>A Structured Literature Review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275" name="Google Shape;275;p32"/>
          <p:cNvSpPr txBox="1"/>
          <p:nvPr/>
        </p:nvSpPr>
        <p:spPr>
          <a:xfrm>
            <a:off x="2814800" y="3230000"/>
            <a:ext cx="382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E9E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0" y="393817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Speaker: 	Ting-Yun Ou</a:t>
            </a:r>
            <a:endParaRPr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Teacher: 	</a:t>
            </a:r>
            <a:r>
              <a:rPr lang="en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Wen-Chih Peng</a:t>
            </a:r>
            <a:endParaRPr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0" y="4719125"/>
            <a:ext cx="546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https://www.mdpi.com/2504-4494/6/1/10</a:t>
            </a:r>
            <a:endParaRPr sz="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ctrTitle"/>
          </p:nvPr>
        </p:nvSpPr>
        <p:spPr>
          <a:xfrm>
            <a:off x="0" y="1634200"/>
            <a:ext cx="9144000" cy="188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RCA </a:t>
            </a:r>
            <a:r>
              <a:rPr lang="en" sz="3200">
                <a:solidFill>
                  <a:schemeClr val="dk1"/>
                </a:solidFill>
              </a:rPr>
              <a:t>in Industrial data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2814800" y="3230000"/>
            <a:ext cx="382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E9E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5" name="Google Shape;285;p33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91" name="Google Shape;291;p34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●"/>
            </a:pPr>
            <a:r>
              <a:rPr b="1" lang="en">
                <a:solidFill>
                  <a:schemeClr val="accent3"/>
                </a:solidFill>
              </a:rPr>
              <a:t>Dataset &amp; Method</a:t>
            </a:r>
            <a:endParaRPr b="1">
              <a:solidFill>
                <a:schemeClr val="accent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Conclusion</a:t>
            </a:r>
            <a:endParaRPr b="1"/>
          </a:p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/>
          <p:nvPr/>
        </p:nvSpPr>
        <p:spPr>
          <a:xfrm>
            <a:off x="1160175" y="3140200"/>
            <a:ext cx="3580500" cy="835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5"/>
          <p:cNvSpPr/>
          <p:nvPr/>
        </p:nvSpPr>
        <p:spPr>
          <a:xfrm>
            <a:off x="3282275" y="4024950"/>
            <a:ext cx="4020600" cy="1569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3"/>
                </a:solidFill>
              </a:rPr>
              <a:t>T</a:t>
            </a:r>
            <a:r>
              <a:rPr lang="en" sz="2800"/>
              <a:t>ennessee </a:t>
            </a:r>
            <a:r>
              <a:rPr lang="en" sz="2800">
                <a:solidFill>
                  <a:schemeClr val="accent3"/>
                </a:solidFill>
              </a:rPr>
              <a:t>E</a:t>
            </a:r>
            <a:r>
              <a:rPr lang="en" sz="2800"/>
              <a:t>astman </a:t>
            </a:r>
            <a:r>
              <a:rPr lang="en" sz="2800">
                <a:solidFill>
                  <a:schemeClr val="accent3"/>
                </a:solidFill>
              </a:rPr>
              <a:t>P</a:t>
            </a:r>
            <a:r>
              <a:rPr lang="en" sz="2800"/>
              <a:t>rocess</a:t>
            </a:r>
            <a:r>
              <a:rPr lang="en" sz="1400"/>
              <a:t>(化學廠)</a:t>
            </a:r>
            <a:r>
              <a:rPr lang="en" sz="3200"/>
              <a:t> </a:t>
            </a:r>
            <a:r>
              <a:rPr b="0" i="1" lang="en" sz="8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Dataset</a:t>
            </a:r>
            <a:endParaRPr sz="3200">
              <a:solidFill>
                <a:schemeClr val="accent3"/>
              </a:solidFill>
            </a:endParaRPr>
          </a:p>
        </p:txBody>
      </p:sp>
      <p:sp>
        <p:nvSpPr>
          <p:cNvPr id="300" name="Google Shape;300;p35"/>
          <p:cNvSpPr txBox="1"/>
          <p:nvPr>
            <p:ph idx="1" type="body"/>
          </p:nvPr>
        </p:nvSpPr>
        <p:spPr>
          <a:xfrm>
            <a:off x="567600" y="1304875"/>
            <a:ext cx="7704000" cy="8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Industrial chemical process 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Arial"/>
              <a:buChar char="○"/>
            </a:pP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Variables: </a:t>
            </a:r>
            <a:r>
              <a:rPr lang="en" sz="1200">
                <a:solidFill>
                  <a:schemeClr val="accent2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11</a:t>
            </a: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200">
                <a:solidFill>
                  <a:srgbClr val="21252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manipulated</a:t>
            </a: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+ </a:t>
            </a: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41</a:t>
            </a: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200">
                <a:solidFill>
                  <a:srgbClr val="21252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measured</a:t>
            </a: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Font typeface="Arial"/>
              <a:buChar char="○"/>
            </a:pPr>
            <a:r>
              <a:t/>
            </a:r>
            <a:endParaRPr baseline="-25000" sz="1200">
              <a:solidFill>
                <a:srgbClr val="21252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2625" y="1176725"/>
            <a:ext cx="3152050" cy="15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5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35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04" name="Google Shape;30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9072" y="2873500"/>
            <a:ext cx="6033551" cy="122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5"/>
          <p:cNvSpPr txBox="1"/>
          <p:nvPr/>
        </p:nvSpPr>
        <p:spPr>
          <a:xfrm>
            <a:off x="4763025" y="4181850"/>
            <a:ext cx="11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highlight>
                  <a:schemeClr val="lt1"/>
                </a:highlight>
              </a:rPr>
              <a:t>41</a:t>
            </a:r>
            <a:endParaRPr/>
          </a:p>
        </p:txBody>
      </p:sp>
      <p:sp>
        <p:nvSpPr>
          <p:cNvPr id="306" name="Google Shape;306;p35"/>
          <p:cNvSpPr txBox="1"/>
          <p:nvPr/>
        </p:nvSpPr>
        <p:spPr>
          <a:xfrm>
            <a:off x="555975" y="3373150"/>
            <a:ext cx="60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highlight>
                  <a:schemeClr val="lt1"/>
                </a:highlight>
              </a:rPr>
              <a:t>time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3"/>
                </a:solidFill>
              </a:rPr>
              <a:t>T</a:t>
            </a:r>
            <a:r>
              <a:rPr lang="en" sz="2800"/>
              <a:t>ennessee </a:t>
            </a:r>
            <a:r>
              <a:rPr lang="en" sz="2800">
                <a:solidFill>
                  <a:schemeClr val="accent3"/>
                </a:solidFill>
              </a:rPr>
              <a:t>E</a:t>
            </a:r>
            <a:r>
              <a:rPr lang="en" sz="2800"/>
              <a:t>astman </a:t>
            </a:r>
            <a:r>
              <a:rPr lang="en" sz="2800">
                <a:solidFill>
                  <a:schemeClr val="accent3"/>
                </a:solidFill>
              </a:rPr>
              <a:t>P</a:t>
            </a:r>
            <a:r>
              <a:rPr lang="en" sz="2800"/>
              <a:t>rocess</a:t>
            </a:r>
            <a:r>
              <a:rPr lang="en" sz="1400"/>
              <a:t>(化學廠)</a:t>
            </a:r>
            <a:r>
              <a:rPr lang="en" sz="3200"/>
              <a:t> </a:t>
            </a:r>
            <a:r>
              <a:rPr b="0" i="1" lang="en" sz="8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Dataset</a:t>
            </a:r>
            <a:endParaRPr sz="3200" u="sng">
              <a:solidFill>
                <a:schemeClr val="accent2"/>
              </a:solidFill>
            </a:endParaRPr>
          </a:p>
        </p:txBody>
      </p:sp>
      <p:sp>
        <p:nvSpPr>
          <p:cNvPr id="312" name="Google Shape;312;p36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Char char="●"/>
            </a:pPr>
            <a:r>
              <a:rPr lang="en" sz="1200">
                <a:solidFill>
                  <a:srgbClr val="212529"/>
                </a:solidFill>
              </a:rPr>
              <a:t>Anomaly detection scenario:</a:t>
            </a:r>
            <a:endParaRPr sz="1200">
              <a:solidFill>
                <a:srgbClr val="21252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Char char="○"/>
            </a:pPr>
            <a:r>
              <a:rPr lang="en" sz="1200">
                <a:solidFill>
                  <a:srgbClr val="212529"/>
                </a:solidFill>
              </a:rPr>
              <a:t>Lstm - X: </a:t>
            </a:r>
            <a:r>
              <a:rPr lang="en" sz="1200">
                <a:solidFill>
                  <a:srgbClr val="3C4043"/>
                </a:solidFill>
              </a:rPr>
              <a:t>(99490, 10, 52)  Y: (99490, 52)</a:t>
            </a:r>
            <a:endParaRPr sz="1200">
              <a:solidFill>
                <a:srgbClr val="21252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Char char="●"/>
            </a:pPr>
            <a:r>
              <a:rPr b="1" lang="en" sz="1200">
                <a:solidFill>
                  <a:srgbClr val="212529"/>
                </a:solidFill>
              </a:rPr>
              <a:t>RCA scenario</a:t>
            </a:r>
            <a:r>
              <a:rPr lang="en" sz="1200">
                <a:solidFill>
                  <a:srgbClr val="212529"/>
                </a:solidFill>
              </a:rPr>
              <a:t>:</a:t>
            </a:r>
            <a:endParaRPr sz="1200">
              <a:solidFill>
                <a:srgbClr val="21252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Char char="○"/>
            </a:pPr>
            <a:r>
              <a:rPr lang="en" sz="1200">
                <a:solidFill>
                  <a:srgbClr val="212529"/>
                </a:solidFill>
              </a:rPr>
              <a:t>Root Cause Diagnosis of Process Faults Using Conditional Granger Causality Analysis and Maximum Spanning Tree</a:t>
            </a:r>
            <a:r>
              <a:rPr lang="en" sz="1200">
                <a:solidFill>
                  <a:srgbClr val="212529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i="1" lang="en" sz="11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[IEEE’ 18]</a:t>
            </a:r>
            <a:endParaRPr i="1" sz="1100" u="sng">
              <a:solidFill>
                <a:srgbClr val="999999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Figtree SemiBold"/>
              <a:buChar char="■"/>
            </a:pPr>
            <a:r>
              <a:rPr b="1" lang="en" sz="1200"/>
              <a:t>Input :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Font typeface="Figtree SemiBold"/>
              <a:buChar char="■"/>
            </a:pPr>
            <a:r>
              <a:rPr b="1" lang="en" sz="1200"/>
              <a:t>Output: </a:t>
            </a:r>
            <a:r>
              <a:rPr lang="en" sz="1200"/>
              <a:t>Root Cause </a:t>
            </a:r>
            <a:r>
              <a:rPr b="1" i="1" lang="en" sz="1200"/>
              <a:t>V</a:t>
            </a:r>
            <a:r>
              <a:rPr b="1" baseline="-25000" i="1" lang="en" sz="1200"/>
              <a:t>j</a:t>
            </a:r>
            <a:r>
              <a:rPr baseline="-25000" i="1" lang="en" sz="1200"/>
              <a:t>,</a:t>
            </a:r>
            <a:r>
              <a:rPr lang="en" sz="1200"/>
              <a:t> where </a:t>
            </a:r>
            <a:r>
              <a:rPr i="1" lang="en" sz="1200"/>
              <a:t>j</a:t>
            </a:r>
            <a:r>
              <a:rPr lang="en" sz="1200"/>
              <a:t> is the variable index</a:t>
            </a:r>
            <a:br>
              <a:rPr b="1" lang="en" sz="1200">
                <a:solidFill>
                  <a:srgbClr val="6AA84F"/>
                </a:solidFill>
              </a:rPr>
            </a:br>
            <a:br>
              <a:rPr lang="en" sz="1200">
                <a:solidFill>
                  <a:srgbClr val="2E2E2E"/>
                </a:solidFill>
              </a:rPr>
            </a:br>
            <a:br>
              <a:rPr lang="en" sz="1200">
                <a:solidFill>
                  <a:srgbClr val="2E2E2E"/>
                </a:solidFill>
              </a:rPr>
            </a:br>
            <a:br>
              <a:rPr lang="en" sz="1200">
                <a:solidFill>
                  <a:srgbClr val="2E2E2E"/>
                </a:solidFill>
              </a:rPr>
            </a:br>
            <a:br>
              <a:rPr lang="en" sz="1200">
                <a:solidFill>
                  <a:srgbClr val="2E2E2E"/>
                </a:solidFill>
              </a:rPr>
            </a:br>
            <a:endParaRPr sz="1200">
              <a:solidFill>
                <a:srgbClr val="2E2E2E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36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[32] [33] [34] [69] [70] </a:t>
            </a:r>
            <a:r>
              <a:rPr lang="en" sz="700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5"/>
              </a:rPr>
              <a:t>[71]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14" name="Google Shape;314;p36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36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17" name="Google Shape;317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8950" y="2590750"/>
            <a:ext cx="1962900" cy="25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8125" y="2643213"/>
            <a:ext cx="1696042" cy="2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95700" y="2590750"/>
            <a:ext cx="242426" cy="2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6"/>
          <p:cNvSpPr txBox="1"/>
          <p:nvPr/>
        </p:nvSpPr>
        <p:spPr>
          <a:xfrm>
            <a:off x="4587400" y="2535575"/>
            <a:ext cx="2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529"/>
                </a:solidFill>
                <a:latin typeface="Figtree"/>
                <a:ea typeface="Figtree"/>
                <a:cs typeface="Figtree"/>
                <a:sym typeface="Figtree"/>
              </a:rPr>
              <a:t>，</a:t>
            </a:r>
            <a:endParaRPr/>
          </a:p>
        </p:txBody>
      </p:sp>
      <p:sp>
        <p:nvSpPr>
          <p:cNvPr id="321" name="Google Shape;321;p36"/>
          <p:cNvSpPr txBox="1"/>
          <p:nvPr/>
        </p:nvSpPr>
        <p:spPr>
          <a:xfrm>
            <a:off x="6734175" y="2561800"/>
            <a:ext cx="61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12529"/>
                </a:solidFill>
                <a:latin typeface="Figtree"/>
                <a:ea typeface="Figtree"/>
                <a:cs typeface="Figtree"/>
                <a:sym typeface="Figtree"/>
              </a:rPr>
              <a:t>…… X</a:t>
            </a:r>
            <a:r>
              <a:rPr baseline="-25000" lang="en" sz="1200">
                <a:solidFill>
                  <a:srgbClr val="212529"/>
                </a:solidFill>
                <a:latin typeface="Figtree"/>
                <a:ea typeface="Figtree"/>
                <a:cs typeface="Figtree"/>
                <a:sym typeface="Figtree"/>
              </a:rPr>
              <a:t>52</a:t>
            </a:r>
            <a:endParaRPr baseline="-2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3"/>
                </a:solidFill>
              </a:rPr>
              <a:t>T</a:t>
            </a:r>
            <a:r>
              <a:rPr lang="en" sz="2800"/>
              <a:t>ennessee </a:t>
            </a:r>
            <a:r>
              <a:rPr lang="en" sz="2800">
                <a:solidFill>
                  <a:schemeClr val="accent3"/>
                </a:solidFill>
              </a:rPr>
              <a:t>E</a:t>
            </a:r>
            <a:r>
              <a:rPr lang="en" sz="2800"/>
              <a:t>astman </a:t>
            </a:r>
            <a:r>
              <a:rPr lang="en" sz="2800">
                <a:solidFill>
                  <a:schemeClr val="accent3"/>
                </a:solidFill>
              </a:rPr>
              <a:t>P</a:t>
            </a:r>
            <a:r>
              <a:rPr lang="en" sz="2800"/>
              <a:t>rocess</a:t>
            </a:r>
            <a:r>
              <a:rPr lang="en" sz="1400"/>
              <a:t>(化學廠)</a:t>
            </a:r>
            <a:r>
              <a:rPr lang="en" sz="3200"/>
              <a:t> </a:t>
            </a:r>
            <a:r>
              <a:rPr b="0" i="1" lang="en" sz="8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Dataset</a:t>
            </a:r>
            <a:endParaRPr sz="3200" u="sng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 txBox="1"/>
          <p:nvPr>
            <p:ph idx="1" type="body"/>
          </p:nvPr>
        </p:nvSpPr>
        <p:spPr>
          <a:xfrm>
            <a:off x="720000" y="1130550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Char char="●"/>
            </a:pPr>
            <a:r>
              <a:rPr lang="en" sz="1200">
                <a:solidFill>
                  <a:srgbClr val="212529"/>
                </a:solidFill>
              </a:rPr>
              <a:t>RCA scenario:</a:t>
            </a:r>
            <a:endParaRPr sz="1200">
              <a:solidFill>
                <a:srgbClr val="212529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Figtree SemiBold"/>
              <a:buChar char="■"/>
            </a:pPr>
            <a:r>
              <a:rPr b="1" lang="en" sz="1200">
                <a:solidFill>
                  <a:srgbClr val="6AA84F"/>
                </a:solidFill>
              </a:rPr>
              <a:t>multivariate</a:t>
            </a:r>
            <a:r>
              <a:rPr lang="en" sz="1200">
                <a:solidFill>
                  <a:srgbClr val="6AA84F"/>
                </a:solidFill>
              </a:rPr>
              <a:t> GC technique</a:t>
            </a:r>
            <a:br>
              <a:rPr lang="en" sz="1200">
                <a:solidFill>
                  <a:srgbClr val="6AA84F"/>
                </a:solidFill>
              </a:rPr>
            </a:br>
            <a:br>
              <a:rPr lang="en" sz="1200">
                <a:solidFill>
                  <a:srgbClr val="6AA84F"/>
                </a:solidFill>
              </a:rPr>
            </a:br>
            <a:br>
              <a:rPr lang="en" sz="1200">
                <a:solidFill>
                  <a:srgbClr val="6AA84F"/>
                </a:solidFill>
              </a:rPr>
            </a:br>
            <a:br>
              <a:rPr lang="en" sz="1200">
                <a:solidFill>
                  <a:srgbClr val="6AA84F"/>
                </a:solidFill>
              </a:rPr>
            </a:br>
            <a:br>
              <a:rPr lang="en" sz="1200">
                <a:solidFill>
                  <a:srgbClr val="6AA84F"/>
                </a:solidFill>
              </a:rPr>
            </a:br>
            <a:br>
              <a:rPr lang="en" sz="1200">
                <a:solidFill>
                  <a:srgbClr val="6AA84F"/>
                </a:solidFill>
              </a:rPr>
            </a:br>
            <a:r>
              <a:rPr lang="en" sz="1200">
                <a:solidFill>
                  <a:srgbClr val="93C47D"/>
                </a:solidFill>
              </a:rPr>
              <a:t> </a:t>
            </a:r>
            <a:endParaRPr sz="1200">
              <a:solidFill>
                <a:srgbClr val="2E2E2E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Figtree SemiBold"/>
              <a:buChar char="■"/>
            </a:pPr>
            <a:r>
              <a:rPr lang="en" sz="1200">
                <a:solidFill>
                  <a:schemeClr val="accent2"/>
                </a:solidFill>
              </a:rPr>
              <a:t>maximum spanning tree</a:t>
            </a:r>
            <a:endParaRPr sz="1200">
              <a:solidFill>
                <a:srgbClr val="212529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12529"/>
              </a:solidFill>
            </a:endParaRPr>
          </a:p>
        </p:txBody>
      </p:sp>
      <p:sp>
        <p:nvSpPr>
          <p:cNvPr id="328" name="Google Shape;328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9" name="Google Shape;32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7800" y="3292975"/>
            <a:ext cx="2234449" cy="1816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600" y="1812494"/>
            <a:ext cx="4296650" cy="8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7125" y="2674950"/>
            <a:ext cx="42536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7"/>
          <p:cNvSpPr/>
          <p:nvPr/>
        </p:nvSpPr>
        <p:spPr>
          <a:xfrm>
            <a:off x="5160100" y="2816250"/>
            <a:ext cx="548700" cy="254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7"/>
          <p:cNvSpPr/>
          <p:nvPr/>
        </p:nvSpPr>
        <p:spPr>
          <a:xfrm>
            <a:off x="2534375" y="2381275"/>
            <a:ext cx="548700" cy="254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37"/>
          <p:cNvCxnSpPr/>
          <p:nvPr/>
        </p:nvCxnSpPr>
        <p:spPr>
          <a:xfrm>
            <a:off x="4159975" y="2300325"/>
            <a:ext cx="0" cy="270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" name="Google Shape;335;p37"/>
          <p:cNvSpPr txBox="1"/>
          <p:nvPr/>
        </p:nvSpPr>
        <p:spPr>
          <a:xfrm>
            <a:off x="4303725" y="2323675"/>
            <a:ext cx="9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remove X</a:t>
            </a:r>
            <a:r>
              <a:rPr baseline="-25000" lang="en" sz="120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2</a:t>
            </a:r>
            <a:endParaRPr baseline="-25000">
              <a:solidFill>
                <a:schemeClr val="accent3"/>
              </a:solidFill>
            </a:endParaRPr>
          </a:p>
        </p:txBody>
      </p:sp>
      <p:pic>
        <p:nvPicPr>
          <p:cNvPr id="336" name="Google Shape;336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92225" y="1304700"/>
            <a:ext cx="1961825" cy="198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3"/>
                </a:solidFill>
              </a:rPr>
              <a:t>T</a:t>
            </a:r>
            <a:r>
              <a:rPr lang="en" sz="2800"/>
              <a:t>ennessee </a:t>
            </a:r>
            <a:r>
              <a:rPr lang="en" sz="2800">
                <a:solidFill>
                  <a:schemeClr val="accent3"/>
                </a:solidFill>
              </a:rPr>
              <a:t>E</a:t>
            </a:r>
            <a:r>
              <a:rPr lang="en" sz="2800"/>
              <a:t>astman </a:t>
            </a:r>
            <a:r>
              <a:rPr lang="en" sz="2800">
                <a:solidFill>
                  <a:schemeClr val="accent3"/>
                </a:solidFill>
              </a:rPr>
              <a:t>P</a:t>
            </a:r>
            <a:r>
              <a:rPr lang="en" sz="2800"/>
              <a:t>rocess</a:t>
            </a:r>
            <a:r>
              <a:rPr lang="en" sz="1400"/>
              <a:t>(化學廠)</a:t>
            </a:r>
            <a:r>
              <a:rPr lang="en" sz="3200"/>
              <a:t> </a:t>
            </a:r>
            <a:r>
              <a:rPr b="0" i="1" lang="en" sz="8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Dataset</a:t>
            </a:r>
            <a:endParaRPr sz="3200" u="sng">
              <a:solidFill>
                <a:schemeClr val="accent2"/>
              </a:solidFill>
            </a:endParaRPr>
          </a:p>
        </p:txBody>
      </p:sp>
      <p:sp>
        <p:nvSpPr>
          <p:cNvPr id="342" name="Google Shape;342;p38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200"/>
              <a:buChar char="●"/>
            </a:pP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</a:rPr>
              <a:t>Root Cause Diagnosis of Oscillation-Type Plant Faults Using </a:t>
            </a:r>
            <a:r>
              <a:rPr b="1" lang="en" sz="1200">
                <a:solidFill>
                  <a:srgbClr val="212529"/>
                </a:solidFill>
                <a:highlight>
                  <a:srgbClr val="FFFFFF"/>
                </a:highlight>
              </a:rPr>
              <a:t>Nonlinear</a:t>
            </a:r>
            <a:r>
              <a:rPr lang="en" sz="1200">
                <a:solidFill>
                  <a:srgbClr val="212529"/>
                </a:solidFill>
                <a:highlight>
                  <a:srgbClr val="FFFFFF"/>
                </a:highlight>
              </a:rPr>
              <a:t> Causality Analysis </a:t>
            </a:r>
            <a:r>
              <a:rPr i="1" lang="en" sz="1100" u="sng">
                <a:solidFill>
                  <a:srgbClr val="999999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[ELSEVIER’ 17]</a:t>
            </a:r>
            <a:endParaRPr i="1" sz="1200" u="sng">
              <a:solidFill>
                <a:srgbClr val="999999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</a:pPr>
            <a:r>
              <a:rPr lang="en" sz="1100">
                <a:solidFill>
                  <a:srgbClr val="6AA84F"/>
                </a:solidFill>
                <a:highlight>
                  <a:srgbClr val="FFFFFF"/>
                </a:highlight>
              </a:rPr>
              <a:t>two-step diagnosis approach</a:t>
            </a:r>
            <a:r>
              <a:rPr lang="en" sz="1100">
                <a:solidFill>
                  <a:schemeClr val="accent3"/>
                </a:solidFill>
                <a:highlight>
                  <a:srgbClr val="FFFFFF"/>
                </a:highlight>
              </a:rPr>
              <a:t> </a:t>
            </a:r>
            <a:r>
              <a:rPr lang="en" sz="1100">
                <a:highlight>
                  <a:srgbClr val="FFFFFF"/>
                </a:highlight>
              </a:rPr>
              <a:t>to find nonlinear causal relationship </a:t>
            </a:r>
            <a:r>
              <a:rPr lang="en" sz="1100">
                <a:solidFill>
                  <a:srgbClr val="000000"/>
                </a:solidFill>
                <a:highlight>
                  <a:srgbClr val="FFFFFF"/>
                </a:highlight>
              </a:rPr>
              <a:t> + </a:t>
            </a:r>
            <a:r>
              <a:rPr lang="en" sz="1100">
                <a:solidFill>
                  <a:schemeClr val="accent2"/>
                </a:solidFill>
                <a:highlight>
                  <a:srgbClr val="FFFFFF"/>
                </a:highlight>
              </a:rPr>
              <a:t>Lasso-based reconstruction analysis method</a:t>
            </a:r>
            <a:endParaRPr sz="11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</a:rPr>
              <a:t>Probability Density Estimation and Bayesian Causal Analysis Based Fault Detection and Root Identification </a:t>
            </a:r>
            <a:r>
              <a:rPr i="1" lang="en" sz="1100" u="sng">
                <a:solidFill>
                  <a:srgbClr val="999999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[ACS’ 18]</a:t>
            </a:r>
            <a:endParaRPr i="1" sz="1200">
              <a:solidFill>
                <a:srgbClr val="999999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1" marL="9144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○"/>
            </a:pPr>
            <a:r>
              <a:rPr lang="en" sz="1200">
                <a:solidFill>
                  <a:srgbClr val="6AA84F"/>
                </a:solidFill>
                <a:highlight>
                  <a:srgbClr val="FFFFFF"/>
                </a:highlight>
              </a:rPr>
              <a:t>kernel density estimation</a:t>
            </a:r>
            <a:r>
              <a:rPr lang="en" sz="1200">
                <a:solidFill>
                  <a:schemeClr val="accent3"/>
                </a:solidFill>
                <a:highlight>
                  <a:srgbClr val="FFFFFF"/>
                </a:highlight>
              </a:rPr>
              <a:t>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</a:rPr>
              <a:t>(base on BN) to get causal structure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</a:rPr>
              <a:t>Transfer Zero-Entropy and Its Application for Capturing Cause and Effect Relationship Between Variables </a:t>
            </a:r>
            <a:r>
              <a:rPr lang="en" sz="1200">
                <a:solidFill>
                  <a:srgbClr val="2E2E2E"/>
                </a:solidFill>
              </a:rPr>
              <a:t> </a:t>
            </a:r>
            <a:r>
              <a:rPr lang="en" sz="1200" u="sng">
                <a:solidFill>
                  <a:srgbClr val="212529"/>
                </a:solidFill>
                <a:highlight>
                  <a:srgbClr val="FFFFFF"/>
                </a:highlight>
              </a:rPr>
              <a:t> </a:t>
            </a:r>
            <a:r>
              <a:rPr i="1" lang="en" sz="1100" u="sng">
                <a:solidFill>
                  <a:srgbClr val="999999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[IEEE’ 13]</a:t>
            </a:r>
            <a:endParaRPr sz="1200" u="sng">
              <a:solidFill>
                <a:srgbClr val="999999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100"/>
              <a:buChar char="○"/>
            </a:pPr>
            <a:r>
              <a:rPr lang="en" sz="1100">
                <a:solidFill>
                  <a:srgbClr val="6AA84F"/>
                </a:solidFill>
                <a:highlight>
                  <a:srgbClr val="FFFFFF"/>
                </a:highlight>
              </a:rPr>
              <a:t>Direct transfer 0-entropy (DT0E) </a:t>
            </a:r>
            <a:endParaRPr sz="1100">
              <a:solidFill>
                <a:srgbClr val="6AA84F"/>
              </a:solidFill>
              <a:highlight>
                <a:srgbClr val="FFFFFF"/>
              </a:highlight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[32] [33] [34] [69] </a:t>
            </a: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[70</a:t>
            </a: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] </a:t>
            </a:r>
            <a:r>
              <a:rPr lang="en" sz="700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7"/>
              </a:rPr>
              <a:t>[71]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44" name="Google Shape;344;p38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38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R</a:t>
            </a: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46" name="Google Shape;346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"/>
          <p:cNvSpPr txBox="1"/>
          <p:nvPr>
            <p:ph type="title"/>
          </p:nvPr>
        </p:nvSpPr>
        <p:spPr>
          <a:xfrm>
            <a:off x="720000" y="368825"/>
            <a:ext cx="7704000" cy="86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Commercial </a:t>
            </a:r>
            <a:r>
              <a:rPr lang="en" sz="2600">
                <a:solidFill>
                  <a:schemeClr val="accent3"/>
                </a:solidFill>
              </a:rPr>
              <a:t>semiconductor</a:t>
            </a:r>
            <a:r>
              <a:rPr lang="en" sz="2600"/>
              <a:t> manufacturing plant</a:t>
            </a:r>
            <a:endParaRPr sz="2600"/>
          </a:p>
        </p:txBody>
      </p:sp>
      <p:sp>
        <p:nvSpPr>
          <p:cNvPr id="352" name="Google Shape;352;p39"/>
          <p:cNvSpPr txBox="1"/>
          <p:nvPr>
            <p:ph idx="1" type="body"/>
          </p:nvPr>
        </p:nvSpPr>
        <p:spPr>
          <a:xfrm>
            <a:off x="113975" y="1178175"/>
            <a:ext cx="59538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Root Cause Detection using Dynamic Dependency Graphs from Time Series Data</a:t>
            </a:r>
            <a:r>
              <a:rPr b="1" lang="en" sz="2400">
                <a:solidFill>
                  <a:srgbClr val="3C78D8"/>
                </a:solidFill>
              </a:rPr>
              <a:t> </a:t>
            </a:r>
            <a:r>
              <a:rPr i="1" lang="en" sz="700" u="sng">
                <a:solidFill>
                  <a:srgbClr val="666666"/>
                </a:solid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[IEEE' 18]</a:t>
            </a:r>
            <a:endParaRPr i="1" sz="800">
              <a:solidFill>
                <a:srgbClr val="666666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accent2"/>
                </a:solidFill>
              </a:rPr>
              <a:t>7 time series</a:t>
            </a:r>
            <a:r>
              <a:rPr lang="en" sz="1200"/>
              <a:t>:</a:t>
            </a:r>
            <a:r>
              <a:rPr lang="en" sz="1200">
                <a:latin typeface="EB Garamond"/>
                <a:ea typeface="EB Garamond"/>
                <a:cs typeface="EB Garamond"/>
                <a:sym typeface="EB Garamond"/>
              </a:rPr>
              <a:t>  </a:t>
            </a:r>
            <a:r>
              <a:rPr lang="en" sz="1200">
                <a:latin typeface="Figtree Medium"/>
                <a:ea typeface="Figtree Medium"/>
                <a:cs typeface="Figtree Medium"/>
                <a:sym typeface="Figtree Medium"/>
              </a:rPr>
              <a:t>recipe, step, pressure, current, power, powersp, voltage</a:t>
            </a:r>
            <a:endParaRPr sz="12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048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Method:</a:t>
            </a:r>
            <a:endParaRPr sz="1200"/>
          </a:p>
          <a:p>
            <a:pPr indent="-3048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DL system and converts them into weighted directed graphs </a:t>
            </a:r>
            <a:r>
              <a:rPr i="1" lang="en" sz="6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</a:t>
            </a:r>
            <a:r>
              <a:rPr i="1" lang="en" sz="600" u="sng">
                <a:solidFill>
                  <a:srgbClr val="999999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Dependency analysis’ 17</a:t>
            </a:r>
            <a:r>
              <a:rPr i="1" lang="en" sz="6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i="1" sz="600" u="sng">
              <a:solidFill>
                <a:srgbClr val="999999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Dependencies extracted by causality techniques</a:t>
            </a:r>
            <a:r>
              <a:rPr lang="en" sz="600">
                <a:solidFill>
                  <a:srgbClr val="9E9E9E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i="1" lang="en" sz="600" u="sng">
                <a:solidFill>
                  <a:srgbClr val="9E9E9E"/>
                </a:solidFill>
                <a:latin typeface="EB Garamond"/>
                <a:ea typeface="EB Garamond"/>
                <a:cs typeface="EB Garamond"/>
                <a:sym typeface="EB Garamond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[Granger Causality’ 07] </a:t>
            </a:r>
            <a:r>
              <a:rPr i="1" lang="en" sz="600" u="sng">
                <a:solidFill>
                  <a:srgbClr val="9E9E9E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i="1" lang="en" sz="600" u="sng">
                <a:solidFill>
                  <a:srgbClr val="9E9E9E"/>
                </a:solidFill>
                <a:latin typeface="EB Garamond"/>
                <a:ea typeface="EB Garamond"/>
                <a:cs typeface="EB Garamond"/>
                <a:sym typeface="EB Garamond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[graphical Granger method’ 07]</a:t>
            </a:r>
            <a:endParaRPr i="1" sz="600" u="sng">
              <a:solidFill>
                <a:srgbClr val="9E9E9E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Dependencies convert to directed weighted graphs</a:t>
            </a:r>
            <a:r>
              <a:rPr i="1" lang="en" sz="1100" u="sng"/>
              <a:t> </a:t>
            </a:r>
            <a:r>
              <a:rPr i="1" lang="en" sz="6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[DeltaCon’ 16</a:t>
            </a:r>
            <a:r>
              <a:rPr i="1" lang="en" sz="6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]</a:t>
            </a:r>
            <a:endParaRPr i="1" sz="600" u="sng">
              <a:solidFill>
                <a:srgbClr val="999999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Produce ranked cause </a:t>
            </a:r>
            <a:r>
              <a:rPr lang="en" sz="1100"/>
              <a:t> </a:t>
            </a:r>
            <a:r>
              <a:rPr i="1" lang="en" sz="600" u="sng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[DeltaCon’ 16]</a:t>
            </a:r>
            <a:endParaRPr i="1" sz="700" u="sng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3" name="Google Shape;353;p39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Non-released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54" name="Google Shape;354;p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02700" y="1644825"/>
            <a:ext cx="3153476" cy="261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9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6" name="Google Shape;356;p39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[66]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Fluid Catalytic Cracking unit </a:t>
            </a:r>
            <a:r>
              <a:rPr lang="en" sz="2200"/>
              <a:t>(流化催化裂化裝置)</a:t>
            </a:r>
            <a:endParaRPr sz="2200"/>
          </a:p>
        </p:txBody>
      </p:sp>
      <p:pic>
        <p:nvPicPr>
          <p:cNvPr id="362" name="Google Shape;362;p40"/>
          <p:cNvPicPr preferRelativeResize="0"/>
          <p:nvPr/>
        </p:nvPicPr>
        <p:blipFill rotWithShape="1">
          <a:blip r:embed="rId3">
            <a:alphaModFix/>
          </a:blip>
          <a:srcRect b="0" l="6410" r="0" t="6629"/>
          <a:stretch/>
        </p:blipFill>
        <p:spPr>
          <a:xfrm>
            <a:off x="2720450" y="2124825"/>
            <a:ext cx="3863126" cy="22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0"/>
          <p:cNvSpPr txBox="1"/>
          <p:nvPr>
            <p:ph idx="1" type="body"/>
          </p:nvPr>
        </p:nvSpPr>
        <p:spPr>
          <a:xfrm>
            <a:off x="266375" y="1178175"/>
            <a:ext cx="67581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E2E2E"/>
              </a:buClr>
              <a:buSzPts val="1200"/>
              <a:buChar char="●"/>
            </a:pPr>
            <a:r>
              <a:rPr lang="en" sz="1200">
                <a:solidFill>
                  <a:srgbClr val="2E2E2E"/>
                </a:solidFill>
              </a:rPr>
              <a:t>Causality analysis for root cause diagnosis in Fluid Catalytic Cracking unit </a:t>
            </a:r>
            <a:r>
              <a:rPr i="1" lang="en" sz="1100" u="sng">
                <a:solidFill>
                  <a:srgbClr val="999999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[ELSEVIER’ 15]</a:t>
            </a:r>
            <a:endParaRPr sz="1200">
              <a:solidFill>
                <a:srgbClr val="999999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solidFill>
                  <a:srgbClr val="93C47D"/>
                </a:solidFill>
              </a:rPr>
              <a:t>PCA</a:t>
            </a:r>
            <a:r>
              <a:rPr lang="en" sz="1200">
                <a:solidFill>
                  <a:srgbClr val="93C47D"/>
                </a:solidFill>
              </a:rPr>
              <a:t> </a:t>
            </a:r>
            <a:r>
              <a:rPr lang="en" sz="1200"/>
              <a:t>in combination with </a:t>
            </a:r>
            <a:r>
              <a:rPr lang="en" sz="1200">
                <a:solidFill>
                  <a:schemeClr val="accent2"/>
                </a:solidFill>
              </a:rPr>
              <a:t>causality analysis based</a:t>
            </a:r>
            <a:r>
              <a:rPr lang="en" sz="1200"/>
              <a:t> on network construction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Total 23 variables</a:t>
            </a:r>
            <a:endParaRPr sz="1200"/>
          </a:p>
        </p:txBody>
      </p:sp>
      <p:sp>
        <p:nvSpPr>
          <p:cNvPr id="364" name="Google Shape;364;p40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40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Non-released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6" name="Google Shape;366;p40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[64]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367" name="Google Shape;367;p40"/>
          <p:cNvPicPr preferRelativeResize="0"/>
          <p:nvPr/>
        </p:nvPicPr>
        <p:blipFill rotWithShape="1">
          <a:blip r:embed="rId5">
            <a:alphaModFix/>
          </a:blip>
          <a:srcRect b="0" l="3372" r="0" t="0"/>
          <a:stretch/>
        </p:blipFill>
        <p:spPr>
          <a:xfrm>
            <a:off x="6974250" y="1102488"/>
            <a:ext cx="1781999" cy="356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00000"/>
                </a:solidFill>
              </a:rPr>
              <a:t>Mineral concentrator plants </a:t>
            </a:r>
            <a:r>
              <a:rPr lang="en" sz="2000">
                <a:solidFill>
                  <a:srgbClr val="000000"/>
                </a:solidFill>
              </a:rPr>
              <a:t>(礦廠)</a:t>
            </a:r>
            <a:endParaRPr sz="2000"/>
          </a:p>
        </p:txBody>
      </p:sp>
      <p:pic>
        <p:nvPicPr>
          <p:cNvPr id="373" name="Google Shape;3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700" y="2492897"/>
            <a:ext cx="4182700" cy="217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1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5" name="Google Shape;375;p41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Non-released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6" name="Google Shape;376;p41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[65]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7" name="Google Shape;377;p41"/>
          <p:cNvSpPr txBox="1"/>
          <p:nvPr>
            <p:ph idx="1" type="body"/>
          </p:nvPr>
        </p:nvSpPr>
        <p:spPr>
          <a:xfrm>
            <a:off x="266375" y="1178175"/>
            <a:ext cx="8046000" cy="14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E2E2E"/>
              </a:buClr>
              <a:buSzPts val="1200"/>
              <a:buChar char="●"/>
            </a:pPr>
            <a:r>
              <a:rPr lang="en" sz="1200">
                <a:solidFill>
                  <a:srgbClr val="2E2E2E"/>
                </a:solidFill>
              </a:rPr>
              <a:t>Diagnosis of Oscillations in an Industrial Mineral Process Using </a:t>
            </a:r>
            <a:r>
              <a:rPr b="1" lang="en" sz="1200">
                <a:solidFill>
                  <a:srgbClr val="2E2E2E"/>
                </a:solidFill>
              </a:rPr>
              <a:t>Transfer Entropy</a:t>
            </a:r>
            <a:r>
              <a:rPr lang="en" sz="1200">
                <a:solidFill>
                  <a:srgbClr val="2E2E2E"/>
                </a:solidFill>
              </a:rPr>
              <a:t> and </a:t>
            </a:r>
            <a:r>
              <a:rPr b="1" lang="en" sz="1200">
                <a:solidFill>
                  <a:srgbClr val="2E2E2E"/>
                </a:solidFill>
              </a:rPr>
              <a:t>Nonlinearity Index </a:t>
            </a:r>
            <a:r>
              <a:rPr i="1" lang="en" sz="1100" u="sng">
                <a:solidFill>
                  <a:srgbClr val="666666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[ELSEVIER’ 18]</a:t>
            </a:r>
            <a:endParaRPr sz="1200">
              <a:solidFill>
                <a:srgbClr val="666666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solidFill>
                  <a:srgbClr val="6AA84F"/>
                </a:solidFill>
              </a:rPr>
              <a:t>Transfer entropy</a:t>
            </a:r>
            <a:r>
              <a:rPr lang="en" sz="1200">
                <a:solidFill>
                  <a:srgbClr val="2E2E2E"/>
                </a:solidFill>
              </a:rPr>
              <a:t>(causality analysis technique)  +  </a:t>
            </a:r>
            <a:r>
              <a:rPr lang="en" sz="1200">
                <a:solidFill>
                  <a:schemeClr val="accent2"/>
                </a:solidFill>
              </a:rPr>
              <a:t>nonlinearity index</a:t>
            </a:r>
            <a:endParaRPr sz="1200">
              <a:solidFill>
                <a:schemeClr val="accent2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Total  28 variables</a:t>
            </a:r>
            <a:endParaRPr sz="1200"/>
          </a:p>
        </p:txBody>
      </p:sp>
      <p:pic>
        <p:nvPicPr>
          <p:cNvPr id="378" name="Google Shape;37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6900" y="2072075"/>
            <a:ext cx="3187100" cy="254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>
                <a:solidFill>
                  <a:srgbClr val="222222"/>
                </a:solidFill>
                <a:highlight>
                  <a:srgbClr val="FFFFFF"/>
                </a:highlight>
              </a:rPr>
              <a:t>Chemical Stirred-tank Reactor</a:t>
            </a:r>
            <a:r>
              <a:rPr lang="en" sz="2250">
                <a:solidFill>
                  <a:srgbClr val="222222"/>
                </a:solidFill>
                <a:highlight>
                  <a:srgbClr val="FFFFFF"/>
                </a:highlight>
              </a:rPr>
              <a:t> (化學攪拌釜反應器)</a:t>
            </a:r>
            <a:endParaRPr sz="4700"/>
          </a:p>
        </p:txBody>
      </p:sp>
      <p:pic>
        <p:nvPicPr>
          <p:cNvPr id="384" name="Google Shape;3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3825" y="3340900"/>
            <a:ext cx="1993050" cy="1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4425" y="2223650"/>
            <a:ext cx="3396774" cy="247364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2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2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Non-released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88" name="Google Shape;388;p42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[67]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89" name="Google Shape;389;p42"/>
          <p:cNvSpPr txBox="1"/>
          <p:nvPr>
            <p:ph idx="1" type="body"/>
          </p:nvPr>
        </p:nvSpPr>
        <p:spPr>
          <a:xfrm>
            <a:off x="266375" y="1178175"/>
            <a:ext cx="8046000" cy="22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700"/>
              </a:spcBef>
              <a:spcAft>
                <a:spcPts val="0"/>
              </a:spcAft>
              <a:buClr>
                <a:srgbClr val="2E2E2E"/>
              </a:buClr>
              <a:buSzPts val="1200"/>
              <a:buChar char="●"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</a:rPr>
              <a:t>Data-Driven Methods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 for the Detection of Causal Structures in Process Technology </a:t>
            </a:r>
            <a:r>
              <a:rPr i="1" lang="en" sz="1200" u="sng">
                <a:solidFill>
                  <a:srgbClr val="666666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[MDPI' 14]</a:t>
            </a:r>
            <a:endParaRPr sz="1200">
              <a:solidFill>
                <a:srgbClr val="666666"/>
              </a:solidFill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Char char="○"/>
            </a:pPr>
            <a:r>
              <a:rPr lang="en" sz="1200">
                <a:solidFill>
                  <a:srgbClr val="6AA84F"/>
                </a:solidFill>
                <a:highlight>
                  <a:srgbClr val="FFFFFF"/>
                </a:highlight>
              </a:rPr>
              <a:t>Methods for Reconstructing the Disturbance Propagation Path</a:t>
            </a:r>
            <a:endParaRPr sz="1200">
              <a:solidFill>
                <a:srgbClr val="6AA84F"/>
              </a:solidFill>
              <a:highlight>
                <a:srgbClr val="FFFFFF"/>
              </a:highlight>
            </a:endParaRPr>
          </a:p>
          <a:p>
            <a:pPr indent="-304800" lvl="2" marL="13716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Cross-Correlation Function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2" marL="13716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Granger Causality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2" marL="13716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Transfer Entropy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2" marL="13716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Support Vector Machines for Regression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1" marL="914400" rtl="0" algn="just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Reconstruction of the Disturbance Propagation Path and </a:t>
            </a:r>
            <a:b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Localization of the Root Cause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</a:t>
            </a:r>
            <a:r>
              <a:rPr lang="en" sz="2600"/>
              <a:t>ndustrial board machine</a:t>
            </a:r>
            <a:r>
              <a:rPr lang="en" sz="2200"/>
              <a:t> (工業造紙機)</a:t>
            </a:r>
            <a:r>
              <a:rPr lang="en" sz="2600"/>
              <a:t> </a:t>
            </a:r>
            <a:endParaRPr sz="2600"/>
          </a:p>
        </p:txBody>
      </p:sp>
      <p:sp>
        <p:nvSpPr>
          <p:cNvPr id="395" name="Google Shape;395;p43"/>
          <p:cNvSpPr txBox="1"/>
          <p:nvPr>
            <p:ph idx="1" type="body"/>
          </p:nvPr>
        </p:nvSpPr>
        <p:spPr>
          <a:xfrm>
            <a:off x="491400" y="1152475"/>
            <a:ext cx="3899100" cy="3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CC0000"/>
                </a:solidFill>
              </a:rPr>
              <a:t>Red</a:t>
            </a:r>
            <a:r>
              <a:rPr lang="en" sz="1200"/>
              <a:t> pipelines denote steam</a:t>
            </a:r>
            <a:r>
              <a:rPr lang="en" sz="1200"/>
              <a:t>(蒸氣)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3C78D8"/>
                </a:solidFill>
              </a:rPr>
              <a:t>Blue</a:t>
            </a:r>
            <a:r>
              <a:rPr lang="en" sz="1200"/>
              <a:t> pipelines denote cond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ensate (</a:t>
            </a:r>
            <a:r>
              <a:rPr lang="en" sz="12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冷凝物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rgbClr val="674EA7"/>
                </a:solidFill>
              </a:rPr>
              <a:t>Purple</a:t>
            </a:r>
            <a:r>
              <a:rPr lang="en" sz="1200"/>
              <a:t> pipelines denote a mixture of condensate and steam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measured process variables and spectra of the process variables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875" y="1017712"/>
            <a:ext cx="3669000" cy="21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8" name="Google Shape;39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575" y="3089550"/>
            <a:ext cx="2778336" cy="161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3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Non-released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00" name="Google Shape;400;p43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[59] [60] [61] [62] [63]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01" name="Google Shape;40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00" y="3128500"/>
            <a:ext cx="2185851" cy="15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Industrial board machine </a:t>
            </a:r>
            <a:r>
              <a:rPr lang="en" sz="2200"/>
              <a:t>(工業造紙機)</a:t>
            </a:r>
            <a:r>
              <a:rPr lang="en" sz="2600"/>
              <a:t> </a:t>
            </a:r>
            <a:r>
              <a:rPr lang="en" sz="2600"/>
              <a:t> </a:t>
            </a:r>
            <a:endParaRPr sz="2600"/>
          </a:p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491400" y="1152475"/>
            <a:ext cx="8065500" cy="35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/>
              <a:t>Hybrid causal analysis combining a nonparametric multiplicative regression causality estimator with process connectivity information </a:t>
            </a:r>
            <a:r>
              <a:rPr i="1" lang="en" sz="1200" u="sng">
                <a:solidFill>
                  <a:srgbClr val="999999"/>
                </a:solidFill>
                <a:highlight>
                  <a:schemeClr val="lt1"/>
                </a:highlight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[ELSEVIER’ 19]</a:t>
            </a:r>
            <a:endParaRPr sz="12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nonlinear causal analysis based on </a:t>
            </a:r>
            <a:r>
              <a:rPr lang="en" sz="1200">
                <a:solidFill>
                  <a:schemeClr val="accent2"/>
                </a:solidFill>
              </a:rPr>
              <a:t>nonparametric multiplicative regression </a:t>
            </a:r>
            <a:r>
              <a:rPr lang="en" sz="1200">
                <a:solidFill>
                  <a:srgbClr val="6AA84F"/>
                </a:solidFill>
              </a:rPr>
              <a:t>(NPMR)</a:t>
            </a:r>
            <a:r>
              <a:rPr lang="en" sz="1200"/>
              <a:t> for identifying the propagation of an oscillatory disturbance via control loops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Medium"/>
              <a:buChar char="●"/>
            </a:pPr>
            <a:r>
              <a:rPr lang="en" sz="1200">
                <a:solidFill>
                  <a:srgbClr val="2E2E2E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Fault propagation analysis of oscillations in control loops using data-driven causality and plant connectivity </a:t>
            </a:r>
            <a:r>
              <a:rPr i="1" lang="en" sz="1200" u="sng">
                <a:solidFill>
                  <a:srgbClr val="999999"/>
                </a:solidFill>
                <a:highlight>
                  <a:schemeClr val="lt1"/>
                </a:highlight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[ELSEVIER’ 14]</a:t>
            </a:r>
            <a:endParaRPr sz="1200">
              <a:solidFill>
                <a:srgbClr val="999999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Figtree Medium"/>
              <a:buChar char="○"/>
            </a:pPr>
            <a:r>
              <a:rPr lang="en" sz="1200">
                <a:solidFill>
                  <a:srgbClr val="93C47D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integrating process causality and topology to determine the </a:t>
            </a:r>
            <a:r>
              <a:rPr lang="en" sz="1200" u="sng">
                <a:solidFill>
                  <a:srgbClr val="93C47D"/>
                </a:solidFill>
                <a:latin typeface="Figtree Medium"/>
                <a:ea typeface="Figtree Medium"/>
                <a:cs typeface="Figtree Medium"/>
                <a:sym typeface="Figtree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propagation path</a:t>
            </a:r>
            <a:r>
              <a:rPr lang="en" sz="1200">
                <a:solidFill>
                  <a:srgbClr val="93C47D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.</a:t>
            </a:r>
            <a:endParaRPr sz="1200">
              <a:solidFill>
                <a:srgbClr val="93C47D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Figtree Medium"/>
              <a:buChar char="○"/>
            </a:pPr>
            <a:r>
              <a:rPr lang="en" sz="1200">
                <a:solidFill>
                  <a:schemeClr val="accent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utilize process knowledge for isolating the most probable root cause</a:t>
            </a:r>
            <a:endParaRPr sz="1200">
              <a:solidFill>
                <a:schemeClr val="accent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04800" lvl="0" marL="4572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Medium"/>
              <a:buChar char="●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new approach for implementing transfer entropy using process topology </a:t>
            </a:r>
            <a:r>
              <a:rPr i="1" lang="en" sz="1200" u="sng">
                <a:solidFill>
                  <a:srgbClr val="999999"/>
                </a:solidFill>
                <a:highlight>
                  <a:srgbClr val="FFFFFF"/>
                </a:highlight>
                <a:latin typeface="EB Garamond"/>
                <a:ea typeface="EB Garamond"/>
                <a:cs typeface="EB Garamond"/>
                <a:sym typeface="EB Garamo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[IEEE’ 16]</a:t>
            </a:r>
            <a:endParaRPr i="1" sz="1200">
              <a:solidFill>
                <a:srgbClr val="999999"/>
              </a:solidFill>
              <a:highlight>
                <a:srgbClr val="FFFFFF"/>
              </a:highlight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1" marL="9144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EB Garamond"/>
              <a:buChar char="○"/>
            </a:pPr>
            <a:r>
              <a:rPr lang="en" sz="1200">
                <a:solidFill>
                  <a:srgbClr val="93C4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Transfer entropy + information on process topology </a:t>
            </a:r>
            <a:endParaRPr sz="1200">
              <a:solidFill>
                <a:srgbClr val="93C47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SzPts val="1200"/>
              <a:buFont typeface="Figtree Medium"/>
              <a:buChar char="●"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Figtree Medium"/>
                <a:ea typeface="Figtree Medium"/>
                <a:cs typeface="Figtree Medium"/>
                <a:sym typeface="Figtree Medium"/>
              </a:rPr>
              <a:t>Fault propagation analysis by combining data-driven causal analysis and plant connectivity </a:t>
            </a:r>
            <a:r>
              <a:rPr i="1" lang="en" sz="1200" u="sng">
                <a:solidFill>
                  <a:srgbClr val="999999"/>
                </a:solidFill>
                <a:highlight>
                  <a:srgbClr val="FFFFFF"/>
                </a:highlight>
                <a:latin typeface="EB Garamond Medium"/>
                <a:ea typeface="EB Garamond Medium"/>
                <a:cs typeface="EB Garamond Medium"/>
                <a:sym typeface="EB Garamond Medium"/>
              </a:rPr>
              <a:t>[IEEE’ 14]</a:t>
            </a:r>
            <a:endParaRPr i="1" sz="1200" u="sng">
              <a:solidFill>
                <a:srgbClr val="999999"/>
              </a:solidFill>
              <a:highlight>
                <a:srgbClr val="FFFFFF"/>
              </a:highlight>
              <a:latin typeface="EB Garamond Medium"/>
              <a:ea typeface="EB Garamond Medium"/>
              <a:cs typeface="EB Garamond Medium"/>
              <a:sym typeface="EB Garamond Medium"/>
            </a:endParaRPr>
          </a:p>
          <a:p>
            <a:pPr indent="-304800" lvl="1" marL="9144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Figtree Medium"/>
              <a:buChar char="○"/>
            </a:pPr>
            <a:r>
              <a:rPr lang="en" sz="1200">
                <a:solidFill>
                  <a:srgbClr val="6AA84F"/>
                </a:solidFill>
                <a:highlight>
                  <a:srgbClr val="FFFFFF"/>
                </a:highlight>
              </a:rPr>
              <a:t>process causality and topology</a:t>
            </a:r>
            <a:endParaRPr sz="1200">
              <a:solidFill>
                <a:srgbClr val="6AA84F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lnSpc>
                <a:spcPct val="12391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</a:pPr>
            <a:r>
              <a:rPr lang="en" sz="1200">
                <a:solidFill>
                  <a:schemeClr val="accent2"/>
                </a:solidFill>
                <a:highlight>
                  <a:srgbClr val="FFFFFF"/>
                </a:highlight>
              </a:rPr>
              <a:t>search algorithm</a:t>
            </a:r>
            <a:endParaRPr sz="1200">
              <a:solidFill>
                <a:schemeClr val="accent2"/>
              </a:solidFill>
              <a:highlight>
                <a:srgbClr val="FFFFFF"/>
              </a:highlight>
            </a:endParaRPr>
          </a:p>
        </p:txBody>
      </p:sp>
      <p:sp>
        <p:nvSpPr>
          <p:cNvPr id="408" name="Google Shape;408;p44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44"/>
          <p:cNvSpPr txBox="1"/>
          <p:nvPr/>
        </p:nvSpPr>
        <p:spPr>
          <a:xfrm>
            <a:off x="-7650" y="4665675"/>
            <a:ext cx="915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Non-released Dataset</a:t>
            </a:r>
            <a:endParaRPr i="1" sz="12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10" name="Google Shape;410;p44"/>
          <p:cNvSpPr txBox="1"/>
          <p:nvPr/>
        </p:nvSpPr>
        <p:spPr>
          <a:xfrm>
            <a:off x="-7650" y="4860725"/>
            <a:ext cx="9159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434343"/>
                </a:solidFill>
                <a:latin typeface="Figtree"/>
                <a:ea typeface="Figtree"/>
                <a:cs typeface="Figtree"/>
                <a:sym typeface="Figtree"/>
              </a:rPr>
              <a:t>[59] [60] [61] [62] [63]</a:t>
            </a:r>
            <a:endParaRPr sz="700">
              <a:solidFill>
                <a:srgbClr val="434343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416" name="Google Shape;416;p45"/>
          <p:cNvSpPr txBox="1"/>
          <p:nvPr>
            <p:ph idx="1" type="body"/>
          </p:nvPr>
        </p:nvSpPr>
        <p:spPr>
          <a:xfrm>
            <a:off x="720000" y="1152475"/>
            <a:ext cx="7704000" cy="36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Dataset &amp; Method</a:t>
            </a:r>
            <a:endParaRPr b="1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●"/>
            </a:pPr>
            <a:r>
              <a:rPr b="1" lang="en">
                <a:solidFill>
                  <a:schemeClr val="accent3"/>
                </a:solidFill>
              </a:rPr>
              <a:t>Conclusion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417" name="Google Shape;417;p45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Conclusion</a:t>
            </a:r>
            <a:endParaRPr sz="2600"/>
          </a:p>
        </p:txBody>
      </p:sp>
      <p:sp>
        <p:nvSpPr>
          <p:cNvPr id="423" name="Google Shape;423;p46"/>
          <p:cNvSpPr txBox="1"/>
          <p:nvPr>
            <p:ph idx="1" type="body"/>
          </p:nvPr>
        </p:nvSpPr>
        <p:spPr>
          <a:xfrm>
            <a:off x="491275" y="850825"/>
            <a:ext cx="8065500" cy="38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●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Dataset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Tennessee Eastman Process(化學廠)</a:t>
            </a:r>
            <a:r>
              <a:rPr lang="en" sz="1400">
                <a:solidFill>
                  <a:srgbClr val="999999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</a:t>
            </a:r>
            <a:r>
              <a:rPr i="1" lang="en" sz="1400" u="sng">
                <a:solidFill>
                  <a:srgbClr val="999999"/>
                </a:solidFill>
                <a:latin typeface="Figtree Medium"/>
                <a:ea typeface="Figtree Medium"/>
                <a:cs typeface="Figtree Medium"/>
                <a:sym typeface="Figtree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Download Dataset</a:t>
            </a:r>
            <a:r>
              <a:rPr lang="en" sz="1400">
                <a:solidFill>
                  <a:srgbClr val="999999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</a:t>
            </a:r>
            <a:endParaRPr sz="1400">
              <a:solidFill>
                <a:srgbClr val="999999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Commercial semiconductor manufacturing plant (半導體)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Fluid Catalytic Cracking unit (流化催化裂化裝置)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Mineral concentrator plants (礦廠)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highlight>
                  <a:schemeClr val="lt1"/>
                </a:highlight>
                <a:latin typeface="Figtree Medium"/>
                <a:ea typeface="Figtree Medium"/>
                <a:cs typeface="Figtree Medium"/>
                <a:sym typeface="Figtree Medium"/>
              </a:rPr>
              <a:t>Chemical Stirred-tank Reactor (化學攪拌釜反應器)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Industrial board machine (工業造紙機) 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●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Conclusion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The papers mentioned are old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●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Next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Find recently work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Medium"/>
              <a:buChar char="○"/>
            </a:pPr>
            <a:r>
              <a:rPr lang="en" sz="1400">
                <a:latin typeface="Figtree Medium"/>
                <a:ea typeface="Figtree Medium"/>
                <a:cs typeface="Figtree Medium"/>
                <a:sym typeface="Figtree Medium"/>
              </a:rPr>
              <a:t>Understand the usage method</a:t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424" name="Google Shape;424;p46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7"/>
          <p:cNvSpPr txBox="1"/>
          <p:nvPr>
            <p:ph type="ctrTitle"/>
          </p:nvPr>
        </p:nvSpPr>
        <p:spPr>
          <a:xfrm>
            <a:off x="0" y="1558000"/>
            <a:ext cx="9144000" cy="188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END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430" name="Google Shape;430;p47"/>
          <p:cNvSpPr txBox="1"/>
          <p:nvPr/>
        </p:nvSpPr>
        <p:spPr>
          <a:xfrm>
            <a:off x="2814800" y="3230000"/>
            <a:ext cx="382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E9E9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31" name="Google Shape;431;p47"/>
          <p:cNvSpPr txBox="1"/>
          <p:nvPr>
            <p:ph idx="12" type="sldNum"/>
          </p:nvPr>
        </p:nvSpPr>
        <p:spPr>
          <a:xfrm>
            <a:off x="8556784" y="46736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nital HPV Infection Breakthrough by Slidesgo">
  <a:themeElements>
    <a:clrScheme name="Simple Light">
      <a:dk1>
        <a:srgbClr val="191919"/>
      </a:dk1>
      <a:lt1>
        <a:srgbClr val="FFFFFF"/>
      </a:lt1>
      <a:dk2>
        <a:srgbClr val="92B7D6"/>
      </a:dk2>
      <a:lt2>
        <a:srgbClr val="EBAD80"/>
      </a:lt2>
      <a:accent1>
        <a:srgbClr val="D6D6D6"/>
      </a:accent1>
      <a:accent2>
        <a:srgbClr val="519AD4"/>
      </a:accent2>
      <a:accent3>
        <a:srgbClr val="EE924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