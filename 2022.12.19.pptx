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691759-D57A-4DDB-A0F9-CEF69D74D4C2}">
  <a:tblStyle styleId="{5D691759-D57A-4DDB-A0F9-CEF69D74D4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a97ba48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a97ba48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50c9d72f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50c9d72f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8664a98b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8664a98b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0c9d72f6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0c9d72f6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518a9747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518a9747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18a97474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18a97474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18a97474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18a97474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50c9d72f6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50c9d72f6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5dcf2329f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5dcf2329f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dcf2329fd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5dcf2329fd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5dcf2329fd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5dcf2329fd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5dcf2329fd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5dcf2329fd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59598e9ac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59598e9ac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59598e9ac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59598e9ac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59598e9ac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59598e9ac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726e9952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726e9952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774e982c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774e982c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774e982c7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774e982c7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74e982c7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74e982c7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5a51d5e6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5a51d5e6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602ab227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602ab227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602ab227a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602ab227a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602ab227a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602ab227a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602ab227a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602ab227a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602ab227a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602ab227a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163830bf54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163830bf54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610c598d5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610c598d5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628cac19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628cac19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628cac193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628cac19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610c598d5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610c598d5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610c598d5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610c598d5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5a51d5e6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5a51d5e6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63830bf54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63830bf54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b3ceed3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b3ceed3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726e9952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726e9952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7291854ac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7291854a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7291854ac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7291854ac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7291854ac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7291854ac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7291854ac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7291854ac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6b3ceed3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6b3ceed3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63830bf5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63830bf5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17291854ac0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17291854ac0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7291854ac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7291854ac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17291854ac0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17291854ac0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a4efc5212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1a4efc5212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17291854ac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17291854ac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17291854ac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17291854ac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1a4efc5212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1a4efc5212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a4efc5212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a4efc5212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a4efc5212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a4efc5212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7291854ac0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17291854ac0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7291854ac0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7291854ac0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17291854ac0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17291854ac0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17291854ac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17291854ac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17291854ac0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17291854ac0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17291854ac0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17291854ac0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17291854ac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17291854ac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17291854ac0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17291854ac0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17291854ac0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17291854ac0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1b5e67a435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1b5e67a435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b5e67a43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b5e67a43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774e982c70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1774e982c70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1774e982c7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1774e982c7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17291854ac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17291854ac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12a97ba48c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12a97ba48c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150b0879d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150b0879d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1be5d3347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1be5d3347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50b0879d2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50b0879d2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1b89219f44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1b89219f4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1b89219f44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1b89219f44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1b89219f44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1b89219f44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1b89219f44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1b89219f4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1b89219f44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1b89219f44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b89219f44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b89219f44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1b89219f44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1b89219f44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1b89219f44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1b89219f44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1b89219f44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1b89219f44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1b89219f44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1b89219f44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1be5d3347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1be5d3347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1be5d33472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1be5d3347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57199" y="324017"/>
            <a:ext cx="82295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 sz="1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132590"/>
            <a:ext cx="8229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11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1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7071122" y="4970151"/>
            <a:ext cx="1028700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2431256" y="4972467"/>
            <a:ext cx="4281488" cy="17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58200" y="4967835"/>
            <a:ext cx="685800" cy="17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scikit-learn.org/stable/modules/outlier_detection.html" TargetMode="External"/><Relationship Id="rId4" Type="http://schemas.openxmlformats.org/officeDocument/2006/relationships/image" Target="../media/image2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–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727950" y="3205450"/>
            <a:ext cx="7688100" cy="11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2022/12/19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</a:t>
            </a:r>
            <a:endParaRPr/>
          </a:p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Unsupervised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Offline or Online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Online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type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Changelog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/>
                        <a:t>System log (kubernetes-related)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Application log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Multiple sources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time mismatch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lphaL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log sparsity issue (error message)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Log parsing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Causality/Interpretability/Explainability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7"/>
          <p:cNvSpPr txBox="1"/>
          <p:nvPr/>
        </p:nvSpPr>
        <p:spPr>
          <a:xfrm>
            <a:off x="562450" y="4659925"/>
            <a:ext cx="79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Keywords: microservices, causal graph, root cause analysis, causal inference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Settings (New)</a:t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2687000"/>
                <a:gridCol w="455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 or Unsupervised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AD or RCA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RCA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Offline or 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9E9E9E"/>
                          </a:solidFill>
                        </a:rPr>
                        <a:t>Online</a:t>
                      </a:r>
                      <a:endParaRPr>
                        <a:solidFill>
                          <a:srgbClr val="9E9E9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Metric + Log + Trace + Activities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Others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Graph-based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GNN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Self-supervised Learning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90" name="Google Shape;90;p18"/>
          <p:cNvSpPr txBox="1"/>
          <p:nvPr/>
        </p:nvSpPr>
        <p:spPr>
          <a:xfrm>
            <a:off x="1040675" y="4110300"/>
            <a:ext cx="61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Metric: intra-service, inter-service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Activities: code deployment, ML model deployment, configuration changes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Two main things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Implementation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MicroHECL with TSMC dataset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strike="sngStrike"/>
              <a:t>DeepTraLog with TrainTicket (Anomaly Detection)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Groot (?)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Jason’s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Create a graph using 4 data 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Log, Trace, Metric, Activities (heterogeneous graph? multi-level node?)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GNN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RCA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Self-supervised learning (contrastive learning)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</a:t>
            </a:r>
            <a:endParaRPr/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105" name="Google Shape;105;p20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06" name="Google Shape;106;p20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07" name="Google Shape;107;p20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108" name="Google Shape;108;p20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10" name="Google Shape;110;p20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11" name="Google Shape;111;p20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12" name="Google Shape;112;p20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113" name="Google Shape;113;p20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114" name="Google Shape;114;p20"/>
          <p:cNvCxnSpPr>
            <a:stCxn id="104" idx="6"/>
            <a:endCxn id="106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" name="Google Shape;115;p20"/>
          <p:cNvCxnSpPr>
            <a:stCxn id="106" idx="6"/>
            <a:endCxn id="108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" name="Google Shape;116;p20"/>
          <p:cNvCxnSpPr>
            <a:stCxn id="108" idx="6"/>
            <a:endCxn id="110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" name="Google Shape;117;p20"/>
          <p:cNvCxnSpPr>
            <a:stCxn id="110" idx="6"/>
            <a:endCxn id="112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" name="Google Shape;118;p20"/>
          <p:cNvCxnSpPr>
            <a:stCxn id="105" idx="6"/>
            <a:endCxn id="107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20"/>
          <p:cNvCxnSpPr>
            <a:stCxn id="107" idx="6"/>
            <a:endCxn id="109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20"/>
          <p:cNvCxnSpPr>
            <a:stCxn id="104" idx="6"/>
            <a:endCxn id="107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" name="Google Shape;121;p20"/>
          <p:cNvCxnSpPr>
            <a:stCxn id="108" idx="6"/>
            <a:endCxn id="111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" name="Google Shape;122;p20"/>
          <p:cNvCxnSpPr>
            <a:stCxn id="110" idx="6"/>
            <a:endCxn id="113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" name="Google Shape;123;p20"/>
          <p:cNvCxnSpPr>
            <a:stCxn id="107" idx="6"/>
            <a:endCxn id="108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24" name="Google Shape;124;p20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Google Shape;125;p20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20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Google Shape;127;p20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Google Shape;128;p20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Google Shape;129;p20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Google Shape;130;p20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" name="Google Shape;131;p20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" name="Google Shape;132;p20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Google Shape;133;p20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20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20"/>
          <p:cNvGraphicFramePr/>
          <p:nvPr/>
        </p:nvGraphicFramePr>
        <p:xfrm>
          <a:off x="7209075" y="1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0"/>
          <p:cNvSpPr txBox="1"/>
          <p:nvPr/>
        </p:nvSpPr>
        <p:spPr>
          <a:xfrm>
            <a:off x="6632972" y="97631"/>
            <a:ext cx="64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7148575" y="777850"/>
            <a:ext cx="16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10:00 10:05     …     11:00</a:t>
            </a:r>
            <a:endParaRPr sz="1000"/>
          </a:p>
        </p:txBody>
      </p:sp>
      <p:sp>
        <p:nvSpPr>
          <p:cNvPr id="138" name="Google Shape;138;p20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4980675" y="4669025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KPIs</a:t>
            </a:r>
            <a:r>
              <a:rPr lang="zh-TW"/>
              <a:t>:       past 60 min </a:t>
            </a:r>
            <a:r>
              <a:rPr lang="zh-TW">
                <a:solidFill>
                  <a:schemeClr val="dk1"/>
                </a:solidFill>
              </a:rPr>
              <a:t>(7/1 10:00~11:00)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</a:t>
            </a:r>
            <a:r>
              <a:rPr lang="zh-TW"/>
              <a:t>: past 30 min (7/1 10:30~11:00)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</a:t>
            </a:r>
            <a:endParaRPr/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48" name="Google Shape;148;p21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49" name="Google Shape;149;p21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50" name="Google Shape;150;p21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51" name="Google Shape;151;p21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53" name="Google Shape;153;p21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54" name="Google Shape;154;p21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55" name="Google Shape;155;p21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56" name="Google Shape;156;p21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57" name="Google Shape;157;p21"/>
          <p:cNvCxnSpPr>
            <a:stCxn id="147" idx="6"/>
            <a:endCxn id="149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p21"/>
          <p:cNvCxnSpPr>
            <a:stCxn id="149" idx="6"/>
            <a:endCxn id="151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21"/>
          <p:cNvCxnSpPr>
            <a:stCxn id="151" idx="6"/>
            <a:endCxn id="153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21"/>
          <p:cNvCxnSpPr>
            <a:stCxn id="153" idx="6"/>
            <a:endCxn id="155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21"/>
          <p:cNvCxnSpPr>
            <a:stCxn id="148" idx="6"/>
            <a:endCxn id="150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21"/>
          <p:cNvCxnSpPr>
            <a:stCxn id="150" idx="6"/>
            <a:endCxn id="152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" name="Google Shape;163;p21"/>
          <p:cNvCxnSpPr>
            <a:stCxn id="147" idx="6"/>
            <a:endCxn id="150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21"/>
          <p:cNvCxnSpPr>
            <a:stCxn id="151" idx="6"/>
            <a:endCxn id="154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21"/>
          <p:cNvCxnSpPr>
            <a:stCxn id="153" idx="6"/>
            <a:endCxn id="156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" name="Google Shape;166;p21"/>
          <p:cNvCxnSpPr>
            <a:stCxn id="150" idx="6"/>
            <a:endCxn id="151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67" name="Google Shape;167;p21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Google Shape;168;p21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1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1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1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Google Shape;172;p21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Google Shape;173;p21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1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21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1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1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Candidate Root Cause Ranking</a:t>
            </a:r>
            <a:endParaRPr/>
          </a:p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88" name="Google Shape;188;p2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89" name="Google Shape;189;p2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90" name="Google Shape;190;p2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91" name="Google Shape;191;p2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93" name="Google Shape;193;p2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94" name="Google Shape;194;p2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95" name="Google Shape;195;p2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96" name="Google Shape;196;p2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97" name="Google Shape;197;p22"/>
          <p:cNvCxnSpPr>
            <a:stCxn id="187" idx="6"/>
            <a:endCxn id="189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2"/>
          <p:cNvCxnSpPr>
            <a:stCxn id="189" idx="6"/>
            <a:endCxn id="191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2"/>
          <p:cNvCxnSpPr>
            <a:stCxn id="191" idx="6"/>
            <a:endCxn id="193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" name="Google Shape;200;p22"/>
          <p:cNvCxnSpPr>
            <a:stCxn id="193" idx="6"/>
            <a:endCxn id="195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" name="Google Shape;201;p22"/>
          <p:cNvCxnSpPr>
            <a:stCxn id="188" idx="6"/>
            <a:endCxn id="190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p22"/>
          <p:cNvCxnSpPr>
            <a:stCxn id="190" idx="6"/>
            <a:endCxn id="192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" name="Google Shape;203;p22"/>
          <p:cNvCxnSpPr>
            <a:stCxn id="187" idx="6"/>
            <a:endCxn id="190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2"/>
          <p:cNvCxnSpPr>
            <a:stCxn id="191" idx="6"/>
            <a:endCxn id="194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2"/>
          <p:cNvCxnSpPr>
            <a:stCxn id="193" idx="6"/>
            <a:endCxn id="196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2"/>
          <p:cNvCxnSpPr>
            <a:stCxn id="190" idx="6"/>
            <a:endCxn id="191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07" name="Google Shape;207;p2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Google Shape;208;p2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2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Google Shape;212;p2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3" name="Google Shape;213;p2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2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" name="Google Shape;217;p2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22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 flipH="1" rot="10800000">
            <a:off x="2110975" y="1178725"/>
            <a:ext cx="15753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" name="Google Shape;222;p22"/>
          <p:cNvCxnSpPr/>
          <p:nvPr/>
        </p:nvCxnSpPr>
        <p:spPr>
          <a:xfrm>
            <a:off x="5411400" y="1178725"/>
            <a:ext cx="11787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5218525" y="1417013"/>
            <a:ext cx="1296600" cy="1615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" name="Google Shape;224;p22"/>
          <p:cNvSpPr txBox="1"/>
          <p:nvPr/>
        </p:nvSpPr>
        <p:spPr>
          <a:xfrm>
            <a:off x="5400875" y="37242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AA84F"/>
                </a:solidFill>
              </a:rPr>
              <a:t>Pearson correlation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230" name="Google Shape;2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Service Call Graph Construction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trigger_point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topology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Service Anomaly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 </a:t>
            </a:r>
            <a:endParaRPr/>
          </a:p>
        </p:txBody>
      </p:sp>
      <p:sp>
        <p:nvSpPr>
          <p:cNvPr id="231" name="Google Shape;2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trigger point</a:t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24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335250" y="1550175"/>
            <a:ext cx="337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get_trigger_point</a:t>
            </a:r>
            <a:r>
              <a:rPr lang="zh-TW"/>
              <a:t>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rgbClr val="1155CC"/>
                </a:solidFill>
              </a:rPr>
              <a:t>trigger_point_path</a:t>
            </a:r>
            <a:r>
              <a:rPr lang="zh-TW"/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 strike="sngStrike">
                <a:solidFill>
                  <a:srgbClr val="1155CC"/>
                </a:solidFill>
              </a:rPr>
              <a:t>category</a:t>
            </a:r>
            <a:r>
              <a:rPr lang="zh-TW" strike="sngStrike"/>
              <a:t>: </a:t>
            </a:r>
            <a:r>
              <a:rPr lang="zh-TW" strike="sngStrike">
                <a:solidFill>
                  <a:srgbClr val="6AA84F"/>
                </a:solidFill>
              </a:rPr>
              <a:t>str </a:t>
            </a:r>
            <a:r>
              <a:rPr lang="zh-TW" strike="sngStrike"/>
              <a:t>= </a:t>
            </a:r>
            <a:r>
              <a:rPr lang="zh-TW" strike="sngStrike">
                <a:solidFill>
                  <a:srgbClr val="CC0000"/>
                </a:solidFill>
              </a:rPr>
              <a:t>‘iSOP’</a:t>
            </a:r>
            <a:r>
              <a:rPr lang="zh-TW" strike="sngStrike"/>
              <a:t>,</a:t>
            </a:r>
            <a:endParaRPr strike="sng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‘wfauto-cim-order-api’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155CC"/>
                </a:solidFill>
              </a:rPr>
              <a:t>    threshold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float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0.3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trigger_point_index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 </a:t>
            </a:r>
            <a:r>
              <a:rPr lang="zh-TW">
                <a:solidFill>
                  <a:schemeClr val="dk1"/>
                </a:solidFill>
              </a:rPr>
              <a:t>= </a:t>
            </a:r>
            <a:r>
              <a:rPr lang="zh-TW">
                <a:solidFill>
                  <a:srgbClr val="CC0000"/>
                </a:solidFill>
              </a:rPr>
              <a:t>-1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Dict:</a:t>
            </a:r>
            <a:endParaRPr/>
          </a:p>
        </p:txBody>
      </p:sp>
      <p:graphicFrame>
        <p:nvGraphicFramePr>
          <p:cNvPr id="242" name="Google Shape;242;p24"/>
          <p:cNvGraphicFramePr/>
          <p:nvPr/>
        </p:nvGraphicFramePr>
        <p:xfrm>
          <a:off x="175425" y="3206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2004800"/>
                <a:gridCol w="844000"/>
                <a:gridCol w="1822025"/>
                <a:gridCol w="901100"/>
                <a:gridCol w="1935800"/>
                <a:gridCol w="1057500"/>
              </a:tblGrid>
              <a:tr h="29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NAME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RESULT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DETECT_TIME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2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service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…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4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iSOP-wfauto-cim-order-api(開單成功率 - 分類)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0.25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2022-09-05 00:25:00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iSOP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wfauto-cim-order-api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6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iSOP-wfauto-cim-order-api(開單成功率 - 分類)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2022-09-15 14:50:00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iSOP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wfauto-cim-order-api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43" name="Google Shape;243;p24"/>
          <p:cNvSpPr/>
          <p:nvPr/>
        </p:nvSpPr>
        <p:spPr>
          <a:xfrm>
            <a:off x="111000" y="4462626"/>
            <a:ext cx="8721300" cy="601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topolopy</a:t>
            </a:r>
            <a:endParaRPr/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251" name="Google Shape;251;p25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252" name="Google Shape;252;p25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253" name="Google Shape;253;p25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254" name="Google Shape;254;p25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256" name="Google Shape;256;p25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257" name="Google Shape;257;p25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258" name="Google Shape;258;p25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259" name="Google Shape;259;p25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260" name="Google Shape;260;p25"/>
          <p:cNvCxnSpPr>
            <a:stCxn id="250" idx="6"/>
            <a:endCxn id="252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" name="Google Shape;261;p25"/>
          <p:cNvCxnSpPr>
            <a:stCxn id="252" idx="6"/>
            <a:endCxn id="254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" name="Google Shape;262;p25"/>
          <p:cNvCxnSpPr>
            <a:stCxn id="254" idx="6"/>
            <a:endCxn id="256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" name="Google Shape;263;p25"/>
          <p:cNvCxnSpPr>
            <a:stCxn id="256" idx="6"/>
            <a:endCxn id="258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" name="Google Shape;264;p25"/>
          <p:cNvCxnSpPr>
            <a:stCxn id="251" idx="6"/>
            <a:endCxn id="253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25"/>
          <p:cNvCxnSpPr>
            <a:stCxn id="253" idx="6"/>
            <a:endCxn id="255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" name="Google Shape;266;p25"/>
          <p:cNvCxnSpPr>
            <a:stCxn id="250" idx="6"/>
            <a:endCxn id="253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" name="Google Shape;267;p25"/>
          <p:cNvCxnSpPr>
            <a:stCxn id="254" idx="6"/>
            <a:endCxn id="257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" name="Google Shape;268;p25"/>
          <p:cNvCxnSpPr>
            <a:stCxn id="256" idx="6"/>
            <a:endCxn id="259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" name="Google Shape;269;p25"/>
          <p:cNvCxnSpPr>
            <a:stCxn id="253" idx="6"/>
            <a:endCxn id="254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70" name="Google Shape;270;p25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25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topology: past 30 min (7/1 10:30~11:00)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-55225" y="850825"/>
            <a:ext cx="337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get_topology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topology_path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/>
          <p:nvPr/>
        </p:nvSpPr>
        <p:spPr>
          <a:xfrm>
            <a:off x="3019500" y="1021300"/>
            <a:ext cx="6124500" cy="3642000"/>
          </a:xfrm>
          <a:prstGeom prst="roundRect">
            <a:avLst>
              <a:gd fmla="val 82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topolopy</a:t>
            </a:r>
            <a:endParaRPr/>
          </a:p>
        </p:txBody>
      </p:sp>
      <p:sp>
        <p:nvSpPr>
          <p:cNvPr id="280" name="Google Shape;2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81" name="Google Shape;281;p26"/>
          <p:cNvGrpSpPr/>
          <p:nvPr/>
        </p:nvGrpSpPr>
        <p:grpSpPr>
          <a:xfrm>
            <a:off x="3027875" y="1170113"/>
            <a:ext cx="6033025" cy="1298675"/>
            <a:chOff x="3027875" y="1170113"/>
            <a:chExt cx="6033025" cy="1298675"/>
          </a:xfrm>
        </p:grpSpPr>
        <p:cxnSp>
          <p:nvCxnSpPr>
            <p:cNvPr id="282" name="Google Shape;282;p26"/>
            <p:cNvCxnSpPr>
              <a:stCxn id="283" idx="6"/>
              <a:endCxn id="284" idx="2"/>
            </p:cNvCxnSpPr>
            <p:nvPr/>
          </p:nvCxnSpPr>
          <p:spPr>
            <a:xfrm>
              <a:off x="580500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85" name="Google Shape;285;p26"/>
            <p:cNvCxnSpPr>
              <a:stCxn id="284" idx="6"/>
              <a:endCxn id="286" idx="2"/>
            </p:cNvCxnSpPr>
            <p:nvPr/>
          </p:nvCxnSpPr>
          <p:spPr>
            <a:xfrm>
              <a:off x="689025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87" name="Google Shape;287;p26"/>
            <p:cNvCxnSpPr>
              <a:stCxn id="286" idx="6"/>
              <a:endCxn id="288" idx="2"/>
            </p:cNvCxnSpPr>
            <p:nvPr/>
          </p:nvCxnSpPr>
          <p:spPr>
            <a:xfrm>
              <a:off x="7975500" y="14188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289" name="Google Shape;289;p26"/>
            <p:cNvGrpSpPr/>
            <p:nvPr/>
          </p:nvGrpSpPr>
          <p:grpSpPr>
            <a:xfrm>
              <a:off x="3027875" y="1170113"/>
              <a:ext cx="6033025" cy="1298675"/>
              <a:chOff x="3027875" y="1322513"/>
              <a:chExt cx="6033025" cy="1298675"/>
            </a:xfrm>
          </p:grpSpPr>
          <p:sp>
            <p:nvSpPr>
              <p:cNvPr id="290" name="Google Shape;290;p26"/>
              <p:cNvSpPr txBox="1"/>
              <p:nvPr/>
            </p:nvSpPr>
            <p:spPr>
              <a:xfrm>
                <a:off x="3027875" y="1752125"/>
                <a:ext cx="984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7/1 10:05</a:t>
                </a:r>
                <a:endParaRPr/>
              </a:p>
            </p:txBody>
          </p:sp>
          <p:cxnSp>
            <p:nvCxnSpPr>
              <p:cNvPr id="291" name="Google Shape;291;p26"/>
              <p:cNvCxnSpPr>
                <a:stCxn id="292" idx="6"/>
                <a:endCxn id="283" idx="2"/>
              </p:cNvCxnSpPr>
              <p:nvPr/>
            </p:nvCxnSpPr>
            <p:spPr>
              <a:xfrm>
                <a:off x="4719750" y="1571213"/>
                <a:ext cx="345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293" name="Google Shape;293;p26"/>
              <p:cNvGrpSpPr/>
              <p:nvPr/>
            </p:nvGrpSpPr>
            <p:grpSpPr>
              <a:xfrm>
                <a:off x="3980250" y="1322513"/>
                <a:ext cx="5080650" cy="1298675"/>
                <a:chOff x="3802950" y="1406663"/>
                <a:chExt cx="5080650" cy="1298675"/>
              </a:xfrm>
            </p:grpSpPr>
            <p:sp>
              <p:nvSpPr>
                <p:cNvPr id="292" name="Google Shape;292;p26"/>
                <p:cNvSpPr/>
                <p:nvPr/>
              </p:nvSpPr>
              <p:spPr>
                <a:xfrm>
                  <a:off x="38029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1</a:t>
                  </a:r>
                  <a:endParaRPr b="1" baseline="-25000" sz="1800"/>
                </a:p>
              </p:txBody>
            </p:sp>
            <p:sp>
              <p:nvSpPr>
                <p:cNvPr id="294" name="Google Shape;294;p26"/>
                <p:cNvSpPr/>
                <p:nvPr/>
              </p:nvSpPr>
              <p:spPr>
                <a:xfrm>
                  <a:off x="380295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2</a:t>
                  </a:r>
                  <a:endParaRPr b="1" baseline="-25000" sz="1800"/>
                </a:p>
              </p:txBody>
            </p:sp>
            <p:sp>
              <p:nvSpPr>
                <p:cNvPr id="283" name="Google Shape;283;p26"/>
                <p:cNvSpPr/>
                <p:nvPr/>
              </p:nvSpPr>
              <p:spPr>
                <a:xfrm>
                  <a:off x="488820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3</a:t>
                  </a:r>
                  <a:endParaRPr b="1" baseline="-25000" sz="1800"/>
                </a:p>
              </p:txBody>
            </p:sp>
            <p:sp>
              <p:nvSpPr>
                <p:cNvPr id="295" name="Google Shape;295;p26"/>
                <p:cNvSpPr/>
                <p:nvPr/>
              </p:nvSpPr>
              <p:spPr>
                <a:xfrm>
                  <a:off x="48882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4</a:t>
                  </a:r>
                  <a:endParaRPr b="1" baseline="-25000" sz="1800"/>
                </a:p>
              </p:txBody>
            </p:sp>
            <p:sp>
              <p:nvSpPr>
                <p:cNvPr id="284" name="Google Shape;284;p26"/>
                <p:cNvSpPr/>
                <p:nvPr/>
              </p:nvSpPr>
              <p:spPr>
                <a:xfrm>
                  <a:off x="59734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>
                      <a:solidFill>
                        <a:schemeClr val="dk1"/>
                      </a:solidFill>
                    </a:rPr>
                    <a:t>S</a:t>
                  </a:r>
                  <a:r>
                    <a:rPr b="1" baseline="-25000" lang="zh-TW" sz="1800">
                      <a:solidFill>
                        <a:schemeClr val="dk1"/>
                      </a:solidFill>
                    </a:rPr>
                    <a:t>5</a:t>
                  </a:r>
                  <a:endParaRPr b="1" sz="1800"/>
                </a:p>
              </p:txBody>
            </p:sp>
            <p:sp>
              <p:nvSpPr>
                <p:cNvPr id="296" name="Google Shape;296;p26"/>
                <p:cNvSpPr/>
                <p:nvPr/>
              </p:nvSpPr>
              <p:spPr>
                <a:xfrm>
                  <a:off x="59556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6</a:t>
                  </a:r>
                  <a:endParaRPr b="1" baseline="-25000" sz="1800"/>
                </a:p>
              </p:txBody>
            </p:sp>
            <p:sp>
              <p:nvSpPr>
                <p:cNvPr id="286" name="Google Shape;286;p26"/>
                <p:cNvSpPr/>
                <p:nvPr/>
              </p:nvSpPr>
              <p:spPr>
                <a:xfrm>
                  <a:off x="705870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7</a:t>
                  </a:r>
                  <a:endParaRPr b="1" baseline="-25000" sz="1800"/>
                </a:p>
              </p:txBody>
            </p:sp>
            <p:sp>
              <p:nvSpPr>
                <p:cNvPr id="297" name="Google Shape;297;p26"/>
                <p:cNvSpPr/>
                <p:nvPr/>
              </p:nvSpPr>
              <p:spPr>
                <a:xfrm>
                  <a:off x="70587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8</a:t>
                  </a:r>
                  <a:endParaRPr b="1" baseline="-25000" sz="1800"/>
                </a:p>
              </p:txBody>
            </p:sp>
            <p:sp>
              <p:nvSpPr>
                <p:cNvPr id="288" name="Google Shape;288;p26"/>
                <p:cNvSpPr/>
                <p:nvPr/>
              </p:nvSpPr>
              <p:spPr>
                <a:xfrm>
                  <a:off x="8143950" y="1406663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9</a:t>
                  </a:r>
                  <a:endParaRPr b="1" baseline="-25000" sz="1800"/>
                </a:p>
              </p:txBody>
            </p:sp>
            <p:sp>
              <p:nvSpPr>
                <p:cNvPr id="298" name="Google Shape;298;p26"/>
                <p:cNvSpPr/>
                <p:nvPr/>
              </p:nvSpPr>
              <p:spPr>
                <a:xfrm>
                  <a:off x="8144100" y="2207938"/>
                  <a:ext cx="739500" cy="4974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zh-TW" sz="1800"/>
                    <a:t>S</a:t>
                  </a:r>
                  <a:r>
                    <a:rPr b="1" baseline="-25000" lang="zh-TW" sz="1800"/>
                    <a:t>10</a:t>
                  </a:r>
                  <a:endParaRPr b="1" baseline="-25000" sz="1800"/>
                </a:p>
              </p:txBody>
            </p:sp>
            <p:cxnSp>
              <p:nvCxnSpPr>
                <p:cNvPr id="299" name="Google Shape;299;p26"/>
                <p:cNvCxnSpPr>
                  <a:stCxn id="294" idx="6"/>
                  <a:endCxn id="295" idx="2"/>
                </p:cNvCxnSpPr>
                <p:nvPr/>
              </p:nvCxnSpPr>
              <p:spPr>
                <a:xfrm>
                  <a:off x="4542450" y="2456638"/>
                  <a:ext cx="34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0" name="Google Shape;300;p26"/>
                <p:cNvCxnSpPr>
                  <a:stCxn id="295" idx="6"/>
                  <a:endCxn id="296" idx="2"/>
                </p:cNvCxnSpPr>
                <p:nvPr/>
              </p:nvCxnSpPr>
              <p:spPr>
                <a:xfrm>
                  <a:off x="5627700" y="2456638"/>
                  <a:ext cx="327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1" name="Google Shape;301;p26"/>
                <p:cNvCxnSpPr>
                  <a:stCxn id="292" idx="6"/>
                  <a:endCxn id="295" idx="2"/>
                </p:cNvCxnSpPr>
                <p:nvPr/>
              </p:nvCxnSpPr>
              <p:spPr>
                <a:xfrm>
                  <a:off x="454245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2" name="Google Shape;302;p26"/>
                <p:cNvCxnSpPr>
                  <a:stCxn id="284" idx="6"/>
                  <a:endCxn id="297" idx="2"/>
                </p:cNvCxnSpPr>
                <p:nvPr/>
              </p:nvCxnSpPr>
              <p:spPr>
                <a:xfrm>
                  <a:off x="671295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3" name="Google Shape;303;p26"/>
                <p:cNvCxnSpPr>
                  <a:stCxn id="286" idx="6"/>
                  <a:endCxn id="298" idx="2"/>
                </p:cNvCxnSpPr>
                <p:nvPr/>
              </p:nvCxnSpPr>
              <p:spPr>
                <a:xfrm>
                  <a:off x="7798200" y="1655363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304" name="Google Shape;304;p26"/>
                <p:cNvCxnSpPr>
                  <a:stCxn id="295" idx="6"/>
                  <a:endCxn id="284" idx="2"/>
                </p:cNvCxnSpPr>
                <p:nvPr/>
              </p:nvCxnSpPr>
              <p:spPr>
                <a:xfrm flipH="1" rot="10800000">
                  <a:off x="5627700" y="1655338"/>
                  <a:ext cx="345900" cy="801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</p:grpSp>
        </p:grpSp>
      </p:grpSp>
      <p:grpSp>
        <p:nvGrpSpPr>
          <p:cNvPr id="305" name="Google Shape;305;p26"/>
          <p:cNvGrpSpPr/>
          <p:nvPr/>
        </p:nvGrpSpPr>
        <p:grpSpPr>
          <a:xfrm>
            <a:off x="3027875" y="2670963"/>
            <a:ext cx="6033025" cy="1298675"/>
            <a:chOff x="3027875" y="1322513"/>
            <a:chExt cx="6033025" cy="1298675"/>
          </a:xfrm>
        </p:grpSpPr>
        <p:sp>
          <p:nvSpPr>
            <p:cNvPr id="306" name="Google Shape;306;p26"/>
            <p:cNvSpPr txBox="1"/>
            <p:nvPr/>
          </p:nvSpPr>
          <p:spPr>
            <a:xfrm>
              <a:off x="3027875" y="1752125"/>
              <a:ext cx="98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7/1 10:10</a:t>
              </a:r>
              <a:endParaRPr/>
            </a:p>
          </p:txBody>
        </p:sp>
        <p:cxnSp>
          <p:nvCxnSpPr>
            <p:cNvPr id="307" name="Google Shape;307;p26"/>
            <p:cNvCxnSpPr>
              <a:stCxn id="308" idx="6"/>
              <a:endCxn id="309" idx="2"/>
            </p:cNvCxnSpPr>
            <p:nvPr/>
          </p:nvCxnSpPr>
          <p:spPr>
            <a:xfrm>
              <a:off x="4719750" y="1571213"/>
              <a:ext cx="3459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grpSp>
          <p:nvGrpSpPr>
            <p:cNvPr id="310" name="Google Shape;310;p26"/>
            <p:cNvGrpSpPr/>
            <p:nvPr/>
          </p:nvGrpSpPr>
          <p:grpSpPr>
            <a:xfrm>
              <a:off x="3980250" y="1322513"/>
              <a:ext cx="5080650" cy="1298675"/>
              <a:chOff x="3802950" y="1406663"/>
              <a:chExt cx="5080650" cy="1298675"/>
            </a:xfrm>
          </p:grpSpPr>
          <p:sp>
            <p:nvSpPr>
              <p:cNvPr id="308" name="Google Shape;308;p26"/>
              <p:cNvSpPr/>
              <p:nvPr/>
            </p:nvSpPr>
            <p:spPr>
              <a:xfrm>
                <a:off x="38029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311" name="Google Shape;311;p26"/>
              <p:cNvSpPr/>
              <p:nvPr/>
            </p:nvSpPr>
            <p:spPr>
              <a:xfrm>
                <a:off x="380295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>
                <a:off x="488820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3</a:t>
                </a:r>
                <a:endParaRPr b="1" baseline="-25000" sz="1800"/>
              </a:p>
            </p:txBody>
          </p:sp>
          <p:sp>
            <p:nvSpPr>
              <p:cNvPr id="312" name="Google Shape;312;p26"/>
              <p:cNvSpPr/>
              <p:nvPr/>
            </p:nvSpPr>
            <p:spPr>
              <a:xfrm>
                <a:off x="48882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4</a:t>
                </a:r>
                <a:endParaRPr b="1" baseline="-25000" sz="1800"/>
              </a:p>
            </p:txBody>
          </p:sp>
          <p:sp>
            <p:nvSpPr>
              <p:cNvPr id="313" name="Google Shape;313;p26"/>
              <p:cNvSpPr/>
              <p:nvPr/>
            </p:nvSpPr>
            <p:spPr>
              <a:xfrm>
                <a:off x="59734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5</a:t>
                </a:r>
                <a:endParaRPr b="1" sz="1800"/>
              </a:p>
            </p:txBody>
          </p:sp>
          <p:sp>
            <p:nvSpPr>
              <p:cNvPr id="314" name="Google Shape;314;p26"/>
              <p:cNvSpPr/>
              <p:nvPr/>
            </p:nvSpPr>
            <p:spPr>
              <a:xfrm>
                <a:off x="59556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6</a:t>
                </a:r>
                <a:endParaRPr b="1" baseline="-25000" sz="1800"/>
              </a:p>
            </p:txBody>
          </p:sp>
          <p:sp>
            <p:nvSpPr>
              <p:cNvPr id="315" name="Google Shape;315;p26"/>
              <p:cNvSpPr/>
              <p:nvPr/>
            </p:nvSpPr>
            <p:spPr>
              <a:xfrm>
                <a:off x="705870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7</a:t>
                </a:r>
                <a:endParaRPr b="1" baseline="-25000" sz="1800"/>
              </a:p>
            </p:txBody>
          </p:sp>
          <p:sp>
            <p:nvSpPr>
              <p:cNvPr id="316" name="Google Shape;316;p26"/>
              <p:cNvSpPr/>
              <p:nvPr/>
            </p:nvSpPr>
            <p:spPr>
              <a:xfrm>
                <a:off x="70587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8</a:t>
                </a:r>
                <a:endParaRPr b="1" baseline="-25000" sz="1800"/>
              </a:p>
            </p:txBody>
          </p:sp>
          <p:sp>
            <p:nvSpPr>
              <p:cNvPr id="317" name="Google Shape;317;p26"/>
              <p:cNvSpPr/>
              <p:nvPr/>
            </p:nvSpPr>
            <p:spPr>
              <a:xfrm>
                <a:off x="8143950" y="1406663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9</a:t>
                </a:r>
                <a:endParaRPr b="1" baseline="-25000" sz="1800"/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8144100" y="2207938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10</a:t>
                </a:r>
                <a:endParaRPr b="1" baseline="-25000" sz="1800"/>
              </a:p>
            </p:txBody>
          </p:sp>
          <p:cxnSp>
            <p:nvCxnSpPr>
              <p:cNvPr id="319" name="Google Shape;319;p26"/>
              <p:cNvCxnSpPr>
                <a:stCxn id="312" idx="6"/>
                <a:endCxn id="314" idx="2"/>
              </p:cNvCxnSpPr>
              <p:nvPr/>
            </p:nvCxnSpPr>
            <p:spPr>
              <a:xfrm>
                <a:off x="5627700" y="2456638"/>
                <a:ext cx="327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0" name="Google Shape;320;p26"/>
              <p:cNvCxnSpPr>
                <a:stCxn id="308" idx="6"/>
                <a:endCxn id="312" idx="2"/>
              </p:cNvCxnSpPr>
              <p:nvPr/>
            </p:nvCxnSpPr>
            <p:spPr>
              <a:xfrm>
                <a:off x="454245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1" name="Google Shape;321;p26"/>
              <p:cNvCxnSpPr>
                <a:stCxn id="313" idx="6"/>
                <a:endCxn id="316" idx="2"/>
              </p:cNvCxnSpPr>
              <p:nvPr/>
            </p:nvCxnSpPr>
            <p:spPr>
              <a:xfrm>
                <a:off x="671295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2" name="Google Shape;322;p26"/>
              <p:cNvCxnSpPr>
                <a:stCxn id="315" idx="6"/>
                <a:endCxn id="318" idx="2"/>
              </p:cNvCxnSpPr>
              <p:nvPr/>
            </p:nvCxnSpPr>
            <p:spPr>
              <a:xfrm>
                <a:off x="7798200" y="1655363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323" name="Google Shape;323;p26"/>
              <p:cNvCxnSpPr>
                <a:stCxn id="312" idx="6"/>
                <a:endCxn id="313" idx="2"/>
              </p:cNvCxnSpPr>
              <p:nvPr/>
            </p:nvCxnSpPr>
            <p:spPr>
              <a:xfrm flipH="1" rot="10800000">
                <a:off x="5627700" y="1655338"/>
                <a:ext cx="345900" cy="80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</p:grpSp>
      <p:sp>
        <p:nvSpPr>
          <p:cNvPr id="324" name="Google Shape;324;p26"/>
          <p:cNvSpPr txBox="1"/>
          <p:nvPr/>
        </p:nvSpPr>
        <p:spPr>
          <a:xfrm rot="5400000">
            <a:off x="6320775" y="4157875"/>
            <a:ext cx="37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…</a:t>
            </a:r>
            <a:endParaRPr b="1"/>
          </a:p>
        </p:txBody>
      </p:sp>
      <p:sp>
        <p:nvSpPr>
          <p:cNvPr id="325" name="Google Shape;325;p26"/>
          <p:cNvSpPr txBox="1"/>
          <p:nvPr/>
        </p:nvSpPr>
        <p:spPr>
          <a:xfrm>
            <a:off x="-76200" y="2781575"/>
            <a:ext cx="3167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Find the topologies that’s follow the time legitimacy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Graph-preprocessing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Drop useless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Set trigger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Drop isolated nodes (check weakly-connected)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Merge all topologies into one single topology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compose, not union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-55225" y="850825"/>
            <a:ext cx="337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get_topology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topology_path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topology_lookback_window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service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str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332" name="Google Shape;3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3" name="Google Shape;333;p27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334" name="Google Shape;334;p27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335" name="Google Shape;335;p27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336" name="Google Shape;336;p27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337" name="Google Shape;337;p27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339" name="Google Shape;339;p27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340" name="Google Shape;340;p27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341" name="Google Shape;341;p27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342" name="Google Shape;342;p27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343" name="Google Shape;343;p27"/>
          <p:cNvCxnSpPr>
            <a:stCxn id="333" idx="6"/>
            <a:endCxn id="335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27"/>
          <p:cNvCxnSpPr>
            <a:stCxn id="335" idx="6"/>
            <a:endCxn id="337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5" name="Google Shape;345;p27"/>
          <p:cNvCxnSpPr>
            <a:stCxn id="337" idx="6"/>
            <a:endCxn id="339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6" name="Google Shape;346;p27"/>
          <p:cNvCxnSpPr>
            <a:stCxn id="339" idx="6"/>
            <a:endCxn id="341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7" name="Google Shape;347;p27"/>
          <p:cNvCxnSpPr>
            <a:stCxn id="334" idx="6"/>
            <a:endCxn id="336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8" name="Google Shape;348;p27"/>
          <p:cNvCxnSpPr>
            <a:stCxn id="336" idx="6"/>
            <a:endCxn id="338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9" name="Google Shape;349;p27"/>
          <p:cNvCxnSpPr>
            <a:stCxn id="333" idx="6"/>
            <a:endCxn id="336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27"/>
          <p:cNvCxnSpPr>
            <a:stCxn id="337" idx="6"/>
            <a:endCxn id="340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1" name="Google Shape;351;p27"/>
          <p:cNvCxnSpPr>
            <a:stCxn id="339" idx="6"/>
            <a:endCxn id="342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2" name="Google Shape;352;p27"/>
          <p:cNvCxnSpPr>
            <a:stCxn id="336" idx="6"/>
            <a:endCxn id="337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353" name="Google Shape;353;p27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4" name="Google Shape;354;p27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5" name="Google Shape;355;p27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6" name="Google Shape;356;p27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7" name="Google Shape;357;p27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8" name="Google Shape;358;p27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" name="Google Shape;359;p27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0" name="Google Shape;360;p27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1" name="Google Shape;361;p27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2" name="Google Shape;362;p27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3" name="Google Shape;363;p27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Google Shape;364;p27"/>
          <p:cNvGraphicFramePr/>
          <p:nvPr/>
        </p:nvGraphicFramePr>
        <p:xfrm>
          <a:off x="7209075" y="17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5" name="Google Shape;365;p27"/>
          <p:cNvSpPr txBox="1"/>
          <p:nvPr/>
        </p:nvSpPr>
        <p:spPr>
          <a:xfrm>
            <a:off x="6632972" y="97631"/>
            <a:ext cx="642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7148575" y="777850"/>
            <a:ext cx="16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10:00 10:05     …     11:00</a:t>
            </a:r>
            <a:endParaRPr sz="1000"/>
          </a:p>
        </p:txBody>
      </p:sp>
      <p:sp>
        <p:nvSpPr>
          <p:cNvPr id="367" name="Google Shape;367;p27"/>
          <p:cNvSpPr txBox="1"/>
          <p:nvPr/>
        </p:nvSpPr>
        <p:spPr>
          <a:xfrm>
            <a:off x="2761650" y="971425"/>
            <a:ext cx="9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7/1 11:00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4980675" y="4669025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KPIs:       past 60 min </a:t>
            </a:r>
            <a:r>
              <a:rPr lang="zh-TW">
                <a:solidFill>
                  <a:schemeClr val="dk1"/>
                </a:solidFill>
              </a:rPr>
              <a:t>(7/1 10:00~11:00)</a:t>
            </a:r>
            <a:endParaRPr/>
          </a:p>
        </p:txBody>
      </p:sp>
      <p:sp>
        <p:nvSpPr>
          <p:cNvPr id="369" name="Google Shape;369;p27"/>
          <p:cNvSpPr txBox="1"/>
          <p:nvPr/>
        </p:nvSpPr>
        <p:spPr>
          <a:xfrm>
            <a:off x="4980675" y="4356250"/>
            <a:ext cx="370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topology: past 30 min (7/1 10:30~11:00)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"/>
          <p:cNvSpPr/>
          <p:nvPr/>
        </p:nvSpPr>
        <p:spPr>
          <a:xfrm>
            <a:off x="2381650" y="938525"/>
            <a:ext cx="6639600" cy="2004000"/>
          </a:xfrm>
          <a:prstGeom prst="roundRect">
            <a:avLst>
              <a:gd fmla="val 82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376" name="Google Shape;37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-55225" y="850825"/>
            <a:ext cx="281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accumulate_KPI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KPI_path_dict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Dict[str, str]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Dict[str, Dict]: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4841975" y="975525"/>
            <a:ext cx="39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time                  value                          attr</a:t>
            </a:r>
            <a:endParaRPr b="1"/>
          </a:p>
        </p:txBody>
      </p:sp>
      <p:grpSp>
        <p:nvGrpSpPr>
          <p:cNvPr id="379" name="Google Shape;379;p28"/>
          <p:cNvGrpSpPr/>
          <p:nvPr/>
        </p:nvGrpSpPr>
        <p:grpSpPr>
          <a:xfrm>
            <a:off x="2500250" y="1418875"/>
            <a:ext cx="6533750" cy="615600"/>
            <a:chOff x="3719450" y="1723675"/>
            <a:chExt cx="6533750" cy="615600"/>
          </a:xfrm>
        </p:grpSpPr>
        <p:sp>
          <p:nvSpPr>
            <p:cNvPr id="380" name="Google Shape;380;p28"/>
            <p:cNvSpPr/>
            <p:nvPr/>
          </p:nvSpPr>
          <p:spPr>
            <a:xfrm>
              <a:off x="371945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510950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82" name="Google Shape;382;p28"/>
            <p:cNvCxnSpPr>
              <a:stCxn id="380" idx="6"/>
              <a:endCxn id="381" idx="2"/>
            </p:cNvCxnSpPr>
            <p:nvPr/>
          </p:nvCxnSpPr>
          <p:spPr>
            <a:xfrm>
              <a:off x="4458950" y="19999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83" name="Google Shape;383;p28"/>
            <p:cNvSpPr txBox="1"/>
            <p:nvPr/>
          </p:nvSpPr>
          <p:spPr>
            <a:xfrm>
              <a:off x="5908775" y="1723675"/>
              <a:ext cx="109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2022-07-01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08:00:37</a:t>
              </a:r>
              <a:endParaRPr/>
            </a:p>
          </p:txBody>
        </p:sp>
        <p:sp>
          <p:nvSpPr>
            <p:cNvPr id="384" name="Google Shape;384;p28"/>
            <p:cNvSpPr txBox="1"/>
            <p:nvPr/>
          </p:nvSpPr>
          <p:spPr>
            <a:xfrm>
              <a:off x="7345050" y="1831375"/>
              <a:ext cx="68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12.6</a:t>
              </a:r>
              <a:endParaRPr/>
            </a:p>
          </p:txBody>
        </p:sp>
        <p:sp>
          <p:nvSpPr>
            <p:cNvPr id="385" name="Google Shape;385;p28"/>
            <p:cNvSpPr txBox="1"/>
            <p:nvPr/>
          </p:nvSpPr>
          <p:spPr>
            <a:xfrm>
              <a:off x="8469700" y="17236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grpSp>
        <p:nvGrpSpPr>
          <p:cNvPr id="386" name="Google Shape;386;p28"/>
          <p:cNvGrpSpPr/>
          <p:nvPr/>
        </p:nvGrpSpPr>
        <p:grpSpPr>
          <a:xfrm>
            <a:off x="2500250" y="2123025"/>
            <a:ext cx="6533750" cy="615600"/>
            <a:chOff x="3719450" y="1723675"/>
            <a:chExt cx="6533750" cy="615600"/>
          </a:xfrm>
        </p:grpSpPr>
        <p:sp>
          <p:nvSpPr>
            <p:cNvPr id="387" name="Google Shape;387;p28"/>
            <p:cNvSpPr/>
            <p:nvPr/>
          </p:nvSpPr>
          <p:spPr>
            <a:xfrm>
              <a:off x="371945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5109500" y="17512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89" name="Google Shape;389;p28"/>
            <p:cNvCxnSpPr>
              <a:stCxn id="387" idx="6"/>
              <a:endCxn id="388" idx="2"/>
            </p:cNvCxnSpPr>
            <p:nvPr/>
          </p:nvCxnSpPr>
          <p:spPr>
            <a:xfrm>
              <a:off x="4458950" y="19999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90" name="Google Shape;390;p28"/>
            <p:cNvSpPr txBox="1"/>
            <p:nvPr/>
          </p:nvSpPr>
          <p:spPr>
            <a:xfrm>
              <a:off x="5908775" y="1723675"/>
              <a:ext cx="109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2022-07-01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13:42:56</a:t>
              </a:r>
              <a:endParaRPr/>
            </a:p>
          </p:txBody>
        </p:sp>
        <p:sp>
          <p:nvSpPr>
            <p:cNvPr id="391" name="Google Shape;391;p28"/>
            <p:cNvSpPr txBox="1"/>
            <p:nvPr/>
          </p:nvSpPr>
          <p:spPr>
            <a:xfrm>
              <a:off x="7345050" y="1831375"/>
              <a:ext cx="68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14.9</a:t>
              </a:r>
              <a:endParaRPr/>
            </a:p>
          </p:txBody>
        </p:sp>
        <p:sp>
          <p:nvSpPr>
            <p:cNvPr id="392" name="Google Shape;392;p28"/>
            <p:cNvSpPr txBox="1"/>
            <p:nvPr/>
          </p:nvSpPr>
          <p:spPr>
            <a:xfrm>
              <a:off x="8469700" y="17236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sp>
        <p:nvSpPr>
          <p:cNvPr id="393" name="Google Shape;393;p28"/>
          <p:cNvSpPr txBox="1"/>
          <p:nvPr/>
        </p:nvSpPr>
        <p:spPr>
          <a:xfrm rot="5400000">
            <a:off x="6280525" y="2455375"/>
            <a:ext cx="3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…</a:t>
            </a:r>
            <a:endParaRPr sz="2400"/>
          </a:p>
        </p:txBody>
      </p:sp>
      <p:grpSp>
        <p:nvGrpSpPr>
          <p:cNvPr id="394" name="Google Shape;394;p28"/>
          <p:cNvGrpSpPr/>
          <p:nvPr/>
        </p:nvGrpSpPr>
        <p:grpSpPr>
          <a:xfrm>
            <a:off x="2500250" y="3954125"/>
            <a:ext cx="2129550" cy="497400"/>
            <a:chOff x="3719450" y="2360875"/>
            <a:chExt cx="2129550" cy="497400"/>
          </a:xfrm>
        </p:grpSpPr>
        <p:sp>
          <p:nvSpPr>
            <p:cNvPr id="395" name="Google Shape;395;p28"/>
            <p:cNvSpPr/>
            <p:nvPr/>
          </p:nvSpPr>
          <p:spPr>
            <a:xfrm>
              <a:off x="371945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510950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397" name="Google Shape;397;p28"/>
            <p:cNvCxnSpPr>
              <a:stCxn id="395" idx="6"/>
              <a:endCxn id="396" idx="2"/>
            </p:cNvCxnSpPr>
            <p:nvPr/>
          </p:nvCxnSpPr>
          <p:spPr>
            <a:xfrm>
              <a:off x="4458950" y="26095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398" name="Google Shape;398;p28"/>
          <p:cNvSpPr/>
          <p:nvPr/>
        </p:nvSpPr>
        <p:spPr>
          <a:xfrm>
            <a:off x="1659675" y="2531050"/>
            <a:ext cx="554100" cy="13248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9" name="Google Shape;399;p28"/>
          <p:cNvGraphicFramePr/>
          <p:nvPr/>
        </p:nvGraphicFramePr>
        <p:xfrm>
          <a:off x="4729125" y="300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2639125"/>
                <a:gridCol w="1659300"/>
              </a:tblGrid>
              <a:tr h="1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time_series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117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[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{‘time’: 2022-07-01 08:00:37,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‘value’: 12.6},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{‘time’: 2022-07-01 13:42:56,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‘value’: 14.9},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'source_app': xxx,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405" name="Google Shape;40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-55225" y="850825"/>
            <a:ext cx="337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accent1"/>
                </a:solidFill>
              </a:rPr>
              <a:t>def</a:t>
            </a:r>
            <a:r>
              <a:rPr lang="zh-TW"/>
              <a:t> </a:t>
            </a:r>
            <a:r>
              <a:rPr lang="zh-TW">
                <a:solidFill>
                  <a:srgbClr val="F1C232"/>
                </a:solidFill>
              </a:rPr>
              <a:t>set_KPI</a:t>
            </a:r>
            <a:r>
              <a:rPr lang="zh-TW"/>
              <a:t>(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G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nx.classes.digraph.Digraph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155CC"/>
                </a:solidFill>
              </a:rPr>
              <a:t>    KPI_dict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Dict[str, Dict]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trigger_time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datetime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KPI_lookback_window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</a:t>
            </a:r>
            <a:r>
              <a:rPr lang="zh-TW">
                <a:solidFill>
                  <a:srgbClr val="1155CC"/>
                </a:solidFill>
              </a:rPr>
              <a:t>sample_r</a:t>
            </a:r>
            <a:r>
              <a:rPr lang="zh-TW">
                <a:solidFill>
                  <a:srgbClr val="1155CC"/>
                </a:solidFill>
              </a:rPr>
              <a:t>ate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>
                <a:solidFill>
                  <a:srgbClr val="6AA84F"/>
                </a:solidFill>
              </a:rPr>
              <a:t>int</a:t>
            </a:r>
            <a:r>
              <a:rPr lang="zh-TW">
                <a:solidFill>
                  <a:schemeClr val="dk1"/>
                </a:solidFill>
              </a:rPr>
              <a:t>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) -&gt; nx.classes.digraph.DiGraph:</a:t>
            </a:r>
            <a:endParaRPr/>
          </a:p>
        </p:txBody>
      </p:sp>
      <p:graphicFrame>
        <p:nvGraphicFramePr>
          <p:cNvPr id="407" name="Google Shape;407;p29"/>
          <p:cNvGraphicFramePr/>
          <p:nvPr/>
        </p:nvGraphicFramePr>
        <p:xfrm>
          <a:off x="311700" y="3506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2004800"/>
                <a:gridCol w="844000"/>
              </a:tblGrid>
              <a:tr h="25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time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/>
                        <a:t>value</a:t>
                      </a:r>
                      <a:endParaRPr b="1"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2022-07-01 10:00:00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0.25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…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</a:rPr>
                        <a:t>2022-07-01 11:00:00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/>
                        <a:t>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08" name="Google Shape;408;p29"/>
          <p:cNvGrpSpPr/>
          <p:nvPr/>
        </p:nvGrpSpPr>
        <p:grpSpPr>
          <a:xfrm>
            <a:off x="3719450" y="3393125"/>
            <a:ext cx="5619350" cy="615600"/>
            <a:chOff x="3719450" y="3545525"/>
            <a:chExt cx="5619350" cy="615600"/>
          </a:xfrm>
        </p:grpSpPr>
        <p:grpSp>
          <p:nvGrpSpPr>
            <p:cNvPr id="409" name="Google Shape;409;p29"/>
            <p:cNvGrpSpPr/>
            <p:nvPr/>
          </p:nvGrpSpPr>
          <p:grpSpPr>
            <a:xfrm>
              <a:off x="3719450" y="3545525"/>
              <a:ext cx="5619350" cy="615600"/>
              <a:chOff x="3719450" y="1723675"/>
              <a:chExt cx="5619350" cy="615600"/>
            </a:xfrm>
          </p:grpSpPr>
          <p:sp>
            <p:nvSpPr>
              <p:cNvPr id="410" name="Google Shape;410;p29"/>
              <p:cNvSpPr/>
              <p:nvPr/>
            </p:nvSpPr>
            <p:spPr>
              <a:xfrm>
                <a:off x="3719450" y="1751275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5109500" y="1751275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3</a:t>
                </a:r>
                <a:endParaRPr b="1" baseline="-25000" sz="1800"/>
              </a:p>
            </p:txBody>
          </p:sp>
          <p:cxnSp>
            <p:nvCxnSpPr>
              <p:cNvPr id="412" name="Google Shape;412;p29"/>
              <p:cNvCxnSpPr>
                <a:stCxn id="410" idx="6"/>
                <a:endCxn id="411" idx="2"/>
              </p:cNvCxnSpPr>
              <p:nvPr/>
            </p:nvCxnSpPr>
            <p:spPr>
              <a:xfrm>
                <a:off x="4458950" y="1999975"/>
                <a:ext cx="650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413" name="Google Shape;413;p29"/>
              <p:cNvSpPr txBox="1"/>
              <p:nvPr/>
            </p:nvSpPr>
            <p:spPr>
              <a:xfrm>
                <a:off x="7555300" y="1723675"/>
                <a:ext cx="17835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{'source_app': xxx,</a:t>
                </a:r>
                <a:endParaRPr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 …}</a:t>
                </a:r>
                <a:endParaRPr/>
              </a:p>
            </p:txBody>
          </p:sp>
        </p:grpSp>
        <p:sp>
          <p:nvSpPr>
            <p:cNvPr id="414" name="Google Shape;414;p29"/>
            <p:cNvSpPr/>
            <p:nvPr/>
          </p:nvSpPr>
          <p:spPr>
            <a:xfrm>
              <a:off x="6098175" y="3566975"/>
              <a:ext cx="1417608" cy="572724"/>
            </a:xfrm>
            <a:prstGeom prst="irregularSeal1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15" name="Google Shape;415;p29"/>
          <p:cNvCxnSpPr/>
          <p:nvPr/>
        </p:nvCxnSpPr>
        <p:spPr>
          <a:xfrm flipH="1">
            <a:off x="3219500" y="3914975"/>
            <a:ext cx="30711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6" name="Google Shape;416;p29"/>
          <p:cNvSpPr txBox="1"/>
          <p:nvPr/>
        </p:nvSpPr>
        <p:spPr>
          <a:xfrm>
            <a:off x="4572000" y="4230175"/>
            <a:ext cx="349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create df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>
                <a:solidFill>
                  <a:schemeClr val="dk1"/>
                </a:solidFill>
              </a:rPr>
              <a:t>df.resample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select corresponding time_range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5338500" y="0"/>
            <a:ext cx="38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What about the case that we don’t have any sample data in given time range?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6483000" y="2787075"/>
            <a:ext cx="370200" cy="52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p29"/>
          <p:cNvGrpSpPr/>
          <p:nvPr/>
        </p:nvGrpSpPr>
        <p:grpSpPr>
          <a:xfrm>
            <a:off x="3719450" y="878525"/>
            <a:ext cx="5619350" cy="1908600"/>
            <a:chOff x="3719450" y="1647475"/>
            <a:chExt cx="5619350" cy="1908600"/>
          </a:xfrm>
        </p:grpSpPr>
        <p:sp>
          <p:nvSpPr>
            <p:cNvPr id="420" name="Google Shape;420;p29"/>
            <p:cNvSpPr/>
            <p:nvPr/>
          </p:nvSpPr>
          <p:spPr>
            <a:xfrm>
              <a:off x="371945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1</a:t>
              </a:r>
              <a:endParaRPr b="1" baseline="-25000" sz="1800"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5109500" y="2360875"/>
              <a:ext cx="739500" cy="4974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1800"/>
                <a:t>S</a:t>
              </a:r>
              <a:r>
                <a:rPr b="1" baseline="-25000" lang="zh-TW" sz="1800"/>
                <a:t>3</a:t>
              </a:r>
              <a:endParaRPr b="1" baseline="-25000" sz="1800"/>
            </a:p>
          </p:txBody>
        </p:sp>
        <p:cxnSp>
          <p:nvCxnSpPr>
            <p:cNvPr id="422" name="Google Shape;422;p29"/>
            <p:cNvCxnSpPr>
              <a:stCxn id="420" idx="6"/>
              <a:endCxn id="421" idx="2"/>
            </p:cNvCxnSpPr>
            <p:nvPr/>
          </p:nvCxnSpPr>
          <p:spPr>
            <a:xfrm>
              <a:off x="4458950" y="2609575"/>
              <a:ext cx="6507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23" name="Google Shape;423;p29"/>
            <p:cNvSpPr txBox="1"/>
            <p:nvPr/>
          </p:nvSpPr>
          <p:spPr>
            <a:xfrm>
              <a:off x="5908775" y="1647475"/>
              <a:ext cx="20247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[{‘time’: 2022-07-01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            08:00:37,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 ‘value’: 12.6}, 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</a:t>
              </a:r>
              <a:r>
                <a:rPr lang="zh-TW">
                  <a:solidFill>
                    <a:schemeClr val="dk1"/>
                  </a:solidFill>
                </a:rPr>
                <a:t>{‘time’: 2022-07-01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             13:42:56, 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  ‘value’: 14.9},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…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]</a:t>
              </a:r>
              <a:endParaRPr/>
            </a:p>
          </p:txBody>
        </p:sp>
        <p:sp>
          <p:nvSpPr>
            <p:cNvPr id="424" name="Google Shape;424;p29"/>
            <p:cNvSpPr txBox="1"/>
            <p:nvPr/>
          </p:nvSpPr>
          <p:spPr>
            <a:xfrm>
              <a:off x="7555300" y="2333275"/>
              <a:ext cx="1783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{'source_app': xxx,</a:t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 …}</a:t>
              </a:r>
              <a:endParaRPr/>
            </a:p>
          </p:txBody>
        </p:sp>
      </p:grpSp>
      <p:sp>
        <p:nvSpPr>
          <p:cNvPr id="425" name="Google Shape;425;p29"/>
          <p:cNvSpPr txBox="1"/>
          <p:nvPr/>
        </p:nvSpPr>
        <p:spPr>
          <a:xfrm>
            <a:off x="3621300" y="2771475"/>
            <a:ext cx="29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i</a:t>
            </a:r>
            <a:r>
              <a:rPr lang="zh-TW">
                <a:solidFill>
                  <a:srgbClr val="FF0000"/>
                </a:solidFill>
              </a:rPr>
              <a:t>f we have this (KPI_name, edge)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KPI</a:t>
            </a:r>
            <a:endParaRPr/>
          </a:p>
        </p:txBody>
      </p:sp>
      <p:sp>
        <p:nvSpPr>
          <p:cNvPr id="431" name="Google Shape;43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32" name="Google Shape;4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1152463"/>
            <a:ext cx="6696075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0"/>
          <p:cNvSpPr txBox="1"/>
          <p:nvPr/>
        </p:nvSpPr>
        <p:spPr>
          <a:xfrm>
            <a:off x="5338500" y="0"/>
            <a:ext cx="38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What about the case that we don’t have any sample data in given time range?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6181800" y="691800"/>
            <a:ext cx="32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accent5"/>
                </a:solidFill>
              </a:rPr>
              <a:t>We only allow RT, EC to be empty.</a:t>
            </a:r>
            <a:endParaRPr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1. Service Call Graph Construction - Problems</a:t>
            </a:r>
            <a:endParaRPr/>
          </a:p>
        </p:txBody>
      </p:sp>
      <p:sp>
        <p:nvSpPr>
          <p:cNvPr id="440" name="Google Shape;44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3 data source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trigger_point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AutoNum type="alphaLcPeriod"/>
            </a:pPr>
            <a:r>
              <a:rPr lang="zh-TW">
                <a:solidFill>
                  <a:schemeClr val="accent5"/>
                </a:solidFill>
              </a:rPr>
              <a:t>topology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</a:pPr>
            <a:r>
              <a:rPr lang="zh-TW">
                <a:solidFill>
                  <a:schemeClr val="accent1"/>
                </a:solidFill>
              </a:rPr>
              <a:t>KPI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can select ‘iSOP’ for </a:t>
            </a:r>
            <a:r>
              <a:rPr lang="zh-TW">
                <a:solidFill>
                  <a:srgbClr val="FF0000"/>
                </a:solidFill>
              </a:rPr>
              <a:t>trigger_point</a:t>
            </a:r>
            <a:r>
              <a:rPr lang="zh-TW"/>
              <a:t>, but for </a:t>
            </a:r>
            <a:r>
              <a:rPr lang="zh-TW">
                <a:solidFill>
                  <a:schemeClr val="accent5"/>
                </a:solidFill>
              </a:rPr>
              <a:t>topology</a:t>
            </a:r>
            <a:r>
              <a:rPr lang="zh-TW"/>
              <a:t> and </a:t>
            </a:r>
            <a:r>
              <a:rPr lang="zh-TW">
                <a:solidFill>
                  <a:schemeClr val="accent1"/>
                </a:solidFill>
              </a:rPr>
              <a:t>KPI</a:t>
            </a:r>
            <a:r>
              <a:rPr lang="zh-TW"/>
              <a:t>, we can only get the aggregated data across all categories</a:t>
            </a:r>
            <a:endParaRPr/>
          </a:p>
        </p:txBody>
      </p:sp>
      <p:sp>
        <p:nvSpPr>
          <p:cNvPr id="441" name="Google Shape;44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442" name="Google Shape;442;p31"/>
          <p:cNvGraphicFramePr/>
          <p:nvPr/>
        </p:nvGraphicFramePr>
        <p:xfrm>
          <a:off x="849700" y="31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486550"/>
                <a:gridCol w="2060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Data Source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Grouped by Category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trigger_point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topology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KPI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3" name="Google Shape;443;p31"/>
          <p:cNvSpPr txBox="1"/>
          <p:nvPr/>
        </p:nvSpPr>
        <p:spPr>
          <a:xfrm>
            <a:off x="4604700" y="4703625"/>
            <a:ext cx="9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Solution</a:t>
            </a:r>
            <a:endParaRPr>
              <a:solidFill>
                <a:srgbClr val="FF0000"/>
              </a:solidFill>
            </a:endParaRPr>
          </a:p>
        </p:txBody>
      </p:sp>
      <p:graphicFrame>
        <p:nvGraphicFramePr>
          <p:cNvPr id="444" name="Google Shape;444;p31"/>
          <p:cNvGraphicFramePr/>
          <p:nvPr/>
        </p:nvGraphicFramePr>
        <p:xfrm>
          <a:off x="4393425" y="31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688750"/>
                <a:gridCol w="653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Ideal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Now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V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X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5"/>
                          </a:solidFill>
                        </a:rPr>
                        <a:t>V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V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>
                    <a:lnR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31"/>
          <p:cNvSpPr txBox="1"/>
          <p:nvPr/>
        </p:nvSpPr>
        <p:spPr>
          <a:xfrm>
            <a:off x="5905800" y="3533400"/>
            <a:ext cx="316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開單成功率 - 分類 → 開單成功率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Final Output</a:t>
            </a:r>
            <a:endParaRPr/>
          </a:p>
        </p:txBody>
      </p:sp>
      <p:sp>
        <p:nvSpPr>
          <p:cNvPr id="451" name="Google Shape;45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2" name="Google Shape;452;p32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453" name="Google Shape;453;p32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454" name="Google Shape;454;p32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455" name="Google Shape;455;p32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456" name="Google Shape;456;p32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458" name="Google Shape;458;p32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459" name="Google Shape;459;p32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460" name="Google Shape;460;p32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461" name="Google Shape;461;p32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462" name="Google Shape;462;p32"/>
          <p:cNvCxnSpPr>
            <a:stCxn id="452" idx="6"/>
            <a:endCxn id="454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3" name="Google Shape;463;p32"/>
          <p:cNvCxnSpPr>
            <a:stCxn id="454" idx="6"/>
            <a:endCxn id="456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4" name="Google Shape;464;p32"/>
          <p:cNvCxnSpPr>
            <a:stCxn id="456" idx="6"/>
            <a:endCxn id="458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5" name="Google Shape;465;p32"/>
          <p:cNvCxnSpPr>
            <a:stCxn id="458" idx="6"/>
            <a:endCxn id="460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6" name="Google Shape;466;p32"/>
          <p:cNvCxnSpPr>
            <a:stCxn id="453" idx="6"/>
            <a:endCxn id="455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7" name="Google Shape;467;p32"/>
          <p:cNvCxnSpPr>
            <a:stCxn id="455" idx="6"/>
            <a:endCxn id="457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" name="Google Shape;468;p32"/>
          <p:cNvCxnSpPr>
            <a:stCxn id="452" idx="6"/>
            <a:endCxn id="455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9" name="Google Shape;469;p32"/>
          <p:cNvCxnSpPr>
            <a:stCxn id="456" idx="6"/>
            <a:endCxn id="459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" name="Google Shape;470;p32"/>
          <p:cNvCxnSpPr>
            <a:stCxn id="458" idx="6"/>
            <a:endCxn id="461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" name="Google Shape;471;p32"/>
          <p:cNvCxnSpPr>
            <a:stCxn id="455" idx="6"/>
            <a:endCxn id="456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72" name="Google Shape;472;p32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32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32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5" name="Google Shape;475;p32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6" name="Google Shape;476;p32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7" name="Google Shape;477;p32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8" name="Google Shape;478;p32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9" name="Google Shape;479;p32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0" name="Google Shape;480;p32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1" name="Google Shape;481;p32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2" name="Google Shape;482;p32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3" name="Google Shape;483;p32"/>
          <p:cNvSpPr/>
          <p:nvPr/>
        </p:nvSpPr>
        <p:spPr>
          <a:xfrm>
            <a:off x="3587222" y="892699"/>
            <a:ext cx="3488275" cy="2047275"/>
          </a:xfrm>
          <a:custGeom>
            <a:rect b="b" l="l" r="r" t="t"/>
            <a:pathLst>
              <a:path extrusionOk="0" h="81891" w="139531">
                <a:moveTo>
                  <a:pt x="38710" y="2022"/>
                </a:moveTo>
                <a:cubicBezTo>
                  <a:pt x="26433" y="2022"/>
                  <a:pt x="11270" y="-3710"/>
                  <a:pt x="1948" y="4279"/>
                </a:cubicBezTo>
                <a:cubicBezTo>
                  <a:pt x="-6412" y="11443"/>
                  <a:pt x="15076" y="22803"/>
                  <a:pt x="17104" y="33624"/>
                </a:cubicBezTo>
                <a:cubicBezTo>
                  <a:pt x="19521" y="46518"/>
                  <a:pt x="8796" y="63691"/>
                  <a:pt x="18072" y="72967"/>
                </a:cubicBezTo>
                <a:cubicBezTo>
                  <a:pt x="21582" y="76477"/>
                  <a:pt x="27502" y="76071"/>
                  <a:pt x="32261" y="77481"/>
                </a:cubicBezTo>
                <a:cubicBezTo>
                  <a:pt x="45067" y="81276"/>
                  <a:pt x="58891" y="80061"/>
                  <a:pt x="72248" y="80061"/>
                </a:cubicBezTo>
                <a:cubicBezTo>
                  <a:pt x="90637" y="80061"/>
                  <a:pt x="110229" y="85053"/>
                  <a:pt x="127391" y="78449"/>
                </a:cubicBezTo>
                <a:cubicBezTo>
                  <a:pt x="131264" y="76959"/>
                  <a:pt x="133936" y="73334"/>
                  <a:pt x="137388" y="71032"/>
                </a:cubicBezTo>
                <a:cubicBezTo>
                  <a:pt x="141183" y="68502"/>
                  <a:pt x="139321" y="59905"/>
                  <a:pt x="135453" y="57488"/>
                </a:cubicBezTo>
                <a:cubicBezTo>
                  <a:pt x="129328" y="53661"/>
                  <a:pt x="117723" y="58465"/>
                  <a:pt x="114492" y="52006"/>
                </a:cubicBezTo>
                <a:cubicBezTo>
                  <a:pt x="109732" y="42489"/>
                  <a:pt x="117501" y="27929"/>
                  <a:pt x="109978" y="20403"/>
                </a:cubicBezTo>
                <a:cubicBezTo>
                  <a:pt x="105172" y="15595"/>
                  <a:pt x="96365" y="17603"/>
                  <a:pt x="90629" y="13953"/>
                </a:cubicBezTo>
                <a:cubicBezTo>
                  <a:pt x="83115" y="9172"/>
                  <a:pt x="74918" y="4700"/>
                  <a:pt x="66121" y="3312"/>
                </a:cubicBezTo>
                <a:cubicBezTo>
                  <a:pt x="58957" y="2181"/>
                  <a:pt x="51768" y="732"/>
                  <a:pt x="44515" y="732"/>
                </a:cubicBezTo>
                <a:cubicBezTo>
                  <a:pt x="42022" y="732"/>
                  <a:pt x="38482" y="-375"/>
                  <a:pt x="37098" y="1699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Node</a:t>
            </a:r>
            <a:endParaRPr/>
          </a:p>
        </p:txBody>
      </p:sp>
      <p:sp>
        <p:nvSpPr>
          <p:cNvPr id="489" name="Google Shape;48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5297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7220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cxnSp>
        <p:nvCxnSpPr>
          <p:cNvPr id="492" name="Google Shape;492;p33"/>
          <p:cNvCxnSpPr>
            <a:stCxn id="490" idx="6"/>
            <a:endCxn id="491" idx="2"/>
          </p:cNvCxnSpPr>
          <p:nvPr/>
        </p:nvCxnSpPr>
        <p:spPr>
          <a:xfrm>
            <a:off x="6036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493" name="Google Shape;493;p33"/>
          <p:cNvGraphicFramePr/>
          <p:nvPr/>
        </p:nvGraphicFramePr>
        <p:xfrm>
          <a:off x="4883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4" name="Google Shape;494;p33"/>
          <p:cNvGraphicFramePr/>
          <p:nvPr/>
        </p:nvGraphicFramePr>
        <p:xfrm>
          <a:off x="5862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5" name="Google Shape;495;p33"/>
          <p:cNvGraphicFramePr/>
          <p:nvPr/>
        </p:nvGraphicFramePr>
        <p:xfrm>
          <a:off x="170850" y="21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747775"/>
                <a:gridCol w="2793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node_id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node_attr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52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wfauto-order-api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‘id’: ‘83cffbdd-dd16-4b’,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‘namespace’: ‘wfauto-a’,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‘workload’: ‘wfauto-order-api’,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‘app’: ‘wfauto-order-api’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‘version’: ‘0.0.0’,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‘trigger_point’: True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chemeClr val="accent1"/>
                          </a:solidFill>
                        </a:rPr>
                        <a:t>‘trigger_time’: Timestamp,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  ‘trigger_value’: 0.5,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accent1"/>
                          </a:solidFill>
                        </a:rPr>
                        <a:t>  ‘business_KPI’: Series,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96" name="Google Shape;496;p33"/>
          <p:cNvGraphicFramePr/>
          <p:nvPr/>
        </p:nvGraphicFramePr>
        <p:xfrm>
          <a:off x="5156625" y="343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996600"/>
                <a:gridCol w="610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2022-09-25 02:00:00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2022-09-25 03:00:00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p33"/>
          <p:cNvSpPr txBox="1"/>
          <p:nvPr/>
        </p:nvSpPr>
        <p:spPr>
          <a:xfrm>
            <a:off x="5004225" y="2953800"/>
            <a:ext cx="296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Timestamp(‘</a:t>
            </a:r>
            <a:r>
              <a:rPr lang="zh-TW">
                <a:solidFill>
                  <a:schemeClr val="dk1"/>
                </a:solidFill>
              </a:rPr>
              <a:t>2022-09-25 03:00:00</a:t>
            </a:r>
            <a:r>
              <a:rPr lang="zh-TW"/>
              <a:t>’)</a:t>
            </a:r>
            <a:endParaRPr/>
          </a:p>
        </p:txBody>
      </p:sp>
      <p:cxnSp>
        <p:nvCxnSpPr>
          <p:cNvPr id="498" name="Google Shape;498;p33"/>
          <p:cNvCxnSpPr/>
          <p:nvPr/>
        </p:nvCxnSpPr>
        <p:spPr>
          <a:xfrm flipH="1" rot="10800000">
            <a:off x="4184125" y="3216250"/>
            <a:ext cx="851700" cy="10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33"/>
          <p:cNvCxnSpPr/>
          <p:nvPr/>
        </p:nvCxnSpPr>
        <p:spPr>
          <a:xfrm flipH="1" rot="10800000">
            <a:off x="3942275" y="4119450"/>
            <a:ext cx="980700" cy="54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Service Call Graph Construction - Edge</a:t>
            </a:r>
            <a:endParaRPr/>
          </a:p>
        </p:txBody>
      </p:sp>
      <p:sp>
        <p:nvSpPr>
          <p:cNvPr id="505" name="Google Shape;5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7220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cxnSp>
        <p:nvCxnSpPr>
          <p:cNvPr id="507" name="Google Shape;507;p34"/>
          <p:cNvCxnSpPr>
            <a:stCxn id="508" idx="6"/>
            <a:endCxn id="506" idx="2"/>
          </p:cNvCxnSpPr>
          <p:nvPr/>
        </p:nvCxnSpPr>
        <p:spPr>
          <a:xfrm>
            <a:off x="6036425" y="2488425"/>
            <a:ext cx="11841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09" name="Google Shape;509;p34"/>
          <p:cNvGraphicFramePr/>
          <p:nvPr/>
        </p:nvGraphicFramePr>
        <p:xfrm>
          <a:off x="4883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Google Shape;510;p34"/>
          <p:cNvGraphicFramePr/>
          <p:nvPr/>
        </p:nvGraphicFramePr>
        <p:xfrm>
          <a:off x="5862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1" name="Google Shape;511;p34"/>
          <p:cNvGraphicFramePr/>
          <p:nvPr/>
        </p:nvGraphicFramePr>
        <p:xfrm>
          <a:off x="170850" y="21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225900"/>
                <a:gridCol w="1225900"/>
                <a:gridCol w="25105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source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dest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edge</a:t>
                      </a:r>
                      <a:r>
                        <a:rPr b="1" lang="zh-TW"/>
                        <a:t>_attr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10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wfauto-order-api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wfauto-general-cfg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{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‘id’: ‘2a19b3de-8b13-43’,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‘RT: {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 ‘KPI’: Serie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s,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b="1" lang="zh-TW">
                          <a:solidFill>
                            <a:srgbClr val="FF0000"/>
                          </a:solidFill>
                        </a:rPr>
                        <a:t>anomalous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’: False,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       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zh-TW">
                          <a:solidFill>
                            <a:srgbClr val="FF0000"/>
                          </a:solidFill>
                        </a:rPr>
                        <a:t>‘EC’: {...},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  ‘QPS’: {...},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512" name="Google Shape;512;p34"/>
          <p:cNvGraphicFramePr/>
          <p:nvPr/>
        </p:nvGraphicFramePr>
        <p:xfrm>
          <a:off x="5758400" y="321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996600"/>
                <a:gridCol w="610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time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2022-09-25 02:00:00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</a:t>
                      </a:r>
                      <a:r>
                        <a:rPr lang="zh-TW"/>
                        <a:t>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2022-09-25 03:00:00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3" name="Google Shape;513;p34"/>
          <p:cNvCxnSpPr/>
          <p:nvPr/>
        </p:nvCxnSpPr>
        <p:spPr>
          <a:xfrm>
            <a:off x="4329250" y="3418250"/>
            <a:ext cx="12678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p34"/>
          <p:cNvSpPr/>
          <p:nvPr/>
        </p:nvSpPr>
        <p:spPr>
          <a:xfrm>
            <a:off x="5297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137050" y="1284663"/>
            <a:ext cx="464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label an edge as </a:t>
            </a:r>
            <a:r>
              <a:rPr b="1" lang="zh-TW">
                <a:solidFill>
                  <a:srgbClr val="FF0000"/>
                </a:solidFill>
              </a:rPr>
              <a:t>anomalous</a:t>
            </a:r>
            <a:r>
              <a:rPr lang="zh-TW"/>
              <a:t> iff it’s anomalous AND its KPI has a similar trend compared to previous edges.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521" name="Google Shape;52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</a:t>
            </a:r>
            <a:r>
              <a:rPr lang="zh-TW"/>
              <a:t>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Propagation Chain Analysis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Service Anomaly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</a:t>
            </a:r>
            <a:endParaRPr/>
          </a:p>
        </p:txBody>
      </p:sp>
      <p:sp>
        <p:nvSpPr>
          <p:cNvPr id="522" name="Google Shape;52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528" name="Google Shape;5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530" name="Google Shape;530;p36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31" name="Google Shape;531;p36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32" name="Google Shape;532;p36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533" name="Google Shape;533;p36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35" name="Google Shape;535;p36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36" name="Google Shape;536;p36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37" name="Google Shape;537;p36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538" name="Google Shape;538;p36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539" name="Google Shape;539;p36"/>
          <p:cNvCxnSpPr>
            <a:stCxn id="529" idx="6"/>
            <a:endCxn id="531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36"/>
          <p:cNvCxnSpPr>
            <a:stCxn id="531" idx="6"/>
            <a:endCxn id="533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1" name="Google Shape;541;p36"/>
          <p:cNvCxnSpPr>
            <a:stCxn id="533" idx="6"/>
            <a:endCxn id="535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2" name="Google Shape;542;p36"/>
          <p:cNvCxnSpPr>
            <a:stCxn id="535" idx="6"/>
            <a:endCxn id="537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3" name="Google Shape;543;p36"/>
          <p:cNvCxnSpPr>
            <a:stCxn id="530" idx="6"/>
            <a:endCxn id="532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4" name="Google Shape;544;p36"/>
          <p:cNvCxnSpPr>
            <a:stCxn id="532" idx="6"/>
            <a:endCxn id="534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5" name="Google Shape;545;p36"/>
          <p:cNvCxnSpPr>
            <a:stCxn id="529" idx="6"/>
            <a:endCxn id="532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6" name="Google Shape;546;p36"/>
          <p:cNvCxnSpPr>
            <a:stCxn id="533" idx="6"/>
            <a:endCxn id="536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7" name="Google Shape;547;p36"/>
          <p:cNvCxnSpPr>
            <a:stCxn id="535" idx="6"/>
            <a:endCxn id="538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8" name="Google Shape;548;p36"/>
          <p:cNvCxnSpPr>
            <a:stCxn id="532" idx="6"/>
            <a:endCxn id="533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49" name="Google Shape;549;p36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0" name="Google Shape;550;p36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1" name="Google Shape;551;p36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2" name="Google Shape;552;p36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3" name="Google Shape;553;p36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4" name="Google Shape;554;p36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5" name="Google Shape;555;p36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6" name="Google Shape;556;p36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7" name="Google Shape;557;p36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8" name="Google Shape;558;p36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36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565" name="Google Shape;56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6" name="Google Shape;566;p37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567" name="Google Shape;567;p37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568" name="Google Shape;568;p37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569" name="Google Shape;569;p37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570" name="Google Shape;570;p37"/>
          <p:cNvSpPr/>
          <p:nvPr/>
        </p:nvSpPr>
        <p:spPr>
          <a:xfrm>
            <a:off x="4154075" y="22397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572" name="Google Shape;572;p37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573" name="Google Shape;573;p37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574" name="Google Shape;574;p37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575" name="Google Shape;575;p37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576" name="Google Shape;576;p37"/>
          <p:cNvCxnSpPr>
            <a:stCxn id="566" idx="6"/>
            <a:endCxn id="568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7" name="Google Shape;577;p37"/>
          <p:cNvCxnSpPr>
            <a:stCxn id="568" idx="6"/>
            <a:endCxn id="570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8" name="Google Shape;578;p37"/>
          <p:cNvCxnSpPr>
            <a:stCxn id="570" idx="6"/>
            <a:endCxn id="572" idx="2"/>
          </p:cNvCxnSpPr>
          <p:nvPr/>
        </p:nvCxnSpPr>
        <p:spPr>
          <a:xfrm>
            <a:off x="4893575" y="24884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9" name="Google Shape;579;p37"/>
          <p:cNvCxnSpPr>
            <a:stCxn id="572" idx="6"/>
            <a:endCxn id="574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p37"/>
          <p:cNvCxnSpPr>
            <a:stCxn id="567" idx="6"/>
            <a:endCxn id="569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1" name="Google Shape;581;p37"/>
          <p:cNvCxnSpPr>
            <a:stCxn id="569" idx="6"/>
            <a:endCxn id="571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2" name="Google Shape;582;p37"/>
          <p:cNvCxnSpPr>
            <a:stCxn id="566" idx="6"/>
            <a:endCxn id="569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3" name="Google Shape;583;p37"/>
          <p:cNvCxnSpPr>
            <a:stCxn id="570" idx="6"/>
            <a:endCxn id="573" idx="2"/>
          </p:cNvCxnSpPr>
          <p:nvPr/>
        </p:nvCxnSpPr>
        <p:spPr>
          <a:xfrm>
            <a:off x="4893575" y="248845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4" name="Google Shape;584;p37"/>
          <p:cNvCxnSpPr>
            <a:stCxn id="572" idx="6"/>
            <a:endCxn id="575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37"/>
          <p:cNvCxnSpPr>
            <a:stCxn id="569" idx="6"/>
            <a:endCxn id="570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586" name="Google Shape;586;p37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7" name="Google Shape;587;p37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8" name="Google Shape;588;p37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9" name="Google Shape;589;p37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0" name="Google Shape;590;p37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37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37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3" name="Google Shape;593;p37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4" name="Google Shape;594;p37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5" name="Google Shape;595;p37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6" name="Google Shape;596;p37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7" name="Google Shape;597;p37"/>
          <p:cNvSpPr/>
          <p:nvPr/>
        </p:nvSpPr>
        <p:spPr>
          <a:xfrm>
            <a:off x="6077525" y="223975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03" name="Google Shape;60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05" name="Google Shape;605;p38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06" name="Google Shape;606;p38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07" name="Google Shape;607;p38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08" name="Google Shape;608;p38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10" name="Google Shape;610;p38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11" name="Google Shape;611;p38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12" name="Google Shape;612;p38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13" name="Google Shape;613;p38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14" name="Google Shape;614;p38"/>
          <p:cNvCxnSpPr>
            <a:stCxn id="604" idx="6"/>
            <a:endCxn id="606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5" name="Google Shape;615;p38"/>
          <p:cNvCxnSpPr>
            <a:stCxn id="606" idx="6"/>
            <a:endCxn id="608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p38"/>
          <p:cNvCxnSpPr>
            <a:stCxn id="608" idx="6"/>
            <a:endCxn id="610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38"/>
          <p:cNvCxnSpPr>
            <a:stCxn id="610" idx="6"/>
            <a:endCxn id="612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8" name="Google Shape;618;p38"/>
          <p:cNvCxnSpPr>
            <a:stCxn id="605" idx="6"/>
            <a:endCxn id="607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38"/>
          <p:cNvCxnSpPr>
            <a:stCxn id="607" idx="6"/>
            <a:endCxn id="609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0" name="Google Shape;620;p38"/>
          <p:cNvCxnSpPr>
            <a:stCxn id="604" idx="6"/>
            <a:endCxn id="607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1" name="Google Shape;621;p38"/>
          <p:cNvCxnSpPr>
            <a:stCxn id="608" idx="6"/>
            <a:endCxn id="611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2" name="Google Shape;622;p38"/>
          <p:cNvCxnSpPr>
            <a:stCxn id="610" idx="6"/>
            <a:endCxn id="613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3" name="Google Shape;623;p38"/>
          <p:cNvCxnSpPr>
            <a:stCxn id="607" idx="6"/>
            <a:endCxn id="608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624" name="Google Shape;624;p38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5" name="Google Shape;625;p38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6" name="Google Shape;626;p38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7" name="Google Shape;627;p38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8" name="Google Shape;628;p38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9" name="Google Shape;629;p38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0" name="Google Shape;630;p38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1" name="Google Shape;631;p38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2" name="Google Shape;632;p38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3" name="Google Shape;633;p38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4" name="Google Shape;634;p38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40" name="Google Shape;6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1" name="Google Shape;641;p39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42" name="Google Shape;642;p39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43" name="Google Shape;643;p39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44" name="Google Shape;644;p39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45" name="Google Shape;645;p39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46" name="Google Shape;646;p39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47" name="Google Shape;647;p39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48" name="Google Shape;648;p39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49" name="Google Shape;649;p39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50" name="Google Shape;650;p39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51" name="Google Shape;651;p39"/>
          <p:cNvCxnSpPr>
            <a:stCxn id="641" idx="6"/>
            <a:endCxn id="643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2" name="Google Shape;652;p39"/>
          <p:cNvCxnSpPr>
            <a:stCxn id="643" idx="6"/>
            <a:endCxn id="645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3" name="Google Shape;653;p39"/>
          <p:cNvCxnSpPr>
            <a:stCxn id="645" idx="6"/>
            <a:endCxn id="647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4" name="Google Shape;654;p39"/>
          <p:cNvCxnSpPr>
            <a:stCxn id="647" idx="6"/>
            <a:endCxn id="649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39"/>
          <p:cNvCxnSpPr>
            <a:stCxn id="642" idx="6"/>
            <a:endCxn id="644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9"/>
          <p:cNvCxnSpPr>
            <a:stCxn id="644" idx="6"/>
            <a:endCxn id="646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7" name="Google Shape;657;p39"/>
          <p:cNvCxnSpPr>
            <a:stCxn id="641" idx="6"/>
            <a:endCxn id="644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39"/>
          <p:cNvCxnSpPr>
            <a:stCxn id="645" idx="6"/>
            <a:endCxn id="648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9" name="Google Shape;659;p39"/>
          <p:cNvCxnSpPr>
            <a:stCxn id="647" idx="6"/>
            <a:endCxn id="650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0" name="Google Shape;660;p39"/>
          <p:cNvCxnSpPr>
            <a:stCxn id="644" idx="6"/>
            <a:endCxn id="645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661" name="Google Shape;661;p39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2" name="Google Shape;662;p39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3" name="Google Shape;663;p39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4" name="Google Shape;664;p39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5" name="Google Shape;665;p39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6" name="Google Shape;666;p39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7" name="Google Shape;667;p39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8" name="Google Shape;668;p39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9" name="Google Shape;669;p39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0" name="Google Shape;670;p39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1" name="Google Shape;671;p39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2" name="Google Shape;672;p39"/>
          <p:cNvSpPr txBox="1"/>
          <p:nvPr/>
        </p:nvSpPr>
        <p:spPr>
          <a:xfrm>
            <a:off x="6096275" y="987725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/>
              <a:t>≉ S</a:t>
            </a:r>
            <a:r>
              <a:rPr baseline="-25000" lang="zh-TW" sz="1600"/>
              <a:t>9</a:t>
            </a:r>
            <a:endParaRPr baseline="-25000" sz="1600"/>
          </a:p>
        </p:txBody>
      </p:sp>
      <p:sp>
        <p:nvSpPr>
          <p:cNvPr id="673" name="Google Shape;673;p39"/>
          <p:cNvSpPr txBox="1"/>
          <p:nvPr/>
        </p:nvSpPr>
        <p:spPr>
          <a:xfrm>
            <a:off x="6994075" y="100357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4A86E8"/>
                </a:solidFill>
              </a:rPr>
              <a:t>Pearson correlation</a:t>
            </a:r>
            <a:endParaRPr sz="1600">
              <a:solidFill>
                <a:srgbClr val="4A86E8"/>
              </a:solidFill>
            </a:endParaRPr>
          </a:p>
        </p:txBody>
      </p:sp>
      <p:sp>
        <p:nvSpPr>
          <p:cNvPr id="674" name="Google Shape;674;p39"/>
          <p:cNvSpPr txBox="1"/>
          <p:nvPr/>
        </p:nvSpPr>
        <p:spPr>
          <a:xfrm>
            <a:off x="5174725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5 </a:t>
            </a:r>
            <a:r>
              <a:rPr lang="zh-TW" sz="1600"/>
              <a:t>≈ S</a:t>
            </a:r>
            <a:r>
              <a:rPr baseline="-25000" lang="zh-TW" sz="1600"/>
              <a:t>7</a:t>
            </a:r>
            <a:endParaRPr baseline="-25000" sz="1600"/>
          </a:p>
        </p:txBody>
      </p:sp>
      <p:sp>
        <p:nvSpPr>
          <p:cNvPr id="675" name="Google Shape;675;p39"/>
          <p:cNvSpPr/>
          <p:nvPr/>
        </p:nvSpPr>
        <p:spPr>
          <a:xfrm>
            <a:off x="5936450" y="60950"/>
            <a:ext cx="548700" cy="548700"/>
          </a:xfrm>
          <a:prstGeom prst="mathMultiply">
            <a:avLst>
              <a:gd fmla="val 13669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9"/>
          <p:cNvSpPr txBox="1"/>
          <p:nvPr/>
        </p:nvSpPr>
        <p:spPr>
          <a:xfrm>
            <a:off x="6485150" y="11975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FF0000"/>
                </a:solidFill>
              </a:rPr>
              <a:t>No need</a:t>
            </a:r>
            <a:endParaRPr baseline="-25000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Anomaly Propagation Chain Analysis (RT)</a:t>
            </a:r>
            <a:endParaRPr/>
          </a:p>
        </p:txBody>
      </p:sp>
      <p:sp>
        <p:nvSpPr>
          <p:cNvPr id="682" name="Google Shape;68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83" name="Google Shape;683;p40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</a:t>
            </a:r>
            <a:endParaRPr b="1" baseline="-25000" sz="1800"/>
          </a:p>
        </p:txBody>
      </p:sp>
      <p:sp>
        <p:nvSpPr>
          <p:cNvPr id="684" name="Google Shape;684;p40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685" name="Google Shape;685;p40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686" name="Google Shape;686;p40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4</a:t>
            </a:r>
            <a:endParaRPr b="1" baseline="-25000" sz="1800"/>
          </a:p>
        </p:txBody>
      </p:sp>
      <p:sp>
        <p:nvSpPr>
          <p:cNvPr id="687" name="Google Shape;687;p40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688" name="Google Shape;688;p40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689" name="Google Shape;689;p40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690" name="Google Shape;690;p40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691" name="Google Shape;691;p40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9</a:t>
            </a:r>
            <a:endParaRPr b="1" baseline="-25000" sz="1800"/>
          </a:p>
        </p:txBody>
      </p:sp>
      <p:sp>
        <p:nvSpPr>
          <p:cNvPr id="692" name="Google Shape;692;p40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  <p:cxnSp>
        <p:nvCxnSpPr>
          <p:cNvPr id="693" name="Google Shape;693;p40"/>
          <p:cNvCxnSpPr>
            <a:stCxn id="683" idx="6"/>
            <a:endCxn id="685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4" name="Google Shape;694;p40"/>
          <p:cNvCxnSpPr>
            <a:stCxn id="685" idx="6"/>
            <a:endCxn id="687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40"/>
          <p:cNvCxnSpPr>
            <a:stCxn id="687" idx="6"/>
            <a:endCxn id="689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6" name="Google Shape;696;p40"/>
          <p:cNvCxnSpPr>
            <a:stCxn id="689" idx="6"/>
            <a:endCxn id="691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7" name="Google Shape;697;p40"/>
          <p:cNvCxnSpPr>
            <a:stCxn id="684" idx="6"/>
            <a:endCxn id="686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8" name="Google Shape;698;p40"/>
          <p:cNvCxnSpPr>
            <a:stCxn id="686" idx="6"/>
            <a:endCxn id="688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9" name="Google Shape;699;p40"/>
          <p:cNvCxnSpPr>
            <a:stCxn id="683" idx="6"/>
            <a:endCxn id="686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40"/>
          <p:cNvCxnSpPr>
            <a:stCxn id="687" idx="6"/>
            <a:endCxn id="690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40"/>
          <p:cNvCxnSpPr>
            <a:stCxn id="689" idx="6"/>
            <a:endCxn id="692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2" name="Google Shape;702;p40"/>
          <p:cNvCxnSpPr>
            <a:stCxn id="686" idx="6"/>
            <a:endCxn id="687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703" name="Google Shape;703;p40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4" name="Google Shape;704;p40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5" name="Google Shape;705;p40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6" name="Google Shape;706;p40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7" name="Google Shape;707;p40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8" name="Google Shape;708;p40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9" name="Google Shape;709;p40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0" name="Google Shape;710;p40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1" name="Google Shape;711;p40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2" name="Google Shape;712;p40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3" name="Google Shape;713;p40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4" name="Google Shape;714;p40"/>
          <p:cNvSpPr txBox="1"/>
          <p:nvPr/>
        </p:nvSpPr>
        <p:spPr>
          <a:xfrm>
            <a:off x="7141338" y="4224200"/>
            <a:ext cx="100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</a:t>
            </a:r>
            <a:r>
              <a:rPr baseline="-25000" lang="zh-TW" sz="1600"/>
              <a:t>7 </a:t>
            </a:r>
            <a:r>
              <a:rPr lang="zh-TW" sz="1600">
                <a:solidFill>
                  <a:schemeClr val="dk1"/>
                </a:solidFill>
              </a:rPr>
              <a:t>≈</a:t>
            </a:r>
            <a:r>
              <a:rPr lang="zh-TW" sz="1600"/>
              <a:t> S</a:t>
            </a:r>
            <a:r>
              <a:rPr baseline="-25000" lang="zh-TW" sz="1600"/>
              <a:t>10</a:t>
            </a:r>
            <a:endParaRPr baseline="-25000" sz="1600"/>
          </a:p>
        </p:txBody>
      </p:sp>
      <p:sp>
        <p:nvSpPr>
          <p:cNvPr id="715" name="Google Shape;715;p40"/>
          <p:cNvSpPr/>
          <p:nvPr/>
        </p:nvSpPr>
        <p:spPr>
          <a:xfrm>
            <a:off x="8001125" y="38016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10</a:t>
            </a:r>
            <a:endParaRPr b="1" baseline="-2500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Anomaly Propagation Chain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First, we need to keep </a:t>
            </a:r>
            <a:r>
              <a:rPr b="1" i="1" lang="zh-TW" u="sng"/>
              <a:t>the useful half of the graph</a:t>
            </a:r>
            <a:endParaRPr b="1" i="1"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downstream_G = G.subgraph([ n for n in nx.bfs_tree(G, trigger_service) ])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upstream_G</a:t>
            </a:r>
            <a:r>
              <a:rPr lang="zh-TW"/>
              <a:t> = G.subgraph([ n for n in nx.bfs_tree(G, trigger_service, reverse = True) ])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upstream_G = upstream_G.reverse()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22" name="Google Shape;72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3" name="Google Shape;7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0" y="2510650"/>
            <a:ext cx="3463600" cy="24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2775" y="2843175"/>
            <a:ext cx="2536700" cy="182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7300" y="2843175"/>
            <a:ext cx="2536700" cy="18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Anomaly Propagation Chain Analysis</a:t>
            </a:r>
            <a:endParaRPr/>
          </a:p>
        </p:txBody>
      </p:sp>
      <p:sp>
        <p:nvSpPr>
          <p:cNvPr id="731" name="Google Shape;73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It’s time consuming to perform anomaly detection on one 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We need to collect old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We need to train the model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Two ways to perform 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zh-TW"/>
              <a:t>Perform anomaly detection for each edge, and then perform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Perfom propagation chain analysis while performing anomaly detection for desired edge</a:t>
            </a:r>
            <a:endParaRPr/>
          </a:p>
        </p:txBody>
      </p:sp>
      <p:sp>
        <p:nvSpPr>
          <p:cNvPr id="732" name="Google Shape;7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33" name="Google Shape;733;p42"/>
          <p:cNvSpPr txBox="1"/>
          <p:nvPr/>
        </p:nvSpPr>
        <p:spPr>
          <a:xfrm>
            <a:off x="754875" y="3959375"/>
            <a:ext cx="572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need to know: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How to get edges in the right order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How to perform anomaly detection on one edge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1 – </a:t>
            </a:r>
            <a:r>
              <a:rPr lang="zh-TW"/>
              <a:t>Weakly Connected (Di)Graph</a:t>
            </a:r>
            <a:endParaRPr/>
          </a:p>
        </p:txBody>
      </p:sp>
      <p:sp>
        <p:nvSpPr>
          <p:cNvPr id="739" name="Google Shape;73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Strongly Connected: (1, 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1 → 5: V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5 → 1: 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Weakly Connected: (2. 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2 → 6: 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6 → 2: V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Weakly Connected Graph: Every pair of nodes is weakly connected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0" name="Google Shape;7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41" name="Google Shape;7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913" y="1241263"/>
            <a:ext cx="541972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2 – </a:t>
            </a:r>
            <a:r>
              <a:rPr lang="zh-TW"/>
              <a:t>Directed Acyclic Graph (DAG)</a:t>
            </a:r>
            <a:endParaRPr/>
          </a:p>
        </p:txBody>
      </p:sp>
      <p:sp>
        <p:nvSpPr>
          <p:cNvPr id="747" name="Google Shape;74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Tree: w/o circle, w/o direction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DAG: w/o circle, w/ direction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DAG: Always go forward!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48" name="Google Shape;74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49" name="Google Shape;74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50" y="2986763"/>
            <a:ext cx="54102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125" y="1108050"/>
            <a:ext cx="3278826" cy="16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</a:t>
            </a:r>
            <a:endParaRPr/>
          </a:p>
        </p:txBody>
      </p:sp>
      <p:sp>
        <p:nvSpPr>
          <p:cNvPr id="756" name="Google Shape;7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757" name="Google Shape;757;p45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758" name="Google Shape;758;p45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759" name="Google Shape;759;p45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762" name="Google Shape;762;p45"/>
              <p:cNvCxnSpPr>
                <a:stCxn id="759" idx="6"/>
                <a:endCxn id="760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3" name="Google Shape;763;p45"/>
              <p:cNvCxnSpPr>
                <a:stCxn id="760" idx="6"/>
                <a:endCxn id="761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64" name="Google Shape;764;p45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765" name="Google Shape;765;p45"/>
              <p:cNvCxnSpPr>
                <a:stCxn id="759" idx="5"/>
                <a:endCxn id="764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6" name="Google Shape;766;p45"/>
              <p:cNvCxnSpPr>
                <a:stCxn id="760" idx="4"/>
                <a:endCxn id="764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67" name="Google Shape;767;p45"/>
              <p:cNvCxnSpPr>
                <a:stCxn id="764" idx="7"/>
                <a:endCxn id="761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68" name="Google Shape;768;p45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769" name="Google Shape;769;p45"/>
              <p:cNvCxnSpPr>
                <a:stCxn id="764" idx="6"/>
                <a:endCxn id="768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770" name="Google Shape;770;p45"/>
              <p:cNvCxnSpPr>
                <a:stCxn id="759" idx="0"/>
                <a:endCxn id="761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771" name="Google Shape;771;p45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2" name="Google Shape;772;p45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3" name="Google Shape;773;p45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4" name="Google Shape;774;p45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5" name="Google Shape;775;p45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6" name="Google Shape;776;p45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777" name="Google Shape;777;p45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778" name="Google Shape;778;p45"/>
          <p:cNvSpPr txBox="1"/>
          <p:nvPr/>
        </p:nvSpPr>
        <p:spPr>
          <a:xfrm>
            <a:off x="6057000" y="335717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2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5839175" y="1583725"/>
            <a:ext cx="325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</a:t>
            </a:r>
            <a:r>
              <a:rPr b="1" i="1" lang="zh-TW" u="sng"/>
              <a:t>pruning strategy</a:t>
            </a:r>
            <a:r>
              <a:rPr lang="zh-TW"/>
              <a:t>, we need to </a:t>
            </a:r>
            <a:r>
              <a:rPr b="1" lang="zh-TW">
                <a:solidFill>
                  <a:srgbClr val="FF0000"/>
                </a:solidFill>
              </a:rPr>
              <a:t>check previous edges</a:t>
            </a:r>
            <a:r>
              <a:rPr lang="zh-TW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(For example, we only need to do anomaly detection on </a:t>
            </a:r>
            <a:r>
              <a:rPr lang="zh-TW">
                <a:solidFill>
                  <a:srgbClr val="FF0000"/>
                </a:solidFill>
              </a:rPr>
              <a:t>edge 6</a:t>
            </a:r>
            <a:r>
              <a:rPr lang="zh-TW"/>
              <a:t> if and only if </a:t>
            </a:r>
            <a:r>
              <a:rPr lang="zh-TW">
                <a:solidFill>
                  <a:schemeClr val="accent5"/>
                </a:solidFill>
              </a:rPr>
              <a:t>edge 3</a:t>
            </a:r>
            <a:r>
              <a:rPr lang="zh-TW"/>
              <a:t> or </a:t>
            </a:r>
            <a:r>
              <a:rPr lang="zh-TW">
                <a:solidFill>
                  <a:schemeClr val="accent5"/>
                </a:solidFill>
              </a:rPr>
              <a:t>edge 4</a:t>
            </a:r>
            <a:r>
              <a:rPr lang="zh-TW"/>
              <a:t> is anomalous and </a:t>
            </a:r>
            <a:r>
              <a:rPr b="1" i="1" lang="zh-TW" u="sng"/>
              <a:t>has high correlation</a:t>
            </a:r>
            <a:r>
              <a:rPr lang="zh-TW"/>
              <a:t>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Preliminaries 3 – </a:t>
            </a:r>
            <a:r>
              <a:rPr lang="zh-TW"/>
              <a:t>Topological Sort</a:t>
            </a:r>
            <a:endParaRPr/>
          </a:p>
        </p:txBody>
      </p:sp>
      <p:sp>
        <p:nvSpPr>
          <p:cNvPr id="785" name="Google Shape;78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</a:t>
            </a:r>
            <a:r>
              <a:rPr lang="zh-TW"/>
              <a:t> linear ordering of its </a:t>
            </a:r>
            <a:r>
              <a:rPr b="1" lang="zh-TW" u="sng"/>
              <a:t>vertices</a:t>
            </a:r>
            <a:r>
              <a:rPr lang="zh-TW"/>
              <a:t> such that for every directed edge uv from vertex u to vertex v, u comes before v in the ordering.</a:t>
            </a:r>
            <a:endParaRPr/>
          </a:p>
        </p:txBody>
      </p:sp>
      <p:sp>
        <p:nvSpPr>
          <p:cNvPr id="786" name="Google Shape;78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87" name="Google Shape;7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425" y="2497738"/>
            <a:ext cx="53149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 </a:t>
            </a:r>
            <a:r>
              <a:rPr lang="zh-TW">
                <a:solidFill>
                  <a:srgbClr val="FF0000"/>
                </a:solidFill>
              </a:rPr>
              <a:t>Topological Sort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93" name="Google Shape;79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794" name="Google Shape;794;p47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795" name="Google Shape;795;p47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796" name="Google Shape;796;p47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797" name="Google Shape;797;p47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798" name="Google Shape;798;p47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799" name="Google Shape;799;p47"/>
              <p:cNvCxnSpPr>
                <a:stCxn id="796" idx="6"/>
                <a:endCxn id="797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0" name="Google Shape;800;p47"/>
              <p:cNvCxnSpPr>
                <a:stCxn id="797" idx="6"/>
                <a:endCxn id="798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1" name="Google Shape;801;p47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02" name="Google Shape;802;p47"/>
              <p:cNvCxnSpPr>
                <a:stCxn id="796" idx="5"/>
                <a:endCxn id="801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3" name="Google Shape;803;p47"/>
              <p:cNvCxnSpPr>
                <a:stCxn id="797" idx="4"/>
                <a:endCxn id="801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4" name="Google Shape;804;p47"/>
              <p:cNvCxnSpPr>
                <a:stCxn id="801" idx="7"/>
                <a:endCxn id="798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05" name="Google Shape;805;p47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06" name="Google Shape;806;p47"/>
              <p:cNvCxnSpPr>
                <a:stCxn id="801" idx="6"/>
                <a:endCxn id="805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07" name="Google Shape;807;p47"/>
              <p:cNvCxnSpPr>
                <a:stCxn id="796" idx="0"/>
                <a:endCxn id="798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08" name="Google Shape;808;p47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09" name="Google Shape;809;p47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0" name="Google Shape;810;p47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1" name="Google Shape;811;p47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2" name="Google Shape;812;p47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3" name="Google Shape;813;p47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14" name="Google Shape;814;p47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15" name="Google Shape;815;p47"/>
          <p:cNvSpPr txBox="1"/>
          <p:nvPr/>
        </p:nvSpPr>
        <p:spPr>
          <a:xfrm>
            <a:off x="5809575" y="1154525"/>
            <a:ext cx="28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Get a list of nodes using nx.topological_sort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For each node, we collect its (out) edges</a:t>
            </a:r>
            <a:endParaRPr/>
          </a:p>
        </p:txBody>
      </p:sp>
      <p:sp>
        <p:nvSpPr>
          <p:cNvPr id="816" name="Google Shape;816;p47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pic>
        <p:nvPicPr>
          <p:cNvPr id="817" name="Google Shape;81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459" y="2201226"/>
            <a:ext cx="3096716" cy="29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get ‘ordered’ edges? </a:t>
            </a:r>
            <a:r>
              <a:rPr lang="zh-TW">
                <a:solidFill>
                  <a:srgbClr val="FF0000"/>
                </a:solidFill>
              </a:rPr>
              <a:t>Topological Sort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23" name="Google Shape;82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824" name="Google Shape;824;p48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825" name="Google Shape;825;p48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826" name="Google Shape;826;p48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827" name="Google Shape;827;p48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828" name="Google Shape;828;p48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829" name="Google Shape;829;p48"/>
              <p:cNvCxnSpPr>
                <a:stCxn id="826" idx="6"/>
                <a:endCxn id="827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0" name="Google Shape;830;p48"/>
              <p:cNvCxnSpPr>
                <a:stCxn id="827" idx="6"/>
                <a:endCxn id="828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1" name="Google Shape;831;p48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32" name="Google Shape;832;p48"/>
              <p:cNvCxnSpPr>
                <a:stCxn id="826" idx="5"/>
                <a:endCxn id="831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3" name="Google Shape;833;p48"/>
              <p:cNvCxnSpPr>
                <a:stCxn id="827" idx="4"/>
                <a:endCxn id="831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4" name="Google Shape;834;p48"/>
              <p:cNvCxnSpPr>
                <a:stCxn id="831" idx="7"/>
                <a:endCxn id="828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35" name="Google Shape;835;p48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36" name="Google Shape;836;p48"/>
              <p:cNvCxnSpPr>
                <a:stCxn id="831" idx="6"/>
                <a:endCxn id="835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37" name="Google Shape;837;p48"/>
              <p:cNvCxnSpPr>
                <a:stCxn id="826" idx="0"/>
                <a:endCxn id="828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38" name="Google Shape;838;p48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39" name="Google Shape;839;p48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0" name="Google Shape;840;p48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1" name="Google Shape;841;p48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2" name="Google Shape;842;p48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3" name="Google Shape;843;p48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44" name="Google Shape;844;p48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45" name="Google Shape;845;p48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pic>
        <p:nvPicPr>
          <p:cNvPr id="846" name="Google Shape;8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282" y="1091732"/>
            <a:ext cx="3408025" cy="38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8"/>
          <p:cNvSpPr/>
          <p:nvPr/>
        </p:nvSpPr>
        <p:spPr>
          <a:xfrm>
            <a:off x="5401499" y="156349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8"/>
          <p:cNvSpPr/>
          <p:nvPr/>
        </p:nvSpPr>
        <p:spPr>
          <a:xfrm>
            <a:off x="5401499" y="696474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8"/>
          <p:cNvSpPr/>
          <p:nvPr/>
        </p:nvSpPr>
        <p:spPr>
          <a:xfrm>
            <a:off x="5401499" y="1244674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8"/>
          <p:cNvSpPr/>
          <p:nvPr/>
        </p:nvSpPr>
        <p:spPr>
          <a:xfrm>
            <a:off x="5401499" y="1776749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48"/>
          <p:cNvSpPr/>
          <p:nvPr/>
        </p:nvSpPr>
        <p:spPr>
          <a:xfrm>
            <a:off x="5401499" y="2313260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8"/>
          <p:cNvSpPr/>
          <p:nvPr/>
        </p:nvSpPr>
        <p:spPr>
          <a:xfrm>
            <a:off x="5401499" y="2869535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8"/>
          <p:cNvSpPr/>
          <p:nvPr/>
        </p:nvSpPr>
        <p:spPr>
          <a:xfrm>
            <a:off x="5401499" y="3417736"/>
            <a:ext cx="2096100" cy="2346000"/>
          </a:xfrm>
          <a:prstGeom prst="mathMinus">
            <a:avLst>
              <a:gd fmla="val 8862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Traverse through </a:t>
            </a:r>
            <a:r>
              <a:rPr lang="zh-TW"/>
              <a:t>‘ordered’ edges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59" name="Google Shape;85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860" name="Google Shape;860;p49"/>
          <p:cNvGrpSpPr/>
          <p:nvPr/>
        </p:nvGrpSpPr>
        <p:grpSpPr>
          <a:xfrm>
            <a:off x="629250" y="1319525"/>
            <a:ext cx="4586400" cy="3008775"/>
            <a:chOff x="1010250" y="1319525"/>
            <a:chExt cx="4586400" cy="3008775"/>
          </a:xfrm>
        </p:grpSpPr>
        <p:grpSp>
          <p:nvGrpSpPr>
            <p:cNvPr id="861" name="Google Shape;861;p49"/>
            <p:cNvGrpSpPr/>
            <p:nvPr/>
          </p:nvGrpSpPr>
          <p:grpSpPr>
            <a:xfrm>
              <a:off x="1010250" y="2254550"/>
              <a:ext cx="4586400" cy="2073750"/>
              <a:chOff x="1128650" y="2254550"/>
              <a:chExt cx="4586400" cy="2073750"/>
            </a:xfrm>
          </p:grpSpPr>
          <p:sp>
            <p:nvSpPr>
              <p:cNvPr id="862" name="Google Shape;862;p49"/>
              <p:cNvSpPr/>
              <p:nvPr/>
            </p:nvSpPr>
            <p:spPr>
              <a:xfrm>
                <a:off x="1128650" y="2254550"/>
                <a:ext cx="739500" cy="497400"/>
              </a:xfrm>
              <a:prstGeom prst="ellipse">
                <a:avLst/>
              </a:prstGeom>
              <a:solidFill>
                <a:schemeClr val="accent1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1</a:t>
                </a:r>
                <a:endParaRPr b="1" baseline="-25000" sz="1800"/>
              </a:p>
            </p:txBody>
          </p:sp>
          <p:sp>
            <p:nvSpPr>
              <p:cNvPr id="863" name="Google Shape;863;p49"/>
              <p:cNvSpPr/>
              <p:nvPr/>
            </p:nvSpPr>
            <p:spPr>
              <a:xfrm>
                <a:off x="305210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sp>
            <p:nvSpPr>
              <p:cNvPr id="864" name="Google Shape;864;p49"/>
              <p:cNvSpPr/>
              <p:nvPr/>
            </p:nvSpPr>
            <p:spPr>
              <a:xfrm>
                <a:off x="4975550" y="225455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>
                    <a:solidFill>
                      <a:schemeClr val="dk1"/>
                    </a:solidFill>
                  </a:rPr>
                  <a:t>S</a:t>
                </a:r>
                <a:r>
                  <a:rPr b="1" baseline="-25000" lang="zh-TW" sz="1800">
                    <a:solidFill>
                      <a:schemeClr val="dk1"/>
                    </a:solidFill>
                  </a:rPr>
                  <a:t>4</a:t>
                </a:r>
                <a:endParaRPr b="1" sz="1800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865" name="Google Shape;865;p49"/>
              <p:cNvCxnSpPr>
                <a:stCxn id="862" idx="6"/>
                <a:endCxn id="863" idx="2"/>
              </p:cNvCxnSpPr>
              <p:nvPr/>
            </p:nvCxnSpPr>
            <p:spPr>
              <a:xfrm>
                <a:off x="186815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66" name="Google Shape;866;p49"/>
              <p:cNvCxnSpPr>
                <a:stCxn id="863" idx="6"/>
                <a:endCxn id="864" idx="2"/>
              </p:cNvCxnSpPr>
              <p:nvPr/>
            </p:nvCxnSpPr>
            <p:spPr>
              <a:xfrm>
                <a:off x="3791600" y="250325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67" name="Google Shape;867;p49"/>
              <p:cNvSpPr/>
              <p:nvPr/>
            </p:nvSpPr>
            <p:spPr>
              <a:xfrm>
                <a:off x="305210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68" name="Google Shape;868;p49"/>
              <p:cNvCxnSpPr>
                <a:stCxn id="862" idx="5"/>
                <a:endCxn id="867" idx="1"/>
              </p:cNvCxnSpPr>
              <p:nvPr/>
            </p:nvCxnSpPr>
            <p:spPr>
              <a:xfrm>
                <a:off x="1759853" y="2679107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69" name="Google Shape;869;p49"/>
              <p:cNvCxnSpPr>
                <a:stCxn id="863" idx="4"/>
                <a:endCxn id="867" idx="0"/>
              </p:cNvCxnSpPr>
              <p:nvPr/>
            </p:nvCxnSpPr>
            <p:spPr>
              <a:xfrm>
                <a:off x="3421850" y="2751950"/>
                <a:ext cx="0" cy="1079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70" name="Google Shape;870;p49"/>
              <p:cNvCxnSpPr>
                <a:stCxn id="867" idx="7"/>
                <a:endCxn id="864" idx="3"/>
              </p:cNvCxnSpPr>
              <p:nvPr/>
            </p:nvCxnSpPr>
            <p:spPr>
              <a:xfrm flipH="1" rot="10800000">
                <a:off x="3683303" y="2679143"/>
                <a:ext cx="1400400" cy="1224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871" name="Google Shape;871;p49"/>
              <p:cNvSpPr/>
              <p:nvPr/>
            </p:nvSpPr>
            <p:spPr>
              <a:xfrm>
                <a:off x="4975550" y="3830900"/>
                <a:ext cx="739500" cy="497400"/>
              </a:xfrm>
              <a:prstGeom prst="ellipse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zh-TW" sz="1800"/>
                  <a:t>S</a:t>
                </a:r>
                <a:r>
                  <a:rPr b="1" baseline="-25000" lang="zh-TW" sz="1800"/>
                  <a:t>2</a:t>
                </a:r>
                <a:endParaRPr b="1" baseline="-25000" sz="1800"/>
              </a:p>
            </p:txBody>
          </p:sp>
          <p:cxnSp>
            <p:nvCxnSpPr>
              <p:cNvPr id="872" name="Google Shape;872;p49"/>
              <p:cNvCxnSpPr>
                <a:stCxn id="867" idx="6"/>
                <a:endCxn id="871" idx="2"/>
              </p:cNvCxnSpPr>
              <p:nvPr/>
            </p:nvCxnSpPr>
            <p:spPr>
              <a:xfrm>
                <a:off x="3791600" y="4079600"/>
                <a:ext cx="118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873" name="Google Shape;873;p49"/>
              <p:cNvCxnSpPr>
                <a:stCxn id="862" idx="0"/>
                <a:endCxn id="864" idx="0"/>
              </p:cNvCxnSpPr>
              <p:nvPr/>
            </p:nvCxnSpPr>
            <p:spPr>
              <a:xfrm flipH="1" rot="-5400000">
                <a:off x="3421550" y="331400"/>
                <a:ext cx="600" cy="3846900"/>
              </a:xfrm>
              <a:prstGeom prst="curvedConnector3">
                <a:avLst>
                  <a:gd fmla="val -110562500" name="adj1"/>
                </a:avLst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sp>
          <p:nvSpPr>
            <p:cNvPr id="874" name="Google Shape;874;p49"/>
            <p:cNvSpPr txBox="1"/>
            <p:nvPr/>
          </p:nvSpPr>
          <p:spPr>
            <a:xfrm>
              <a:off x="215360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2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5" name="Google Shape;875;p49"/>
            <p:cNvSpPr txBox="1"/>
            <p:nvPr/>
          </p:nvSpPr>
          <p:spPr>
            <a:xfrm>
              <a:off x="215360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3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6" name="Google Shape;876;p49"/>
            <p:cNvSpPr txBox="1"/>
            <p:nvPr/>
          </p:nvSpPr>
          <p:spPr>
            <a:xfrm>
              <a:off x="3148050" y="29254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4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7" name="Google Shape;877;p49"/>
            <p:cNvSpPr txBox="1"/>
            <p:nvPr/>
          </p:nvSpPr>
          <p:spPr>
            <a:xfrm>
              <a:off x="3148050" y="13195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1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8" name="Google Shape;878;p49"/>
            <p:cNvSpPr txBox="1"/>
            <p:nvPr/>
          </p:nvSpPr>
          <p:spPr>
            <a:xfrm>
              <a:off x="4006550" y="222022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5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79" name="Google Shape;879;p49"/>
            <p:cNvSpPr txBox="1"/>
            <p:nvPr/>
          </p:nvSpPr>
          <p:spPr>
            <a:xfrm>
              <a:off x="4080550" y="3058675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6</a:t>
              </a:r>
              <a:endParaRPr b="1" sz="2400">
                <a:solidFill>
                  <a:srgbClr val="FF0000"/>
                </a:solidFill>
              </a:endParaRPr>
            </a:p>
          </p:txBody>
        </p:sp>
        <p:sp>
          <p:nvSpPr>
            <p:cNvPr id="880" name="Google Shape;880;p49"/>
            <p:cNvSpPr txBox="1"/>
            <p:nvPr/>
          </p:nvSpPr>
          <p:spPr>
            <a:xfrm>
              <a:off x="4006550" y="3774200"/>
              <a:ext cx="310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 sz="2400">
                  <a:solidFill>
                    <a:srgbClr val="FF0000"/>
                  </a:solidFill>
                </a:rPr>
                <a:t>7</a:t>
              </a:r>
              <a:endParaRPr b="1" sz="2400">
                <a:solidFill>
                  <a:srgbClr val="FF0000"/>
                </a:solidFill>
              </a:endParaRPr>
            </a:p>
          </p:txBody>
        </p:sp>
      </p:grpSp>
      <p:sp>
        <p:nvSpPr>
          <p:cNvPr id="881" name="Google Shape;881;p49"/>
          <p:cNvSpPr txBox="1"/>
          <p:nvPr/>
        </p:nvSpPr>
        <p:spPr>
          <a:xfrm>
            <a:off x="2946500" y="4561425"/>
            <a:ext cx="270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‘ordered’ edges: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 → </a:t>
            </a:r>
            <a:r>
              <a:rPr lang="zh-TW">
                <a:solidFill>
                  <a:schemeClr val="accent5"/>
                </a:solidFill>
              </a:rPr>
              <a:t>3</a:t>
            </a:r>
            <a:r>
              <a:rPr lang="zh-TW"/>
              <a:t> </a:t>
            </a:r>
            <a:r>
              <a:rPr lang="zh-TW">
                <a:solidFill>
                  <a:schemeClr val="dk1"/>
                </a:solidFill>
              </a:rPr>
              <a:t>→ </a:t>
            </a:r>
            <a:r>
              <a:rPr lang="zh-TW"/>
              <a:t>2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/>
              <a:t>→ </a:t>
            </a:r>
            <a:r>
              <a:rPr lang="zh-TW">
                <a:solidFill>
                  <a:schemeClr val="accent5"/>
                </a:solidFill>
              </a:rPr>
              <a:t>4</a:t>
            </a:r>
            <a:r>
              <a:rPr lang="zh-TW"/>
              <a:t> → 5 → </a:t>
            </a: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/>
              <a:t> → 7</a:t>
            </a:r>
            <a:endParaRPr/>
          </a:p>
        </p:txBody>
      </p:sp>
      <p:sp>
        <p:nvSpPr>
          <p:cNvPr id="882" name="Google Shape;882;p49"/>
          <p:cNvSpPr txBox="1"/>
          <p:nvPr/>
        </p:nvSpPr>
        <p:spPr>
          <a:xfrm>
            <a:off x="5427750" y="2569175"/>
            <a:ext cx="3579600" cy="21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edge in ordered_edge_list: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r>
              <a:rPr lang="zh-TW">
                <a:solidFill>
                  <a:schemeClr val="dk1"/>
                </a:solidFill>
              </a:rPr>
              <a:t>prev_edge_list = get_prev_edges(edge)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legal</a:t>
            </a:r>
            <a:r>
              <a:rPr lang="zh-TW">
                <a:solidFill>
                  <a:schemeClr val="dk1"/>
                </a:solidFill>
              </a:rPr>
              <a:t>_prev_edge_list =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if len(prev_edge_list) == 0 or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len(</a:t>
            </a:r>
            <a:r>
              <a:rPr lang="zh-TW">
                <a:solidFill>
                  <a:schemeClr val="dk1"/>
                </a:solidFill>
              </a:rPr>
              <a:t>legal</a:t>
            </a:r>
            <a:r>
              <a:rPr lang="zh-TW">
                <a:solidFill>
                  <a:schemeClr val="dk1"/>
                </a:solidFill>
              </a:rPr>
              <a:t>_prev_edge_list</a:t>
            </a:r>
            <a:r>
              <a:rPr lang="zh-TW"/>
              <a:t>) &gt; 0: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perform_anomaly_detection(edge)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add_into_chain_if_anomalous(edge)</a:t>
            </a:r>
            <a:endParaRPr/>
          </a:p>
        </p:txBody>
      </p:sp>
      <p:sp>
        <p:nvSpPr>
          <p:cNvPr id="883" name="Google Shape;883;p49"/>
          <p:cNvSpPr txBox="1"/>
          <p:nvPr/>
        </p:nvSpPr>
        <p:spPr>
          <a:xfrm>
            <a:off x="5426450" y="1190675"/>
            <a:ext cx="357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legal for previous edges</a:t>
            </a:r>
            <a:r>
              <a:rPr lang="zh-TW"/>
              <a:t>: (OR)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We don’t have previous edges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We have previous edges, and there’s at least one edge that is </a:t>
            </a:r>
            <a:r>
              <a:rPr b="1" i="1" lang="zh-TW" u="sng"/>
              <a:t>anomalous</a:t>
            </a:r>
            <a:r>
              <a:rPr lang="zh-TW"/>
              <a:t> and </a:t>
            </a:r>
            <a:r>
              <a:rPr b="1" i="1" lang="zh-TW" u="sng"/>
              <a:t>highly correlated</a:t>
            </a:r>
            <a:endParaRPr b="1" i="1" u="sn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</a:t>
            </a:r>
            <a:endParaRPr/>
          </a:p>
        </p:txBody>
      </p:sp>
      <p:sp>
        <p:nvSpPr>
          <p:cNvPr id="889" name="Google Shape;88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90" name="Google Shape;890;p50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891" name="Google Shape;891;p50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892" name="Google Shape;892;p50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893" name="Google Shape;893;p50"/>
          <p:cNvCxnSpPr>
            <a:stCxn id="890" idx="6"/>
            <a:endCxn id="891" idx="2"/>
          </p:cNvCxnSpPr>
          <p:nvPr/>
        </p:nvCxnSpPr>
        <p:spPr>
          <a:xfrm>
            <a:off x="114015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4" name="Google Shape;894;p50"/>
          <p:cNvCxnSpPr>
            <a:stCxn id="891" idx="6"/>
            <a:endCxn id="892" idx="2"/>
          </p:cNvCxnSpPr>
          <p:nvPr/>
        </p:nvCxnSpPr>
        <p:spPr>
          <a:xfrm>
            <a:off x="306360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5" name="Google Shape;895;p50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896" name="Google Shape;896;p50"/>
          <p:cNvCxnSpPr>
            <a:stCxn id="897" idx="6"/>
            <a:endCxn id="895" idx="2"/>
          </p:cNvCxnSpPr>
          <p:nvPr/>
        </p:nvCxnSpPr>
        <p:spPr>
          <a:xfrm>
            <a:off x="114015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8" name="Google Shape;898;p50"/>
          <p:cNvCxnSpPr>
            <a:stCxn id="895" idx="7"/>
            <a:endCxn id="892" idx="3"/>
          </p:cNvCxnSpPr>
          <p:nvPr/>
        </p:nvCxnSpPr>
        <p:spPr>
          <a:xfrm flipH="1" rot="10800000">
            <a:off x="29553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9" name="Google Shape;899;p50"/>
          <p:cNvSpPr/>
          <p:nvPr/>
        </p:nvSpPr>
        <p:spPr>
          <a:xfrm>
            <a:off x="42475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6</a:t>
            </a:r>
            <a:endParaRPr b="1" baseline="-25000" sz="1800"/>
          </a:p>
        </p:txBody>
      </p:sp>
      <p:cxnSp>
        <p:nvCxnSpPr>
          <p:cNvPr id="900" name="Google Shape;900;p50"/>
          <p:cNvCxnSpPr>
            <a:stCxn id="895" idx="6"/>
            <a:endCxn id="899" idx="2"/>
          </p:cNvCxnSpPr>
          <p:nvPr/>
        </p:nvCxnSpPr>
        <p:spPr>
          <a:xfrm>
            <a:off x="3063600" y="40796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01" name="Google Shape;901;p50"/>
          <p:cNvCxnSpPr>
            <a:stCxn id="890" idx="0"/>
            <a:endCxn id="902" idx="0"/>
          </p:cNvCxnSpPr>
          <p:nvPr/>
        </p:nvCxnSpPr>
        <p:spPr>
          <a:xfrm flipH="1" rot="-5400000">
            <a:off x="3655350" y="-630400"/>
            <a:ext cx="600" cy="5770500"/>
          </a:xfrm>
          <a:prstGeom prst="curvedConnector3">
            <a:avLst>
              <a:gd fmla="val -9090416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7" name="Google Shape;897;p50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903" name="Google Shape;903;p50"/>
          <p:cNvCxnSpPr>
            <a:stCxn id="897" idx="7"/>
            <a:endCxn id="891" idx="3"/>
          </p:cNvCxnSpPr>
          <p:nvPr/>
        </p:nvCxnSpPr>
        <p:spPr>
          <a:xfrm flipH="1" rot="10800000">
            <a:off x="103185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2" name="Google Shape;902;p50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04" name="Google Shape;904;p50"/>
          <p:cNvCxnSpPr>
            <a:stCxn id="892" idx="6"/>
            <a:endCxn id="902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5" name="Google Shape;905;p50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06" name="Google Shape;906;p50"/>
          <p:cNvCxnSpPr>
            <a:stCxn id="902" idx="6"/>
            <a:endCxn id="905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7" name="Google Shape;907;p50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08" name="Google Shape;908;p50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09" name="Google Shape;909;p50"/>
          <p:cNvCxnSpPr>
            <a:stCxn id="899" idx="6"/>
            <a:endCxn id="907" idx="2"/>
          </p:cNvCxnSpPr>
          <p:nvPr/>
        </p:nvCxnSpPr>
        <p:spPr>
          <a:xfrm>
            <a:off x="4987050" y="40796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0" name="Google Shape;910;p50"/>
          <p:cNvCxnSpPr>
            <a:stCxn id="907" idx="6"/>
            <a:endCxn id="908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1" name="Google Shape;911;p50"/>
          <p:cNvCxnSpPr>
            <a:stCxn id="895" idx="7"/>
            <a:endCxn id="902" idx="3"/>
          </p:cNvCxnSpPr>
          <p:nvPr/>
        </p:nvCxnSpPr>
        <p:spPr>
          <a:xfrm flipH="1" rot="10800000">
            <a:off x="2955303" y="2679143"/>
            <a:ext cx="3324000" cy="122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50"/>
          <p:cNvCxnSpPr>
            <a:stCxn id="892" idx="0"/>
            <a:endCxn id="905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50"/>
          <p:cNvCxnSpPr>
            <a:stCxn id="892" idx="5"/>
            <a:endCxn id="907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4" name="Google Shape;914;p50"/>
          <p:cNvCxnSpPr>
            <a:stCxn id="902" idx="4"/>
            <a:endCxn id="907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5" name="Google Shape;915;p50"/>
          <p:cNvCxnSpPr>
            <a:stCxn id="907" idx="7"/>
            <a:endCxn id="905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6" name="Google Shape;916;p50"/>
          <p:cNvCxnSpPr>
            <a:stCxn id="895" idx="0"/>
            <a:endCxn id="891" idx="4"/>
          </p:cNvCxnSpPr>
          <p:nvPr/>
        </p:nvCxnSpPr>
        <p:spPr>
          <a:xfrm rot="10800000">
            <a:off x="2693850" y="275180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(RT)</a:t>
            </a:r>
            <a:endParaRPr/>
          </a:p>
        </p:txBody>
      </p:sp>
      <p:sp>
        <p:nvSpPr>
          <p:cNvPr id="922" name="Google Shape;92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23" name="Google Shape;923;p51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sp>
        <p:nvSpPr>
          <p:cNvPr id="924" name="Google Shape;924;p51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25" name="Google Shape;925;p51"/>
          <p:cNvCxnSpPr>
            <a:stCxn id="923" idx="6"/>
            <a:endCxn id="924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6" name="Google Shape;926;p51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27" name="Google Shape;927;p51"/>
          <p:cNvCxnSpPr>
            <a:stCxn id="924" idx="6"/>
            <a:endCxn id="926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8" name="Google Shape;928;p51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29" name="Google Shape;929;p51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30" name="Google Shape;930;p51"/>
          <p:cNvCxnSpPr>
            <a:stCxn id="928" idx="6"/>
            <a:endCxn id="929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51"/>
          <p:cNvCxnSpPr>
            <a:stCxn id="923" idx="0"/>
            <a:endCxn id="926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51"/>
          <p:cNvCxnSpPr>
            <a:stCxn id="923" idx="5"/>
            <a:endCxn id="928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51"/>
          <p:cNvCxnSpPr>
            <a:stCxn id="924" idx="4"/>
            <a:endCxn id="928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4" name="Google Shape;934;p51"/>
          <p:cNvCxnSpPr>
            <a:stCxn id="928" idx="7"/>
            <a:endCxn id="926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5" name="Google Shape;935;p51"/>
          <p:cNvSpPr txBox="1"/>
          <p:nvPr/>
        </p:nvSpPr>
        <p:spPr>
          <a:xfrm>
            <a:off x="6385350" y="14140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7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6" name="Google Shape;936;p51"/>
          <p:cNvSpPr txBox="1"/>
          <p:nvPr/>
        </p:nvSpPr>
        <p:spPr>
          <a:xfrm>
            <a:off x="5361500" y="222620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8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7" name="Google Shape;937;p51"/>
          <p:cNvSpPr txBox="1"/>
          <p:nvPr/>
        </p:nvSpPr>
        <p:spPr>
          <a:xfrm>
            <a:off x="5361500" y="30144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9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8" name="Google Shape;938;p51"/>
          <p:cNvSpPr txBox="1"/>
          <p:nvPr/>
        </p:nvSpPr>
        <p:spPr>
          <a:xfrm>
            <a:off x="6276810" y="289353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10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39" name="Google Shape;939;p51"/>
          <p:cNvSpPr txBox="1"/>
          <p:nvPr/>
        </p:nvSpPr>
        <p:spPr>
          <a:xfrm>
            <a:off x="7171704" y="223937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0" name="Google Shape;940;p51"/>
          <p:cNvSpPr txBox="1"/>
          <p:nvPr/>
        </p:nvSpPr>
        <p:spPr>
          <a:xfrm>
            <a:off x="7228054" y="297300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1" name="Google Shape;941;p51"/>
          <p:cNvSpPr txBox="1"/>
          <p:nvPr/>
        </p:nvSpPr>
        <p:spPr>
          <a:xfrm>
            <a:off x="7171704" y="380255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42" name="Google Shape;942;p51"/>
          <p:cNvSpPr txBox="1"/>
          <p:nvPr/>
        </p:nvSpPr>
        <p:spPr>
          <a:xfrm>
            <a:off x="1651475" y="1064950"/>
            <a:ext cx="523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Extract the useful half of graph (downstream)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(QPS)</a:t>
            </a:r>
            <a:endParaRPr/>
          </a:p>
        </p:txBody>
      </p:sp>
      <p:sp>
        <p:nvSpPr>
          <p:cNvPr id="948" name="Google Shape;94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49" name="Google Shape;949;p52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950" name="Google Shape;950;p52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951" name="Google Shape;951;p52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952" name="Google Shape;952;p52"/>
          <p:cNvCxnSpPr>
            <a:stCxn id="950" idx="2"/>
            <a:endCxn id="949" idx="6"/>
          </p:cNvCxnSpPr>
          <p:nvPr/>
        </p:nvCxnSpPr>
        <p:spPr>
          <a:xfrm rot="10800000">
            <a:off x="1140300" y="2503250"/>
            <a:ext cx="118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3" name="Google Shape;953;p52"/>
          <p:cNvCxnSpPr>
            <a:stCxn id="951" idx="2"/>
            <a:endCxn id="950" idx="6"/>
          </p:cNvCxnSpPr>
          <p:nvPr/>
        </p:nvCxnSpPr>
        <p:spPr>
          <a:xfrm rot="10800000">
            <a:off x="3063750" y="250325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4" name="Google Shape;954;p52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955" name="Google Shape;955;p52"/>
          <p:cNvCxnSpPr>
            <a:stCxn id="954" idx="2"/>
            <a:endCxn id="956" idx="6"/>
          </p:cNvCxnSpPr>
          <p:nvPr/>
        </p:nvCxnSpPr>
        <p:spPr>
          <a:xfrm rot="10800000">
            <a:off x="1140300" y="407960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7" name="Google Shape;957;p52"/>
          <p:cNvCxnSpPr>
            <a:stCxn id="951" idx="3"/>
            <a:endCxn id="954" idx="7"/>
          </p:cNvCxnSpPr>
          <p:nvPr/>
        </p:nvCxnSpPr>
        <p:spPr>
          <a:xfrm flipH="1">
            <a:off x="295544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6" name="Google Shape;956;p52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958" name="Google Shape;958;p52"/>
          <p:cNvCxnSpPr>
            <a:stCxn id="950" idx="3"/>
            <a:endCxn id="956" idx="7"/>
          </p:cNvCxnSpPr>
          <p:nvPr/>
        </p:nvCxnSpPr>
        <p:spPr>
          <a:xfrm flipH="1">
            <a:off x="103199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9" name="Google Shape;959;p52"/>
          <p:cNvCxnSpPr>
            <a:stCxn id="950" idx="4"/>
            <a:endCxn id="954" idx="0"/>
          </p:cNvCxnSpPr>
          <p:nvPr/>
        </p:nvCxnSpPr>
        <p:spPr>
          <a:xfrm>
            <a:off x="26938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0" name="Google Shape;960;p52"/>
          <p:cNvSpPr txBox="1"/>
          <p:nvPr/>
        </p:nvSpPr>
        <p:spPr>
          <a:xfrm>
            <a:off x="1544000" y="2220225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1" name="Google Shape;961;p52"/>
          <p:cNvSpPr txBox="1"/>
          <p:nvPr/>
        </p:nvSpPr>
        <p:spPr>
          <a:xfrm>
            <a:off x="1544000" y="305060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2" name="Google Shape;962;p52"/>
          <p:cNvSpPr txBox="1"/>
          <p:nvPr/>
        </p:nvSpPr>
        <p:spPr>
          <a:xfrm>
            <a:off x="1681050" y="380255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25026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4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3532910" y="222022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5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35893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6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66" name="Google Shape;966;p52"/>
          <p:cNvSpPr txBox="1"/>
          <p:nvPr/>
        </p:nvSpPr>
        <p:spPr>
          <a:xfrm>
            <a:off x="1651475" y="1064950"/>
            <a:ext cx="464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Extract the useful half of graph (upstream)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zh-TW" sz="1600"/>
              <a:t>Reverse the graph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(RT)</a:t>
            </a:r>
            <a:endParaRPr/>
          </a:p>
        </p:txBody>
      </p:sp>
      <p:sp>
        <p:nvSpPr>
          <p:cNvPr id="972" name="Google Shape;97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73" name="Google Shape;973;p53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sp>
        <p:nvSpPr>
          <p:cNvPr id="974" name="Google Shape;974;p53"/>
          <p:cNvSpPr/>
          <p:nvPr/>
        </p:nvSpPr>
        <p:spPr>
          <a:xfrm>
            <a:off x="6171000" y="225455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7</a:t>
            </a:r>
            <a:endParaRPr b="1" baseline="-25000" sz="1800"/>
          </a:p>
        </p:txBody>
      </p:sp>
      <p:cxnSp>
        <p:nvCxnSpPr>
          <p:cNvPr id="975" name="Google Shape;975;p53"/>
          <p:cNvCxnSpPr>
            <a:stCxn id="973" idx="6"/>
            <a:endCxn id="974" idx="2"/>
          </p:cNvCxnSpPr>
          <p:nvPr/>
        </p:nvCxnSpPr>
        <p:spPr>
          <a:xfrm>
            <a:off x="4987050" y="250325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6" name="Google Shape;976;p53"/>
          <p:cNvSpPr/>
          <p:nvPr/>
        </p:nvSpPr>
        <p:spPr>
          <a:xfrm>
            <a:off x="8094450" y="225455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9</a:t>
            </a:r>
            <a:endParaRPr b="1" baseline="-25000" sz="1800"/>
          </a:p>
        </p:txBody>
      </p:sp>
      <p:cxnSp>
        <p:nvCxnSpPr>
          <p:cNvPr id="977" name="Google Shape;977;p53"/>
          <p:cNvCxnSpPr>
            <a:stCxn id="974" idx="6"/>
            <a:endCxn id="976" idx="2"/>
          </p:cNvCxnSpPr>
          <p:nvPr/>
        </p:nvCxnSpPr>
        <p:spPr>
          <a:xfrm>
            <a:off x="6910500" y="250325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8" name="Google Shape;978;p53"/>
          <p:cNvSpPr/>
          <p:nvPr/>
        </p:nvSpPr>
        <p:spPr>
          <a:xfrm>
            <a:off x="6171000" y="38309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8</a:t>
            </a:r>
            <a:endParaRPr b="1" baseline="-25000" sz="1800"/>
          </a:p>
        </p:txBody>
      </p:sp>
      <p:sp>
        <p:nvSpPr>
          <p:cNvPr id="979" name="Google Shape;979;p53"/>
          <p:cNvSpPr/>
          <p:nvPr/>
        </p:nvSpPr>
        <p:spPr>
          <a:xfrm>
            <a:off x="809445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10</a:t>
            </a:r>
            <a:endParaRPr b="1" baseline="-25000" sz="1800"/>
          </a:p>
        </p:txBody>
      </p:sp>
      <p:cxnSp>
        <p:nvCxnSpPr>
          <p:cNvPr id="980" name="Google Shape;980;p53"/>
          <p:cNvCxnSpPr>
            <a:stCxn id="978" idx="6"/>
            <a:endCxn id="979" idx="2"/>
          </p:cNvCxnSpPr>
          <p:nvPr/>
        </p:nvCxnSpPr>
        <p:spPr>
          <a:xfrm>
            <a:off x="6910500" y="4079600"/>
            <a:ext cx="1184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1" name="Google Shape;981;p53"/>
          <p:cNvCxnSpPr>
            <a:stCxn id="973" idx="0"/>
            <a:endCxn id="976" idx="0"/>
          </p:cNvCxnSpPr>
          <p:nvPr/>
        </p:nvCxnSpPr>
        <p:spPr>
          <a:xfrm flipH="1" rot="-5400000">
            <a:off x="6540450" y="331400"/>
            <a:ext cx="600" cy="3846900"/>
          </a:xfrm>
          <a:prstGeom prst="curvedConnector3">
            <a:avLst>
              <a:gd fmla="val -9224583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53"/>
          <p:cNvCxnSpPr>
            <a:stCxn id="973" idx="5"/>
            <a:endCxn id="978" idx="1"/>
          </p:cNvCxnSpPr>
          <p:nvPr/>
        </p:nvCxnSpPr>
        <p:spPr>
          <a:xfrm>
            <a:off x="4878753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53"/>
          <p:cNvCxnSpPr>
            <a:stCxn id="974" idx="4"/>
            <a:endCxn id="978" idx="0"/>
          </p:cNvCxnSpPr>
          <p:nvPr/>
        </p:nvCxnSpPr>
        <p:spPr>
          <a:xfrm>
            <a:off x="65407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53"/>
          <p:cNvCxnSpPr>
            <a:stCxn id="978" idx="7"/>
            <a:endCxn id="976" idx="3"/>
          </p:cNvCxnSpPr>
          <p:nvPr/>
        </p:nvCxnSpPr>
        <p:spPr>
          <a:xfrm flipH="1" rot="10800000">
            <a:off x="6802203" y="2679143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5" name="Google Shape;985;p53"/>
          <p:cNvSpPr txBox="1"/>
          <p:nvPr/>
        </p:nvSpPr>
        <p:spPr>
          <a:xfrm>
            <a:off x="6385350" y="14140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7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5361500" y="222620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8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5361500" y="3014450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9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8" name="Google Shape;988;p53"/>
          <p:cNvSpPr txBox="1"/>
          <p:nvPr/>
        </p:nvSpPr>
        <p:spPr>
          <a:xfrm>
            <a:off x="6276810" y="289353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10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89" name="Google Shape;989;p53"/>
          <p:cNvSpPr txBox="1"/>
          <p:nvPr/>
        </p:nvSpPr>
        <p:spPr>
          <a:xfrm>
            <a:off x="7171704" y="2239376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0" name="Google Shape;990;p53"/>
          <p:cNvSpPr txBox="1"/>
          <p:nvPr/>
        </p:nvSpPr>
        <p:spPr>
          <a:xfrm>
            <a:off x="7228054" y="297300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1" name="Google Shape;991;p53"/>
          <p:cNvSpPr txBox="1"/>
          <p:nvPr/>
        </p:nvSpPr>
        <p:spPr>
          <a:xfrm>
            <a:off x="7171704" y="3802551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992" name="Google Shape;992;p53"/>
          <p:cNvSpPr/>
          <p:nvPr/>
        </p:nvSpPr>
        <p:spPr>
          <a:xfrm>
            <a:off x="5430850" y="3660100"/>
            <a:ext cx="1942925" cy="1324525"/>
          </a:xfrm>
          <a:custGeom>
            <a:rect b="b" l="l" r="r" t="t"/>
            <a:pathLst>
              <a:path extrusionOk="0" h="52981" w="77717">
                <a:moveTo>
                  <a:pt x="0" y="0"/>
                </a:moveTo>
                <a:cubicBezTo>
                  <a:pt x="4515" y="8707"/>
                  <a:pt x="14136" y="47190"/>
                  <a:pt x="27089" y="52242"/>
                </a:cubicBezTo>
                <a:cubicBezTo>
                  <a:pt x="40042" y="57294"/>
                  <a:pt x="69279" y="33968"/>
                  <a:pt x="77717" y="3031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993" name="Google Shape;99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186150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53"/>
          <p:cNvSpPr/>
          <p:nvPr/>
        </p:nvSpPr>
        <p:spPr>
          <a:xfrm>
            <a:off x="8062" y="164363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3"/>
          <p:cNvSpPr/>
          <p:nvPr/>
        </p:nvSpPr>
        <p:spPr>
          <a:xfrm>
            <a:off x="8062" y="736751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53"/>
          <p:cNvSpPr/>
          <p:nvPr/>
        </p:nvSpPr>
        <p:spPr>
          <a:xfrm>
            <a:off x="8062" y="1314127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3"/>
          <p:cNvSpPr/>
          <p:nvPr/>
        </p:nvSpPr>
        <p:spPr>
          <a:xfrm>
            <a:off x="8062" y="1891491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3"/>
          <p:cNvSpPr/>
          <p:nvPr/>
        </p:nvSpPr>
        <p:spPr>
          <a:xfrm>
            <a:off x="8062" y="2341402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3"/>
          <p:cNvSpPr/>
          <p:nvPr/>
        </p:nvSpPr>
        <p:spPr>
          <a:xfrm>
            <a:off x="8062" y="2922726"/>
            <a:ext cx="1184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3"/>
          <p:cNvSpPr/>
          <p:nvPr/>
        </p:nvSpPr>
        <p:spPr>
          <a:xfrm>
            <a:off x="-13" y="3382250"/>
            <a:ext cx="12981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3"/>
          <p:cNvSpPr/>
          <p:nvPr/>
        </p:nvSpPr>
        <p:spPr>
          <a:xfrm>
            <a:off x="5901325" y="2922612"/>
            <a:ext cx="1330200" cy="471475"/>
          </a:xfrm>
          <a:custGeom>
            <a:rect b="b" l="l" r="r" t="t"/>
            <a:pathLst>
              <a:path extrusionOk="0" h="18859" w="53208">
                <a:moveTo>
                  <a:pt x="0" y="18859"/>
                </a:moveTo>
                <a:cubicBezTo>
                  <a:pt x="4622" y="15742"/>
                  <a:pt x="18865" y="1391"/>
                  <a:pt x="27733" y="155"/>
                </a:cubicBezTo>
                <a:cubicBezTo>
                  <a:pt x="36601" y="-1081"/>
                  <a:pt x="48962" y="9561"/>
                  <a:pt x="53208" y="11442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002" name="Google Shape;100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4200" y="2621273"/>
            <a:ext cx="2794613" cy="248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53"/>
          <p:cNvSpPr/>
          <p:nvPr/>
        </p:nvSpPr>
        <p:spPr>
          <a:xfrm>
            <a:off x="2023437" y="3866213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3"/>
          <p:cNvSpPr/>
          <p:nvPr/>
        </p:nvSpPr>
        <p:spPr>
          <a:xfrm>
            <a:off x="2023437" y="3613788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3"/>
          <p:cNvSpPr/>
          <p:nvPr/>
        </p:nvSpPr>
        <p:spPr>
          <a:xfrm>
            <a:off x="2023437" y="3366150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Propagation Chain Analysis - PoC (QPS)</a:t>
            </a:r>
            <a:endParaRPr/>
          </a:p>
        </p:txBody>
      </p:sp>
      <p:sp>
        <p:nvSpPr>
          <p:cNvPr id="1011" name="Google Shape;101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12" name="Google Shape;1012;p54"/>
          <p:cNvSpPr/>
          <p:nvPr/>
        </p:nvSpPr>
        <p:spPr>
          <a:xfrm>
            <a:off x="40065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1</a:t>
            </a:r>
            <a:endParaRPr b="1" sz="1800"/>
          </a:p>
        </p:txBody>
      </p:sp>
      <p:sp>
        <p:nvSpPr>
          <p:cNvPr id="1013" name="Google Shape;1013;p54"/>
          <p:cNvSpPr/>
          <p:nvPr/>
        </p:nvSpPr>
        <p:spPr>
          <a:xfrm>
            <a:off x="2324100" y="225455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3</a:t>
            </a:r>
            <a:endParaRPr b="1" baseline="-25000" sz="1800"/>
          </a:p>
        </p:txBody>
      </p:sp>
      <p:sp>
        <p:nvSpPr>
          <p:cNvPr id="1014" name="Google Shape;1014;p54"/>
          <p:cNvSpPr/>
          <p:nvPr/>
        </p:nvSpPr>
        <p:spPr>
          <a:xfrm>
            <a:off x="4247550" y="2254550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5</a:t>
            </a:r>
            <a:endParaRPr b="1" sz="1800"/>
          </a:p>
        </p:txBody>
      </p:sp>
      <p:cxnSp>
        <p:nvCxnSpPr>
          <p:cNvPr id="1015" name="Google Shape;1015;p54"/>
          <p:cNvCxnSpPr>
            <a:stCxn id="1013" idx="2"/>
            <a:endCxn id="1012" idx="6"/>
          </p:cNvCxnSpPr>
          <p:nvPr/>
        </p:nvCxnSpPr>
        <p:spPr>
          <a:xfrm rot="10800000">
            <a:off x="1140300" y="2503250"/>
            <a:ext cx="118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6" name="Google Shape;1016;p54"/>
          <p:cNvCxnSpPr>
            <a:stCxn id="1014" idx="2"/>
            <a:endCxn id="1013" idx="6"/>
          </p:cNvCxnSpPr>
          <p:nvPr/>
        </p:nvCxnSpPr>
        <p:spPr>
          <a:xfrm rot="10800000">
            <a:off x="3063750" y="250325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7" name="Google Shape;1017;p54"/>
          <p:cNvSpPr/>
          <p:nvPr/>
        </p:nvSpPr>
        <p:spPr>
          <a:xfrm>
            <a:off x="232410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4</a:t>
            </a:r>
            <a:endParaRPr b="1" baseline="-25000" sz="1800"/>
          </a:p>
        </p:txBody>
      </p:sp>
      <p:cxnSp>
        <p:nvCxnSpPr>
          <p:cNvPr id="1018" name="Google Shape;1018;p54"/>
          <p:cNvCxnSpPr>
            <a:stCxn id="1017" idx="2"/>
            <a:endCxn id="1019" idx="6"/>
          </p:cNvCxnSpPr>
          <p:nvPr/>
        </p:nvCxnSpPr>
        <p:spPr>
          <a:xfrm rot="10800000">
            <a:off x="1140300" y="4079600"/>
            <a:ext cx="1183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020" name="Google Shape;1020;p54"/>
          <p:cNvCxnSpPr>
            <a:stCxn id="1014" idx="3"/>
            <a:endCxn id="1017" idx="7"/>
          </p:cNvCxnSpPr>
          <p:nvPr/>
        </p:nvCxnSpPr>
        <p:spPr>
          <a:xfrm flipH="1">
            <a:off x="295544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9" name="Google Shape;1019;p54"/>
          <p:cNvSpPr/>
          <p:nvPr/>
        </p:nvSpPr>
        <p:spPr>
          <a:xfrm>
            <a:off x="400650" y="3830900"/>
            <a:ext cx="739500" cy="497400"/>
          </a:xfrm>
          <a:prstGeom prst="ellipse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2</a:t>
            </a:r>
            <a:endParaRPr b="1" sz="1800"/>
          </a:p>
        </p:txBody>
      </p:sp>
      <p:cxnSp>
        <p:nvCxnSpPr>
          <p:cNvPr id="1021" name="Google Shape;1021;p54"/>
          <p:cNvCxnSpPr>
            <a:stCxn id="1013" idx="3"/>
            <a:endCxn id="1019" idx="7"/>
          </p:cNvCxnSpPr>
          <p:nvPr/>
        </p:nvCxnSpPr>
        <p:spPr>
          <a:xfrm flipH="1">
            <a:off x="1031997" y="2679107"/>
            <a:ext cx="1400400" cy="122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2" name="Google Shape;1022;p54"/>
          <p:cNvCxnSpPr>
            <a:stCxn id="1013" idx="4"/>
            <a:endCxn id="1017" idx="0"/>
          </p:cNvCxnSpPr>
          <p:nvPr/>
        </p:nvCxnSpPr>
        <p:spPr>
          <a:xfrm>
            <a:off x="2693850" y="2751950"/>
            <a:ext cx="0" cy="1079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3" name="Google Shape;1023;p54"/>
          <p:cNvSpPr txBox="1"/>
          <p:nvPr/>
        </p:nvSpPr>
        <p:spPr>
          <a:xfrm>
            <a:off x="1544000" y="2220225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1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4" name="Google Shape;1024;p54"/>
          <p:cNvSpPr txBox="1"/>
          <p:nvPr/>
        </p:nvSpPr>
        <p:spPr>
          <a:xfrm>
            <a:off x="1544000" y="305060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2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5" name="Google Shape;1025;p54"/>
          <p:cNvSpPr txBox="1"/>
          <p:nvPr/>
        </p:nvSpPr>
        <p:spPr>
          <a:xfrm>
            <a:off x="1681050" y="3802551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3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6" name="Google Shape;1026;p54"/>
          <p:cNvSpPr txBox="1"/>
          <p:nvPr/>
        </p:nvSpPr>
        <p:spPr>
          <a:xfrm>
            <a:off x="25026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4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7" name="Google Shape;1027;p54"/>
          <p:cNvSpPr txBox="1"/>
          <p:nvPr/>
        </p:nvSpPr>
        <p:spPr>
          <a:xfrm>
            <a:off x="3532910" y="222022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5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8" name="Google Shape;1028;p54"/>
          <p:cNvSpPr txBox="1"/>
          <p:nvPr/>
        </p:nvSpPr>
        <p:spPr>
          <a:xfrm>
            <a:off x="3589335" y="2931876"/>
            <a:ext cx="3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accent5"/>
                </a:solidFill>
              </a:rPr>
              <a:t>6</a:t>
            </a:r>
            <a:endParaRPr b="1" sz="2400">
              <a:solidFill>
                <a:schemeClr val="accent5"/>
              </a:solidFill>
            </a:endParaRPr>
          </a:p>
        </p:txBody>
      </p:sp>
      <p:sp>
        <p:nvSpPr>
          <p:cNvPr id="1029" name="Google Shape;1029;p54"/>
          <p:cNvSpPr/>
          <p:nvPr/>
        </p:nvSpPr>
        <p:spPr>
          <a:xfrm>
            <a:off x="1803000" y="1742623"/>
            <a:ext cx="1709125" cy="1280600"/>
          </a:xfrm>
          <a:custGeom>
            <a:rect b="b" l="l" r="r" t="t"/>
            <a:pathLst>
              <a:path extrusionOk="0" h="51224" w="68365">
                <a:moveTo>
                  <a:pt x="68365" y="23491"/>
                </a:moveTo>
                <a:cubicBezTo>
                  <a:pt x="60787" y="19675"/>
                  <a:pt x="34290" y="-4027"/>
                  <a:pt x="22896" y="595"/>
                </a:cubicBezTo>
                <a:cubicBezTo>
                  <a:pt x="11502" y="5217"/>
                  <a:pt x="3816" y="42786"/>
                  <a:pt x="0" y="51224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30" name="Google Shape;1030;p54"/>
          <p:cNvSpPr/>
          <p:nvPr/>
        </p:nvSpPr>
        <p:spPr>
          <a:xfrm>
            <a:off x="2891350" y="2684625"/>
            <a:ext cx="620775" cy="491775"/>
          </a:xfrm>
          <a:custGeom>
            <a:rect b="b" l="l" r="r" t="t"/>
            <a:pathLst>
              <a:path extrusionOk="0" h="19671" w="24831">
                <a:moveTo>
                  <a:pt x="24831" y="0"/>
                </a:moveTo>
                <a:cubicBezTo>
                  <a:pt x="24025" y="2580"/>
                  <a:pt x="24133" y="12201"/>
                  <a:pt x="19994" y="15479"/>
                </a:cubicBezTo>
                <a:cubicBezTo>
                  <a:pt x="15856" y="18758"/>
                  <a:pt x="3332" y="18972"/>
                  <a:pt x="0" y="19671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1031" name="Google Shape;10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500" y="1078449"/>
            <a:ext cx="1920650" cy="35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54"/>
          <p:cNvSpPr/>
          <p:nvPr/>
        </p:nvSpPr>
        <p:spPr>
          <a:xfrm>
            <a:off x="6944205" y="63975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4"/>
          <p:cNvSpPr/>
          <p:nvPr/>
        </p:nvSpPr>
        <p:spPr>
          <a:xfrm>
            <a:off x="6944205" y="669163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54"/>
          <p:cNvSpPr/>
          <p:nvPr/>
        </p:nvSpPr>
        <p:spPr>
          <a:xfrm>
            <a:off x="6944205" y="1282097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4"/>
          <p:cNvSpPr/>
          <p:nvPr/>
        </p:nvSpPr>
        <p:spPr>
          <a:xfrm>
            <a:off x="6944205" y="1878684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4"/>
          <p:cNvSpPr/>
          <p:nvPr/>
        </p:nvSpPr>
        <p:spPr>
          <a:xfrm>
            <a:off x="6944205" y="2487136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54"/>
          <p:cNvSpPr/>
          <p:nvPr/>
        </p:nvSpPr>
        <p:spPr>
          <a:xfrm>
            <a:off x="6944205" y="3091787"/>
            <a:ext cx="12504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8" name="Google Shape;103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763" y="2894400"/>
            <a:ext cx="2780350" cy="21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4"/>
          <p:cNvSpPr/>
          <p:nvPr/>
        </p:nvSpPr>
        <p:spPr>
          <a:xfrm>
            <a:off x="4243512" y="3628100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4"/>
          <p:cNvSpPr/>
          <p:nvPr/>
        </p:nvSpPr>
        <p:spPr>
          <a:xfrm>
            <a:off x="4243512" y="3870988"/>
            <a:ext cx="676500" cy="2346000"/>
          </a:xfrm>
          <a:prstGeom prst="mathMinus">
            <a:avLst>
              <a:gd fmla="val 4734" name="adj1"/>
            </a:avLst>
          </a:prstGeom>
          <a:solidFill>
            <a:srgbClr val="FFFF00">
              <a:alpha val="384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1046" name="Google Shape;104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Anomaly Propagation Chain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Service </a:t>
            </a:r>
            <a:r>
              <a:rPr lang="zh-TW">
                <a:solidFill>
                  <a:srgbClr val="FF0000"/>
                </a:solidFill>
              </a:rPr>
              <a:t>Anomaly Detection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Candidate Root Cause</a:t>
            </a:r>
            <a:endParaRPr/>
          </a:p>
        </p:txBody>
      </p:sp>
      <p:sp>
        <p:nvSpPr>
          <p:cNvPr id="1047" name="Google Shape;104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053" name="Google Shape;105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OC-SVM (</a:t>
            </a:r>
            <a:r>
              <a:rPr lang="zh-TW">
                <a:solidFill>
                  <a:srgbClr val="FF0000"/>
                </a:solidFill>
              </a:rPr>
              <a:t>unsupervised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4 kinds of 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Number of Over-Max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Delta of Maximum Values</a:t>
            </a:r>
            <a:r>
              <a:rPr lang="zh-TW"/>
              <a:t>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Number of Over-Average Values</a:t>
            </a:r>
            <a:r>
              <a:rPr lang="zh-TW"/>
              <a:t>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Ratio of Average Values</a:t>
            </a:r>
            <a:r>
              <a:rPr lang="zh-TW"/>
              <a:t> -&gt; float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Comparison Periods: (1 hour)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last one hour before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same hour of the previous 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The same hour of the same day of the previous week</a:t>
            </a:r>
            <a:endParaRPr/>
          </a:p>
        </p:txBody>
      </p:sp>
      <p:sp>
        <p:nvSpPr>
          <p:cNvPr id="1054" name="Google Shape;105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055" name="Google Shape;1055;p56"/>
          <p:cNvGrpSpPr/>
          <p:nvPr/>
        </p:nvGrpSpPr>
        <p:grpSpPr>
          <a:xfrm>
            <a:off x="2482325" y="4354004"/>
            <a:ext cx="5304675" cy="730671"/>
            <a:chOff x="2329925" y="3896804"/>
            <a:chExt cx="5304675" cy="730671"/>
          </a:xfrm>
        </p:grpSpPr>
        <p:sp>
          <p:nvSpPr>
            <p:cNvPr id="1056" name="Google Shape;1056;p56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057" name="Google Shape;1057;p56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58" name="Google Shape;1058;p56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59" name="Google Shape;1059;p56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060" name="Google Shape;1060;p56"/>
            <p:cNvCxnSpPr>
              <a:stCxn id="1057" idx="0"/>
              <a:endCxn id="1056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56"/>
            <p:cNvCxnSpPr>
              <a:stCxn id="1058" idx="0"/>
              <a:endCxn id="1056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56"/>
            <p:cNvCxnSpPr>
              <a:stCxn id="1059" idx="0"/>
              <a:endCxn id="1056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3" name="Google Shape;1063;p56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64" name="Google Shape;1064;p56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65" name="Google Shape;1065;p56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066" name="Google Shape;1066;p56"/>
          <p:cNvSpPr txBox="1"/>
          <p:nvPr/>
        </p:nvSpPr>
        <p:spPr>
          <a:xfrm>
            <a:off x="33350" y="4232125"/>
            <a:ext cx="310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FF0000"/>
                </a:solidFill>
              </a:rPr>
              <a:t>There are 12 features in total.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1067" name="Google Shape;1067;p56"/>
          <p:cNvSpPr txBox="1"/>
          <p:nvPr/>
        </p:nvSpPr>
        <p:spPr>
          <a:xfrm>
            <a:off x="4668325" y="1048175"/>
            <a:ext cx="46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60 minutes (because sample_rate = 5min)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068" name="Google Shape;1068;p56"/>
          <p:cNvCxnSpPr>
            <a:endCxn id="1056" idx="3"/>
          </p:cNvCxnSpPr>
          <p:nvPr/>
        </p:nvCxnSpPr>
        <p:spPr>
          <a:xfrm flipH="1" rot="10800000">
            <a:off x="7367000" y="4996025"/>
            <a:ext cx="420000" cy="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56"/>
          <p:cNvSpPr/>
          <p:nvPr/>
        </p:nvSpPr>
        <p:spPr>
          <a:xfrm>
            <a:off x="7848525" y="4909925"/>
            <a:ext cx="9411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6</a:t>
            </a:r>
            <a:r>
              <a:rPr lang="zh-TW">
                <a:solidFill>
                  <a:srgbClr val="FF0000"/>
                </a:solidFill>
              </a:rPr>
              <a:t>0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070" name="Google Shape;1070;p56"/>
          <p:cNvCxnSpPr/>
          <p:nvPr/>
        </p:nvCxnSpPr>
        <p:spPr>
          <a:xfrm>
            <a:off x="3653500" y="1715705"/>
            <a:ext cx="2718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56"/>
          <p:cNvSpPr txBox="1"/>
          <p:nvPr/>
        </p:nvSpPr>
        <p:spPr>
          <a:xfrm>
            <a:off x="1048175" y="-76200"/>
            <a:ext cx="427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38761D"/>
                </a:solidFill>
              </a:rPr>
              <a:t>Parameter </a:t>
            </a:r>
            <a:r>
              <a:rPr i="1" lang="zh-TW" sz="1800">
                <a:solidFill>
                  <a:srgbClr val="FF0000"/>
                </a:solidFill>
              </a:rPr>
              <a:t>nu</a:t>
            </a:r>
            <a:r>
              <a:rPr lang="zh-TW" sz="1800">
                <a:solidFill>
                  <a:srgbClr val="38761D"/>
                </a:solidFill>
              </a:rPr>
              <a:t> approximates the fraction of training errors and support vectors.</a:t>
            </a:r>
            <a:endParaRPr sz="1800">
              <a:solidFill>
                <a:srgbClr val="38761D"/>
              </a:solidFill>
            </a:endParaRPr>
          </a:p>
        </p:txBody>
      </p:sp>
      <p:pic>
        <p:nvPicPr>
          <p:cNvPr id="1072" name="Google Shape;10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524" y="63962"/>
            <a:ext cx="3250725" cy="8893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078" name="Google Shape;107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Number of Over-Max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number of RT values in the current detection window that exceed the maximum RT value of a given comparison period.</a:t>
            </a:r>
            <a:endParaRPr/>
          </a:p>
        </p:txBody>
      </p:sp>
      <p:sp>
        <p:nvSpPr>
          <p:cNvPr id="1079" name="Google Shape;107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080" name="Google Shape;1080;p57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081" name="Google Shape;1081;p57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082" name="Google Shape;1082;p57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83" name="Google Shape;1083;p57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084" name="Google Shape;1084;p57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085" name="Google Shape;1085;p57"/>
            <p:cNvCxnSpPr>
              <a:stCxn id="1082" idx="0"/>
              <a:endCxn id="1081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6" name="Google Shape;1086;p57"/>
            <p:cNvCxnSpPr>
              <a:stCxn id="1083" idx="0"/>
              <a:endCxn id="1081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7" name="Google Shape;1087;p57"/>
            <p:cNvCxnSpPr>
              <a:stCxn id="1084" idx="0"/>
              <a:endCxn id="1081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8" name="Google Shape;1088;p57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89" name="Google Shape;1089;p57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090" name="Google Shape;1090;p57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091" name="Google Shape;1091;p57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5611075" y="3402900"/>
            <a:ext cx="8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17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093" name="Google Shape;1093;p57"/>
          <p:cNvSpPr txBox="1"/>
          <p:nvPr/>
        </p:nvSpPr>
        <p:spPr>
          <a:xfrm>
            <a:off x="5877125" y="4107150"/>
            <a:ext cx="19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#elements &gt; </a:t>
            </a:r>
            <a:r>
              <a:rPr lang="zh-TW"/>
              <a:t>max = </a:t>
            </a:r>
            <a:r>
              <a:rPr lang="zh-TW">
                <a:solidFill>
                  <a:srgbClr val="CCCCCC"/>
                </a:solidFill>
              </a:rPr>
              <a:t>3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094" name="Google Shape;1094;p57"/>
          <p:cNvCxnSpPr/>
          <p:nvPr/>
        </p:nvCxnSpPr>
        <p:spPr>
          <a:xfrm>
            <a:off x="6808175" y="34864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95" name="Google Shape;1095;p57"/>
          <p:cNvGrpSpPr/>
          <p:nvPr/>
        </p:nvGrpSpPr>
        <p:grpSpPr>
          <a:xfrm>
            <a:off x="-350775" y="-828687"/>
            <a:ext cx="9685500" cy="2346000"/>
            <a:chOff x="-350775" y="-828687"/>
            <a:chExt cx="9685500" cy="2346000"/>
          </a:xfrm>
        </p:grpSpPr>
        <p:pic>
          <p:nvPicPr>
            <p:cNvPr id="1096" name="Google Shape;1096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57"/>
            <p:cNvSpPr/>
            <p:nvPr/>
          </p:nvSpPr>
          <p:spPr>
            <a:xfrm>
              <a:off x="-350775" y="-828687"/>
              <a:ext cx="96855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03" name="Google Shape;110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zh-TW"/>
              <a:t>Delta of Maximum Values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delta between the maximum RT value in the current detection window and the maximum RT value of a given comparison period.</a:t>
            </a:r>
            <a:endParaRPr/>
          </a:p>
        </p:txBody>
      </p:sp>
      <p:sp>
        <p:nvSpPr>
          <p:cNvPr id="1104" name="Google Shape;110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05" name="Google Shape;1105;p58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06" name="Google Shape;1106;p58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07" name="Google Shape;1107;p58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08" name="Google Shape;1108;p58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09" name="Google Shape;1109;p58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10" name="Google Shape;1110;p58"/>
            <p:cNvCxnSpPr>
              <a:stCxn id="1107" idx="0"/>
              <a:endCxn id="1106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58"/>
            <p:cNvCxnSpPr>
              <a:stCxn id="1108" idx="0"/>
              <a:endCxn id="1106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2" name="Google Shape;1112;p58"/>
            <p:cNvCxnSpPr>
              <a:stCxn id="1109" idx="0"/>
              <a:endCxn id="1106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3" name="Google Shape;1113;p58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14" name="Google Shape;1114;p58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15" name="Google Shape;1115;p58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16" name="Google Shape;1116;p58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17" name="Google Shape;1117;p58"/>
          <p:cNvSpPr txBox="1"/>
          <p:nvPr/>
        </p:nvSpPr>
        <p:spPr>
          <a:xfrm>
            <a:off x="5611075" y="3402900"/>
            <a:ext cx="89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17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118" name="Google Shape;1118;p58"/>
          <p:cNvSpPr txBox="1"/>
          <p:nvPr/>
        </p:nvSpPr>
        <p:spPr>
          <a:xfrm>
            <a:off x="5496125" y="4411950"/>
            <a:ext cx="19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 = </a:t>
            </a:r>
            <a:r>
              <a:rPr lang="zh-TW">
                <a:solidFill>
                  <a:srgbClr val="CCCCCC"/>
                </a:solidFill>
              </a:rPr>
              <a:t>2.5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19" name="Google Shape;1119;p58"/>
          <p:cNvCxnSpPr/>
          <p:nvPr/>
        </p:nvCxnSpPr>
        <p:spPr>
          <a:xfrm>
            <a:off x="6427175" y="37912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0" name="Google Shape;1120;p58"/>
          <p:cNvSpPr txBox="1"/>
          <p:nvPr/>
        </p:nvSpPr>
        <p:spPr>
          <a:xfrm>
            <a:off x="6427175" y="3402900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max: </a:t>
            </a:r>
            <a:r>
              <a:rPr lang="zh-TW">
                <a:solidFill>
                  <a:srgbClr val="CCCCCC"/>
                </a:solidFill>
              </a:rPr>
              <a:t>19.5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121" name="Google Shape;1121;p58"/>
          <p:cNvGrpSpPr/>
          <p:nvPr/>
        </p:nvGrpSpPr>
        <p:grpSpPr>
          <a:xfrm>
            <a:off x="-412001" y="-630025"/>
            <a:ext cx="9885600" cy="2346000"/>
            <a:chOff x="-412001" y="-630025"/>
            <a:chExt cx="9885600" cy="2346000"/>
          </a:xfrm>
        </p:grpSpPr>
        <p:pic>
          <p:nvPicPr>
            <p:cNvPr id="1122" name="Google Shape;1122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58"/>
            <p:cNvSpPr/>
            <p:nvPr/>
          </p:nvSpPr>
          <p:spPr>
            <a:xfrm>
              <a:off x="-412001" y="-630025"/>
              <a:ext cx="98856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29" name="Google Shape;1129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zh-TW"/>
              <a:t>Number of Over-Average Values -&gt; 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number of RT values in the current detection window that exceed the maximum moving average of the RT values of a given comparison period.</a:t>
            </a:r>
            <a:endParaRPr/>
          </a:p>
        </p:txBody>
      </p:sp>
      <p:sp>
        <p:nvSpPr>
          <p:cNvPr id="1130" name="Google Shape;113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31" name="Google Shape;1131;p59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32" name="Google Shape;1132;p59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33" name="Google Shape;1133;p59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34" name="Google Shape;1134;p59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35" name="Google Shape;1135;p59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36" name="Google Shape;1136;p59"/>
            <p:cNvCxnSpPr>
              <a:stCxn id="1133" idx="0"/>
              <a:endCxn id="1132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59"/>
            <p:cNvCxnSpPr>
              <a:stCxn id="1134" idx="0"/>
              <a:endCxn id="1132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59"/>
            <p:cNvCxnSpPr>
              <a:stCxn id="1135" idx="0"/>
              <a:endCxn id="1132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9" name="Google Shape;1139;p59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40" name="Google Shape;1140;p59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41" name="Google Shape;1141;p59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42" name="Google Shape;1142;p59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43" name="Google Shape;1143;p59"/>
          <p:cNvSpPr txBox="1"/>
          <p:nvPr/>
        </p:nvSpPr>
        <p:spPr>
          <a:xfrm>
            <a:off x="5476125" y="340290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MA: 15.5</a:t>
            </a:r>
            <a:endParaRPr/>
          </a:p>
        </p:txBody>
      </p:sp>
      <p:sp>
        <p:nvSpPr>
          <p:cNvPr id="1144" name="Google Shape;1144;p59"/>
          <p:cNvSpPr txBox="1"/>
          <p:nvPr/>
        </p:nvSpPr>
        <p:spPr>
          <a:xfrm>
            <a:off x="5570775" y="4107150"/>
            <a:ext cx="26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#elements &gt; max MA = </a:t>
            </a:r>
            <a:r>
              <a:rPr lang="zh-TW">
                <a:solidFill>
                  <a:srgbClr val="CCCCCC"/>
                </a:solidFill>
              </a:rPr>
              <a:t>4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45" name="Google Shape;1145;p59"/>
          <p:cNvCxnSpPr/>
          <p:nvPr/>
        </p:nvCxnSpPr>
        <p:spPr>
          <a:xfrm>
            <a:off x="6808175" y="3486400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6" name="Google Shape;1146;p59"/>
          <p:cNvGrpSpPr/>
          <p:nvPr/>
        </p:nvGrpSpPr>
        <p:grpSpPr>
          <a:xfrm>
            <a:off x="-548096" y="-417750"/>
            <a:ext cx="11049900" cy="2346000"/>
            <a:chOff x="-548096" y="-417750"/>
            <a:chExt cx="11049900" cy="2346000"/>
          </a:xfrm>
        </p:grpSpPr>
        <p:pic>
          <p:nvPicPr>
            <p:cNvPr id="1147" name="Google Shape;1147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59"/>
            <p:cNvSpPr/>
            <p:nvPr/>
          </p:nvSpPr>
          <p:spPr>
            <a:xfrm>
              <a:off x="-548096" y="-417750"/>
              <a:ext cx="110499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49" name="Google Shape;114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4609473"/>
            <a:ext cx="77247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55" name="Google Shape;115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must set min_periods =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Missing rate too high</a:t>
            </a:r>
            <a:endParaRPr/>
          </a:p>
        </p:txBody>
      </p:sp>
      <p:sp>
        <p:nvSpPr>
          <p:cNvPr id="1156" name="Google Shape;115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57" name="Google Shape;115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609473"/>
            <a:ext cx="77247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175" y="2149200"/>
            <a:ext cx="1972449" cy="1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9475" y="2149200"/>
            <a:ext cx="1811805" cy="18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5775" y="2177676"/>
            <a:ext cx="1902850" cy="182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7450" y="2149211"/>
            <a:ext cx="1902850" cy="1852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0200" y="322674"/>
            <a:ext cx="2048000" cy="13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60"/>
          <p:cNvSpPr txBox="1"/>
          <p:nvPr/>
        </p:nvSpPr>
        <p:spPr>
          <a:xfrm>
            <a:off x="2249625" y="4001250"/>
            <a:ext cx="22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.rolling(window=5).mean()</a:t>
            </a:r>
            <a:endParaRPr/>
          </a:p>
        </p:txBody>
      </p:sp>
      <p:sp>
        <p:nvSpPr>
          <p:cNvPr id="1164" name="Google Shape;1164;p60"/>
          <p:cNvSpPr txBox="1"/>
          <p:nvPr/>
        </p:nvSpPr>
        <p:spPr>
          <a:xfrm>
            <a:off x="4709358" y="4001250"/>
            <a:ext cx="14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min_periods=1</a:t>
            </a:r>
            <a:endParaRPr/>
          </a:p>
        </p:txBody>
      </p:sp>
      <p:sp>
        <p:nvSpPr>
          <p:cNvPr id="1165" name="Google Shape;1165;p60"/>
          <p:cNvSpPr txBox="1"/>
          <p:nvPr/>
        </p:nvSpPr>
        <p:spPr>
          <a:xfrm>
            <a:off x="6868883" y="4001250"/>
            <a:ext cx="14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center=True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71" name="Google Shape;117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zh-TW"/>
              <a:t>Ratio of Average Values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ratio of the average of the RT values in the current detection window to the maximum moving average of the RT values of a given </a:t>
            </a:r>
            <a:r>
              <a:rPr lang="zh-TW"/>
              <a:t>comparison period.</a:t>
            </a:r>
            <a:endParaRPr/>
          </a:p>
        </p:txBody>
      </p:sp>
      <p:sp>
        <p:nvSpPr>
          <p:cNvPr id="1172" name="Google Shape;117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73" name="Google Shape;1173;p61"/>
          <p:cNvGrpSpPr/>
          <p:nvPr/>
        </p:nvGrpSpPr>
        <p:grpSpPr>
          <a:xfrm>
            <a:off x="1720325" y="2677604"/>
            <a:ext cx="5304675" cy="730671"/>
            <a:chOff x="2329925" y="3896804"/>
            <a:chExt cx="5304675" cy="730671"/>
          </a:xfrm>
        </p:grpSpPr>
        <p:sp>
          <p:nvSpPr>
            <p:cNvPr id="1174" name="Google Shape;1174;p61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175" name="Google Shape;1175;p61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76" name="Google Shape;1176;p61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177" name="Google Shape;1177;p61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178" name="Google Shape;1178;p61"/>
            <p:cNvCxnSpPr>
              <a:stCxn id="1175" idx="0"/>
              <a:endCxn id="1174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61"/>
            <p:cNvCxnSpPr>
              <a:stCxn id="1176" idx="0"/>
              <a:endCxn id="1174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61"/>
            <p:cNvCxnSpPr>
              <a:stCxn id="1177" idx="0"/>
              <a:endCxn id="1174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1" name="Google Shape;1181;p61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82" name="Google Shape;1182;p61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183" name="Google Shape;1183;p61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184" name="Google Shape;1184;p61"/>
          <p:cNvSpPr txBox="1"/>
          <p:nvPr/>
        </p:nvSpPr>
        <p:spPr>
          <a:xfrm>
            <a:off x="4037975" y="1998575"/>
            <a:ext cx="510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TW" sz="1600" u="sng">
                <a:solidFill>
                  <a:schemeClr val="accent5"/>
                </a:solidFill>
              </a:rPr>
              <a:t>Comparison Period</a:t>
            </a:r>
            <a:r>
              <a:rPr lang="zh-TW" sz="1600">
                <a:solidFill>
                  <a:schemeClr val="accent5"/>
                </a:solidFill>
              </a:rPr>
              <a:t>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accent5"/>
                </a:solidFill>
              </a:rPr>
              <a:t>The last one hour before the current detection window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1185" name="Google Shape;1185;p61"/>
          <p:cNvSpPr txBox="1"/>
          <p:nvPr/>
        </p:nvSpPr>
        <p:spPr>
          <a:xfrm>
            <a:off x="5476125" y="340290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MA: </a:t>
            </a:r>
            <a:r>
              <a:rPr lang="zh-TW">
                <a:solidFill>
                  <a:srgbClr val="CCCCCC"/>
                </a:solidFill>
              </a:rPr>
              <a:t>15.5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186" name="Google Shape;1186;p61"/>
          <p:cNvSpPr txBox="1"/>
          <p:nvPr/>
        </p:nvSpPr>
        <p:spPr>
          <a:xfrm>
            <a:off x="5265975" y="4640550"/>
            <a:ext cx="31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ratio = average / max MA = </a:t>
            </a:r>
            <a:r>
              <a:rPr lang="zh-TW">
                <a:solidFill>
                  <a:srgbClr val="CCCCCC"/>
                </a:solidFill>
              </a:rPr>
              <a:t>0.839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87" name="Google Shape;1187;p61"/>
          <p:cNvCxnSpPr/>
          <p:nvPr/>
        </p:nvCxnSpPr>
        <p:spPr>
          <a:xfrm>
            <a:off x="6579575" y="4052048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61"/>
          <p:cNvSpPr txBox="1"/>
          <p:nvPr/>
        </p:nvSpPr>
        <p:spPr>
          <a:xfrm>
            <a:off x="6215700" y="3706950"/>
            <a:ext cx="14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average: </a:t>
            </a:r>
            <a:r>
              <a:rPr lang="zh-TW">
                <a:solidFill>
                  <a:srgbClr val="CCCCCC"/>
                </a:solidFill>
              </a:rPr>
              <a:t>13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189" name="Google Shape;1189;p61"/>
          <p:cNvGrpSpPr/>
          <p:nvPr/>
        </p:nvGrpSpPr>
        <p:grpSpPr>
          <a:xfrm>
            <a:off x="-433131" y="-204125"/>
            <a:ext cx="10263300" cy="2346000"/>
            <a:chOff x="-433131" y="-204125"/>
            <a:chExt cx="10263300" cy="2346000"/>
          </a:xfrm>
        </p:grpSpPr>
        <p:pic>
          <p:nvPicPr>
            <p:cNvPr id="1190" name="Google Shape;1190;p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545" y="0"/>
              <a:ext cx="8259455" cy="11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61"/>
            <p:cNvSpPr/>
            <p:nvPr/>
          </p:nvSpPr>
          <p:spPr>
            <a:xfrm>
              <a:off x="-433131" y="-204125"/>
              <a:ext cx="10263300" cy="2346000"/>
            </a:xfrm>
            <a:prstGeom prst="mathMinus">
              <a:avLst>
                <a:gd fmla="val 8862" name="adj1"/>
              </a:avLst>
            </a:prstGeom>
            <a:solidFill>
              <a:srgbClr val="FFFF00">
                <a:alpha val="38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197" name="Google Shape;1197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Training set: 100,000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Test set: 600 cases (pos : neg = 1 : 1)</a:t>
            </a:r>
            <a:endParaRPr/>
          </a:p>
        </p:txBody>
      </p:sp>
      <p:sp>
        <p:nvSpPr>
          <p:cNvPr id="1198" name="Google Shape;119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199" name="Google Shape;1199;p62"/>
          <p:cNvGrpSpPr/>
          <p:nvPr/>
        </p:nvGrpSpPr>
        <p:grpSpPr>
          <a:xfrm>
            <a:off x="2741625" y="1943504"/>
            <a:ext cx="5304675" cy="730671"/>
            <a:chOff x="2329925" y="3896804"/>
            <a:chExt cx="5304675" cy="730671"/>
          </a:xfrm>
        </p:grpSpPr>
        <p:sp>
          <p:nvSpPr>
            <p:cNvPr id="1200" name="Google Shape;1200;p62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01" name="Google Shape;1201;p62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2" name="Google Shape;1202;p62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03" name="Google Shape;1203;p62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cxnSp>
          <p:nvCxnSpPr>
            <p:cNvPr id="1204" name="Google Shape;1204;p62"/>
            <p:cNvCxnSpPr>
              <a:stCxn id="1201" idx="0"/>
              <a:endCxn id="1200" idx="0"/>
            </p:cNvCxnSpPr>
            <p:nvPr/>
          </p:nvCxnSpPr>
          <p:spPr>
            <a:xfrm flipH="1" rot="-5400000">
              <a:off x="7025675" y="4059425"/>
              <a:ext cx="600" cy="782100"/>
            </a:xfrm>
            <a:prstGeom prst="curvedConnector3">
              <a:avLst>
                <a:gd fmla="val -255291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62"/>
            <p:cNvCxnSpPr>
              <a:stCxn id="1202" idx="0"/>
              <a:endCxn id="1200" idx="0"/>
            </p:cNvCxnSpPr>
            <p:nvPr/>
          </p:nvCxnSpPr>
          <p:spPr>
            <a:xfrm flipH="1" rot="-5400000">
              <a:off x="6267850" y="3301625"/>
              <a:ext cx="600" cy="2297700"/>
            </a:xfrm>
            <a:prstGeom prst="curvedConnector3">
              <a:avLst>
                <a:gd fmla="val -49716667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62"/>
            <p:cNvCxnSpPr>
              <a:stCxn id="1203" idx="0"/>
              <a:endCxn id="1200" idx="0"/>
            </p:cNvCxnSpPr>
            <p:nvPr/>
          </p:nvCxnSpPr>
          <p:spPr>
            <a:xfrm flipH="1" rot="-5400000">
              <a:off x="5106875" y="2140775"/>
              <a:ext cx="600" cy="4619400"/>
            </a:xfrm>
            <a:prstGeom prst="curvedConnector3">
              <a:avLst>
                <a:gd fmla="val -73900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7" name="Google Shape;1207;p62"/>
            <p:cNvSpPr txBox="1"/>
            <p:nvPr/>
          </p:nvSpPr>
          <p:spPr>
            <a:xfrm>
              <a:off x="6925100" y="4170842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208" name="Google Shape;1208;p62"/>
            <p:cNvSpPr txBox="1"/>
            <p:nvPr/>
          </p:nvSpPr>
          <p:spPr>
            <a:xfrm>
              <a:off x="6131050" y="4036729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209" name="Google Shape;1209;p62"/>
            <p:cNvSpPr txBox="1"/>
            <p:nvPr/>
          </p:nvSpPr>
          <p:spPr>
            <a:xfrm>
              <a:off x="4970075" y="3896804"/>
              <a:ext cx="27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4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grpSp>
        <p:nvGrpSpPr>
          <p:cNvPr id="1210" name="Google Shape;1210;p62"/>
          <p:cNvGrpSpPr/>
          <p:nvPr/>
        </p:nvGrpSpPr>
        <p:grpSpPr>
          <a:xfrm>
            <a:off x="2589225" y="2855225"/>
            <a:ext cx="5304675" cy="177300"/>
            <a:chOff x="2329925" y="4450175"/>
            <a:chExt cx="5304675" cy="177300"/>
          </a:xfrm>
        </p:grpSpPr>
        <p:sp>
          <p:nvSpPr>
            <p:cNvPr id="1211" name="Google Shape;1211;p62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12" name="Google Shape;1212;p62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3" name="Google Shape;1213;p62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4" name="Google Shape;1214;p62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215" name="Google Shape;1215;p62"/>
          <p:cNvGrpSpPr/>
          <p:nvPr/>
        </p:nvGrpSpPr>
        <p:grpSpPr>
          <a:xfrm>
            <a:off x="2436825" y="3213575"/>
            <a:ext cx="5304675" cy="177300"/>
            <a:chOff x="2329925" y="4450175"/>
            <a:chExt cx="5304675" cy="177300"/>
          </a:xfrm>
        </p:grpSpPr>
        <p:sp>
          <p:nvSpPr>
            <p:cNvPr id="1216" name="Google Shape;1216;p62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17" name="Google Shape;1217;p62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8" name="Google Shape;1218;p62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19" name="Google Shape;1219;p62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220" name="Google Shape;1220;p62"/>
          <p:cNvGrpSpPr/>
          <p:nvPr/>
        </p:nvGrpSpPr>
        <p:grpSpPr>
          <a:xfrm>
            <a:off x="2284425" y="3571925"/>
            <a:ext cx="5304675" cy="177300"/>
            <a:chOff x="2329925" y="4450175"/>
            <a:chExt cx="5304675" cy="177300"/>
          </a:xfrm>
        </p:grpSpPr>
        <p:sp>
          <p:nvSpPr>
            <p:cNvPr id="1221" name="Google Shape;1221;p62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22" name="Google Shape;1222;p62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23" name="Google Shape;1223;p62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24" name="Google Shape;1224;p62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grpSp>
        <p:nvGrpSpPr>
          <p:cNvPr id="1225" name="Google Shape;1225;p62"/>
          <p:cNvGrpSpPr/>
          <p:nvPr/>
        </p:nvGrpSpPr>
        <p:grpSpPr>
          <a:xfrm>
            <a:off x="303225" y="4235075"/>
            <a:ext cx="5304675" cy="177300"/>
            <a:chOff x="2329925" y="4450175"/>
            <a:chExt cx="5304675" cy="177300"/>
          </a:xfrm>
        </p:grpSpPr>
        <p:sp>
          <p:nvSpPr>
            <p:cNvPr id="1226" name="Google Shape;1226;p62"/>
            <p:cNvSpPr/>
            <p:nvPr/>
          </p:nvSpPr>
          <p:spPr>
            <a:xfrm>
              <a:off x="7199300" y="44501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27" name="Google Shape;1227;p62"/>
            <p:cNvSpPr/>
            <p:nvPr/>
          </p:nvSpPr>
          <p:spPr>
            <a:xfrm>
              <a:off x="616737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28" name="Google Shape;1228;p62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29" name="Google Shape;1229;p62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  <p:sp>
        <p:nvSpPr>
          <p:cNvPr id="1230" name="Google Shape;1230;p62"/>
          <p:cNvSpPr/>
          <p:nvPr/>
        </p:nvSpPr>
        <p:spPr>
          <a:xfrm rot="5400000">
            <a:off x="7932450" y="2716289"/>
            <a:ext cx="68100" cy="145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2"/>
          <p:cNvSpPr txBox="1"/>
          <p:nvPr/>
        </p:nvSpPr>
        <p:spPr>
          <a:xfrm>
            <a:off x="8039100" y="258880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F00"/>
                </a:highlight>
              </a:rPr>
              <a:t>1 min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232" name="Google Shape;1232;p62"/>
          <p:cNvSpPr txBox="1"/>
          <p:nvPr/>
        </p:nvSpPr>
        <p:spPr>
          <a:xfrm rot="5400000">
            <a:off x="4698974" y="3722302"/>
            <a:ext cx="49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…</a:t>
            </a:r>
            <a:endParaRPr b="1" sz="2400"/>
          </a:p>
        </p:txBody>
      </p:sp>
      <p:sp>
        <p:nvSpPr>
          <p:cNvPr id="1233" name="Google Shape;1233;p62"/>
          <p:cNvSpPr txBox="1"/>
          <p:nvPr/>
        </p:nvSpPr>
        <p:spPr>
          <a:xfrm>
            <a:off x="2063850" y="4510275"/>
            <a:ext cx="25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100,000 min ≈ 69.4 days</a:t>
            </a:r>
            <a:endParaRPr sz="1600"/>
          </a:p>
        </p:txBody>
      </p:sp>
      <p:sp>
        <p:nvSpPr>
          <p:cNvPr id="1234" name="Google Shape;1234;p62"/>
          <p:cNvSpPr txBox="1"/>
          <p:nvPr/>
        </p:nvSpPr>
        <p:spPr>
          <a:xfrm>
            <a:off x="5836275" y="1280513"/>
            <a:ext cx="32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5</a:t>
            </a:r>
            <a:r>
              <a:rPr lang="zh-TW">
                <a:solidFill>
                  <a:srgbClr val="FF0000"/>
                </a:solidFill>
              </a:rPr>
              <a:t> min</a:t>
            </a:r>
            <a:r>
              <a:rPr lang="zh-TW">
                <a:solidFill>
                  <a:srgbClr val="FF0000"/>
                </a:solidFill>
              </a:rPr>
              <a:t> </a:t>
            </a:r>
            <a:r>
              <a:rPr lang="zh-TW">
                <a:solidFill>
                  <a:srgbClr val="FF0000"/>
                </a:solidFill>
              </a:rPr>
              <a:t>(because sample_rate = 5min)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235" name="Google Shape;1235;p62"/>
          <p:cNvCxnSpPr/>
          <p:nvPr/>
        </p:nvCxnSpPr>
        <p:spPr>
          <a:xfrm>
            <a:off x="8124675" y="2788905"/>
            <a:ext cx="461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62"/>
          <p:cNvCxnSpPr>
            <a:endCxn id="1234" idx="2"/>
          </p:cNvCxnSpPr>
          <p:nvPr/>
        </p:nvCxnSpPr>
        <p:spPr>
          <a:xfrm rot="10800000">
            <a:off x="7449075" y="1680713"/>
            <a:ext cx="924600" cy="908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7" name="Google Shape;1237;p62"/>
          <p:cNvSpPr txBox="1"/>
          <p:nvPr/>
        </p:nvSpPr>
        <p:spPr>
          <a:xfrm>
            <a:off x="4572150" y="4525713"/>
            <a:ext cx="32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Current status: ≈ 10,000 (1 month)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1238" name="Google Shape;1238;p62"/>
          <p:cNvCxnSpPr/>
          <p:nvPr/>
        </p:nvCxnSpPr>
        <p:spPr>
          <a:xfrm>
            <a:off x="2142799" y="4725830"/>
            <a:ext cx="2274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244" name="Google Shape;124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Trigger point + Topology</a:t>
            </a:r>
            <a:endParaRPr/>
          </a:p>
        </p:txBody>
      </p:sp>
      <p:sp>
        <p:nvSpPr>
          <p:cNvPr id="1245" name="Google Shape;124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46" name="Google Shape;124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174" y="1588005"/>
            <a:ext cx="411566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RT</a:t>
            </a:r>
            <a:endParaRPr/>
          </a:p>
        </p:txBody>
      </p:sp>
      <p:sp>
        <p:nvSpPr>
          <p:cNvPr id="1252" name="Google Shape;125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result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Anomalous = </a:t>
            </a:r>
            <a:r>
              <a:rPr lang="zh-TW">
                <a:solidFill>
                  <a:srgbClr val="B7B7B7"/>
                </a:solidFill>
              </a:rPr>
              <a:t>None</a:t>
            </a:r>
            <a:r>
              <a:rPr lang="zh-TW"/>
              <a:t> for every edge</a:t>
            </a:r>
            <a:endParaRPr/>
          </a:p>
        </p:txBody>
      </p:sp>
      <p:sp>
        <p:nvSpPr>
          <p:cNvPr id="1253" name="Google Shape;125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54" name="Google Shape;12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596" y="2513596"/>
            <a:ext cx="528456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64"/>
          <p:cNvSpPr/>
          <p:nvPr/>
        </p:nvSpPr>
        <p:spPr>
          <a:xfrm>
            <a:off x="4012975" y="2605450"/>
            <a:ext cx="673800" cy="22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64"/>
          <p:cNvSpPr txBox="1"/>
          <p:nvPr/>
        </p:nvSpPr>
        <p:spPr>
          <a:xfrm>
            <a:off x="696275" y="2979800"/>
            <a:ext cx="47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OC-SVM won’t allow sample data with missing features.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257" name="Google Shape;125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225" y="1325201"/>
            <a:ext cx="3259775" cy="270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8" name="Google Shape;1258;p64"/>
          <p:cNvGrpSpPr/>
          <p:nvPr/>
        </p:nvGrpSpPr>
        <p:grpSpPr>
          <a:xfrm>
            <a:off x="5566775" y="70688"/>
            <a:ext cx="2678375" cy="1015800"/>
            <a:chOff x="5109575" y="70688"/>
            <a:chExt cx="2678375" cy="1015800"/>
          </a:xfrm>
        </p:grpSpPr>
        <p:sp>
          <p:nvSpPr>
            <p:cNvPr id="1259" name="Google Shape;1259;p64"/>
            <p:cNvSpPr txBox="1"/>
            <p:nvPr/>
          </p:nvSpPr>
          <p:spPr>
            <a:xfrm>
              <a:off x="5109575" y="351400"/>
              <a:ext cx="1611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/>
                <a:t>Anomalous =</a:t>
              </a:r>
              <a:endParaRPr sz="1800"/>
            </a:p>
          </p:txBody>
        </p:sp>
        <p:sp>
          <p:nvSpPr>
            <p:cNvPr id="1260" name="Google Shape;1260;p64"/>
            <p:cNvSpPr/>
            <p:nvPr/>
          </p:nvSpPr>
          <p:spPr>
            <a:xfrm>
              <a:off x="6658200" y="226300"/>
              <a:ext cx="232200" cy="6813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4"/>
            <p:cNvSpPr txBox="1"/>
            <p:nvPr/>
          </p:nvSpPr>
          <p:spPr>
            <a:xfrm>
              <a:off x="6913150" y="70688"/>
              <a:ext cx="8748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E69138"/>
                  </a:solidFill>
                </a:rPr>
                <a:t>True</a:t>
              </a:r>
              <a:endParaRPr sz="1800">
                <a:solidFill>
                  <a:srgbClr val="E69138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93C47D"/>
                  </a:solidFill>
                </a:rPr>
                <a:t>False</a:t>
              </a:r>
              <a:endParaRPr sz="1800">
                <a:solidFill>
                  <a:srgbClr val="93C47D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rgbClr val="B7B7B7"/>
                  </a:solidFill>
                </a:rPr>
                <a:t>None</a:t>
              </a:r>
              <a:endParaRPr sz="1800">
                <a:solidFill>
                  <a:srgbClr val="B7B7B7"/>
                </a:solidFill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Problems Encountered</a:t>
            </a:r>
            <a:endParaRPr/>
          </a:p>
        </p:txBody>
      </p:sp>
      <p:sp>
        <p:nvSpPr>
          <p:cNvPr id="1267" name="Google Shape;1267;p65"/>
          <p:cNvSpPr txBox="1"/>
          <p:nvPr>
            <p:ph idx="1" type="body"/>
          </p:nvPr>
        </p:nvSpPr>
        <p:spPr>
          <a:xfrm>
            <a:off x="311700" y="1152475"/>
            <a:ext cx="8520600" cy="3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Missing rate too high (it’s not a big problem for RT/EC, but it’s a big issue for QPS)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None !=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Inconsistent topology (it’s not a big problem)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Service Anomaly Detection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zh-TW">
                <a:solidFill>
                  <a:srgbClr val="FF0000"/>
                </a:solidFill>
              </a:rPr>
              <a:t>No ground truth or any criteria to examine/verify the results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zh-TW">
                <a:solidFill>
                  <a:srgbClr val="FF0000"/>
                </a:solidFill>
              </a:rPr>
              <a:t>Which model? Hyperparameter in the model?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MicroHECL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Good at </a:t>
            </a:r>
            <a:r>
              <a:rPr b="1" lang="zh-TW"/>
              <a:t>complex</a:t>
            </a:r>
            <a:r>
              <a:rPr lang="zh-TW"/>
              <a:t> topology</a:t>
            </a:r>
            <a:endParaRPr/>
          </a:p>
        </p:txBody>
      </p:sp>
      <p:sp>
        <p:nvSpPr>
          <p:cNvPr id="1268" name="Google Shape;126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69" name="Google Shape;1269;p65"/>
          <p:cNvSpPr txBox="1"/>
          <p:nvPr/>
        </p:nvSpPr>
        <p:spPr>
          <a:xfrm>
            <a:off x="1560000" y="3705625"/>
            <a:ext cx="464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We don’t care what model we use (ex: OC-SVM for RT) as long as we have “good performance”.</a:t>
            </a:r>
            <a:endParaRPr b="1">
              <a:solidFill>
                <a:srgbClr val="38761D"/>
              </a:solidFill>
            </a:endParaRPr>
          </a:p>
        </p:txBody>
      </p:sp>
      <p:pic>
        <p:nvPicPr>
          <p:cNvPr id="1270" name="Google Shape;127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050" y="2949820"/>
            <a:ext cx="2728000" cy="2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65"/>
          <p:cNvSpPr txBox="1"/>
          <p:nvPr/>
        </p:nvSpPr>
        <p:spPr>
          <a:xfrm>
            <a:off x="4004150" y="87175"/>
            <a:ext cx="4312500" cy="1262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Let’s think of </a:t>
            </a:r>
            <a:r>
              <a:rPr b="1" i="1" lang="zh-TW" u="sng"/>
              <a:t>log clustering</a:t>
            </a:r>
            <a:r>
              <a:rPr lang="zh-TW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66666"/>
                </a:solidFill>
              </a:rPr>
              <a:t>How do we determine a “good performance” result?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zh-TW">
                <a:solidFill>
                  <a:srgbClr val="666666"/>
                </a:solidFill>
              </a:rPr>
              <a:t>Manual inspection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zh-TW">
                <a:solidFill>
                  <a:srgbClr val="666666"/>
                </a:solidFill>
              </a:rPr>
              <a:t>An example to justify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zh-TW">
                <a:solidFill>
                  <a:srgbClr val="666666"/>
                </a:solidFill>
              </a:rPr>
              <a:t>Downstream task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277" name="Google Shape;1277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Random Forest (</a:t>
            </a:r>
            <a:r>
              <a:rPr lang="zh-TW">
                <a:solidFill>
                  <a:srgbClr val="FF0000"/>
                </a:solidFill>
              </a:rPr>
              <a:t>supervised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</a:t>
            </a:r>
            <a:r>
              <a:rPr lang="zh-TW"/>
              <a:t>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5 features: (combine RT)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Previous Day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Previous Minute Delta Outlier Value</a:t>
            </a:r>
            <a:r>
              <a:rPr lang="zh-TW"/>
              <a:t>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Response Time Over Threshold -&gt; bool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Maximum Error Rate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zh-TW"/>
              <a:t>Correlation with Response Time -&gt; float</a:t>
            </a:r>
            <a:endParaRPr/>
          </a:p>
        </p:txBody>
      </p:sp>
      <p:sp>
        <p:nvSpPr>
          <p:cNvPr id="1278" name="Google Shape;127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279" name="Google Shape;1279;p66"/>
          <p:cNvGrpSpPr/>
          <p:nvPr/>
        </p:nvGrpSpPr>
        <p:grpSpPr>
          <a:xfrm>
            <a:off x="3015725" y="4145375"/>
            <a:ext cx="3256925" cy="482100"/>
            <a:chOff x="2329925" y="4450175"/>
            <a:chExt cx="3256925" cy="482100"/>
          </a:xfrm>
        </p:grpSpPr>
        <p:sp>
          <p:nvSpPr>
            <p:cNvPr id="1280" name="Google Shape;1280;p66"/>
            <p:cNvSpPr/>
            <p:nvPr/>
          </p:nvSpPr>
          <p:spPr>
            <a:xfrm>
              <a:off x="5141900" y="4754975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  <p:sp>
          <p:nvSpPr>
            <p:cNvPr id="1281" name="Google Shape;1281;p66"/>
            <p:cNvSpPr/>
            <p:nvPr/>
          </p:nvSpPr>
          <p:spPr>
            <a:xfrm>
              <a:off x="4651750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  <p:sp>
          <p:nvSpPr>
            <p:cNvPr id="1282" name="Google Shape;1282;p66"/>
            <p:cNvSpPr/>
            <p:nvPr/>
          </p:nvSpPr>
          <p:spPr>
            <a:xfrm>
              <a:off x="2329925" y="4450175"/>
              <a:ext cx="935100" cy="177300"/>
            </a:xfrm>
            <a:prstGeom prst="roundRect">
              <a:avLst>
                <a:gd fmla="val 16667" name="adj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60</a:t>
              </a:r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288" name="Google Shape;1288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Previous Day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Calculate the deltas of </a:t>
            </a:r>
            <a:r>
              <a:rPr lang="zh-TW" u="sng"/>
              <a:t>the EC values in the last one hour</a:t>
            </a:r>
            <a:r>
              <a:rPr lang="zh-TW"/>
              <a:t> and </a:t>
            </a:r>
            <a:r>
              <a:rPr lang="zh-TW" u="sng"/>
              <a:t>the EC values in the same hour of the previous day</a:t>
            </a:r>
            <a:endParaRPr u="sng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the 3-sigma rule to identify possible outliers of the deltas in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if exist return the average of the outliers as the feature value, otherwise return 0</a:t>
            </a:r>
            <a:endParaRPr/>
          </a:p>
        </p:txBody>
      </p:sp>
      <p:sp>
        <p:nvSpPr>
          <p:cNvPr id="1289" name="Google Shape;128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90" name="Google Shape;1290;p67"/>
          <p:cNvSpPr/>
          <p:nvPr/>
        </p:nvSpPr>
        <p:spPr>
          <a:xfrm>
            <a:off x="555777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91" name="Google Shape;1291;p67"/>
          <p:cNvSpPr/>
          <p:nvPr/>
        </p:nvSpPr>
        <p:spPr>
          <a:xfrm>
            <a:off x="40421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92" name="Google Shape;1292;p67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293" name="Google Shape;1293;p67"/>
          <p:cNvSpPr txBox="1"/>
          <p:nvPr/>
        </p:nvSpPr>
        <p:spPr>
          <a:xfrm>
            <a:off x="5699338" y="34029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deltas</a:t>
            </a:r>
            <a:endParaRPr/>
          </a:p>
        </p:txBody>
      </p:sp>
      <p:sp>
        <p:nvSpPr>
          <p:cNvPr id="1294" name="Google Shape;1294;p67"/>
          <p:cNvSpPr txBox="1"/>
          <p:nvPr/>
        </p:nvSpPr>
        <p:spPr>
          <a:xfrm>
            <a:off x="63556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295" name="Google Shape;1295;p67"/>
          <p:cNvCxnSpPr/>
          <p:nvPr/>
        </p:nvCxnSpPr>
        <p:spPr>
          <a:xfrm>
            <a:off x="62772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6" name="Google Shape;1296;p67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same hour of the previous day</a:t>
            </a:r>
            <a:endParaRPr/>
          </a:p>
        </p:txBody>
      </p:sp>
      <p:sp>
        <p:nvSpPr>
          <p:cNvPr id="1297" name="Google Shape;1297;p67"/>
          <p:cNvSpPr txBox="1"/>
          <p:nvPr/>
        </p:nvSpPr>
        <p:spPr>
          <a:xfrm>
            <a:off x="37182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298" name="Google Shape;1298;p67"/>
          <p:cNvSpPr txBox="1"/>
          <p:nvPr/>
        </p:nvSpPr>
        <p:spPr>
          <a:xfrm>
            <a:off x="3066948" y="2925989"/>
            <a:ext cx="312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-"/>
            </a:pPr>
            <a:r>
              <a:rPr lang="zh-TW" sz="3600"/>
              <a:t>            =</a:t>
            </a:r>
            <a:endParaRPr sz="3600"/>
          </a:p>
        </p:txBody>
      </p:sp>
      <p:sp>
        <p:nvSpPr>
          <p:cNvPr id="1299" name="Google Shape;1299;p67"/>
          <p:cNvSpPr txBox="1"/>
          <p:nvPr/>
        </p:nvSpPr>
        <p:spPr>
          <a:xfrm>
            <a:off x="55982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300" name="Google Shape;1300;p67"/>
          <p:cNvSpPr/>
          <p:nvPr/>
        </p:nvSpPr>
        <p:spPr>
          <a:xfrm>
            <a:off x="70570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67"/>
          <p:cNvSpPr txBox="1"/>
          <p:nvPr/>
        </p:nvSpPr>
        <p:spPr>
          <a:xfrm>
            <a:off x="7629604" y="41841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302" name="Google Shape;1302;p67"/>
          <p:cNvSpPr txBox="1"/>
          <p:nvPr/>
        </p:nvSpPr>
        <p:spPr>
          <a:xfrm>
            <a:off x="8214450" y="43237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</a:t>
            </a:r>
            <a:endParaRPr/>
          </a:p>
        </p:txBody>
      </p:sp>
      <p:sp>
        <p:nvSpPr>
          <p:cNvPr id="1303" name="Google Shape;1303;p67"/>
          <p:cNvSpPr txBox="1"/>
          <p:nvPr/>
        </p:nvSpPr>
        <p:spPr>
          <a:xfrm>
            <a:off x="8265040" y="4835499"/>
            <a:ext cx="3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</a:t>
            </a:r>
            <a:endParaRPr/>
          </a:p>
        </p:txBody>
      </p:sp>
      <p:sp>
        <p:nvSpPr>
          <p:cNvPr id="1304" name="Google Shape;1304;p67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05" name="Google Shape;1305;p67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</a:t>
            </a:r>
            <a:r>
              <a:rPr lang="zh-TW"/>
              <a:t>detection</a:t>
            </a:r>
            <a:r>
              <a:rPr lang="zh-TW"/>
              <a:t> window</a:t>
            </a:r>
            <a:endParaRPr/>
          </a:p>
        </p:txBody>
      </p:sp>
      <p:sp>
        <p:nvSpPr>
          <p:cNvPr id="1306" name="Google Shape;1306;p67"/>
          <p:cNvSpPr/>
          <p:nvPr/>
        </p:nvSpPr>
        <p:spPr>
          <a:xfrm>
            <a:off x="6057575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07" name="Google Shape;1307;p67"/>
          <p:cNvSpPr/>
          <p:nvPr/>
        </p:nvSpPr>
        <p:spPr>
          <a:xfrm rot="-5400000">
            <a:off x="61880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8"/>
          <p:cNvSpPr txBox="1"/>
          <p:nvPr/>
        </p:nvSpPr>
        <p:spPr>
          <a:xfrm>
            <a:off x="3066948" y="2925989"/>
            <a:ext cx="312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-"/>
            </a:pPr>
            <a:r>
              <a:rPr lang="zh-TW" sz="3600"/>
              <a:t>            =</a:t>
            </a:r>
            <a:endParaRPr sz="3600"/>
          </a:p>
        </p:txBody>
      </p:sp>
      <p:sp>
        <p:nvSpPr>
          <p:cNvPr id="1313" name="Google Shape;131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14" name="Google Shape;1314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zh-TW"/>
              <a:t>Previous Minute Delta Outlier Value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Calculate the deltas of </a:t>
            </a:r>
            <a:r>
              <a:rPr lang="zh-TW" u="sng"/>
              <a:t>the EC values</a:t>
            </a:r>
            <a:r>
              <a:rPr lang="zh-TW"/>
              <a:t> and </a:t>
            </a:r>
            <a:r>
              <a:rPr lang="zh-TW" u="sng"/>
              <a:t>the values of the previous minute</a:t>
            </a:r>
            <a:r>
              <a:rPr lang="zh-TW"/>
              <a:t> in the last one hour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the 3-sigma rule to identify possible outliers of the deltas in the current detection window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if exist return the average of the outliers as the feature value, otherwise return 0</a:t>
            </a:r>
            <a:endParaRPr/>
          </a:p>
        </p:txBody>
      </p:sp>
      <p:sp>
        <p:nvSpPr>
          <p:cNvPr id="1315" name="Google Shape;131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16" name="Google Shape;1316;p68"/>
          <p:cNvSpPr/>
          <p:nvPr/>
        </p:nvSpPr>
        <p:spPr>
          <a:xfrm>
            <a:off x="555777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17" name="Google Shape;1317;p68"/>
          <p:cNvSpPr/>
          <p:nvPr/>
        </p:nvSpPr>
        <p:spPr>
          <a:xfrm>
            <a:off x="40421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18" name="Google Shape;1318;p68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19" name="Google Shape;1319;p68"/>
          <p:cNvSpPr txBox="1"/>
          <p:nvPr/>
        </p:nvSpPr>
        <p:spPr>
          <a:xfrm>
            <a:off x="5699338" y="34029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deltas</a:t>
            </a:r>
            <a:endParaRPr/>
          </a:p>
        </p:txBody>
      </p:sp>
      <p:sp>
        <p:nvSpPr>
          <p:cNvPr id="1320" name="Google Shape;1320;p68"/>
          <p:cNvSpPr txBox="1"/>
          <p:nvPr/>
        </p:nvSpPr>
        <p:spPr>
          <a:xfrm>
            <a:off x="63556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321" name="Google Shape;1321;p68"/>
          <p:cNvCxnSpPr/>
          <p:nvPr/>
        </p:nvCxnSpPr>
        <p:spPr>
          <a:xfrm>
            <a:off x="62772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2" name="Google Shape;1322;p68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the last one hour (1 min earlier)</a:t>
            </a:r>
            <a:endParaRPr/>
          </a:p>
        </p:txBody>
      </p:sp>
      <p:sp>
        <p:nvSpPr>
          <p:cNvPr id="1323" name="Google Shape;1323;p68"/>
          <p:cNvSpPr txBox="1"/>
          <p:nvPr/>
        </p:nvSpPr>
        <p:spPr>
          <a:xfrm>
            <a:off x="37182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324" name="Google Shape;1324;p68"/>
          <p:cNvSpPr txBox="1"/>
          <p:nvPr/>
        </p:nvSpPr>
        <p:spPr>
          <a:xfrm>
            <a:off x="55982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325" name="Google Shape;1325;p68"/>
          <p:cNvSpPr/>
          <p:nvPr/>
        </p:nvSpPr>
        <p:spPr>
          <a:xfrm>
            <a:off x="70570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68"/>
          <p:cNvSpPr txBox="1"/>
          <p:nvPr/>
        </p:nvSpPr>
        <p:spPr>
          <a:xfrm>
            <a:off x="7629604" y="41841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327" name="Google Shape;1327;p68"/>
          <p:cNvSpPr txBox="1"/>
          <p:nvPr/>
        </p:nvSpPr>
        <p:spPr>
          <a:xfrm>
            <a:off x="8214450" y="43237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</a:t>
            </a:r>
            <a:endParaRPr/>
          </a:p>
        </p:txBody>
      </p:sp>
      <p:sp>
        <p:nvSpPr>
          <p:cNvPr id="1328" name="Google Shape;1328;p68"/>
          <p:cNvSpPr txBox="1"/>
          <p:nvPr/>
        </p:nvSpPr>
        <p:spPr>
          <a:xfrm>
            <a:off x="8265040" y="4835499"/>
            <a:ext cx="3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</a:t>
            </a:r>
            <a:endParaRPr/>
          </a:p>
        </p:txBody>
      </p:sp>
      <p:sp>
        <p:nvSpPr>
          <p:cNvPr id="1329" name="Google Shape;1329;p68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30" name="Google Shape;1330;p68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31" name="Google Shape;1331;p68"/>
          <p:cNvSpPr/>
          <p:nvPr/>
        </p:nvSpPr>
        <p:spPr>
          <a:xfrm>
            <a:off x="6057575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32" name="Google Shape;1332;p68"/>
          <p:cNvSpPr/>
          <p:nvPr/>
        </p:nvSpPr>
        <p:spPr>
          <a:xfrm rot="-5400000">
            <a:off x="61880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38" name="Google Shape;1338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zh-TW"/>
              <a:t>Response Time Over Threshold -&gt; bool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whether the average RT in the current detection window exceed a </a:t>
            </a:r>
            <a:r>
              <a:rPr lang="zh-TW"/>
              <a:t>predefined</a:t>
            </a:r>
            <a:r>
              <a:rPr lang="zh-TW"/>
              <a:t> threshold (e.g., 50ms)</a:t>
            </a:r>
            <a:endParaRPr/>
          </a:p>
        </p:txBody>
      </p:sp>
      <p:sp>
        <p:nvSpPr>
          <p:cNvPr id="1339" name="Google Shape;13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40" name="Google Shape;1340;p69"/>
          <p:cNvSpPr/>
          <p:nvPr/>
        </p:nvSpPr>
        <p:spPr>
          <a:xfrm>
            <a:off x="1720325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341" name="Google Shape;1341;p69"/>
          <p:cNvSpPr txBox="1"/>
          <p:nvPr/>
        </p:nvSpPr>
        <p:spPr>
          <a:xfrm>
            <a:off x="630600" y="3402900"/>
            <a:ext cx="30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 (1 min earlier)</a:t>
            </a:r>
            <a:endParaRPr/>
          </a:p>
        </p:txBody>
      </p:sp>
      <p:sp>
        <p:nvSpPr>
          <p:cNvPr id="1342" name="Google Shape;1342;p69"/>
          <p:cNvSpPr txBox="1"/>
          <p:nvPr/>
        </p:nvSpPr>
        <p:spPr>
          <a:xfrm>
            <a:off x="4977250" y="2762525"/>
            <a:ext cx="4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RT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43" name="Google Shape;1343;p69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44" name="Google Shape;1344;p69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45" name="Google Shape;1345;p69"/>
          <p:cNvSpPr txBox="1"/>
          <p:nvPr/>
        </p:nvSpPr>
        <p:spPr>
          <a:xfrm>
            <a:off x="4302875" y="3047575"/>
            <a:ext cx="11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average: </a:t>
            </a:r>
            <a:r>
              <a:rPr lang="zh-TW">
                <a:solidFill>
                  <a:srgbClr val="CCCCCC"/>
                </a:solidFill>
              </a:rPr>
              <a:t>24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346" name="Google Shape;1346;p69"/>
          <p:cNvGrpSpPr/>
          <p:nvPr/>
        </p:nvGrpSpPr>
        <p:grpSpPr>
          <a:xfrm>
            <a:off x="4771025" y="3413050"/>
            <a:ext cx="2040325" cy="1213050"/>
            <a:chOff x="4999625" y="3184450"/>
            <a:chExt cx="2040325" cy="1213050"/>
          </a:xfrm>
        </p:grpSpPr>
        <p:sp>
          <p:nvSpPr>
            <p:cNvPr id="1347" name="Google Shape;1347;p69"/>
            <p:cNvSpPr/>
            <p:nvPr/>
          </p:nvSpPr>
          <p:spPr>
            <a:xfrm>
              <a:off x="4999625" y="3694825"/>
              <a:ext cx="1194000" cy="511200"/>
            </a:xfrm>
            <a:prstGeom prst="leftBrace">
              <a:avLst>
                <a:gd fmla="val 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9"/>
            <p:cNvSpPr txBox="1"/>
            <p:nvPr/>
          </p:nvSpPr>
          <p:spPr>
            <a:xfrm>
              <a:off x="5191199" y="3345900"/>
              <a:ext cx="1129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&gt; threshold</a:t>
              </a:r>
              <a:endParaRPr/>
            </a:p>
          </p:txBody>
        </p:sp>
        <p:sp>
          <p:nvSpPr>
            <p:cNvPr id="1349" name="Google Shape;1349;p69"/>
            <p:cNvSpPr txBox="1"/>
            <p:nvPr/>
          </p:nvSpPr>
          <p:spPr>
            <a:xfrm>
              <a:off x="6157050" y="3485575"/>
              <a:ext cx="882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True</a:t>
              </a:r>
              <a:endParaRPr/>
            </a:p>
          </p:txBody>
        </p:sp>
        <p:sp>
          <p:nvSpPr>
            <p:cNvPr id="1350" name="Google Shape;1350;p69"/>
            <p:cNvSpPr txBox="1"/>
            <p:nvPr/>
          </p:nvSpPr>
          <p:spPr>
            <a:xfrm>
              <a:off x="6207661" y="3997300"/>
              <a:ext cx="74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False</a:t>
              </a:r>
              <a:endParaRPr/>
            </a:p>
          </p:txBody>
        </p:sp>
        <p:cxnSp>
          <p:nvCxnSpPr>
            <p:cNvPr id="1351" name="Google Shape;1351;p69"/>
            <p:cNvCxnSpPr/>
            <p:nvPr/>
          </p:nvCxnSpPr>
          <p:spPr>
            <a:xfrm>
              <a:off x="4999625" y="3184450"/>
              <a:ext cx="0" cy="76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57" name="Google Shape;135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zh-TW"/>
              <a:t>Maximum Error Rate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maximum error rate (i.e., EC divided by number of requests) in the current detection window</a:t>
            </a:r>
            <a:endParaRPr/>
          </a:p>
        </p:txBody>
      </p:sp>
      <p:sp>
        <p:nvSpPr>
          <p:cNvPr id="1358" name="Google Shape;1358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9" name="Google Shape;1359;p70"/>
          <p:cNvSpPr txBox="1"/>
          <p:nvPr/>
        </p:nvSpPr>
        <p:spPr>
          <a:xfrm>
            <a:off x="4977250" y="2762525"/>
            <a:ext cx="4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EC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60" name="Google Shape;1360;p70"/>
          <p:cNvSpPr/>
          <p:nvPr/>
        </p:nvSpPr>
        <p:spPr>
          <a:xfrm>
            <a:off x="45419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61" name="Google Shape;1361;p70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grpSp>
        <p:nvGrpSpPr>
          <p:cNvPr id="1362" name="Google Shape;1362;p70"/>
          <p:cNvGrpSpPr/>
          <p:nvPr/>
        </p:nvGrpSpPr>
        <p:grpSpPr>
          <a:xfrm>
            <a:off x="4541950" y="3467525"/>
            <a:ext cx="2278500" cy="400200"/>
            <a:chOff x="4541950" y="3162725"/>
            <a:chExt cx="2278500" cy="400200"/>
          </a:xfrm>
        </p:grpSpPr>
        <p:sp>
          <p:nvSpPr>
            <p:cNvPr id="1363" name="Google Shape;1363;p70"/>
            <p:cNvSpPr txBox="1"/>
            <p:nvPr/>
          </p:nvSpPr>
          <p:spPr>
            <a:xfrm>
              <a:off x="4977250" y="3162725"/>
              <a:ext cx="184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chemeClr val="dk1"/>
                  </a:solidFill>
                </a:rPr>
                <a:t>number of requests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4" name="Google Shape;1364;p70"/>
            <p:cNvSpPr/>
            <p:nvPr/>
          </p:nvSpPr>
          <p:spPr>
            <a:xfrm>
              <a:off x="4541950" y="32741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65" name="Google Shape;1365;p70"/>
          <p:cNvSpPr txBox="1"/>
          <p:nvPr/>
        </p:nvSpPr>
        <p:spPr>
          <a:xfrm>
            <a:off x="4538934" y="2926000"/>
            <a:ext cx="5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÷</a:t>
            </a:r>
            <a:endParaRPr sz="3600"/>
          </a:p>
        </p:txBody>
      </p:sp>
      <p:sp>
        <p:nvSpPr>
          <p:cNvPr id="1366" name="Google Shape;1366;p70"/>
          <p:cNvSpPr txBox="1"/>
          <p:nvPr/>
        </p:nvSpPr>
        <p:spPr>
          <a:xfrm rot="5400000">
            <a:off x="4506686" y="3803396"/>
            <a:ext cx="54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/>
              <a:t>=</a:t>
            </a:r>
            <a:endParaRPr sz="3600"/>
          </a:p>
        </p:txBody>
      </p:sp>
      <p:grpSp>
        <p:nvGrpSpPr>
          <p:cNvPr id="1367" name="Google Shape;1367;p70"/>
          <p:cNvGrpSpPr/>
          <p:nvPr/>
        </p:nvGrpSpPr>
        <p:grpSpPr>
          <a:xfrm>
            <a:off x="4541950" y="4360175"/>
            <a:ext cx="2278500" cy="400200"/>
            <a:chOff x="4541950" y="3162725"/>
            <a:chExt cx="2278500" cy="400200"/>
          </a:xfrm>
        </p:grpSpPr>
        <p:sp>
          <p:nvSpPr>
            <p:cNvPr id="1368" name="Google Shape;1368;p70"/>
            <p:cNvSpPr txBox="1"/>
            <p:nvPr/>
          </p:nvSpPr>
          <p:spPr>
            <a:xfrm>
              <a:off x="4977250" y="3162725"/>
              <a:ext cx="1843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chemeClr val="dk1"/>
                  </a:solidFill>
                </a:rPr>
                <a:t>error rate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9" name="Google Shape;1369;p70"/>
            <p:cNvSpPr/>
            <p:nvPr/>
          </p:nvSpPr>
          <p:spPr>
            <a:xfrm>
              <a:off x="4541950" y="32741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70" name="Google Shape;1370;p70"/>
          <p:cNvSpPr txBox="1"/>
          <p:nvPr/>
        </p:nvSpPr>
        <p:spPr>
          <a:xfrm>
            <a:off x="4455275" y="4647775"/>
            <a:ext cx="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</a:t>
            </a:r>
            <a:r>
              <a:rPr lang="zh-TW"/>
              <a:t>: </a:t>
            </a:r>
            <a:r>
              <a:rPr lang="zh-TW">
                <a:solidFill>
                  <a:srgbClr val="CCCCCC"/>
                </a:solidFill>
              </a:rPr>
              <a:t>3.1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76" name="Google Shape;1376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zh-TW"/>
              <a:t>Correlation with Response Time -&gt; float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Pearson correlation coefficient between EC and RT in the current detection</a:t>
            </a:r>
            <a:endParaRPr/>
          </a:p>
        </p:txBody>
      </p:sp>
      <p:sp>
        <p:nvSpPr>
          <p:cNvPr id="1377" name="Google Shape;137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1378" name="Google Shape;1378;p71"/>
          <p:cNvGrpSpPr/>
          <p:nvPr/>
        </p:nvGrpSpPr>
        <p:grpSpPr>
          <a:xfrm>
            <a:off x="4541950" y="2762525"/>
            <a:ext cx="915900" cy="400200"/>
            <a:chOff x="4541950" y="2762525"/>
            <a:chExt cx="915900" cy="400200"/>
          </a:xfrm>
        </p:grpSpPr>
        <p:sp>
          <p:nvSpPr>
            <p:cNvPr id="1379" name="Google Shape;1379;p71"/>
            <p:cNvSpPr txBox="1"/>
            <p:nvPr/>
          </p:nvSpPr>
          <p:spPr>
            <a:xfrm>
              <a:off x="4977250" y="2762525"/>
              <a:ext cx="48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EC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380" name="Google Shape;1380;p71"/>
            <p:cNvSpPr/>
            <p:nvPr/>
          </p:nvSpPr>
          <p:spPr>
            <a:xfrm>
              <a:off x="4541950" y="28739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81" name="Google Shape;1381;p71"/>
          <p:cNvSpPr txBox="1"/>
          <p:nvPr/>
        </p:nvSpPr>
        <p:spPr>
          <a:xfrm>
            <a:off x="36420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382" name="Google Shape;1382;p71"/>
          <p:cNvSpPr/>
          <p:nvPr/>
        </p:nvSpPr>
        <p:spPr>
          <a:xfrm>
            <a:off x="4541950" y="3578986"/>
            <a:ext cx="435300" cy="177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383" name="Google Shape;1383;p71"/>
          <p:cNvSpPr txBox="1"/>
          <p:nvPr/>
        </p:nvSpPr>
        <p:spPr>
          <a:xfrm>
            <a:off x="6761000" y="3102475"/>
            <a:ext cx="9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corr: </a:t>
            </a:r>
            <a:r>
              <a:rPr lang="zh-TW">
                <a:solidFill>
                  <a:srgbClr val="CCCCCC"/>
                </a:solidFill>
              </a:rPr>
              <a:t>0.78</a:t>
            </a:r>
            <a:endParaRPr>
              <a:solidFill>
                <a:srgbClr val="CCCCCC"/>
              </a:solidFill>
            </a:endParaRPr>
          </a:p>
        </p:txBody>
      </p:sp>
      <p:grpSp>
        <p:nvGrpSpPr>
          <p:cNvPr id="1384" name="Google Shape;1384;p71"/>
          <p:cNvGrpSpPr/>
          <p:nvPr/>
        </p:nvGrpSpPr>
        <p:grpSpPr>
          <a:xfrm>
            <a:off x="4541950" y="3467525"/>
            <a:ext cx="915900" cy="400200"/>
            <a:chOff x="4541950" y="2762525"/>
            <a:chExt cx="915900" cy="400200"/>
          </a:xfrm>
        </p:grpSpPr>
        <p:sp>
          <p:nvSpPr>
            <p:cNvPr id="1385" name="Google Shape;1385;p71"/>
            <p:cNvSpPr txBox="1"/>
            <p:nvPr/>
          </p:nvSpPr>
          <p:spPr>
            <a:xfrm>
              <a:off x="4977250" y="2762525"/>
              <a:ext cx="48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TW">
                  <a:solidFill>
                    <a:srgbClr val="FF0000"/>
                  </a:solidFill>
                </a:rPr>
                <a:t>RT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386" name="Google Shape;1386;p71"/>
            <p:cNvSpPr/>
            <p:nvPr/>
          </p:nvSpPr>
          <p:spPr>
            <a:xfrm>
              <a:off x="4541950" y="2873986"/>
              <a:ext cx="435300" cy="17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10</a:t>
              </a:r>
              <a:endParaRPr/>
            </a:p>
          </p:txBody>
        </p:sp>
      </p:grpSp>
      <p:sp>
        <p:nvSpPr>
          <p:cNvPr id="1387" name="Google Shape;1387;p71"/>
          <p:cNvSpPr/>
          <p:nvPr/>
        </p:nvSpPr>
        <p:spPr>
          <a:xfrm rot="10800000">
            <a:off x="5417675" y="2945425"/>
            <a:ext cx="1194000" cy="7143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EC</a:t>
            </a:r>
            <a:endParaRPr/>
          </a:p>
        </p:txBody>
      </p:sp>
      <p:sp>
        <p:nvSpPr>
          <p:cNvPr id="1393" name="Google Shape;1393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Training set: 1,000 </a:t>
            </a:r>
            <a:r>
              <a:rPr lang="zh-TW">
                <a:solidFill>
                  <a:srgbClr val="FF0000"/>
                </a:solidFill>
              </a:rPr>
              <a:t>labelled</a:t>
            </a:r>
            <a:r>
              <a:rPr lang="zh-TW"/>
              <a:t> cases </a:t>
            </a:r>
            <a:r>
              <a:rPr lang="zh-TW"/>
              <a:t>(pos : neg = 1 : 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Test set: 400 cases (pos : neg = 5 : 3)</a:t>
            </a:r>
            <a:endParaRPr/>
          </a:p>
        </p:txBody>
      </p:sp>
      <p:sp>
        <p:nvSpPr>
          <p:cNvPr id="1394" name="Google Shape;1394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Method: 3-sigma (</a:t>
            </a:r>
            <a:r>
              <a:rPr lang="zh-TW">
                <a:solidFill>
                  <a:srgbClr val="FF0000"/>
                </a:solidFill>
              </a:rPr>
              <a:t>no training</a:t>
            </a:r>
            <a:r>
              <a:rPr lang="zh-TW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Current Detection Window: last 10 minutes (10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Workflow: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Based on the QPS values in the last one hour, we use the 3-sigma rule to detect outliers in the current detection window.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sp>
        <p:nvSpPr>
          <p:cNvPr id="1400" name="Google Shape;1400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 - QPS</a:t>
            </a:r>
            <a:endParaRPr/>
          </a:p>
        </p:txBody>
      </p:sp>
      <p:sp>
        <p:nvSpPr>
          <p:cNvPr id="1401" name="Google Shape;140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02" name="Google Shape;1402;p73"/>
          <p:cNvSpPr txBox="1"/>
          <p:nvPr/>
        </p:nvSpPr>
        <p:spPr>
          <a:xfrm>
            <a:off x="4603061" y="409232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3-sigma</a:t>
            </a:r>
            <a:endParaRPr/>
          </a:p>
        </p:txBody>
      </p:sp>
      <p:cxnSp>
        <p:nvCxnSpPr>
          <p:cNvPr id="1403" name="Google Shape;1403;p73"/>
          <p:cNvCxnSpPr/>
          <p:nvPr/>
        </p:nvCxnSpPr>
        <p:spPr>
          <a:xfrm>
            <a:off x="4524611" y="3981025"/>
            <a:ext cx="1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4" name="Google Shape;1404;p73"/>
          <p:cNvSpPr txBox="1"/>
          <p:nvPr/>
        </p:nvSpPr>
        <p:spPr>
          <a:xfrm>
            <a:off x="3845673" y="4571575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outliers of deltas</a:t>
            </a:r>
            <a:endParaRPr/>
          </a:p>
        </p:txBody>
      </p:sp>
      <p:sp>
        <p:nvSpPr>
          <p:cNvPr id="1405" name="Google Shape;1405;p73"/>
          <p:cNvSpPr/>
          <p:nvPr/>
        </p:nvSpPr>
        <p:spPr>
          <a:xfrm>
            <a:off x="5304425" y="4533025"/>
            <a:ext cx="11940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3"/>
          <p:cNvSpPr txBox="1"/>
          <p:nvPr/>
        </p:nvSpPr>
        <p:spPr>
          <a:xfrm>
            <a:off x="5796404" y="4171375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if exist</a:t>
            </a:r>
            <a:endParaRPr/>
          </a:p>
        </p:txBody>
      </p:sp>
      <p:sp>
        <p:nvSpPr>
          <p:cNvPr id="1407" name="Google Shape;1407;p73"/>
          <p:cNvSpPr txBox="1"/>
          <p:nvPr/>
        </p:nvSpPr>
        <p:spPr>
          <a:xfrm>
            <a:off x="6867975" y="3681750"/>
            <a:ext cx="242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check Pearson correlation with business metric of the initial anomalous service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08" name="Google Shape;1408;p73"/>
          <p:cNvSpPr txBox="1"/>
          <p:nvPr/>
        </p:nvSpPr>
        <p:spPr>
          <a:xfrm>
            <a:off x="6512465" y="4835500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False</a:t>
            </a:r>
            <a:endParaRPr/>
          </a:p>
        </p:txBody>
      </p:sp>
      <p:sp>
        <p:nvSpPr>
          <p:cNvPr id="1409" name="Google Shape;1409;p73"/>
          <p:cNvSpPr/>
          <p:nvPr/>
        </p:nvSpPr>
        <p:spPr>
          <a:xfrm>
            <a:off x="4313350" y="2873986"/>
            <a:ext cx="435300" cy="1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  <p:sp>
        <p:nvSpPr>
          <p:cNvPr id="1410" name="Google Shape;1410;p73"/>
          <p:cNvSpPr txBox="1"/>
          <p:nvPr/>
        </p:nvSpPr>
        <p:spPr>
          <a:xfrm>
            <a:off x="3413400" y="2519736"/>
            <a:ext cx="23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detection window</a:t>
            </a:r>
            <a:endParaRPr/>
          </a:p>
        </p:txBody>
      </p:sp>
      <p:sp>
        <p:nvSpPr>
          <p:cNvPr id="1411" name="Google Shape;1411;p73"/>
          <p:cNvSpPr/>
          <p:nvPr/>
        </p:nvSpPr>
        <p:spPr>
          <a:xfrm rot="-5400000">
            <a:off x="4435475" y="3596350"/>
            <a:ext cx="171300" cy="432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73"/>
          <p:cNvSpPr/>
          <p:nvPr/>
        </p:nvSpPr>
        <p:spPr>
          <a:xfrm>
            <a:off x="3813550" y="3230975"/>
            <a:ext cx="935100" cy="177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60</a:t>
            </a:r>
            <a:endParaRPr/>
          </a:p>
        </p:txBody>
      </p:sp>
      <p:sp>
        <p:nvSpPr>
          <p:cNvPr id="1413" name="Google Shape;1413;p73"/>
          <p:cNvSpPr txBox="1"/>
          <p:nvPr/>
        </p:nvSpPr>
        <p:spPr>
          <a:xfrm>
            <a:off x="3489600" y="3402900"/>
            <a:ext cx="15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last one hour</a:t>
            </a:r>
            <a:endParaRPr/>
          </a:p>
        </p:txBody>
      </p:sp>
      <p:sp>
        <p:nvSpPr>
          <p:cNvPr id="1414" name="Google Shape;1414;p73"/>
          <p:cNvSpPr/>
          <p:nvPr/>
        </p:nvSpPr>
        <p:spPr>
          <a:xfrm>
            <a:off x="7023700" y="2895400"/>
            <a:ext cx="819900" cy="511200"/>
          </a:xfrm>
          <a:prstGeom prst="leftBrace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3"/>
          <p:cNvSpPr/>
          <p:nvPr/>
        </p:nvSpPr>
        <p:spPr>
          <a:xfrm>
            <a:off x="6591775" y="3145865"/>
            <a:ext cx="411150" cy="1385850"/>
          </a:xfrm>
          <a:custGeom>
            <a:rect b="b" l="l" r="r" t="t"/>
            <a:pathLst>
              <a:path extrusionOk="0" h="55434" w="16446">
                <a:moveTo>
                  <a:pt x="0" y="55397"/>
                </a:moveTo>
                <a:cubicBezTo>
                  <a:pt x="1505" y="54430"/>
                  <a:pt x="7417" y="58030"/>
                  <a:pt x="9029" y="49592"/>
                </a:cubicBezTo>
                <a:cubicBezTo>
                  <a:pt x="10641" y="41154"/>
                  <a:pt x="8438" y="12884"/>
                  <a:pt x="9674" y="4768"/>
                </a:cubicBezTo>
                <a:cubicBezTo>
                  <a:pt x="10910" y="-3348"/>
                  <a:pt x="15317" y="1543"/>
                  <a:pt x="16446" y="898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16" name="Google Shape;1416;p73"/>
          <p:cNvSpPr txBox="1"/>
          <p:nvPr/>
        </p:nvSpPr>
        <p:spPr>
          <a:xfrm>
            <a:off x="6962499" y="2476675"/>
            <a:ext cx="11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&gt; threshold</a:t>
            </a:r>
            <a:endParaRPr/>
          </a:p>
        </p:txBody>
      </p:sp>
      <p:sp>
        <p:nvSpPr>
          <p:cNvPr id="1417" name="Google Shape;1417;p73"/>
          <p:cNvSpPr txBox="1"/>
          <p:nvPr/>
        </p:nvSpPr>
        <p:spPr>
          <a:xfrm>
            <a:off x="6962499" y="3434429"/>
            <a:ext cx="11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&lt;</a:t>
            </a:r>
            <a:r>
              <a:rPr lang="zh-TW">
                <a:solidFill>
                  <a:schemeClr val="dk1"/>
                </a:solidFill>
              </a:rPr>
              <a:t> threshold</a:t>
            </a:r>
            <a:endParaRPr/>
          </a:p>
        </p:txBody>
      </p:sp>
      <p:sp>
        <p:nvSpPr>
          <p:cNvPr id="1418" name="Google Shape;1418;p73"/>
          <p:cNvSpPr txBox="1"/>
          <p:nvPr/>
        </p:nvSpPr>
        <p:spPr>
          <a:xfrm>
            <a:off x="7891040" y="2701723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True</a:t>
            </a:r>
            <a:endParaRPr/>
          </a:p>
        </p:txBody>
      </p:sp>
      <p:sp>
        <p:nvSpPr>
          <p:cNvPr id="1419" name="Google Shape;1419;p73"/>
          <p:cNvSpPr txBox="1"/>
          <p:nvPr/>
        </p:nvSpPr>
        <p:spPr>
          <a:xfrm>
            <a:off x="7891040" y="3199797"/>
            <a:ext cx="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False</a:t>
            </a:r>
            <a:endParaRPr/>
          </a:p>
        </p:txBody>
      </p:sp>
      <p:sp>
        <p:nvSpPr>
          <p:cNvPr id="1420" name="Google Shape;1420;p73"/>
          <p:cNvSpPr txBox="1"/>
          <p:nvPr/>
        </p:nvSpPr>
        <p:spPr>
          <a:xfrm>
            <a:off x="104950" y="2973100"/>
            <a:ext cx="3225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2"/>
                </a:solidFill>
              </a:rPr>
              <a:t>To further eliminate false positives, we also check the Pearson correlation coefficient between the QPS values and the business metric values of the initial anomalous service.</a:t>
            </a:r>
            <a:endParaRPr/>
          </a:p>
        </p:txBody>
      </p:sp>
      <p:sp>
        <p:nvSpPr>
          <p:cNvPr id="1421" name="Google Shape;1421;p73"/>
          <p:cNvSpPr/>
          <p:nvPr/>
        </p:nvSpPr>
        <p:spPr>
          <a:xfrm>
            <a:off x="1289900" y="2775863"/>
            <a:ext cx="236825" cy="247375"/>
          </a:xfrm>
          <a:custGeom>
            <a:rect b="b" l="l" r="r" t="t"/>
            <a:pathLst>
              <a:path extrusionOk="0" h="9895" w="9473">
                <a:moveTo>
                  <a:pt x="0" y="1188"/>
                </a:moveTo>
                <a:cubicBezTo>
                  <a:pt x="1559" y="1081"/>
                  <a:pt x="8868" y="-908"/>
                  <a:pt x="9352" y="543"/>
                </a:cubicBezTo>
                <a:cubicBezTo>
                  <a:pt x="9836" y="1994"/>
                  <a:pt x="3978" y="8336"/>
                  <a:pt x="2903" y="989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Service Anomaly Detection</a:t>
            </a:r>
            <a:endParaRPr/>
          </a:p>
        </p:txBody>
      </p:sp>
      <p:sp>
        <p:nvSpPr>
          <p:cNvPr id="1427" name="Google Shape;1427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28" name="Google Shape;1428;p74"/>
          <p:cNvGraphicFramePr/>
          <p:nvPr/>
        </p:nvGraphicFramePr>
        <p:xfrm>
          <a:off x="1769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584825"/>
                <a:gridCol w="2947300"/>
                <a:gridCol w="2786100"/>
                <a:gridCol w="1471975"/>
              </a:tblGrid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EC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QPS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Training Manner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Unsupervised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Supervised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No training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Method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OC-SVM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3-sigma + corr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5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Features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Number of Over-Max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Delta of Maximum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Number of Over-Average Values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rPr lang="zh-TW"/>
                        <a:t>Ratio of Average Values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/>
                      </a:pPr>
                      <a:r>
                        <a:t/>
                      </a:r>
                      <a:endParaRPr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…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AutoNum type="arabicPeriod" startAt="12"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Previous Day Delta Outlier 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Previous Minute Delta Outlier Value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Response Time Over Threshold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Maximum Error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AutoNum type="arabicPeriod"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Correlation with Response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 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Note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Need lots of training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Need labelled data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but not a lot)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</a:rPr>
              <a:t>Anomaly Detection -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Outlier and Novelty Detection</a:t>
            </a:r>
            <a:endParaRPr/>
          </a:p>
        </p:txBody>
      </p:sp>
      <p:sp>
        <p:nvSpPr>
          <p:cNvPr id="1434" name="Google Shape;143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35" name="Google Shape;1435;p75"/>
          <p:cNvGraphicFramePr/>
          <p:nvPr/>
        </p:nvGraphicFramePr>
        <p:xfrm>
          <a:off x="135575" y="175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1115300"/>
                <a:gridCol w="1464825"/>
                <a:gridCol w="15861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Outlier Detection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Novelty Detection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Training Data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May contain outliers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Not polluted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Alias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Unsupervised Anomaly Detection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Semi-supervised Anomaly Detection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Outliers/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Anomalies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Cannot form a dense cluster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Can form a dense cluster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436" name="Google Shape;143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775" y="1117100"/>
            <a:ext cx="4702175" cy="35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Common </a:t>
            </a:r>
            <a:r>
              <a:rPr lang="zh-TW">
                <a:solidFill>
                  <a:srgbClr val="FF0000"/>
                </a:solidFill>
              </a:rPr>
              <a:t>Unsupervised</a:t>
            </a:r>
            <a:r>
              <a:rPr lang="zh-TW"/>
              <a:t> Anomaly Detection Methods</a:t>
            </a:r>
            <a:endParaRPr/>
          </a:p>
        </p:txBody>
      </p:sp>
      <p:sp>
        <p:nvSpPr>
          <p:cNvPr id="1442" name="Google Shape;1442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43" name="Google Shape;1443;p76"/>
          <p:cNvGraphicFramePr/>
          <p:nvPr/>
        </p:nvGraphicFramePr>
        <p:xfrm>
          <a:off x="373825" y="1977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848825"/>
                <a:gridCol w="1578575"/>
                <a:gridCol w="1492225"/>
                <a:gridCol w="1492225"/>
                <a:gridCol w="1492225"/>
                <a:gridCol w="1492225"/>
              </a:tblGrid>
              <a:tr h="7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Robust covariance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One-Class SVM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One-Class SCM (SGD)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Isolation Forest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Local Outlier Factor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7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Support Missing Data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44" name="Google Shape;1444;p76"/>
          <p:cNvSpPr txBox="1"/>
          <p:nvPr/>
        </p:nvSpPr>
        <p:spPr>
          <a:xfrm>
            <a:off x="373825" y="1115575"/>
            <a:ext cx="79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highlight>
                  <a:srgbClr val="FFFF00"/>
                </a:highlight>
              </a:rPr>
              <a:t>Although unsupervised anomaly detection does not utilize any labe information in practice, they are needed for evaluation and comparison.</a:t>
            </a:r>
            <a:endParaRPr b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MicroHECL with TSMC dataset</a:t>
            </a:r>
            <a:endParaRPr/>
          </a:p>
        </p:txBody>
      </p:sp>
      <p:sp>
        <p:nvSpPr>
          <p:cNvPr id="1450" name="Google Shape;1450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Service Call Graph Construction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trigger_point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topology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KPI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zh-TW">
                <a:solidFill>
                  <a:srgbClr val="CCCCCC"/>
                </a:solidFill>
              </a:rPr>
              <a:t>Anomaly 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Propagation Chain Analysis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zh-TW">
                <a:solidFill>
                  <a:srgbClr val="CCCCCC"/>
                </a:solidFill>
              </a:rPr>
              <a:t>Service Anomaly Detection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Candidate Root Cause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51" name="Google Shape;1451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Candidate Root Cause Ranking</a:t>
            </a:r>
            <a:endParaRPr/>
          </a:p>
        </p:txBody>
      </p:sp>
      <p:sp>
        <p:nvSpPr>
          <p:cNvPr id="1457" name="Google Shape;145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58" name="Google Shape;1458;p78"/>
          <p:cNvSpPr/>
          <p:nvPr/>
        </p:nvSpPr>
        <p:spPr>
          <a:xfrm>
            <a:off x="3071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</a:t>
            </a:r>
            <a:endParaRPr b="1" sz="1800"/>
          </a:p>
        </p:txBody>
      </p:sp>
      <p:sp>
        <p:nvSpPr>
          <p:cNvPr id="1459" name="Google Shape;1459;p78"/>
          <p:cNvSpPr/>
          <p:nvPr/>
        </p:nvSpPr>
        <p:spPr>
          <a:xfrm>
            <a:off x="30717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2</a:t>
            </a:r>
            <a:endParaRPr b="1" baseline="-25000" sz="1800"/>
          </a:p>
        </p:txBody>
      </p:sp>
      <p:sp>
        <p:nvSpPr>
          <p:cNvPr id="1460" name="Google Shape;1460;p78"/>
          <p:cNvSpPr/>
          <p:nvPr/>
        </p:nvSpPr>
        <p:spPr>
          <a:xfrm>
            <a:off x="2230625" y="2239725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3</a:t>
            </a:r>
            <a:endParaRPr b="1" baseline="-25000" sz="1800"/>
          </a:p>
        </p:txBody>
      </p:sp>
      <p:sp>
        <p:nvSpPr>
          <p:cNvPr id="1461" name="Google Shape;1461;p78"/>
          <p:cNvSpPr/>
          <p:nvPr/>
        </p:nvSpPr>
        <p:spPr>
          <a:xfrm>
            <a:off x="22306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4</a:t>
            </a:r>
            <a:endParaRPr b="1" sz="1800"/>
          </a:p>
        </p:txBody>
      </p:sp>
      <p:sp>
        <p:nvSpPr>
          <p:cNvPr id="1462" name="Google Shape;1462;p78"/>
          <p:cNvSpPr/>
          <p:nvPr/>
        </p:nvSpPr>
        <p:spPr>
          <a:xfrm>
            <a:off x="4154075" y="2239725"/>
            <a:ext cx="739500" cy="4974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</a:rPr>
              <a:t>S</a:t>
            </a:r>
            <a:r>
              <a:rPr b="1" baseline="-25000" lang="zh-TW" sz="1800">
                <a:solidFill>
                  <a:schemeClr val="lt1"/>
                </a:solidFill>
              </a:rPr>
              <a:t>5</a:t>
            </a:r>
            <a:endParaRPr b="1" baseline="-25000" sz="1800">
              <a:solidFill>
                <a:schemeClr val="lt1"/>
              </a:solidFill>
            </a:endParaRPr>
          </a:p>
        </p:txBody>
      </p:sp>
      <p:sp>
        <p:nvSpPr>
          <p:cNvPr id="1463" name="Google Shape;1463;p78"/>
          <p:cNvSpPr/>
          <p:nvPr/>
        </p:nvSpPr>
        <p:spPr>
          <a:xfrm>
            <a:off x="41362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6</a:t>
            </a:r>
            <a:endParaRPr b="1" baseline="-25000" sz="1800"/>
          </a:p>
        </p:txBody>
      </p:sp>
      <p:sp>
        <p:nvSpPr>
          <p:cNvPr id="1464" name="Google Shape;1464;p78"/>
          <p:cNvSpPr/>
          <p:nvPr/>
        </p:nvSpPr>
        <p:spPr>
          <a:xfrm>
            <a:off x="607752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7</a:t>
            </a:r>
            <a:endParaRPr b="1" baseline="-25000" sz="1800"/>
          </a:p>
        </p:txBody>
      </p:sp>
      <p:sp>
        <p:nvSpPr>
          <p:cNvPr id="1465" name="Google Shape;1465;p78"/>
          <p:cNvSpPr/>
          <p:nvPr/>
        </p:nvSpPr>
        <p:spPr>
          <a:xfrm>
            <a:off x="6077525" y="3803000"/>
            <a:ext cx="739500" cy="4974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/>
              <a:t>S</a:t>
            </a:r>
            <a:r>
              <a:rPr b="1" baseline="-25000" lang="zh-TW" sz="1800"/>
              <a:t>8</a:t>
            </a:r>
            <a:endParaRPr b="1" baseline="-25000" sz="1800"/>
          </a:p>
        </p:txBody>
      </p:sp>
      <p:sp>
        <p:nvSpPr>
          <p:cNvPr id="1466" name="Google Shape;1466;p78"/>
          <p:cNvSpPr/>
          <p:nvPr/>
        </p:nvSpPr>
        <p:spPr>
          <a:xfrm>
            <a:off x="8000975" y="2239725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9</a:t>
            </a:r>
            <a:endParaRPr b="1" sz="1800"/>
          </a:p>
        </p:txBody>
      </p:sp>
      <p:sp>
        <p:nvSpPr>
          <p:cNvPr id="1467" name="Google Shape;1467;p78"/>
          <p:cNvSpPr/>
          <p:nvPr/>
        </p:nvSpPr>
        <p:spPr>
          <a:xfrm>
            <a:off x="8001125" y="3803000"/>
            <a:ext cx="739500" cy="4974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</a:t>
            </a:r>
            <a:r>
              <a:rPr b="1" baseline="-25000" lang="zh-TW" sz="1800">
                <a:solidFill>
                  <a:schemeClr val="dk1"/>
                </a:solidFill>
              </a:rPr>
              <a:t>10</a:t>
            </a:r>
            <a:endParaRPr b="1" sz="1800"/>
          </a:p>
        </p:txBody>
      </p:sp>
      <p:cxnSp>
        <p:nvCxnSpPr>
          <p:cNvPr id="1468" name="Google Shape;1468;p78"/>
          <p:cNvCxnSpPr>
            <a:stCxn id="1458" idx="6"/>
            <a:endCxn id="1460" idx="2"/>
          </p:cNvCxnSpPr>
          <p:nvPr/>
        </p:nvCxnSpPr>
        <p:spPr>
          <a:xfrm>
            <a:off x="10466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9" name="Google Shape;1469;p78"/>
          <p:cNvCxnSpPr>
            <a:stCxn id="1460" idx="6"/>
            <a:endCxn id="1462" idx="2"/>
          </p:cNvCxnSpPr>
          <p:nvPr/>
        </p:nvCxnSpPr>
        <p:spPr>
          <a:xfrm>
            <a:off x="29701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0" name="Google Shape;1470;p78"/>
          <p:cNvCxnSpPr>
            <a:stCxn id="1462" idx="6"/>
            <a:endCxn id="1464" idx="2"/>
          </p:cNvCxnSpPr>
          <p:nvPr/>
        </p:nvCxnSpPr>
        <p:spPr>
          <a:xfrm>
            <a:off x="489357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1" name="Google Shape;1471;p78"/>
          <p:cNvCxnSpPr>
            <a:stCxn id="1464" idx="6"/>
            <a:endCxn id="1466" idx="2"/>
          </p:cNvCxnSpPr>
          <p:nvPr/>
        </p:nvCxnSpPr>
        <p:spPr>
          <a:xfrm>
            <a:off x="6817025" y="2488425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2" name="Google Shape;1472;p78"/>
          <p:cNvCxnSpPr>
            <a:stCxn id="1459" idx="6"/>
            <a:endCxn id="1461" idx="2"/>
          </p:cNvCxnSpPr>
          <p:nvPr/>
        </p:nvCxnSpPr>
        <p:spPr>
          <a:xfrm>
            <a:off x="1046675" y="4051700"/>
            <a:ext cx="1184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3" name="Google Shape;1473;p78"/>
          <p:cNvCxnSpPr>
            <a:stCxn id="1461" idx="6"/>
            <a:endCxn id="1463" idx="2"/>
          </p:cNvCxnSpPr>
          <p:nvPr/>
        </p:nvCxnSpPr>
        <p:spPr>
          <a:xfrm>
            <a:off x="2970125" y="4051700"/>
            <a:ext cx="116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4" name="Google Shape;1474;p78"/>
          <p:cNvCxnSpPr>
            <a:stCxn id="1458" idx="6"/>
            <a:endCxn id="1461" idx="2"/>
          </p:cNvCxnSpPr>
          <p:nvPr/>
        </p:nvCxnSpPr>
        <p:spPr>
          <a:xfrm>
            <a:off x="10466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5" name="Google Shape;1475;p78"/>
          <p:cNvCxnSpPr>
            <a:stCxn id="1462" idx="6"/>
            <a:endCxn id="1465" idx="2"/>
          </p:cNvCxnSpPr>
          <p:nvPr/>
        </p:nvCxnSpPr>
        <p:spPr>
          <a:xfrm>
            <a:off x="489357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6" name="Google Shape;1476;p78"/>
          <p:cNvCxnSpPr>
            <a:stCxn id="1464" idx="6"/>
            <a:endCxn id="1467" idx="2"/>
          </p:cNvCxnSpPr>
          <p:nvPr/>
        </p:nvCxnSpPr>
        <p:spPr>
          <a:xfrm>
            <a:off x="6817025" y="2488425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7" name="Google Shape;1477;p78"/>
          <p:cNvCxnSpPr>
            <a:stCxn id="1461" idx="6"/>
            <a:endCxn id="1462" idx="2"/>
          </p:cNvCxnSpPr>
          <p:nvPr/>
        </p:nvCxnSpPr>
        <p:spPr>
          <a:xfrm flipH="1" rot="10800000">
            <a:off x="2970125" y="2488400"/>
            <a:ext cx="1184100" cy="156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1478" name="Google Shape;1478;p78"/>
          <p:cNvGraphicFramePr/>
          <p:nvPr/>
        </p:nvGraphicFramePr>
        <p:xfrm>
          <a:off x="3740275" y="1062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9" name="Google Shape;1479;p78"/>
          <p:cNvGraphicFramePr/>
          <p:nvPr/>
        </p:nvGraphicFramePr>
        <p:xfrm>
          <a:off x="8785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0" name="Google Shape;1480;p78"/>
          <p:cNvGraphicFramePr/>
          <p:nvPr/>
        </p:nvGraphicFramePr>
        <p:xfrm>
          <a:off x="881069" y="437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1" name="Google Shape;1481;p78"/>
          <p:cNvGraphicFramePr/>
          <p:nvPr/>
        </p:nvGraphicFramePr>
        <p:xfrm>
          <a:off x="878575" y="29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2" name="Google Shape;1482;p78"/>
          <p:cNvGraphicFramePr/>
          <p:nvPr/>
        </p:nvGraphicFramePr>
        <p:xfrm>
          <a:off x="2793100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3" name="Google Shape;1483;p78"/>
          <p:cNvGraphicFramePr/>
          <p:nvPr/>
        </p:nvGraphicFramePr>
        <p:xfrm>
          <a:off x="2793100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4" name="Google Shape;1484;p78"/>
          <p:cNvGraphicFramePr/>
          <p:nvPr/>
        </p:nvGraphicFramePr>
        <p:xfrm>
          <a:off x="2793100" y="438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5" name="Google Shape;1485;p78"/>
          <p:cNvGraphicFramePr/>
          <p:nvPr/>
        </p:nvGraphicFramePr>
        <p:xfrm>
          <a:off x="471992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6" name="Google Shape;1486;p78"/>
          <p:cNvGraphicFramePr/>
          <p:nvPr/>
        </p:nvGraphicFramePr>
        <p:xfrm>
          <a:off x="471992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7" name="Google Shape;1487;p78"/>
          <p:cNvGraphicFramePr/>
          <p:nvPr/>
        </p:nvGraphicFramePr>
        <p:xfrm>
          <a:off x="6643375" y="150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8" name="Google Shape;1488;p78"/>
          <p:cNvGraphicFramePr/>
          <p:nvPr/>
        </p:nvGraphicFramePr>
        <p:xfrm>
          <a:off x="6643375" y="294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{5D691759-D57A-4DDB-A0F9-CEF69D74D4C2}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78"/>
          <p:cNvSpPr txBox="1"/>
          <p:nvPr/>
        </p:nvSpPr>
        <p:spPr>
          <a:xfrm>
            <a:off x="-22625" y="9644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QPS’s candidate root cause</a:t>
            </a:r>
            <a:endParaRPr/>
          </a:p>
        </p:txBody>
      </p:sp>
      <p:sp>
        <p:nvSpPr>
          <p:cNvPr id="1490" name="Google Shape;1490;p78"/>
          <p:cNvSpPr txBox="1"/>
          <p:nvPr/>
        </p:nvSpPr>
        <p:spPr>
          <a:xfrm>
            <a:off x="7115175" y="77390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EC’s candidate root cause</a:t>
            </a:r>
            <a:endParaRPr/>
          </a:p>
        </p:txBody>
      </p:sp>
      <p:sp>
        <p:nvSpPr>
          <p:cNvPr id="1491" name="Google Shape;1491;p78"/>
          <p:cNvSpPr txBox="1"/>
          <p:nvPr/>
        </p:nvSpPr>
        <p:spPr>
          <a:xfrm>
            <a:off x="7115175" y="4385150"/>
            <a:ext cx="153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RT’s candidate root cause</a:t>
            </a:r>
            <a:endParaRPr/>
          </a:p>
        </p:txBody>
      </p:sp>
      <p:cxnSp>
        <p:nvCxnSpPr>
          <p:cNvPr id="1492" name="Google Shape;1492;p78"/>
          <p:cNvCxnSpPr/>
          <p:nvPr/>
        </p:nvCxnSpPr>
        <p:spPr>
          <a:xfrm flipH="1" rot="10800000">
            <a:off x="2110975" y="1178725"/>
            <a:ext cx="15753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3" name="Google Shape;1493;p78"/>
          <p:cNvCxnSpPr/>
          <p:nvPr/>
        </p:nvCxnSpPr>
        <p:spPr>
          <a:xfrm>
            <a:off x="5411400" y="1178725"/>
            <a:ext cx="1178700" cy="6858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4" name="Google Shape;1494;p78"/>
          <p:cNvCxnSpPr/>
          <p:nvPr/>
        </p:nvCxnSpPr>
        <p:spPr>
          <a:xfrm>
            <a:off x="5218525" y="1417013"/>
            <a:ext cx="1296600" cy="1615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5" name="Google Shape;1495;p78"/>
          <p:cNvSpPr txBox="1"/>
          <p:nvPr/>
        </p:nvSpPr>
        <p:spPr>
          <a:xfrm>
            <a:off x="5400875" y="372425"/>
            <a:ext cx="209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rgbClr val="6AA84F"/>
                </a:solidFill>
              </a:rPr>
              <a:t>Pearson correlation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Storage</a:t>
            </a:r>
            <a:endParaRPr/>
          </a:p>
        </p:txBody>
      </p:sp>
      <p:sp>
        <p:nvSpPr>
          <p:cNvPr id="1501" name="Google Shape;1501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Store networkx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Format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Neo4j (database) (</a:t>
            </a:r>
            <a:r>
              <a:rPr lang="zh-TW">
                <a:solidFill>
                  <a:srgbClr val="FF0000"/>
                </a:solidFill>
              </a:rPr>
              <a:t>Need help</a:t>
            </a:r>
            <a:r>
              <a:rPr lang="zh-TW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json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pickle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Time Range of input data (trigger_point, topology, KPI)</a:t>
            </a:r>
            <a:endParaRPr/>
          </a:p>
        </p:txBody>
      </p:sp>
      <p:sp>
        <p:nvSpPr>
          <p:cNvPr id="1502" name="Google Shape;1502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~~~~~~~~~~~~~~~~~~~~~~~~~~~~~~~</a:t>
            </a:r>
            <a:endParaRPr/>
          </a:p>
        </p:txBody>
      </p:sp>
      <p:sp>
        <p:nvSpPr>
          <p:cNvPr id="1508" name="Google Shape;150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81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 clustering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Validate more AP for the effectiveness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Improve the method of calculating the text similarity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Case study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Improve the method of feature selection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Analyze the result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Output top-10 root </a:t>
            </a:r>
            <a:r>
              <a:rPr lang="zh-TW" sz="1800"/>
              <a:t>cause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Graph visualization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Highlight the root cause of the output of the model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15" name="Google Shape;1515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82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Log clustering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Validate more AP for the effectiveness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Improve the method of calculating the text similarity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zh-TW">
                <a:solidFill>
                  <a:srgbClr val="CCCCCC"/>
                </a:solidFill>
              </a:rPr>
              <a:t>Case study</a:t>
            </a:r>
            <a:endParaRPr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Improve the method of feature selection</a:t>
            </a:r>
            <a:endParaRPr sz="1800"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Analyze the result</a:t>
            </a:r>
            <a:endParaRPr sz="1800"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Output top-10 root cause</a:t>
            </a:r>
            <a:endParaRPr sz="1800"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zh-TW">
                <a:solidFill>
                  <a:srgbClr val="CCCCCC"/>
                </a:solidFill>
              </a:rPr>
              <a:t>Graph visualization</a:t>
            </a:r>
            <a:endParaRPr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Highlight the root cause of the output of the model</a:t>
            </a:r>
            <a:endParaRPr sz="1800">
              <a:solidFill>
                <a:srgbClr val="CCCCCC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22" name="Google Shape;1522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83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Validate on more AP for the effectiveness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AP: </a:t>
            </a:r>
            <a:r>
              <a:rPr lang="zh-TW" sz="1800"/>
              <a:t>OMID, MyTSMC, CCM, Supply Management, PQO, tsmc Online, Bonded, TNA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 have run my model and get new results (</a:t>
            </a:r>
            <a:r>
              <a:rPr lang="zh-TW" sz="1800"/>
              <a:t>禮拜一</a:t>
            </a:r>
            <a:r>
              <a:rPr lang="zh-TW" sz="1800"/>
              <a:t>補</a:t>
            </a:r>
            <a:r>
              <a:rPr lang="zh-TW" sz="1800"/>
              <a:t>個圖片）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Verify the result with the Grafana visualization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Need some time for checking the result </a:t>
            </a:r>
            <a:endParaRPr sz="18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29" name="Google Shape;152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 Clustering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84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Improve the method of calculating the text similarity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Use sentence-BERT for encoding the log template for calculating the text similarity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Sentence-BERT: Sentence Embeddings using Siamese BERT-Networks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EMNLP 2019, #citation = 4080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Pros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It will get the embedding with the fixed size, and we can easily to calculate the cosine similarity between two log templates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Remain issue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The word will be [UNK] if it is not in the vocabulary of BERT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6" name="Google Shape;1536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 Clustering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85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SBERT adds a </a:t>
            </a:r>
            <a:r>
              <a:rPr b="1" lang="zh-TW"/>
              <a:t>pooling operation</a:t>
            </a:r>
            <a:r>
              <a:rPr lang="zh-TW"/>
              <a:t> to the output of BERT / RoBERTa to derive </a:t>
            </a:r>
            <a:r>
              <a:rPr b="1" lang="zh-TW"/>
              <a:t>a </a:t>
            </a:r>
            <a:r>
              <a:rPr b="1" lang="zh-TW">
                <a:solidFill>
                  <a:srgbClr val="6D9EEB"/>
                </a:solidFill>
              </a:rPr>
              <a:t>fixed sized</a:t>
            </a:r>
            <a:r>
              <a:rPr b="1" lang="zh-TW"/>
              <a:t> sentence embedding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Fine-tune with three tasks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Classification Objective Function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Regression Objective Function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Triplet Objective Function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Sentence-BERT</a:t>
            </a:r>
            <a:endParaRPr/>
          </a:p>
        </p:txBody>
      </p:sp>
      <p:sp>
        <p:nvSpPr>
          <p:cNvPr id="1543" name="Google Shape;1543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86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/>
              <a:t>Classification</a:t>
            </a:r>
            <a:r>
              <a:rPr lang="zh-TW"/>
              <a:t> Objective Function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Sentence pairs annotated with the labels </a:t>
            </a:r>
            <a:r>
              <a:rPr b="1" lang="zh-TW" sz="1800"/>
              <a:t>contradiction, eintailment, and neutral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Loss function: Cross-entropy loss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Sentence-BERT</a:t>
            </a:r>
            <a:endParaRPr/>
          </a:p>
        </p:txBody>
      </p:sp>
      <p:sp>
        <p:nvSpPr>
          <p:cNvPr id="1550" name="Google Shape;1550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51" name="Google Shape;155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4221" y="2108138"/>
            <a:ext cx="2443475" cy="26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550" y="3187738"/>
            <a:ext cx="34671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87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/>
              <a:t>Regression </a:t>
            </a:r>
            <a:r>
              <a:rPr lang="zh-TW"/>
              <a:t>Objective Function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The cosine similarity between the two sentence embeddings </a:t>
            </a:r>
            <a:r>
              <a:rPr b="1" lang="zh-TW" sz="1800"/>
              <a:t>u </a:t>
            </a:r>
            <a:r>
              <a:rPr lang="zh-TW" sz="1800"/>
              <a:t>and </a:t>
            </a:r>
            <a:r>
              <a:rPr b="1" lang="zh-TW" sz="1800"/>
              <a:t>v </a:t>
            </a:r>
            <a:r>
              <a:rPr lang="zh-TW" sz="1800"/>
              <a:t>is computed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Loss function: Mean squared-error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Input consists of two texts and a</a:t>
            </a:r>
            <a:r>
              <a:rPr b="1" lang="zh-TW" sz="1800"/>
              <a:t> float label</a:t>
            </a:r>
            <a:endParaRPr b="1"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Sentence-BERT</a:t>
            </a:r>
            <a:endParaRPr/>
          </a:p>
        </p:txBody>
      </p:sp>
      <p:sp>
        <p:nvSpPr>
          <p:cNvPr id="1559" name="Google Shape;1559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60" name="Google Shape;156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463" y="1922334"/>
            <a:ext cx="2709987" cy="293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88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Triplet Objective Function (contrastive learning)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 An </a:t>
            </a:r>
            <a:r>
              <a:rPr lang="zh-TW" sz="1800">
                <a:highlight>
                  <a:srgbClr val="FFE599"/>
                </a:highlight>
              </a:rPr>
              <a:t>anchor sentence</a:t>
            </a:r>
            <a:r>
              <a:rPr lang="zh-TW" sz="1800"/>
              <a:t> </a:t>
            </a:r>
            <a:r>
              <a:rPr b="1" lang="zh-TW" sz="1800"/>
              <a:t>a,  </a:t>
            </a:r>
            <a:r>
              <a:rPr lang="zh-TW" sz="1800"/>
              <a:t>a </a:t>
            </a:r>
            <a:r>
              <a:rPr lang="zh-TW" sz="1800">
                <a:highlight>
                  <a:srgbClr val="F4CCCC"/>
                </a:highlight>
              </a:rPr>
              <a:t>positive sentence</a:t>
            </a:r>
            <a:r>
              <a:rPr lang="zh-TW" sz="1800"/>
              <a:t> </a:t>
            </a:r>
            <a:r>
              <a:rPr b="1" lang="zh-TW" sz="1800"/>
              <a:t>p</a:t>
            </a:r>
            <a:r>
              <a:rPr lang="zh-TW" sz="1800"/>
              <a:t>, and a </a:t>
            </a:r>
            <a:r>
              <a:rPr lang="zh-TW" sz="1800">
                <a:highlight>
                  <a:srgbClr val="CFE2F3"/>
                </a:highlight>
              </a:rPr>
              <a:t>negative sentence</a:t>
            </a:r>
            <a:r>
              <a:rPr lang="zh-TW" sz="1800"/>
              <a:t> </a:t>
            </a:r>
            <a:r>
              <a:rPr b="1" lang="zh-TW" sz="1800"/>
              <a:t>n</a:t>
            </a:r>
            <a:endParaRPr b="1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The positive sentence comes from the</a:t>
            </a:r>
            <a:r>
              <a:rPr b="1" lang="zh-TW" sz="1800"/>
              <a:t> same article</a:t>
            </a:r>
            <a:r>
              <a:rPr lang="zh-TW" sz="1800"/>
              <a:t> and the </a:t>
            </a:r>
            <a:r>
              <a:rPr b="1" lang="zh-TW" sz="1800"/>
              <a:t>same section</a:t>
            </a:r>
            <a:endParaRPr b="1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The negative sentence comes from the </a:t>
            </a:r>
            <a:r>
              <a:rPr b="1" lang="zh-TW" sz="1800"/>
              <a:t>same article</a:t>
            </a:r>
            <a:r>
              <a:rPr lang="zh-TW" sz="1800"/>
              <a:t> and the </a:t>
            </a:r>
            <a:r>
              <a:rPr b="1" lang="zh-TW" sz="1800"/>
              <a:t>different section</a:t>
            </a:r>
            <a:endParaRPr b="1"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Sentence-BERT</a:t>
            </a:r>
            <a:endParaRPr/>
          </a:p>
        </p:txBody>
      </p:sp>
      <p:sp>
        <p:nvSpPr>
          <p:cNvPr id="1567" name="Google Shape;1567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89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Improve the method of calculating the text similarity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Remain issue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The word will be [UNK] if it is not in the vocabulary of BERT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TSMC has surveyed </a:t>
            </a:r>
            <a:r>
              <a:rPr lang="zh-TW" sz="1800"/>
              <a:t>exBERT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exBERT: Extending pre-trained models with domain-specific vocabulary under constrained training resources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74" name="Google Shape;1574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 Clustering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90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</a:t>
            </a:r>
            <a:r>
              <a:rPr lang="zh-TW"/>
              <a:t>BERT </a:t>
            </a:r>
            <a:r>
              <a:rPr lang="zh-TW"/>
              <a:t>augment the original BERT’s embedding layer with an </a:t>
            </a:r>
            <a:r>
              <a:rPr b="1" lang="zh-TW"/>
              <a:t>extension embedding layer </a:t>
            </a:r>
            <a:r>
              <a:rPr lang="zh-TW"/>
              <a:t>and </a:t>
            </a:r>
            <a:r>
              <a:rPr b="1" lang="zh-TW"/>
              <a:t>corresponding domain-specific extension vocabulary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Add an </a:t>
            </a:r>
            <a:r>
              <a:rPr b="1" lang="zh-TW"/>
              <a:t>extension module</a:t>
            </a:r>
            <a:r>
              <a:rPr lang="zh-TW"/>
              <a:t> to each transformer layer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</a:t>
            </a:r>
            <a:r>
              <a:rPr lang="zh-TW"/>
              <a:t>BERT</a:t>
            </a:r>
            <a:endParaRPr/>
          </a:p>
        </p:txBody>
      </p:sp>
      <p:sp>
        <p:nvSpPr>
          <p:cNvPr id="1581" name="Google Shape;1581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1"/>
          <p:cNvSpPr txBox="1"/>
          <p:nvPr>
            <p:ph idx="1" type="body"/>
          </p:nvPr>
        </p:nvSpPr>
        <p:spPr>
          <a:xfrm>
            <a:off x="311700" y="1152475"/>
            <a:ext cx="81609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How BERT works?</a:t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exBERT</a:t>
            </a:r>
            <a:endParaRPr/>
          </a:p>
        </p:txBody>
      </p:sp>
      <p:sp>
        <p:nvSpPr>
          <p:cNvPr id="1588" name="Google Shape;1588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89" name="Google Shape;158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3624"/>
            <a:ext cx="9144001" cy="2874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92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exBERT</a:t>
            </a:r>
            <a:endParaRPr/>
          </a:p>
        </p:txBody>
      </p:sp>
      <p:sp>
        <p:nvSpPr>
          <p:cNvPr id="1596" name="Google Shape;1596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97" name="Google Shape;159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956875"/>
            <a:ext cx="677227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93"/>
          <p:cNvSpPr txBox="1"/>
          <p:nvPr>
            <p:ph idx="1" type="body"/>
          </p:nvPr>
        </p:nvSpPr>
        <p:spPr>
          <a:xfrm>
            <a:off x="311700" y="1152475"/>
            <a:ext cx="77760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It can be seem as fine-tune with domain knowledge for the extension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Cons: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It needs ex-vocabulary to tokenize the domain word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So we have to collect our own vocabulary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 experiment, they have experimented without ex-vocabulary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exBERT</a:t>
            </a:r>
            <a:endParaRPr/>
          </a:p>
        </p:txBody>
      </p:sp>
      <p:sp>
        <p:nvSpPr>
          <p:cNvPr id="1604" name="Google Shape;1604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05" name="Google Shape;160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525" y="3190513"/>
            <a:ext cx="511492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94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zh-TW">
                <a:solidFill>
                  <a:srgbClr val="CCCCCC"/>
                </a:solidFill>
              </a:rPr>
              <a:t>Log clustering</a:t>
            </a:r>
            <a:endParaRPr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Validate more AP for the effectiveness</a:t>
            </a:r>
            <a:endParaRPr sz="1800"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Improve the method of calculating the text similarity</a:t>
            </a:r>
            <a:endParaRPr sz="1800"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Case study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Improve the method of feature selection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Analyze the result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Output top-10 root cause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zh-TW">
                <a:solidFill>
                  <a:srgbClr val="CCCCCC"/>
                </a:solidFill>
              </a:rPr>
              <a:t>Graph visualization</a:t>
            </a:r>
            <a:endParaRPr>
              <a:solidFill>
                <a:srgbClr val="CCCCCC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</a:pPr>
            <a:r>
              <a:rPr lang="zh-TW" sz="1800">
                <a:solidFill>
                  <a:srgbClr val="CCCCCC"/>
                </a:solidFill>
              </a:rPr>
              <a:t>Highlight the root cause of the output of the model</a:t>
            </a:r>
            <a:endParaRPr sz="1800">
              <a:solidFill>
                <a:srgbClr val="CCCCCC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611" name="Google Shape;1611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12" name="Google Shape;1612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5"/>
          <p:cNvSpPr txBox="1"/>
          <p:nvPr>
            <p:ph idx="1" type="body"/>
          </p:nvPr>
        </p:nvSpPr>
        <p:spPr>
          <a:xfrm>
            <a:off x="311700" y="1152475"/>
            <a:ext cx="8520600" cy="3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Improve the method of feature selection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rgbClr val="CCCCCC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1618" name="Google Shape;161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19" name="Google Shape;1619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Case Study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