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27EB6A-CB1C-4CAB-8168-833079023F61}">
  <a:tblStyle styleId="{0927EB6A-CB1C-4CAB-8168-833079023F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d6cd004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d6cd004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d6cd004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d6cd004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d6cd004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d6cd004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d6cd0043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1d6cd0043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1d6cd0043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1d6cd0043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0691a1de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0691a1de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1d6cd0043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1d6cd0043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1d6cd0043b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1d6cd0043b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1d6cd0043b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1d6cd0043b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40691a1de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40691a1de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40548a8e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40548a8e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40548a8e3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40548a8e3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40548a8e3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40548a8e3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1d6cd0043b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1d6cd0043b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1d6cd0043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1d6cd0043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40548a8e3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40548a8e3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40548a8e3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40548a8e3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/>
              <a:t>2023 JDP 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 Causality Inferences for TSMC Operations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Advisor: Wen-Chih Peng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Student: Zheng-Ming (Paul) Lin, Ching (Jason) Chang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Date: 2023/05/08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Problem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RCA vs. Causal Learning</a:t>
            </a:r>
            <a:endParaRPr strike="sng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Definition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{0927EB6A-CB1C-4CAB-8168-833079023F61}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AD or RCA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RCA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Offline or 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Format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trike="sngStrike"/>
                        <a:t>Time-series</a:t>
                      </a:r>
                      <a:r>
                        <a:rPr lang="zh-TW"/>
                        <a:t> Tabular Data</a:t>
                      </a:r>
                      <a:endParaRPr strike="sng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Individual or Group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trike="sngStrike"/>
                        <a:t>Group</a:t>
                      </a:r>
                      <a:r>
                        <a:rPr lang="zh-TW"/>
                        <a:t> Individual</a:t>
                      </a:r>
                      <a:endParaRPr strike="sng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Graph-based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GNN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Self-supervised Learning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1626250" y="2690914"/>
            <a:ext cx="514500" cy="94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1626250" y="1155250"/>
            <a:ext cx="514500" cy="146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1732150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1732150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1732150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1732150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732150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1732150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17"/>
          <p:cNvCxnSpPr>
            <a:stCxn id="81" idx="4"/>
            <a:endCxn id="86" idx="0"/>
          </p:cNvCxnSpPr>
          <p:nvPr/>
        </p:nvCxnSpPr>
        <p:spPr>
          <a:xfrm>
            <a:off x="1882450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>
            <a:stCxn id="86" idx="4"/>
            <a:endCxn id="82" idx="0"/>
          </p:cNvCxnSpPr>
          <p:nvPr/>
        </p:nvCxnSpPr>
        <p:spPr>
          <a:xfrm>
            <a:off x="1882450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7"/>
          <p:cNvSpPr txBox="1"/>
          <p:nvPr/>
        </p:nvSpPr>
        <p:spPr>
          <a:xfrm>
            <a:off x="234475" y="207152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measurement step</a:t>
            </a:r>
            <a:endParaRPr/>
          </a:p>
        </p:txBody>
      </p:sp>
      <p:cxnSp>
        <p:nvCxnSpPr>
          <p:cNvPr id="90" name="Google Shape;90;p17"/>
          <p:cNvCxnSpPr>
            <a:stCxn id="82" idx="4"/>
            <a:endCxn id="84" idx="0"/>
          </p:cNvCxnSpPr>
          <p:nvPr/>
        </p:nvCxnSpPr>
        <p:spPr>
          <a:xfrm>
            <a:off x="1882450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7"/>
          <p:cNvCxnSpPr>
            <a:stCxn id="84" idx="4"/>
            <a:endCxn id="83" idx="0"/>
          </p:cNvCxnSpPr>
          <p:nvPr/>
        </p:nvCxnSpPr>
        <p:spPr>
          <a:xfrm>
            <a:off x="1882450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7"/>
          <p:cNvCxnSpPr>
            <a:stCxn id="83" idx="4"/>
            <a:endCxn id="85" idx="0"/>
          </p:cNvCxnSpPr>
          <p:nvPr/>
        </p:nvCxnSpPr>
        <p:spPr>
          <a:xfrm>
            <a:off x="1882450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7"/>
          <p:cNvSpPr txBox="1"/>
          <p:nvPr/>
        </p:nvSpPr>
        <p:spPr>
          <a:xfrm>
            <a:off x="234475" y="132157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manufacturing step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1626250" y="3784236"/>
            <a:ext cx="514500" cy="90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2057950" y="164737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1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2057950" y="2975411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2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2057950" y="4042400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stage 3</a:t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1732150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17"/>
          <p:cNvCxnSpPr>
            <a:stCxn id="98" idx="4"/>
          </p:cNvCxnSpPr>
          <p:nvPr/>
        </p:nvCxnSpPr>
        <p:spPr>
          <a:xfrm>
            <a:off x="1882450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7"/>
          <p:cNvSpPr/>
          <p:nvPr/>
        </p:nvSpPr>
        <p:spPr>
          <a:xfrm>
            <a:off x="5921850" y="103150"/>
            <a:ext cx="514500" cy="105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6027750" y="1785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5872800" y="445800"/>
            <a:ext cx="6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409200" y="445800"/>
            <a:ext cx="76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3504625" y="948975"/>
            <a:ext cx="5488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Two categories of steps exist: </a:t>
            </a:r>
            <a:r>
              <a:rPr b="1" i="1" lang="zh-TW" u="sng"/>
              <a:t>manufacturing</a:t>
            </a:r>
            <a:r>
              <a:rPr lang="zh-TW"/>
              <a:t> and </a:t>
            </a:r>
            <a:r>
              <a:rPr b="1" i="1" lang="zh-TW" u="sng"/>
              <a:t>measurements</a:t>
            </a:r>
            <a:r>
              <a:rPr lang="zh-TW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highlight>
                  <a:srgbClr val="FFFF00"/>
                </a:highlight>
              </a:rPr>
              <a:t>For each step, we only have one record.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Measurement steps are not always required in a stage.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make use of wafers that exist in both the measurement steps and the manufacturing steps.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Each step has a clear sequential relationship (a distinct linear progression).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wafer manufacturing process does not change over time.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Measurement steps consistently act as outcomes, rather than contributing factors.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3504625" y="948975"/>
            <a:ext cx="5488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Two categories of steps exist: </a:t>
            </a:r>
            <a:r>
              <a:rPr b="1" i="1" lang="zh-TW" u="sng"/>
              <a:t>manufacturing</a:t>
            </a:r>
            <a:r>
              <a:rPr lang="zh-TW"/>
              <a:t> and </a:t>
            </a:r>
            <a:r>
              <a:rPr b="1" i="1" lang="zh-TW" u="sng"/>
              <a:t>measurements</a:t>
            </a:r>
            <a:r>
              <a:rPr lang="zh-TW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For each step, we only have one record.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Measurement steps are not always required in a stage.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make use of wafers that exist in both the measurement steps and the manufacturing steps.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2CC"/>
                </a:highlight>
              </a:rPr>
              <a:t>Each step has a clear sequential relationship (a distinct linear progression).</a:t>
            </a:r>
            <a:endParaRPr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4CCCC"/>
                </a:highlight>
              </a:rPr>
              <a:t>The wafer manufacturing process does not change over time.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D9EAD3"/>
                </a:highlight>
              </a:rPr>
              <a:t>Measurement steps consistently act as outcomes, rather than contributing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504625" y="3853650"/>
            <a:ext cx="5269500" cy="126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Assumptions for the </a:t>
            </a:r>
            <a:r>
              <a:rPr b="1" lang="zh-TW" u="sng"/>
              <a:t>causal graph</a:t>
            </a:r>
            <a:r>
              <a:rPr lang="zh-TW"/>
              <a:t> based on the 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2CC"/>
                </a:highlight>
              </a:rPr>
              <a:t>No edge is allowed to point back to a previous step</a:t>
            </a:r>
            <a:endParaRPr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4CCCC"/>
                </a:highlight>
              </a:rPr>
              <a:t>The causal graph remains unchanged over time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D9EAD3"/>
                </a:highlight>
              </a:rPr>
              <a:t>No edge is allowed to point back to a measurement step, as measurement steps are not considered causal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18"/>
          <p:cNvCxnSpPr>
            <a:stCxn id="113" idx="4"/>
            <a:endCxn id="118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8"/>
          <p:cNvCxnSpPr>
            <a:stCxn id="118" idx="4"/>
            <a:endCxn id="114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8"/>
          <p:cNvCxnSpPr>
            <a:stCxn id="114" idx="4"/>
            <a:endCxn id="116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>
            <a:stCxn id="116" idx="4"/>
            <a:endCxn id="115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>
            <a:stCxn id="115" idx="4"/>
            <a:endCxn id="117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8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" name="Google Shape;125;p18"/>
          <p:cNvCxnSpPr>
            <a:stCxn id="124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8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18"/>
          <p:cNvCxnSpPr>
            <a:stCxn id="126" idx="2"/>
            <a:endCxn id="134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8"/>
          <p:cNvCxnSpPr>
            <a:stCxn id="126" idx="4"/>
            <a:endCxn id="136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8"/>
          <p:cNvCxnSpPr>
            <a:stCxn id="135" idx="2"/>
            <a:endCxn id="136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8"/>
          <p:cNvCxnSpPr>
            <a:stCxn id="126" idx="3"/>
            <a:endCxn id="137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8"/>
          <p:cNvCxnSpPr>
            <a:stCxn id="136" idx="4"/>
            <a:endCxn id="138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8"/>
          <p:cNvCxnSpPr>
            <a:stCxn id="138" idx="4"/>
            <a:endCxn id="141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8"/>
          <p:cNvCxnSpPr>
            <a:stCxn id="137" idx="4"/>
            <a:endCxn id="139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8"/>
          <p:cNvCxnSpPr>
            <a:stCxn id="141" idx="2"/>
            <a:endCxn id="139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8"/>
          <p:cNvCxnSpPr>
            <a:stCxn id="141" idx="4"/>
            <a:endCxn id="144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8"/>
          <p:cNvCxnSpPr>
            <a:stCxn id="134" idx="3"/>
            <a:endCxn id="143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8"/>
          <p:cNvCxnSpPr>
            <a:stCxn id="138" idx="6"/>
            <a:endCxn id="144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18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18"/>
          <p:cNvCxnSpPr>
            <a:stCxn id="144" idx="4"/>
            <a:endCxn id="159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18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" name="Google Shape;162;p18"/>
          <p:cNvCxnSpPr>
            <a:stCxn id="143" idx="4"/>
            <a:endCxn id="161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8"/>
          <p:cNvCxnSpPr>
            <a:stCxn id="138" idx="6"/>
            <a:endCxn id="158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3672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8"/>
          <p:cNvCxnSpPr>
            <a:stCxn id="139" idx="2"/>
            <a:endCxn id="157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8"/>
          <p:cNvCxnSpPr>
            <a:stCxn id="157" idx="4"/>
            <a:endCxn id="140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8"/>
          <p:cNvCxnSpPr>
            <a:stCxn id="158" idx="4"/>
            <a:endCxn id="142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8"/>
          <p:cNvCxnSpPr>
            <a:stCxn id="144" idx="2"/>
            <a:endCxn id="158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18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69" name="Google Shape;169;p18"/>
          <p:cNvCxnSpPr/>
          <p:nvPr/>
        </p:nvCxnSpPr>
        <p:spPr>
          <a:xfrm>
            <a:off x="311700" y="16359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8"/>
          <p:cNvCxnSpPr/>
          <p:nvPr/>
        </p:nvCxnSpPr>
        <p:spPr>
          <a:xfrm>
            <a:off x="311700" y="2124792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>
            <a:off x="311700" y="2624610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8"/>
          <p:cNvCxnSpPr/>
          <p:nvPr/>
        </p:nvCxnSpPr>
        <p:spPr>
          <a:xfrm>
            <a:off x="311700" y="315613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11700" y="3701256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8"/>
          <p:cNvCxnSpPr/>
          <p:nvPr/>
        </p:nvCxnSpPr>
        <p:spPr>
          <a:xfrm>
            <a:off x="311700" y="42218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Wafer POV</a:t>
            </a:r>
            <a:endParaRPr/>
          </a:p>
        </p:txBody>
      </p:sp>
      <p:cxnSp>
        <p:nvCxnSpPr>
          <p:cNvPr id="180" name="Google Shape;180;p19"/>
          <p:cNvCxnSpPr/>
          <p:nvPr/>
        </p:nvCxnSpPr>
        <p:spPr>
          <a:xfrm rot="10800000">
            <a:off x="4103713" y="1127149"/>
            <a:ext cx="0" cy="34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1" name="Google Shape;181;p19"/>
          <p:cNvSpPr txBox="1"/>
          <p:nvPr/>
        </p:nvSpPr>
        <p:spPr>
          <a:xfrm>
            <a:off x="3165125" y="2409175"/>
            <a:ext cx="103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time/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step id</a:t>
            </a:r>
            <a:endParaRPr sz="2000"/>
          </a:p>
        </p:txBody>
      </p:sp>
      <p:cxnSp>
        <p:nvCxnSpPr>
          <p:cNvPr id="182" name="Google Shape;182;p19"/>
          <p:cNvCxnSpPr/>
          <p:nvPr/>
        </p:nvCxnSpPr>
        <p:spPr>
          <a:xfrm>
            <a:off x="4220700" y="4722275"/>
            <a:ext cx="398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19"/>
          <p:cNvSpPr txBox="1"/>
          <p:nvPr/>
        </p:nvSpPr>
        <p:spPr>
          <a:xfrm>
            <a:off x="5887062" y="4750031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t</a:t>
            </a:r>
            <a:endParaRPr sz="2000"/>
          </a:p>
        </p:txBody>
      </p:sp>
      <p:sp>
        <p:nvSpPr>
          <p:cNvPr id="184" name="Google Shape;184;p19"/>
          <p:cNvSpPr/>
          <p:nvPr/>
        </p:nvSpPr>
        <p:spPr>
          <a:xfrm>
            <a:off x="4278874" y="1165050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949325" y="1057350"/>
            <a:ext cx="138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Single record for each step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4175676" y="2176725"/>
            <a:ext cx="15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Single feature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4216100" y="303475"/>
            <a:ext cx="225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Varying multiple features for </a:t>
            </a:r>
            <a:r>
              <a:rPr b="1" i="1" lang="zh-TW" u="sng">
                <a:solidFill>
                  <a:schemeClr val="accent1"/>
                </a:solidFill>
              </a:rPr>
              <a:t>manufacturing</a:t>
            </a:r>
            <a:r>
              <a:rPr lang="zh-TW">
                <a:solidFill>
                  <a:schemeClr val="accent1"/>
                </a:solidFill>
              </a:rPr>
              <a:t> steps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8" name="Google Shape;188;p19"/>
          <p:cNvSpPr/>
          <p:nvPr/>
        </p:nvSpPr>
        <p:spPr>
          <a:xfrm rot="10800000">
            <a:off x="5887250" y="1167825"/>
            <a:ext cx="125700" cy="395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 rot="5400000">
            <a:off x="5397150" y="-218725"/>
            <a:ext cx="125700" cy="2347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 rot="-5400000">
            <a:off x="4841825" y="1992525"/>
            <a:ext cx="71100" cy="3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19"/>
          <p:cNvCxnSpPr>
            <a:stCxn id="192" idx="4"/>
            <a:endCxn id="197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19"/>
          <p:cNvCxnSpPr>
            <a:stCxn id="197" idx="4"/>
            <a:endCxn id="193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9"/>
          <p:cNvCxnSpPr>
            <a:stCxn id="193" idx="4"/>
            <a:endCxn id="195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9"/>
          <p:cNvCxnSpPr>
            <a:stCxn id="195" idx="4"/>
            <a:endCxn id="194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9"/>
          <p:cNvCxnSpPr>
            <a:stCxn id="194" idx="4"/>
            <a:endCxn id="196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19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19"/>
          <p:cNvCxnSpPr>
            <a:stCxn id="203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19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212" name="Google Shape;212;p19"/>
          <p:cNvGrpSpPr/>
          <p:nvPr/>
        </p:nvGrpSpPr>
        <p:grpSpPr>
          <a:xfrm>
            <a:off x="311691" y="1635975"/>
            <a:ext cx="8016142" cy="2585900"/>
            <a:chOff x="311700" y="1635975"/>
            <a:chExt cx="2906400" cy="2585900"/>
          </a:xfrm>
        </p:grpSpPr>
        <p:cxnSp>
          <p:nvCxnSpPr>
            <p:cNvPr id="213" name="Google Shape;213;p19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19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19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9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9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9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219" name="Google Shape;219;p19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" name="Google Shape;231;p19"/>
          <p:cNvCxnSpPr>
            <a:stCxn id="205" idx="2"/>
            <a:endCxn id="220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9"/>
          <p:cNvCxnSpPr>
            <a:stCxn id="205" idx="4"/>
            <a:endCxn id="222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19"/>
          <p:cNvCxnSpPr>
            <a:stCxn id="221" idx="2"/>
            <a:endCxn id="222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19"/>
          <p:cNvCxnSpPr>
            <a:stCxn id="205" idx="3"/>
            <a:endCxn id="223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19"/>
          <p:cNvCxnSpPr>
            <a:stCxn id="222" idx="4"/>
            <a:endCxn id="224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19"/>
          <p:cNvCxnSpPr>
            <a:stCxn id="224" idx="4"/>
            <a:endCxn id="227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19"/>
          <p:cNvCxnSpPr>
            <a:stCxn id="223" idx="4"/>
            <a:endCxn id="225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19"/>
          <p:cNvCxnSpPr>
            <a:stCxn id="227" idx="2"/>
            <a:endCxn id="225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19"/>
          <p:cNvCxnSpPr>
            <a:stCxn id="227" idx="4"/>
            <a:endCxn id="230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19"/>
          <p:cNvCxnSpPr>
            <a:stCxn id="220" idx="3"/>
            <a:endCxn id="229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9"/>
          <p:cNvCxnSpPr>
            <a:stCxn id="224" idx="6"/>
            <a:endCxn id="230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19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19"/>
          <p:cNvCxnSpPr>
            <a:stCxn id="230" idx="4"/>
            <a:endCxn id="245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19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19"/>
          <p:cNvCxnSpPr>
            <a:stCxn id="229" idx="4"/>
            <a:endCxn id="247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19"/>
          <p:cNvCxnSpPr>
            <a:stCxn id="224" idx="6"/>
            <a:endCxn id="244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3672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19"/>
          <p:cNvCxnSpPr>
            <a:stCxn id="225" idx="2"/>
            <a:endCxn id="243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19"/>
          <p:cNvCxnSpPr>
            <a:stCxn id="243" idx="4"/>
            <a:endCxn id="226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19"/>
          <p:cNvSpPr/>
          <p:nvPr/>
        </p:nvSpPr>
        <p:spPr>
          <a:xfrm>
            <a:off x="4278874" y="1677759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" name="Google Shape;253;p19"/>
          <p:cNvCxnSpPr>
            <a:stCxn id="244" idx="4"/>
            <a:endCxn id="228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19"/>
          <p:cNvCxnSpPr>
            <a:stCxn id="230" idx="2"/>
            <a:endCxn id="244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19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6637025" y="2176725"/>
            <a:ext cx="1076400" cy="4002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5120774" y="2700165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5120774" y="3761457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7117700" y="4271975"/>
            <a:ext cx="975900" cy="4002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7502900" y="4271975"/>
            <a:ext cx="370800" cy="400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7845600" y="4271975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9900"/>
                </a:solidFill>
              </a:rPr>
              <a:t>trigger point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4693625" y="1677750"/>
            <a:ext cx="370800" cy="4002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5105800" y="1683197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root cause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6467925" y="303475"/>
            <a:ext cx="225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AA84F"/>
                </a:solidFill>
              </a:rPr>
              <a:t>Varying multiple features for </a:t>
            </a:r>
            <a:r>
              <a:rPr b="1" i="1" lang="zh-TW" u="sng">
                <a:solidFill>
                  <a:srgbClr val="6AA84F"/>
                </a:solidFill>
              </a:rPr>
              <a:t>measurements</a:t>
            </a:r>
            <a:r>
              <a:rPr lang="zh-TW">
                <a:solidFill>
                  <a:srgbClr val="6AA84F"/>
                </a:solidFill>
              </a:rPr>
              <a:t> steps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65" name="Google Shape;265;p19"/>
          <p:cNvSpPr/>
          <p:nvPr/>
        </p:nvSpPr>
        <p:spPr>
          <a:xfrm rot="5400000">
            <a:off x="7259050" y="266525"/>
            <a:ext cx="125700" cy="1376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95000" y="58325"/>
            <a:ext cx="24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FF0000"/>
                </a:solidFill>
                <a:highlight>
                  <a:srgbClr val="FFFF00"/>
                </a:highlight>
              </a:rPr>
              <a:t>Same wafer id</a:t>
            </a:r>
            <a:endParaRPr b="1" sz="2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5120774" y="3230802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Received CSV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3856509" y="-32145"/>
            <a:ext cx="27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u="sng">
                <a:solidFill>
                  <a:schemeClr val="accent1"/>
                </a:solidFill>
              </a:rPr>
              <a:t>manufacturing</a:t>
            </a:r>
            <a:r>
              <a:rPr lang="zh-TW">
                <a:solidFill>
                  <a:schemeClr val="accent1"/>
                </a:solidFill>
              </a:rPr>
              <a:t> steps’ features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4" name="Google Shape;274;p20"/>
          <p:cNvSpPr/>
          <p:nvPr/>
        </p:nvSpPr>
        <p:spPr>
          <a:xfrm rot="5400000">
            <a:off x="6016750" y="-579375"/>
            <a:ext cx="125700" cy="190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20"/>
          <p:cNvCxnSpPr>
            <a:stCxn id="276" idx="4"/>
            <a:endCxn id="281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20"/>
          <p:cNvCxnSpPr>
            <a:stCxn id="281" idx="4"/>
            <a:endCxn id="277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20"/>
          <p:cNvCxnSpPr>
            <a:stCxn id="277" idx="4"/>
            <a:endCxn id="279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20"/>
          <p:cNvCxnSpPr>
            <a:stCxn id="279" idx="4"/>
            <a:endCxn id="278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20"/>
          <p:cNvCxnSpPr>
            <a:stCxn id="278" idx="4"/>
            <a:endCxn id="280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20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20"/>
          <p:cNvCxnSpPr>
            <a:stCxn id="287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20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296" name="Google Shape;296;p20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297" name="Google Shape;297;p20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20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0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20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20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20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303" name="Google Shape;303;p20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" name="Google Shape;315;p20"/>
          <p:cNvCxnSpPr>
            <a:stCxn id="289" idx="2"/>
            <a:endCxn id="304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0"/>
          <p:cNvCxnSpPr>
            <a:stCxn id="289" idx="4"/>
            <a:endCxn id="306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20"/>
          <p:cNvCxnSpPr>
            <a:stCxn id="305" idx="2"/>
            <a:endCxn id="306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20"/>
          <p:cNvCxnSpPr>
            <a:stCxn id="289" idx="3"/>
            <a:endCxn id="307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20"/>
          <p:cNvCxnSpPr>
            <a:stCxn id="306" idx="4"/>
            <a:endCxn id="308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20"/>
          <p:cNvCxnSpPr>
            <a:stCxn id="308" idx="4"/>
            <a:endCxn id="311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0"/>
          <p:cNvCxnSpPr>
            <a:stCxn id="307" idx="4"/>
            <a:endCxn id="309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0"/>
          <p:cNvCxnSpPr>
            <a:stCxn id="311" idx="2"/>
            <a:endCxn id="309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20"/>
          <p:cNvCxnSpPr>
            <a:stCxn id="311" idx="4"/>
            <a:endCxn id="314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20"/>
          <p:cNvCxnSpPr>
            <a:stCxn id="304" idx="3"/>
            <a:endCxn id="313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20"/>
          <p:cNvCxnSpPr>
            <a:stCxn id="308" idx="6"/>
            <a:endCxn id="314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20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" name="Google Shape;330;p20"/>
          <p:cNvCxnSpPr>
            <a:stCxn id="314" idx="4"/>
            <a:endCxn id="329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20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20"/>
          <p:cNvCxnSpPr>
            <a:stCxn id="313" idx="4"/>
            <a:endCxn id="331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20"/>
          <p:cNvCxnSpPr>
            <a:stCxn id="308" idx="6"/>
            <a:endCxn id="328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0"/>
          <p:cNvCxnSpPr>
            <a:stCxn id="309" idx="2"/>
            <a:endCxn id="327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20"/>
          <p:cNvCxnSpPr>
            <a:stCxn id="327" idx="4"/>
            <a:endCxn id="310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20"/>
          <p:cNvCxnSpPr>
            <a:stCxn id="328" idx="4"/>
            <a:endCxn id="312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20"/>
          <p:cNvCxnSpPr>
            <a:stCxn id="314" idx="2"/>
            <a:endCxn id="328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20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6398346" y="-32145"/>
            <a:ext cx="29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u="sng">
                <a:solidFill>
                  <a:srgbClr val="6AA84F"/>
                </a:solidFill>
              </a:rPr>
              <a:t>measurements</a:t>
            </a:r>
            <a:r>
              <a:rPr lang="zh-TW">
                <a:solidFill>
                  <a:srgbClr val="6AA84F"/>
                </a:solidFill>
              </a:rPr>
              <a:t> </a:t>
            </a:r>
            <a:r>
              <a:rPr lang="zh-TW">
                <a:solidFill>
                  <a:srgbClr val="6AA84F"/>
                </a:solidFill>
              </a:rPr>
              <a:t>steps’ features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40" name="Google Shape;340;p20"/>
          <p:cNvSpPr/>
          <p:nvPr/>
        </p:nvSpPr>
        <p:spPr>
          <a:xfrm rot="5400000">
            <a:off x="7928500" y="-566175"/>
            <a:ext cx="125700" cy="1883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95000" y="58325"/>
            <a:ext cx="24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FF0000"/>
                </a:solidFill>
                <a:highlight>
                  <a:srgbClr val="FFFF00"/>
                </a:highlight>
              </a:rPr>
              <a:t>Same wafer id</a:t>
            </a:r>
            <a:endParaRPr b="1" sz="2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342" name="Google Shape;342;p20"/>
          <p:cNvGraphicFramePr/>
          <p:nvPr/>
        </p:nvGraphicFramePr>
        <p:xfrm>
          <a:off x="3241888" y="482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{0927EB6A-CB1C-4CAB-8168-833079023F61}</a:tableStyleId>
              </a:tblPr>
              <a:tblGrid>
                <a:gridCol w="634900"/>
                <a:gridCol w="634900"/>
                <a:gridCol w="634900"/>
                <a:gridCol w="634900"/>
                <a:gridCol w="634900"/>
                <a:gridCol w="634900"/>
                <a:gridCol w="634900"/>
                <a:gridCol w="634900"/>
                <a:gridCol w="634900"/>
              </a:tblGrid>
              <a:tr h="5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time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step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M_f3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Q_f3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/>
                        <a:t>TOOL1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10:05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FF0000"/>
                          </a:solidFill>
                        </a:rPr>
                        <a:t>TOOL1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10:10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Q3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10:15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10:20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2.5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10:25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1.9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Q7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81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Organized</a:t>
            </a:r>
            <a:r>
              <a:rPr lang="zh-TW"/>
              <a:t> CSV</a:t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21"/>
          <p:cNvGrpSpPr/>
          <p:nvPr/>
        </p:nvGrpSpPr>
        <p:grpSpPr>
          <a:xfrm>
            <a:off x="576425" y="1230624"/>
            <a:ext cx="300600" cy="3417817"/>
            <a:chOff x="576425" y="1230624"/>
            <a:chExt cx="300600" cy="3417817"/>
          </a:xfrm>
        </p:grpSpPr>
        <p:sp>
          <p:nvSpPr>
            <p:cNvPr id="350" name="Google Shape;350;p21"/>
            <p:cNvSpPr/>
            <p:nvPr/>
          </p:nvSpPr>
          <p:spPr>
            <a:xfrm>
              <a:off x="576425" y="17481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576425" y="2744923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576425" y="383659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576425" y="3291026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576425" y="4347841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576425" y="2265487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6" name="Google Shape;356;p21"/>
            <p:cNvCxnSpPr>
              <a:stCxn id="350" idx="4"/>
              <a:endCxn id="355" idx="0"/>
            </p:cNvCxnSpPr>
            <p:nvPr/>
          </p:nvCxnSpPr>
          <p:spPr>
            <a:xfrm>
              <a:off x="726725" y="20487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7" name="Google Shape;357;p21"/>
            <p:cNvCxnSpPr>
              <a:stCxn id="355" idx="4"/>
              <a:endCxn id="351" idx="0"/>
            </p:cNvCxnSpPr>
            <p:nvPr/>
          </p:nvCxnSpPr>
          <p:spPr>
            <a:xfrm>
              <a:off x="726725" y="2566087"/>
              <a:ext cx="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8" name="Google Shape;358;p21"/>
            <p:cNvCxnSpPr>
              <a:stCxn id="351" idx="4"/>
              <a:endCxn id="353" idx="0"/>
            </p:cNvCxnSpPr>
            <p:nvPr/>
          </p:nvCxnSpPr>
          <p:spPr>
            <a:xfrm>
              <a:off x="726725" y="3045523"/>
              <a:ext cx="0" cy="24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9" name="Google Shape;359;p21"/>
            <p:cNvCxnSpPr>
              <a:stCxn id="353" idx="4"/>
              <a:endCxn id="352" idx="0"/>
            </p:cNvCxnSpPr>
            <p:nvPr/>
          </p:nvCxnSpPr>
          <p:spPr>
            <a:xfrm>
              <a:off x="726725" y="3591626"/>
              <a:ext cx="0" cy="24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0" name="Google Shape;360;p21"/>
            <p:cNvCxnSpPr>
              <a:stCxn id="352" idx="4"/>
              <a:endCxn id="354" idx="0"/>
            </p:cNvCxnSpPr>
            <p:nvPr/>
          </p:nvCxnSpPr>
          <p:spPr>
            <a:xfrm>
              <a:off x="726725" y="4137194"/>
              <a:ext cx="0" cy="21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1" name="Google Shape;361;p21"/>
            <p:cNvSpPr/>
            <p:nvPr/>
          </p:nvSpPr>
          <p:spPr>
            <a:xfrm>
              <a:off x="576425" y="12306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2" name="Google Shape;362;p21"/>
            <p:cNvCxnSpPr>
              <a:stCxn id="361" idx="4"/>
            </p:cNvCxnSpPr>
            <p:nvPr/>
          </p:nvCxnSpPr>
          <p:spPr>
            <a:xfrm>
              <a:off x="726725" y="15312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63" name="Google Shape;363;p21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366" name="Google Shape;366;p21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368" name="Google Shape;368;p21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370" name="Google Shape;370;p21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371" name="Google Shape;371;p21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21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21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21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21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21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377" name="Google Shape;377;p21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21"/>
          <p:cNvCxnSpPr>
            <a:stCxn id="363" idx="2"/>
            <a:endCxn id="378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21"/>
          <p:cNvCxnSpPr>
            <a:stCxn id="363" idx="4"/>
            <a:endCxn id="380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21"/>
          <p:cNvCxnSpPr>
            <a:stCxn id="379" idx="2"/>
            <a:endCxn id="380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21"/>
          <p:cNvCxnSpPr>
            <a:stCxn id="363" idx="3"/>
            <a:endCxn id="381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21"/>
          <p:cNvCxnSpPr>
            <a:stCxn id="380" idx="4"/>
            <a:endCxn id="382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21"/>
          <p:cNvCxnSpPr>
            <a:stCxn id="382" idx="4"/>
            <a:endCxn id="385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21"/>
          <p:cNvCxnSpPr>
            <a:stCxn id="381" idx="4"/>
            <a:endCxn id="383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21"/>
          <p:cNvCxnSpPr>
            <a:stCxn id="385" idx="2"/>
            <a:endCxn id="383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21"/>
          <p:cNvCxnSpPr>
            <a:stCxn id="385" idx="4"/>
            <a:endCxn id="388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p21"/>
          <p:cNvCxnSpPr>
            <a:stCxn id="378" idx="3"/>
            <a:endCxn id="387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21"/>
          <p:cNvCxnSpPr>
            <a:stCxn id="382" idx="6"/>
            <a:endCxn id="388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21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4" name="Google Shape;404;p21"/>
          <p:cNvCxnSpPr>
            <a:stCxn id="388" idx="4"/>
            <a:endCxn id="403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p21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21"/>
          <p:cNvCxnSpPr>
            <a:stCxn id="387" idx="4"/>
            <a:endCxn id="405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21"/>
          <p:cNvCxnSpPr>
            <a:stCxn id="382" idx="6"/>
            <a:endCxn id="402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21"/>
          <p:cNvCxnSpPr>
            <a:stCxn id="383" idx="2"/>
            <a:endCxn id="401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21"/>
          <p:cNvCxnSpPr>
            <a:stCxn id="401" idx="4"/>
            <a:endCxn id="384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21"/>
          <p:cNvCxnSpPr>
            <a:stCxn id="402" idx="4"/>
            <a:endCxn id="386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21"/>
          <p:cNvCxnSpPr>
            <a:stCxn id="388" idx="2"/>
            <a:endCxn id="402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21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413" name="Google Shape;413;p21"/>
          <p:cNvGraphicFramePr/>
          <p:nvPr/>
        </p:nvGraphicFramePr>
        <p:xfrm>
          <a:off x="3241888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{0927EB6A-CB1C-4CAB-8168-833079023F61}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</a:t>
                      </a: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</a:t>
                      </a:r>
                      <a:r>
                        <a:rPr lang="zh-TW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45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14" name="Google Shape;414;p21"/>
          <p:cNvGrpSpPr/>
          <p:nvPr/>
        </p:nvGrpSpPr>
        <p:grpSpPr>
          <a:xfrm>
            <a:off x="4299453" y="612425"/>
            <a:ext cx="3610886" cy="688620"/>
            <a:chOff x="4239615" y="0"/>
            <a:chExt cx="3610886" cy="688620"/>
          </a:xfrm>
        </p:grpSpPr>
        <p:grpSp>
          <p:nvGrpSpPr>
            <p:cNvPr id="415" name="Google Shape;415;p21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416" name="Google Shape;416;p21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1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1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1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2" name="Google Shape;422;p21"/>
              <p:cNvCxnSpPr>
                <a:stCxn id="416" idx="4"/>
                <a:endCxn id="421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23" name="Google Shape;423;p21"/>
              <p:cNvCxnSpPr>
                <a:stCxn id="421" idx="4"/>
                <a:endCxn id="417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24" name="Google Shape;424;p21"/>
              <p:cNvCxnSpPr>
                <a:stCxn id="417" idx="4"/>
                <a:endCxn id="419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25" name="Google Shape;425;p21"/>
              <p:cNvCxnSpPr>
                <a:stCxn id="419" idx="4"/>
                <a:endCxn id="418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26" name="Google Shape;426;p21"/>
              <p:cNvCxnSpPr>
                <a:stCxn id="418" idx="4"/>
                <a:endCxn id="420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27" name="Google Shape;427;p21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8" name="Google Shape;428;p21"/>
              <p:cNvCxnSpPr>
                <a:stCxn id="427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29" name="Google Shape;429;p21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M1</a:t>
              </a:r>
              <a:endParaRPr/>
            </a:p>
          </p:txBody>
        </p:sp>
        <p:sp>
          <p:nvSpPr>
            <p:cNvPr id="430" name="Google Shape;430;p21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M2</a:t>
              </a:r>
              <a:endParaRPr/>
            </a:p>
          </p:txBody>
        </p:sp>
        <p:sp>
          <p:nvSpPr>
            <p:cNvPr id="431" name="Google Shape;431;p21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Q3</a:t>
              </a:r>
              <a:endParaRPr/>
            </a:p>
          </p:txBody>
        </p:sp>
        <p:sp>
          <p:nvSpPr>
            <p:cNvPr id="432" name="Google Shape;432;p21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M4</a:t>
              </a:r>
              <a:endParaRPr/>
            </a:p>
          </p:txBody>
        </p:sp>
        <p:sp>
          <p:nvSpPr>
            <p:cNvPr id="433" name="Google Shape;433;p21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M5</a:t>
              </a:r>
              <a:endParaRPr/>
            </a:p>
          </p:txBody>
        </p:sp>
        <p:sp>
          <p:nvSpPr>
            <p:cNvPr id="434" name="Google Shape;434;p21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M6</a:t>
              </a:r>
              <a:endParaRPr/>
            </a:p>
          </p:txBody>
        </p:sp>
        <p:sp>
          <p:nvSpPr>
            <p:cNvPr id="435" name="Google Shape;435;p21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Q7</a:t>
              </a:r>
              <a:endParaRPr/>
            </a:p>
          </p:txBody>
        </p:sp>
      </p:grpSp>
      <p:sp>
        <p:nvSpPr>
          <p:cNvPr id="436" name="Google Shape;436;p21"/>
          <p:cNvSpPr txBox="1"/>
          <p:nvPr/>
        </p:nvSpPr>
        <p:spPr>
          <a:xfrm>
            <a:off x="3131375" y="-53525"/>
            <a:ext cx="43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F00"/>
                </a:highlight>
              </a:rPr>
              <a:t>Removed aspects: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F00"/>
                </a:highlight>
              </a:rPr>
              <a:t>Some features are shared across steps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F00"/>
                </a:highlight>
              </a:rPr>
              <a:t>Time within one single wafer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450"/>
            <a:ext cx="8735275" cy="49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POV</a:t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8" name="Google Shape;448;p23"/>
          <p:cNvGrpSpPr/>
          <p:nvPr/>
        </p:nvGrpSpPr>
        <p:grpSpPr>
          <a:xfrm>
            <a:off x="576425" y="1230624"/>
            <a:ext cx="300600" cy="3417817"/>
            <a:chOff x="576425" y="1230624"/>
            <a:chExt cx="300600" cy="3417817"/>
          </a:xfrm>
        </p:grpSpPr>
        <p:sp>
          <p:nvSpPr>
            <p:cNvPr id="449" name="Google Shape;449;p23"/>
            <p:cNvSpPr/>
            <p:nvPr/>
          </p:nvSpPr>
          <p:spPr>
            <a:xfrm>
              <a:off x="576425" y="17481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576425" y="2744923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576425" y="383659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576425" y="3291026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576425" y="4347841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576425" y="2265487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5" name="Google Shape;455;p23"/>
            <p:cNvCxnSpPr>
              <a:stCxn id="449" idx="4"/>
              <a:endCxn id="454" idx="0"/>
            </p:cNvCxnSpPr>
            <p:nvPr/>
          </p:nvCxnSpPr>
          <p:spPr>
            <a:xfrm>
              <a:off x="726725" y="20487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6" name="Google Shape;456;p23"/>
            <p:cNvCxnSpPr>
              <a:stCxn id="454" idx="4"/>
              <a:endCxn id="450" idx="0"/>
            </p:cNvCxnSpPr>
            <p:nvPr/>
          </p:nvCxnSpPr>
          <p:spPr>
            <a:xfrm>
              <a:off x="726725" y="2566087"/>
              <a:ext cx="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7" name="Google Shape;457;p23"/>
            <p:cNvCxnSpPr>
              <a:stCxn id="450" idx="4"/>
              <a:endCxn id="452" idx="0"/>
            </p:cNvCxnSpPr>
            <p:nvPr/>
          </p:nvCxnSpPr>
          <p:spPr>
            <a:xfrm>
              <a:off x="726725" y="3045523"/>
              <a:ext cx="0" cy="24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8" name="Google Shape;458;p23"/>
            <p:cNvCxnSpPr>
              <a:stCxn id="452" idx="4"/>
              <a:endCxn id="451" idx="0"/>
            </p:cNvCxnSpPr>
            <p:nvPr/>
          </p:nvCxnSpPr>
          <p:spPr>
            <a:xfrm>
              <a:off x="726725" y="3591626"/>
              <a:ext cx="0" cy="24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9" name="Google Shape;459;p23"/>
            <p:cNvCxnSpPr>
              <a:stCxn id="451" idx="4"/>
              <a:endCxn id="453" idx="0"/>
            </p:cNvCxnSpPr>
            <p:nvPr/>
          </p:nvCxnSpPr>
          <p:spPr>
            <a:xfrm>
              <a:off x="726725" y="4137194"/>
              <a:ext cx="0" cy="21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0" name="Google Shape;460;p23"/>
            <p:cNvSpPr/>
            <p:nvPr/>
          </p:nvSpPr>
          <p:spPr>
            <a:xfrm>
              <a:off x="576425" y="12306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1" name="Google Shape;461;p23"/>
            <p:cNvCxnSpPr>
              <a:stCxn id="460" idx="4"/>
            </p:cNvCxnSpPr>
            <p:nvPr/>
          </p:nvCxnSpPr>
          <p:spPr>
            <a:xfrm>
              <a:off x="726725" y="15312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2" name="Google Shape;462;p23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464" name="Google Shape;464;p23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465" name="Google Shape;465;p23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466" name="Google Shape;466;p23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467" name="Google Shape;467;p23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468" name="Google Shape;468;p23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469" name="Google Shape;469;p23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470" name="Google Shape;470;p23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23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23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23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23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23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476" name="Google Shape;476;p23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477" name="Google Shape;477;p23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3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3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3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3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3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3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3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3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8" name="Google Shape;488;p23"/>
          <p:cNvCxnSpPr>
            <a:stCxn id="462" idx="2"/>
            <a:endCxn id="477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23"/>
          <p:cNvCxnSpPr>
            <a:stCxn id="462" idx="4"/>
            <a:endCxn id="479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23"/>
          <p:cNvCxnSpPr>
            <a:stCxn id="478" idx="2"/>
            <a:endCxn id="479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23"/>
          <p:cNvCxnSpPr>
            <a:stCxn id="462" idx="3"/>
            <a:endCxn id="480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p23"/>
          <p:cNvCxnSpPr>
            <a:stCxn id="479" idx="4"/>
            <a:endCxn id="481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23"/>
          <p:cNvCxnSpPr>
            <a:stCxn id="481" idx="4"/>
            <a:endCxn id="484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23"/>
          <p:cNvCxnSpPr>
            <a:stCxn id="480" idx="4"/>
            <a:endCxn id="482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23"/>
          <p:cNvCxnSpPr>
            <a:stCxn id="484" idx="2"/>
            <a:endCxn id="482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23"/>
          <p:cNvCxnSpPr>
            <a:stCxn id="484" idx="4"/>
            <a:endCxn id="487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23"/>
          <p:cNvCxnSpPr>
            <a:stCxn id="477" idx="3"/>
            <a:endCxn id="486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23"/>
          <p:cNvCxnSpPr>
            <a:stCxn id="481" idx="6"/>
            <a:endCxn id="487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23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3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3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3" name="Google Shape;503;p23"/>
          <p:cNvCxnSpPr>
            <a:stCxn id="487" idx="4"/>
            <a:endCxn id="502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" name="Google Shape;504;p23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" name="Google Shape;505;p23"/>
          <p:cNvCxnSpPr>
            <a:stCxn id="486" idx="4"/>
            <a:endCxn id="504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23"/>
          <p:cNvCxnSpPr>
            <a:stCxn id="481" idx="6"/>
            <a:endCxn id="501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23"/>
          <p:cNvCxnSpPr>
            <a:stCxn id="482" idx="2"/>
            <a:endCxn id="500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23"/>
          <p:cNvCxnSpPr>
            <a:stCxn id="500" idx="4"/>
            <a:endCxn id="483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23"/>
          <p:cNvCxnSpPr>
            <a:stCxn id="501" idx="4"/>
            <a:endCxn id="485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23"/>
          <p:cNvCxnSpPr>
            <a:stCxn id="487" idx="2"/>
            <a:endCxn id="501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23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512" name="Google Shape;512;p23"/>
          <p:cNvGraphicFramePr/>
          <p:nvPr/>
        </p:nvGraphicFramePr>
        <p:xfrm>
          <a:off x="3241888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{0927EB6A-CB1C-4CAB-8168-833079023F61}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0.9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…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3.7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1.6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67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0.5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83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3.5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80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13" name="Google Shape;513;p23"/>
          <p:cNvGrpSpPr/>
          <p:nvPr/>
        </p:nvGrpSpPr>
        <p:grpSpPr>
          <a:xfrm>
            <a:off x="4299453" y="612425"/>
            <a:ext cx="3610886" cy="688620"/>
            <a:chOff x="4239615" y="0"/>
            <a:chExt cx="3610886" cy="688620"/>
          </a:xfrm>
        </p:grpSpPr>
        <p:grpSp>
          <p:nvGrpSpPr>
            <p:cNvPr id="514" name="Google Shape;514;p23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515" name="Google Shape;515;p23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21" name="Google Shape;521;p23"/>
              <p:cNvCxnSpPr>
                <a:stCxn id="515" idx="4"/>
                <a:endCxn id="520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2" name="Google Shape;522;p23"/>
              <p:cNvCxnSpPr>
                <a:stCxn id="520" idx="4"/>
                <a:endCxn id="516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3" name="Google Shape;523;p23"/>
              <p:cNvCxnSpPr>
                <a:stCxn id="516" idx="4"/>
                <a:endCxn id="518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4" name="Google Shape;524;p23"/>
              <p:cNvCxnSpPr>
                <a:stCxn id="518" idx="4"/>
                <a:endCxn id="517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5" name="Google Shape;525;p23"/>
              <p:cNvCxnSpPr>
                <a:stCxn id="517" idx="4"/>
                <a:endCxn id="519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26" name="Google Shape;526;p23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27" name="Google Shape;527;p23"/>
              <p:cNvCxnSpPr>
                <a:stCxn id="526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28" name="Google Shape;528;p23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M1</a:t>
              </a:r>
              <a:endParaRPr/>
            </a:p>
          </p:txBody>
        </p:sp>
        <p:sp>
          <p:nvSpPr>
            <p:cNvPr id="529" name="Google Shape;529;p23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M2</a:t>
              </a:r>
              <a:endParaRPr/>
            </a:p>
          </p:txBody>
        </p:sp>
        <p:sp>
          <p:nvSpPr>
            <p:cNvPr id="530" name="Google Shape;530;p23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Q3</a:t>
              </a:r>
              <a:endParaRPr/>
            </a:p>
          </p:txBody>
        </p:sp>
        <p:sp>
          <p:nvSpPr>
            <p:cNvPr id="531" name="Google Shape;531;p23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M4</a:t>
              </a:r>
              <a:endParaRPr/>
            </a:p>
          </p:txBody>
        </p:sp>
        <p:sp>
          <p:nvSpPr>
            <p:cNvPr id="532" name="Google Shape;532;p23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M5</a:t>
              </a:r>
              <a:endParaRPr/>
            </a:p>
          </p:txBody>
        </p:sp>
        <p:sp>
          <p:nvSpPr>
            <p:cNvPr id="533" name="Google Shape;533;p23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M6</a:t>
              </a:r>
              <a:endParaRPr/>
            </a:p>
          </p:txBody>
        </p:sp>
        <p:sp>
          <p:nvSpPr>
            <p:cNvPr id="534" name="Google Shape;534;p23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Q7</a:t>
              </a:r>
              <a:endParaRPr/>
            </a:p>
          </p:txBody>
        </p:sp>
      </p:grpSp>
      <p:sp>
        <p:nvSpPr>
          <p:cNvPr id="535" name="Google Shape;535;p23"/>
          <p:cNvSpPr/>
          <p:nvPr/>
        </p:nvSpPr>
        <p:spPr>
          <a:xfrm>
            <a:off x="3957650" y="3177438"/>
            <a:ext cx="5010300" cy="1694100"/>
          </a:xfrm>
          <a:prstGeom prst="roundRect">
            <a:avLst>
              <a:gd fmla="val 10709" name="adj"/>
            </a:avLst>
          </a:prstGeom>
          <a:noFill/>
          <a:ln cap="flat" cmpd="sng" w="7620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 txBox="1"/>
          <p:nvPr/>
        </p:nvSpPr>
        <p:spPr>
          <a:xfrm>
            <a:off x="6902700" y="52975"/>
            <a:ext cx="22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800" u="sng">
                <a:highlight>
                  <a:srgbClr val="FFE599"/>
                </a:highlight>
              </a:rPr>
              <a:t>Time-Series Data</a:t>
            </a:r>
            <a:endParaRPr b="1" i="1" sz="1800" u="sng"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Individual POV</a:t>
            </a: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3" name="Google Shape;543;p24"/>
          <p:cNvGrpSpPr/>
          <p:nvPr/>
        </p:nvGrpSpPr>
        <p:grpSpPr>
          <a:xfrm>
            <a:off x="576425" y="1230624"/>
            <a:ext cx="300600" cy="3417817"/>
            <a:chOff x="576425" y="1230624"/>
            <a:chExt cx="300600" cy="3417817"/>
          </a:xfrm>
        </p:grpSpPr>
        <p:sp>
          <p:nvSpPr>
            <p:cNvPr id="544" name="Google Shape;544;p24"/>
            <p:cNvSpPr/>
            <p:nvPr/>
          </p:nvSpPr>
          <p:spPr>
            <a:xfrm>
              <a:off x="576425" y="17481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576425" y="2744923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576425" y="383659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576425" y="3291026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576425" y="4347841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576425" y="2265487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50" name="Google Shape;550;p24"/>
            <p:cNvCxnSpPr>
              <a:stCxn id="544" idx="4"/>
              <a:endCxn id="549" idx="0"/>
            </p:cNvCxnSpPr>
            <p:nvPr/>
          </p:nvCxnSpPr>
          <p:spPr>
            <a:xfrm>
              <a:off x="726725" y="20487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1" name="Google Shape;551;p24"/>
            <p:cNvCxnSpPr>
              <a:stCxn id="549" idx="4"/>
              <a:endCxn id="545" idx="0"/>
            </p:cNvCxnSpPr>
            <p:nvPr/>
          </p:nvCxnSpPr>
          <p:spPr>
            <a:xfrm>
              <a:off x="726725" y="2566087"/>
              <a:ext cx="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2" name="Google Shape;552;p24"/>
            <p:cNvCxnSpPr>
              <a:stCxn id="545" idx="4"/>
              <a:endCxn id="547" idx="0"/>
            </p:cNvCxnSpPr>
            <p:nvPr/>
          </p:nvCxnSpPr>
          <p:spPr>
            <a:xfrm>
              <a:off x="726725" y="3045523"/>
              <a:ext cx="0" cy="24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3" name="Google Shape;553;p24"/>
            <p:cNvCxnSpPr>
              <a:stCxn id="547" idx="4"/>
              <a:endCxn id="546" idx="0"/>
            </p:cNvCxnSpPr>
            <p:nvPr/>
          </p:nvCxnSpPr>
          <p:spPr>
            <a:xfrm>
              <a:off x="726725" y="3591626"/>
              <a:ext cx="0" cy="24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4" name="Google Shape;554;p24"/>
            <p:cNvCxnSpPr>
              <a:stCxn id="546" idx="4"/>
              <a:endCxn id="548" idx="0"/>
            </p:cNvCxnSpPr>
            <p:nvPr/>
          </p:nvCxnSpPr>
          <p:spPr>
            <a:xfrm>
              <a:off x="726725" y="4137194"/>
              <a:ext cx="0" cy="21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55" name="Google Shape;555;p24"/>
            <p:cNvSpPr/>
            <p:nvPr/>
          </p:nvSpPr>
          <p:spPr>
            <a:xfrm>
              <a:off x="576425" y="12306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56" name="Google Shape;556;p24"/>
            <p:cNvCxnSpPr>
              <a:stCxn id="555" idx="4"/>
            </p:cNvCxnSpPr>
            <p:nvPr/>
          </p:nvCxnSpPr>
          <p:spPr>
            <a:xfrm>
              <a:off x="726725" y="15312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57" name="Google Shape;557;p24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559" name="Google Shape;559;p24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560" name="Google Shape;560;p24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561" name="Google Shape;561;p24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562" name="Google Shape;562;p24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564" name="Google Shape;564;p24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565" name="Google Shape;565;p24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4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4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4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4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4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571" name="Google Shape;571;p24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572" name="Google Shape;572;p24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4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3" name="Google Shape;583;p24"/>
          <p:cNvCxnSpPr>
            <a:stCxn id="557" idx="2"/>
            <a:endCxn id="572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24"/>
          <p:cNvCxnSpPr>
            <a:stCxn id="557" idx="4"/>
            <a:endCxn id="574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24"/>
          <p:cNvCxnSpPr>
            <a:stCxn id="573" idx="2"/>
            <a:endCxn id="574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p24"/>
          <p:cNvCxnSpPr>
            <a:stCxn id="557" idx="3"/>
            <a:endCxn id="575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7" name="Google Shape;587;p24"/>
          <p:cNvCxnSpPr>
            <a:stCxn id="574" idx="4"/>
            <a:endCxn id="576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24"/>
          <p:cNvCxnSpPr>
            <a:stCxn id="576" idx="4"/>
            <a:endCxn id="579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24"/>
          <p:cNvCxnSpPr>
            <a:stCxn id="575" idx="4"/>
            <a:endCxn id="577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24"/>
          <p:cNvCxnSpPr>
            <a:stCxn id="579" idx="2"/>
            <a:endCxn id="577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24"/>
          <p:cNvCxnSpPr>
            <a:stCxn id="579" idx="4"/>
            <a:endCxn id="582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24"/>
          <p:cNvCxnSpPr>
            <a:stCxn id="572" idx="3"/>
            <a:endCxn id="581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24"/>
          <p:cNvCxnSpPr>
            <a:stCxn id="576" idx="6"/>
            <a:endCxn id="582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4" name="Google Shape;594;p24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4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8" name="Google Shape;598;p24"/>
          <p:cNvCxnSpPr>
            <a:stCxn id="582" idx="4"/>
            <a:endCxn id="597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24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0" name="Google Shape;600;p24"/>
          <p:cNvCxnSpPr>
            <a:stCxn id="581" idx="4"/>
            <a:endCxn id="599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24"/>
          <p:cNvCxnSpPr>
            <a:stCxn id="576" idx="6"/>
            <a:endCxn id="596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24"/>
          <p:cNvCxnSpPr>
            <a:stCxn id="577" idx="2"/>
            <a:endCxn id="595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24"/>
          <p:cNvCxnSpPr>
            <a:stCxn id="595" idx="4"/>
            <a:endCxn id="578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24"/>
          <p:cNvCxnSpPr>
            <a:stCxn id="596" idx="4"/>
            <a:endCxn id="580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24"/>
          <p:cNvCxnSpPr>
            <a:stCxn id="582" idx="2"/>
            <a:endCxn id="596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24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607" name="Google Shape;607;p24"/>
          <p:cNvGraphicFramePr/>
          <p:nvPr/>
        </p:nvGraphicFramePr>
        <p:xfrm>
          <a:off x="3241888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{0927EB6A-CB1C-4CAB-8168-833079023F61}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3.5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80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08" name="Google Shape;608;p24"/>
          <p:cNvGrpSpPr/>
          <p:nvPr/>
        </p:nvGrpSpPr>
        <p:grpSpPr>
          <a:xfrm>
            <a:off x="4299453" y="612425"/>
            <a:ext cx="3610886" cy="688620"/>
            <a:chOff x="4239615" y="0"/>
            <a:chExt cx="3610886" cy="688620"/>
          </a:xfrm>
        </p:grpSpPr>
        <p:grpSp>
          <p:nvGrpSpPr>
            <p:cNvPr id="609" name="Google Shape;609;p24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610" name="Google Shape;610;p24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4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4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4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4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16" name="Google Shape;616;p24"/>
              <p:cNvCxnSpPr>
                <a:stCxn id="610" idx="4"/>
                <a:endCxn id="615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17" name="Google Shape;617;p24"/>
              <p:cNvCxnSpPr>
                <a:stCxn id="615" idx="4"/>
                <a:endCxn id="611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18" name="Google Shape;618;p24"/>
              <p:cNvCxnSpPr>
                <a:stCxn id="611" idx="4"/>
                <a:endCxn id="613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19" name="Google Shape;619;p24"/>
              <p:cNvCxnSpPr>
                <a:stCxn id="613" idx="4"/>
                <a:endCxn id="612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0" name="Google Shape;620;p24"/>
              <p:cNvCxnSpPr>
                <a:stCxn id="612" idx="4"/>
                <a:endCxn id="614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21" name="Google Shape;621;p24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22" name="Google Shape;622;p24"/>
              <p:cNvCxnSpPr>
                <a:stCxn id="621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23" name="Google Shape;623;p24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M1</a:t>
              </a:r>
              <a:endParaRPr/>
            </a:p>
          </p:txBody>
        </p:sp>
        <p:sp>
          <p:nvSpPr>
            <p:cNvPr id="624" name="Google Shape;624;p24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M2</a:t>
              </a:r>
              <a:endParaRPr/>
            </a:p>
          </p:txBody>
        </p:sp>
        <p:sp>
          <p:nvSpPr>
            <p:cNvPr id="625" name="Google Shape;625;p24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Q3</a:t>
              </a:r>
              <a:endParaRPr/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M4</a:t>
              </a:r>
              <a:endParaRPr/>
            </a:p>
          </p:txBody>
        </p:sp>
        <p:sp>
          <p:nvSpPr>
            <p:cNvPr id="627" name="Google Shape;627;p24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M5</a:t>
              </a:r>
              <a:endParaRPr/>
            </a:p>
          </p:txBody>
        </p:sp>
        <p:sp>
          <p:nvSpPr>
            <p:cNvPr id="628" name="Google Shape;628;p24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M6</a:t>
              </a:r>
              <a:endParaRPr/>
            </a:p>
          </p:txBody>
        </p:sp>
        <p:sp>
          <p:nvSpPr>
            <p:cNvPr id="629" name="Google Shape;629;p24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Q7</a:t>
              </a:r>
              <a:endParaRPr/>
            </a:p>
          </p:txBody>
        </p:sp>
      </p:grpSp>
      <p:sp>
        <p:nvSpPr>
          <p:cNvPr id="630" name="Google Shape;630;p24"/>
          <p:cNvSpPr/>
          <p:nvPr/>
        </p:nvSpPr>
        <p:spPr>
          <a:xfrm>
            <a:off x="3957650" y="4591340"/>
            <a:ext cx="5010300" cy="280200"/>
          </a:xfrm>
          <a:prstGeom prst="roundRect">
            <a:avLst>
              <a:gd fmla="val 10709" name="adj"/>
            </a:avLst>
          </a:prstGeom>
          <a:noFill/>
          <a:ln cap="flat" cmpd="sng" w="7620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4"/>
          <p:cNvSpPr txBox="1"/>
          <p:nvPr/>
        </p:nvSpPr>
        <p:spPr>
          <a:xfrm>
            <a:off x="6902700" y="52975"/>
            <a:ext cx="22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800" u="sng">
                <a:highlight>
                  <a:srgbClr val="FFE599"/>
                </a:highlight>
              </a:rPr>
              <a:t>Tabular Data</a:t>
            </a:r>
            <a:endParaRPr b="1" i="1" sz="1800" u="sng"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Similarity between tabular-data-format and AISPC</a:t>
            </a:r>
            <a:endParaRPr/>
          </a:p>
        </p:txBody>
      </p:sp>
      <p:grpSp>
        <p:nvGrpSpPr>
          <p:cNvPr id="637" name="Google Shape;637;p25"/>
          <p:cNvGrpSpPr/>
          <p:nvPr/>
        </p:nvGrpSpPr>
        <p:grpSpPr>
          <a:xfrm>
            <a:off x="278200" y="975350"/>
            <a:ext cx="3142050" cy="1195500"/>
            <a:chOff x="278200" y="975350"/>
            <a:chExt cx="3142050" cy="1195500"/>
          </a:xfrm>
        </p:grpSpPr>
        <p:cxnSp>
          <p:nvCxnSpPr>
            <p:cNvPr id="638" name="Google Shape;638;p25"/>
            <p:cNvCxnSpPr/>
            <p:nvPr/>
          </p:nvCxnSpPr>
          <p:spPr>
            <a:xfrm rot="10800000">
              <a:off x="1075200" y="132365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9" name="Google Shape;639;p25"/>
            <p:cNvCxnSpPr/>
            <p:nvPr/>
          </p:nvCxnSpPr>
          <p:spPr>
            <a:xfrm>
              <a:off x="1067650" y="217085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40" name="Google Shape;640;p25"/>
            <p:cNvSpPr/>
            <p:nvPr/>
          </p:nvSpPr>
          <p:spPr>
            <a:xfrm>
              <a:off x="1203800" y="1352805"/>
              <a:ext cx="2072525" cy="759900"/>
            </a:xfrm>
            <a:custGeom>
              <a:rect b="b" l="l" r="r" t="t"/>
              <a:pathLst>
                <a:path extrusionOk="0" h="30396" w="82901">
                  <a:moveTo>
                    <a:pt x="0" y="25764"/>
                  </a:moveTo>
                  <a:cubicBezTo>
                    <a:pt x="807" y="26067"/>
                    <a:pt x="3278" y="27529"/>
                    <a:pt x="4841" y="27579"/>
                  </a:cubicBezTo>
                  <a:cubicBezTo>
                    <a:pt x="6404" y="27629"/>
                    <a:pt x="7765" y="25915"/>
                    <a:pt x="9379" y="26066"/>
                  </a:cubicBezTo>
                  <a:cubicBezTo>
                    <a:pt x="10993" y="26217"/>
                    <a:pt x="12809" y="28588"/>
                    <a:pt x="14523" y="28487"/>
                  </a:cubicBezTo>
                  <a:cubicBezTo>
                    <a:pt x="16238" y="28386"/>
                    <a:pt x="17851" y="25713"/>
                    <a:pt x="19666" y="25461"/>
                  </a:cubicBezTo>
                  <a:cubicBezTo>
                    <a:pt x="21481" y="25209"/>
                    <a:pt x="23701" y="26419"/>
                    <a:pt x="25415" y="26974"/>
                  </a:cubicBezTo>
                  <a:cubicBezTo>
                    <a:pt x="27130" y="27529"/>
                    <a:pt x="27835" y="28739"/>
                    <a:pt x="29953" y="28789"/>
                  </a:cubicBezTo>
                  <a:cubicBezTo>
                    <a:pt x="32071" y="28839"/>
                    <a:pt x="35197" y="27276"/>
                    <a:pt x="38122" y="27276"/>
                  </a:cubicBezTo>
                  <a:cubicBezTo>
                    <a:pt x="41047" y="27276"/>
                    <a:pt x="45181" y="33025"/>
                    <a:pt x="47501" y="28789"/>
                  </a:cubicBezTo>
                  <a:cubicBezTo>
                    <a:pt x="49821" y="24553"/>
                    <a:pt x="49519" y="6248"/>
                    <a:pt x="52040" y="1861"/>
                  </a:cubicBezTo>
                  <a:cubicBezTo>
                    <a:pt x="54561" y="-2526"/>
                    <a:pt x="60410" y="2669"/>
                    <a:pt x="62629" y="2467"/>
                  </a:cubicBezTo>
                  <a:cubicBezTo>
                    <a:pt x="64848" y="2265"/>
                    <a:pt x="63789" y="651"/>
                    <a:pt x="65352" y="651"/>
                  </a:cubicBezTo>
                  <a:cubicBezTo>
                    <a:pt x="66915" y="651"/>
                    <a:pt x="70143" y="2467"/>
                    <a:pt x="72009" y="2467"/>
                  </a:cubicBezTo>
                  <a:cubicBezTo>
                    <a:pt x="73875" y="2467"/>
                    <a:pt x="74732" y="651"/>
                    <a:pt x="76547" y="651"/>
                  </a:cubicBezTo>
                  <a:cubicBezTo>
                    <a:pt x="78362" y="651"/>
                    <a:pt x="81842" y="2164"/>
                    <a:pt x="82901" y="246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1" name="Google Shape;641;p25"/>
            <p:cNvSpPr/>
            <p:nvPr/>
          </p:nvSpPr>
          <p:spPr>
            <a:xfrm>
              <a:off x="1573875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1487025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2088225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5"/>
            <p:cNvSpPr txBox="1"/>
            <p:nvPr/>
          </p:nvSpPr>
          <p:spPr>
            <a:xfrm>
              <a:off x="2001375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2876550" y="13268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5"/>
            <p:cNvSpPr txBox="1"/>
            <p:nvPr/>
          </p:nvSpPr>
          <p:spPr>
            <a:xfrm>
              <a:off x="2789700" y="9753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47" name="Google Shape;647;p25"/>
            <p:cNvSpPr txBox="1"/>
            <p:nvPr/>
          </p:nvSpPr>
          <p:spPr>
            <a:xfrm>
              <a:off x="278200" y="158495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1</a:t>
              </a:r>
              <a:endParaRPr baseline="-25000" sz="2000"/>
            </a:p>
          </p:txBody>
        </p:sp>
        <p:sp>
          <p:nvSpPr>
            <p:cNvPr id="648" name="Google Shape;648;p25"/>
            <p:cNvSpPr txBox="1"/>
            <p:nvPr/>
          </p:nvSpPr>
          <p:spPr>
            <a:xfrm>
              <a:off x="549550" y="119105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#req</a:t>
              </a:r>
              <a:endParaRPr/>
            </a:p>
          </p:txBody>
        </p:sp>
      </p:grpSp>
      <p:grpSp>
        <p:nvGrpSpPr>
          <p:cNvPr id="649" name="Google Shape;649;p25"/>
          <p:cNvGrpSpPr/>
          <p:nvPr/>
        </p:nvGrpSpPr>
        <p:grpSpPr>
          <a:xfrm>
            <a:off x="278200" y="2481125"/>
            <a:ext cx="3142050" cy="1119300"/>
            <a:chOff x="278200" y="2481125"/>
            <a:chExt cx="3142050" cy="1119300"/>
          </a:xfrm>
        </p:grpSpPr>
        <p:cxnSp>
          <p:nvCxnSpPr>
            <p:cNvPr id="650" name="Google Shape;650;p25"/>
            <p:cNvCxnSpPr/>
            <p:nvPr/>
          </p:nvCxnSpPr>
          <p:spPr>
            <a:xfrm rot="10800000">
              <a:off x="1075200" y="2753225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1" name="Google Shape;651;p25"/>
            <p:cNvCxnSpPr/>
            <p:nvPr/>
          </p:nvCxnSpPr>
          <p:spPr>
            <a:xfrm>
              <a:off x="1067650" y="3600425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52" name="Google Shape;652;p25"/>
            <p:cNvSpPr/>
            <p:nvPr/>
          </p:nvSpPr>
          <p:spPr>
            <a:xfrm>
              <a:off x="1203800" y="2904511"/>
              <a:ext cx="2045900" cy="634375"/>
            </a:xfrm>
            <a:custGeom>
              <a:rect b="b" l="l" r="r" t="t"/>
              <a:pathLst>
                <a:path extrusionOk="0" h="25375" w="81836">
                  <a:moveTo>
                    <a:pt x="0" y="20879"/>
                  </a:moveTo>
                  <a:cubicBezTo>
                    <a:pt x="807" y="21182"/>
                    <a:pt x="3278" y="22644"/>
                    <a:pt x="4841" y="22694"/>
                  </a:cubicBezTo>
                  <a:cubicBezTo>
                    <a:pt x="6404" y="22744"/>
                    <a:pt x="7765" y="21030"/>
                    <a:pt x="9379" y="21181"/>
                  </a:cubicBezTo>
                  <a:cubicBezTo>
                    <a:pt x="10993" y="21332"/>
                    <a:pt x="13036" y="27132"/>
                    <a:pt x="14523" y="23602"/>
                  </a:cubicBezTo>
                  <a:cubicBezTo>
                    <a:pt x="16010" y="20072"/>
                    <a:pt x="16484" y="255"/>
                    <a:pt x="18299" y="3"/>
                  </a:cubicBezTo>
                  <a:cubicBezTo>
                    <a:pt x="20114" y="-249"/>
                    <a:pt x="23473" y="18106"/>
                    <a:pt x="25415" y="22089"/>
                  </a:cubicBezTo>
                  <a:cubicBezTo>
                    <a:pt x="27357" y="26073"/>
                    <a:pt x="28063" y="26123"/>
                    <a:pt x="29953" y="23904"/>
                  </a:cubicBezTo>
                  <a:cubicBezTo>
                    <a:pt x="31843" y="21685"/>
                    <a:pt x="33830" y="8777"/>
                    <a:pt x="36755" y="8777"/>
                  </a:cubicBezTo>
                  <a:cubicBezTo>
                    <a:pt x="39680" y="8777"/>
                    <a:pt x="44828" y="21887"/>
                    <a:pt x="47501" y="23904"/>
                  </a:cubicBezTo>
                  <a:cubicBezTo>
                    <a:pt x="50174" y="25921"/>
                    <a:pt x="50800" y="21232"/>
                    <a:pt x="52791" y="20879"/>
                  </a:cubicBezTo>
                  <a:cubicBezTo>
                    <a:pt x="54782" y="20526"/>
                    <a:pt x="57481" y="21686"/>
                    <a:pt x="59447" y="21787"/>
                  </a:cubicBezTo>
                  <a:cubicBezTo>
                    <a:pt x="61414" y="21888"/>
                    <a:pt x="62775" y="21585"/>
                    <a:pt x="64590" y="21484"/>
                  </a:cubicBezTo>
                  <a:cubicBezTo>
                    <a:pt x="66405" y="21383"/>
                    <a:pt x="68524" y="21232"/>
                    <a:pt x="70339" y="21182"/>
                  </a:cubicBezTo>
                  <a:cubicBezTo>
                    <a:pt x="72155" y="21132"/>
                    <a:pt x="73567" y="21182"/>
                    <a:pt x="75483" y="21182"/>
                  </a:cubicBezTo>
                  <a:cubicBezTo>
                    <a:pt x="77399" y="21182"/>
                    <a:pt x="80777" y="21182"/>
                    <a:pt x="81836" y="2118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3" name="Google Shape;653;p25"/>
            <p:cNvSpPr/>
            <p:nvPr/>
          </p:nvSpPr>
          <p:spPr>
            <a:xfrm>
              <a:off x="1573875" y="28325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5"/>
            <p:cNvSpPr txBox="1"/>
            <p:nvPr/>
          </p:nvSpPr>
          <p:spPr>
            <a:xfrm>
              <a:off x="1487025" y="24811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2088225" y="3053611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5"/>
            <p:cNvSpPr txBox="1"/>
            <p:nvPr/>
          </p:nvSpPr>
          <p:spPr>
            <a:xfrm>
              <a:off x="2001375" y="2702161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2876550" y="33659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5"/>
            <p:cNvSpPr txBox="1"/>
            <p:nvPr/>
          </p:nvSpPr>
          <p:spPr>
            <a:xfrm>
              <a:off x="2789700" y="30145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59" name="Google Shape;659;p25"/>
            <p:cNvSpPr txBox="1"/>
            <p:nvPr/>
          </p:nvSpPr>
          <p:spPr>
            <a:xfrm>
              <a:off x="278200" y="3014525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2</a:t>
              </a:r>
              <a:endParaRPr baseline="-25000" sz="2000"/>
            </a:p>
          </p:txBody>
        </p:sp>
        <p:sp>
          <p:nvSpPr>
            <p:cNvPr id="660" name="Google Shape;660;p25"/>
            <p:cNvSpPr txBox="1"/>
            <p:nvPr/>
          </p:nvSpPr>
          <p:spPr>
            <a:xfrm>
              <a:off x="549550" y="2620625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#err</a:t>
              </a:r>
              <a:endParaRPr/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278200" y="3834500"/>
            <a:ext cx="3142050" cy="1195500"/>
            <a:chOff x="278200" y="3834500"/>
            <a:chExt cx="3142050" cy="1195500"/>
          </a:xfrm>
        </p:grpSpPr>
        <p:cxnSp>
          <p:nvCxnSpPr>
            <p:cNvPr id="662" name="Google Shape;662;p25"/>
            <p:cNvCxnSpPr/>
            <p:nvPr/>
          </p:nvCxnSpPr>
          <p:spPr>
            <a:xfrm rot="10800000">
              <a:off x="1075200" y="418280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3" name="Google Shape;663;p25"/>
            <p:cNvCxnSpPr/>
            <p:nvPr/>
          </p:nvCxnSpPr>
          <p:spPr>
            <a:xfrm>
              <a:off x="1067650" y="503000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4" name="Google Shape;664;p25"/>
            <p:cNvSpPr/>
            <p:nvPr/>
          </p:nvSpPr>
          <p:spPr>
            <a:xfrm>
              <a:off x="1203800" y="4214333"/>
              <a:ext cx="2072525" cy="759725"/>
            </a:xfrm>
            <a:custGeom>
              <a:rect b="b" l="l" r="r" t="t"/>
              <a:pathLst>
                <a:path extrusionOk="0" h="30389" w="82901">
                  <a:moveTo>
                    <a:pt x="0" y="25669"/>
                  </a:moveTo>
                  <a:cubicBezTo>
                    <a:pt x="807" y="25972"/>
                    <a:pt x="3278" y="27434"/>
                    <a:pt x="4841" y="27484"/>
                  </a:cubicBezTo>
                  <a:cubicBezTo>
                    <a:pt x="6404" y="27534"/>
                    <a:pt x="7765" y="25820"/>
                    <a:pt x="9379" y="25971"/>
                  </a:cubicBezTo>
                  <a:cubicBezTo>
                    <a:pt x="10993" y="26122"/>
                    <a:pt x="13289" y="32426"/>
                    <a:pt x="14523" y="28392"/>
                  </a:cubicBezTo>
                  <a:cubicBezTo>
                    <a:pt x="15758" y="24358"/>
                    <a:pt x="14971" y="2020"/>
                    <a:pt x="16786" y="1768"/>
                  </a:cubicBezTo>
                  <a:cubicBezTo>
                    <a:pt x="18601" y="1516"/>
                    <a:pt x="23221" y="22391"/>
                    <a:pt x="25415" y="26879"/>
                  </a:cubicBezTo>
                  <a:cubicBezTo>
                    <a:pt x="27610" y="31367"/>
                    <a:pt x="27962" y="31064"/>
                    <a:pt x="29953" y="28694"/>
                  </a:cubicBezTo>
                  <a:cubicBezTo>
                    <a:pt x="31944" y="26324"/>
                    <a:pt x="34435" y="12660"/>
                    <a:pt x="37360" y="12660"/>
                  </a:cubicBezTo>
                  <a:cubicBezTo>
                    <a:pt x="40285" y="12660"/>
                    <a:pt x="45054" y="30510"/>
                    <a:pt x="47501" y="28694"/>
                  </a:cubicBezTo>
                  <a:cubicBezTo>
                    <a:pt x="49948" y="26878"/>
                    <a:pt x="49519" y="6153"/>
                    <a:pt x="52040" y="1766"/>
                  </a:cubicBezTo>
                  <a:cubicBezTo>
                    <a:pt x="54561" y="-2621"/>
                    <a:pt x="60410" y="2574"/>
                    <a:pt x="62629" y="2372"/>
                  </a:cubicBezTo>
                  <a:cubicBezTo>
                    <a:pt x="64848" y="2170"/>
                    <a:pt x="63789" y="556"/>
                    <a:pt x="65352" y="556"/>
                  </a:cubicBezTo>
                  <a:cubicBezTo>
                    <a:pt x="66915" y="556"/>
                    <a:pt x="70143" y="2372"/>
                    <a:pt x="72009" y="2372"/>
                  </a:cubicBezTo>
                  <a:cubicBezTo>
                    <a:pt x="73875" y="2372"/>
                    <a:pt x="74732" y="556"/>
                    <a:pt x="76547" y="556"/>
                  </a:cubicBezTo>
                  <a:cubicBezTo>
                    <a:pt x="78362" y="556"/>
                    <a:pt x="81842" y="2069"/>
                    <a:pt x="82901" y="237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5" name="Google Shape;665;p25"/>
            <p:cNvSpPr/>
            <p:nvPr/>
          </p:nvSpPr>
          <p:spPr>
            <a:xfrm>
              <a:off x="1573875" y="4231334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5"/>
            <p:cNvSpPr txBox="1"/>
            <p:nvPr/>
          </p:nvSpPr>
          <p:spPr>
            <a:xfrm>
              <a:off x="1487025" y="3879884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67" name="Google Shape;667;p25"/>
            <p:cNvSpPr/>
            <p:nvPr/>
          </p:nvSpPr>
          <p:spPr>
            <a:xfrm>
              <a:off x="2088225" y="4483186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5"/>
            <p:cNvSpPr txBox="1"/>
            <p:nvPr/>
          </p:nvSpPr>
          <p:spPr>
            <a:xfrm>
              <a:off x="2001375" y="4131736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69" name="Google Shape;669;p25"/>
            <p:cNvSpPr/>
            <p:nvPr/>
          </p:nvSpPr>
          <p:spPr>
            <a:xfrm>
              <a:off x="2876550" y="418595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5"/>
            <p:cNvSpPr txBox="1"/>
            <p:nvPr/>
          </p:nvSpPr>
          <p:spPr>
            <a:xfrm>
              <a:off x="2789700" y="383450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71" name="Google Shape;671;p25"/>
            <p:cNvSpPr txBox="1"/>
            <p:nvPr/>
          </p:nvSpPr>
          <p:spPr>
            <a:xfrm>
              <a:off x="278200" y="444410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T</a:t>
              </a:r>
              <a:endParaRPr baseline="-25000" sz="2000"/>
            </a:p>
          </p:txBody>
        </p:sp>
        <p:sp>
          <p:nvSpPr>
            <p:cNvPr id="672" name="Google Shape;672;p25"/>
            <p:cNvSpPr txBox="1"/>
            <p:nvPr/>
          </p:nvSpPr>
          <p:spPr>
            <a:xfrm>
              <a:off x="549550" y="405020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cpu</a:t>
              </a:r>
              <a:endParaRPr/>
            </a:p>
          </p:txBody>
        </p:sp>
      </p:grpSp>
      <p:grpSp>
        <p:nvGrpSpPr>
          <p:cNvPr id="673" name="Google Shape;673;p25"/>
          <p:cNvGrpSpPr/>
          <p:nvPr/>
        </p:nvGrpSpPr>
        <p:grpSpPr>
          <a:xfrm>
            <a:off x="5646675" y="975350"/>
            <a:ext cx="3142050" cy="1195500"/>
            <a:chOff x="5646675" y="975350"/>
            <a:chExt cx="3142050" cy="1195500"/>
          </a:xfrm>
        </p:grpSpPr>
        <p:cxnSp>
          <p:nvCxnSpPr>
            <p:cNvPr id="674" name="Google Shape;674;p25"/>
            <p:cNvCxnSpPr/>
            <p:nvPr/>
          </p:nvCxnSpPr>
          <p:spPr>
            <a:xfrm rot="10800000">
              <a:off x="6443675" y="132365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75" name="Google Shape;675;p25"/>
            <p:cNvCxnSpPr/>
            <p:nvPr/>
          </p:nvCxnSpPr>
          <p:spPr>
            <a:xfrm>
              <a:off x="6436125" y="217085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76" name="Google Shape;676;p25"/>
            <p:cNvSpPr/>
            <p:nvPr/>
          </p:nvSpPr>
          <p:spPr>
            <a:xfrm>
              <a:off x="6942350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5"/>
            <p:cNvSpPr txBox="1"/>
            <p:nvPr/>
          </p:nvSpPr>
          <p:spPr>
            <a:xfrm>
              <a:off x="6855500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78" name="Google Shape;678;p25"/>
            <p:cNvSpPr/>
            <p:nvPr/>
          </p:nvSpPr>
          <p:spPr>
            <a:xfrm>
              <a:off x="8245025" y="13268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5"/>
            <p:cNvSpPr txBox="1"/>
            <p:nvPr/>
          </p:nvSpPr>
          <p:spPr>
            <a:xfrm>
              <a:off x="8158175" y="9753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80" name="Google Shape;680;p25"/>
            <p:cNvSpPr txBox="1"/>
            <p:nvPr/>
          </p:nvSpPr>
          <p:spPr>
            <a:xfrm>
              <a:off x="5646675" y="158495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1</a:t>
              </a:r>
              <a:endParaRPr baseline="-25000" sz="2000"/>
            </a:p>
          </p:txBody>
        </p:sp>
        <p:sp>
          <p:nvSpPr>
            <p:cNvPr id="681" name="Google Shape;681;p25"/>
            <p:cNvSpPr txBox="1"/>
            <p:nvPr/>
          </p:nvSpPr>
          <p:spPr>
            <a:xfrm>
              <a:off x="5918025" y="119105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#req</a:t>
              </a:r>
              <a:endParaRPr/>
            </a:p>
          </p:txBody>
        </p:sp>
      </p:grpSp>
      <p:grpSp>
        <p:nvGrpSpPr>
          <p:cNvPr id="682" name="Google Shape;682;p25"/>
          <p:cNvGrpSpPr/>
          <p:nvPr/>
        </p:nvGrpSpPr>
        <p:grpSpPr>
          <a:xfrm>
            <a:off x="5646675" y="2481125"/>
            <a:ext cx="3142050" cy="1119300"/>
            <a:chOff x="5646675" y="2481125"/>
            <a:chExt cx="3142050" cy="1119300"/>
          </a:xfrm>
        </p:grpSpPr>
        <p:cxnSp>
          <p:nvCxnSpPr>
            <p:cNvPr id="683" name="Google Shape;683;p25"/>
            <p:cNvCxnSpPr/>
            <p:nvPr/>
          </p:nvCxnSpPr>
          <p:spPr>
            <a:xfrm rot="10800000">
              <a:off x="6443675" y="2753225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4" name="Google Shape;684;p25"/>
            <p:cNvCxnSpPr/>
            <p:nvPr/>
          </p:nvCxnSpPr>
          <p:spPr>
            <a:xfrm>
              <a:off x="6436125" y="3600425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5" name="Google Shape;685;p25"/>
            <p:cNvSpPr/>
            <p:nvPr/>
          </p:nvSpPr>
          <p:spPr>
            <a:xfrm>
              <a:off x="6942350" y="28325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5"/>
            <p:cNvSpPr txBox="1"/>
            <p:nvPr/>
          </p:nvSpPr>
          <p:spPr>
            <a:xfrm>
              <a:off x="6855500" y="24811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8245025" y="33659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5"/>
            <p:cNvSpPr txBox="1"/>
            <p:nvPr/>
          </p:nvSpPr>
          <p:spPr>
            <a:xfrm>
              <a:off x="8158175" y="30145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89" name="Google Shape;689;p25"/>
            <p:cNvSpPr txBox="1"/>
            <p:nvPr/>
          </p:nvSpPr>
          <p:spPr>
            <a:xfrm>
              <a:off x="5646675" y="3014525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2</a:t>
              </a:r>
              <a:endParaRPr baseline="-25000" sz="2000"/>
            </a:p>
          </p:txBody>
        </p:sp>
        <p:sp>
          <p:nvSpPr>
            <p:cNvPr id="690" name="Google Shape;690;p25"/>
            <p:cNvSpPr txBox="1"/>
            <p:nvPr/>
          </p:nvSpPr>
          <p:spPr>
            <a:xfrm>
              <a:off x="5918025" y="2620625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#err</a:t>
              </a:r>
              <a:endParaRPr/>
            </a:p>
          </p:txBody>
        </p:sp>
      </p:grpSp>
      <p:grpSp>
        <p:nvGrpSpPr>
          <p:cNvPr id="691" name="Google Shape;691;p25"/>
          <p:cNvGrpSpPr/>
          <p:nvPr/>
        </p:nvGrpSpPr>
        <p:grpSpPr>
          <a:xfrm>
            <a:off x="5646675" y="3834500"/>
            <a:ext cx="3142050" cy="1195500"/>
            <a:chOff x="5646675" y="3834500"/>
            <a:chExt cx="3142050" cy="1195500"/>
          </a:xfrm>
        </p:grpSpPr>
        <p:cxnSp>
          <p:nvCxnSpPr>
            <p:cNvPr id="692" name="Google Shape;692;p25"/>
            <p:cNvCxnSpPr/>
            <p:nvPr/>
          </p:nvCxnSpPr>
          <p:spPr>
            <a:xfrm rot="10800000">
              <a:off x="6443675" y="418280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93" name="Google Shape;693;p25"/>
            <p:cNvCxnSpPr/>
            <p:nvPr/>
          </p:nvCxnSpPr>
          <p:spPr>
            <a:xfrm>
              <a:off x="6436125" y="503000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4" name="Google Shape;694;p25"/>
            <p:cNvSpPr/>
            <p:nvPr/>
          </p:nvSpPr>
          <p:spPr>
            <a:xfrm>
              <a:off x="6942350" y="4231334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5"/>
            <p:cNvSpPr txBox="1"/>
            <p:nvPr/>
          </p:nvSpPr>
          <p:spPr>
            <a:xfrm>
              <a:off x="6855500" y="3879884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8245025" y="418595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5"/>
            <p:cNvSpPr txBox="1"/>
            <p:nvPr/>
          </p:nvSpPr>
          <p:spPr>
            <a:xfrm>
              <a:off x="8158175" y="383450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98" name="Google Shape;698;p25"/>
            <p:cNvSpPr txBox="1"/>
            <p:nvPr/>
          </p:nvSpPr>
          <p:spPr>
            <a:xfrm>
              <a:off x="5646675" y="444410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T</a:t>
              </a:r>
              <a:endParaRPr baseline="-25000" sz="2000"/>
            </a:p>
          </p:txBody>
        </p:sp>
        <p:sp>
          <p:nvSpPr>
            <p:cNvPr id="699" name="Google Shape;699;p25"/>
            <p:cNvSpPr txBox="1"/>
            <p:nvPr/>
          </p:nvSpPr>
          <p:spPr>
            <a:xfrm>
              <a:off x="5918025" y="405020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cpu</a:t>
              </a:r>
              <a:endParaRPr/>
            </a:p>
          </p:txBody>
        </p:sp>
      </p:grpSp>
      <p:grpSp>
        <p:nvGrpSpPr>
          <p:cNvPr id="700" name="Google Shape;700;p25"/>
          <p:cNvGrpSpPr/>
          <p:nvPr/>
        </p:nvGrpSpPr>
        <p:grpSpPr>
          <a:xfrm>
            <a:off x="3831625" y="2119188"/>
            <a:ext cx="1364300" cy="1329900"/>
            <a:chOff x="4073650" y="1574588"/>
            <a:chExt cx="1364300" cy="1329900"/>
          </a:xfrm>
        </p:grpSpPr>
        <p:sp>
          <p:nvSpPr>
            <p:cNvPr id="701" name="Google Shape;701;p25"/>
            <p:cNvSpPr/>
            <p:nvPr/>
          </p:nvSpPr>
          <p:spPr>
            <a:xfrm>
              <a:off x="4073650" y="157458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1</a:t>
              </a: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4073650" y="239118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2</a:t>
              </a: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4924650" y="198513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T</a:t>
              </a:r>
              <a:endParaRPr/>
            </a:p>
          </p:txBody>
        </p:sp>
        <p:cxnSp>
          <p:nvCxnSpPr>
            <p:cNvPr id="704" name="Google Shape;704;p25"/>
            <p:cNvCxnSpPr>
              <a:stCxn id="701" idx="6"/>
              <a:endCxn id="703" idx="1"/>
            </p:cNvCxnSpPr>
            <p:nvPr/>
          </p:nvCxnSpPr>
          <p:spPr>
            <a:xfrm>
              <a:off x="4586950" y="1831238"/>
              <a:ext cx="412800" cy="22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5" name="Google Shape;705;p25"/>
            <p:cNvCxnSpPr>
              <a:stCxn id="702" idx="6"/>
              <a:endCxn id="703" idx="3"/>
            </p:cNvCxnSpPr>
            <p:nvPr/>
          </p:nvCxnSpPr>
          <p:spPr>
            <a:xfrm flipH="1" rot="10800000">
              <a:off x="4586950" y="2423138"/>
              <a:ext cx="4128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06" name="Google Shape;706;p25"/>
          <p:cNvSpPr txBox="1"/>
          <p:nvPr/>
        </p:nvSpPr>
        <p:spPr>
          <a:xfrm>
            <a:off x="3630700" y="4145050"/>
            <a:ext cx="195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highlight>
                  <a:srgbClr val="FFFF00"/>
                </a:highlight>
              </a:rPr>
              <a:t>The root cause of C should be different from A's root cause.</a:t>
            </a:r>
            <a:endParaRPr b="1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RCA vs. Causal Learning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Connections</a:t>
            </a:r>
            <a:endParaRPr/>
          </a:p>
        </p:txBody>
      </p:sp>
      <p:sp>
        <p:nvSpPr>
          <p:cNvPr id="717" name="Google Shape;71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(CIRCA) Causal Inference-Based Root Cause Analysis for </a:t>
            </a:r>
            <a:r>
              <a:rPr lang="zh-TW">
                <a:highlight>
                  <a:srgbClr val="FFFF00"/>
                </a:highlight>
              </a:rPr>
              <a:t>Online Service Systems</a:t>
            </a:r>
            <a:r>
              <a:rPr lang="zh-TW"/>
              <a:t> with Intervention Recognition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KDD 2022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(RCD) Root Cause Analysis of Failures in </a:t>
            </a:r>
            <a:r>
              <a:rPr lang="zh-TW">
                <a:highlight>
                  <a:srgbClr val="FFFF00"/>
                </a:highlight>
              </a:rPr>
              <a:t>Microservices</a:t>
            </a:r>
            <a:r>
              <a:rPr lang="zh-TW"/>
              <a:t> through Causal Discovery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NeruIPS 2022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E9E9E"/>
              </a:buClr>
              <a:buSzPts val="1800"/>
              <a:buChar char="●"/>
            </a:pPr>
            <a:r>
              <a:rPr lang="zh-TW">
                <a:solidFill>
                  <a:srgbClr val="9E9E9E"/>
                </a:solidFill>
              </a:rPr>
              <a:t>SCM ⟷ GNN</a:t>
            </a:r>
            <a:endParaRPr>
              <a:solidFill>
                <a:srgbClr val="9E9E9E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400"/>
              <a:buChar char="○"/>
            </a:pPr>
            <a:r>
              <a:rPr lang="zh-TW">
                <a:solidFill>
                  <a:srgbClr val="9E9E9E"/>
                </a:solidFill>
              </a:rPr>
              <a:t>Relating Graph Neural Networks to Structural Causal Models</a:t>
            </a:r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Encountered at TSMC</a:t>
            </a:r>
            <a:endParaRPr/>
          </a:p>
        </p:txBody>
      </p:sp>
      <p:sp>
        <p:nvSpPr>
          <p:cNvPr id="723" name="Google Shape;72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Categorical and numerical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Out-of-vocabulary in categorical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Enormous</a:t>
            </a:r>
            <a:r>
              <a:rPr lang="zh-TW"/>
              <a:t> amount of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Missing Data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 Two-Stage Solution</a:t>
            </a:r>
            <a:endParaRPr/>
          </a:p>
        </p:txBody>
      </p:sp>
      <p:sp>
        <p:nvSpPr>
          <p:cNvPr id="729" name="Google Shape;729;p29"/>
          <p:cNvSpPr txBox="1"/>
          <p:nvPr>
            <p:ph idx="1" type="body"/>
          </p:nvPr>
        </p:nvSpPr>
        <p:spPr>
          <a:xfrm>
            <a:off x="311700" y="1152475"/>
            <a:ext cx="85206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(Causal Discovery) When creating the causal graph, we can add some constraints on edges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Some edges shouldn’t exist (ex: next step → previous step)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Some edges should exist (ex: domain knowledge)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(Causal Inference) Use learned [causal graph/…] to perform root cause analysis (RCA)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Evaluation (TBD)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Open </a:t>
            </a:r>
            <a:r>
              <a:rPr lang="zh-TW"/>
              <a:t>manufacturing </a:t>
            </a:r>
            <a:r>
              <a:rPr lang="zh-TW"/>
              <a:t>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Open tabular dataset with self-added constraints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Synthetic dataset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