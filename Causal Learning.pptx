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6858000" cy="9144000"/>
  <p:embeddedFontLst>
    <p:embeddedFont>
      <p:font typeface="Montserrat SemiBold"/>
      <p:regular r:id="rId58"/>
      <p:bold r:id="rId59"/>
      <p:italic r:id="rId60"/>
      <p:boldItalic r:id="rId61"/>
    </p:embeddedFont>
    <p:embeddedFont>
      <p:font typeface="Montserrat"/>
      <p:regular r:id="rId62"/>
      <p:bold r:id="rId63"/>
      <p:italic r:id="rId64"/>
      <p:boldItalic r:id="rId65"/>
    </p:embeddedFont>
    <p:embeddedFont>
      <p:font typeface="Inter"/>
      <p:regular r:id="rId66"/>
      <p:bold r:id="rId67"/>
    </p:embeddedFont>
    <p:embeddedFont>
      <p:font typeface="Fira Sans Extra Condensed Medium"/>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FiraSansExtraCondensedMedium-boldItalic.fntdata"/><Relationship Id="rId70" Type="http://schemas.openxmlformats.org/officeDocument/2006/relationships/font" Target="fonts/FiraSansExtraCondensedMedium-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Montserrat-regular.fntdata"/><Relationship Id="rId61" Type="http://schemas.openxmlformats.org/officeDocument/2006/relationships/font" Target="fonts/MontserratSemiBold-boldItalic.fntdata"/><Relationship Id="rId20" Type="http://schemas.openxmlformats.org/officeDocument/2006/relationships/slide" Target="slides/slide16.xml"/><Relationship Id="rId64" Type="http://schemas.openxmlformats.org/officeDocument/2006/relationships/font" Target="fonts/Montserrat-italic.fntdata"/><Relationship Id="rId63" Type="http://schemas.openxmlformats.org/officeDocument/2006/relationships/font" Target="fonts/Montserrat-bold.fntdata"/><Relationship Id="rId22" Type="http://schemas.openxmlformats.org/officeDocument/2006/relationships/slide" Target="slides/slide18.xml"/><Relationship Id="rId66" Type="http://schemas.openxmlformats.org/officeDocument/2006/relationships/font" Target="fonts/Inter-regular.fntdata"/><Relationship Id="rId21" Type="http://schemas.openxmlformats.org/officeDocument/2006/relationships/slide" Target="slides/slide17.xml"/><Relationship Id="rId65" Type="http://schemas.openxmlformats.org/officeDocument/2006/relationships/font" Target="fonts/Montserrat-boldItalic.fntdata"/><Relationship Id="rId24" Type="http://schemas.openxmlformats.org/officeDocument/2006/relationships/slide" Target="slides/slide20.xml"/><Relationship Id="rId68" Type="http://schemas.openxmlformats.org/officeDocument/2006/relationships/font" Target="fonts/FiraSansExtraCondensedMedium-regular.fntdata"/><Relationship Id="rId23" Type="http://schemas.openxmlformats.org/officeDocument/2006/relationships/slide" Target="slides/slide19.xml"/><Relationship Id="rId67" Type="http://schemas.openxmlformats.org/officeDocument/2006/relationships/font" Target="fonts/Inter-bold.fntdata"/><Relationship Id="rId60" Type="http://schemas.openxmlformats.org/officeDocument/2006/relationships/font" Target="fonts/MontserratSemiBold-italic.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FiraSansExtraCondensedMedium-bold.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MontserratSemiBold-bold.fntdata"/><Relationship Id="rId14" Type="http://schemas.openxmlformats.org/officeDocument/2006/relationships/slide" Target="slides/slide10.xml"/><Relationship Id="rId58" Type="http://schemas.openxmlformats.org/officeDocument/2006/relationships/font" Target="fonts/MontserratSemiBold-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2e8001ea4c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2e8001ea4c_2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2e8001ea4c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2e8001ea4c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Sun </a:t>
            </a:r>
            <a:r>
              <a:rPr lang="en"/>
              <a:t>影響 D:</a:t>
            </a:r>
            <a:endParaRPr/>
          </a:p>
          <a:p>
            <a:pPr indent="-298450" lvl="0" marL="457200" rtl="0" algn="l">
              <a:spcBef>
                <a:spcPts val="0"/>
              </a:spcBef>
              <a:spcAft>
                <a:spcPts val="0"/>
              </a:spcAft>
              <a:buSzPts val="1100"/>
              <a:buAutoNum type="arabicParenBoth"/>
            </a:pPr>
            <a:r>
              <a:rPr lang="en"/>
              <a:t>會吃維他命D的人，有可能是因為有健康意識所以也會避免照太陽</a:t>
            </a:r>
            <a:endParaRPr/>
          </a:p>
          <a:p>
            <a:pPr indent="-298450" lvl="0" marL="457200" rtl="0" algn="l">
              <a:spcBef>
                <a:spcPts val="0"/>
              </a:spcBef>
              <a:spcAft>
                <a:spcPts val="0"/>
              </a:spcAft>
              <a:buSzPts val="1100"/>
              <a:buAutoNum type="arabicParenBoth"/>
            </a:pPr>
            <a:r>
              <a:rPr lang="en"/>
              <a:t>有可能因為不想曬黑所以不照太陽但是需要吃維他命D</a:t>
            </a:r>
            <a:endParaRPr/>
          </a:p>
          <a:p>
            <a:pPr indent="-298450" lvl="0" marL="457200" rtl="0" algn="l">
              <a:spcBef>
                <a:spcPts val="0"/>
              </a:spcBef>
              <a:spcAft>
                <a:spcPts val="0"/>
              </a:spcAft>
              <a:buSzPts val="1100"/>
              <a:buAutoNum type="arabicParenBoth"/>
            </a:pPr>
            <a:r>
              <a:rPr lang="en"/>
              <a:t>醫生建議患者吃維他命D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e8001ea4c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2e8001ea4c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2e8001ea4c_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2e8001ea4c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SCM: SCM 是一個用於理解因果關係的框架，它強調生成觀察數據的機制。 它指定了一組方程式，這些方程式描述了系統中的不同變量如何相互作用以產生觀察到的數據。 SCM 框架使用有向無環圖 (DAG) 來直觀地表示變量之間的因果關係。</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Data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Observational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The observation data could include variables such as:</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amount of caffeine consumed each day, 每天攝入的咖啡因量</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time of day that caffeine was consumed 攝入咖啡因的時間</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number of hours of sleep each night 每晚睡眠的小時數</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quality of sleep, as measured by a self-report scale or a sleep-tracking device  睡眠質量，通過自我報告量表或睡眠跟踪設備測量</a:t>
            </a:r>
            <a:endParaRPr sz="1200">
              <a:solidFill>
                <a:schemeClr val="dk1"/>
              </a:solidFill>
            </a:endParaRPr>
          </a:p>
          <a:p>
            <a:pPr indent="-304800" lvl="2" marL="1371600" rtl="0" algn="l">
              <a:spcBef>
                <a:spcPts val="0"/>
              </a:spcBef>
              <a:spcAft>
                <a:spcPts val="0"/>
              </a:spcAft>
              <a:buClr>
                <a:srgbClr val="434343"/>
              </a:buClr>
              <a:buSzPts val="1200"/>
              <a:buChar char="■"/>
            </a:pPr>
            <a:r>
              <a:rPr lang="en"/>
              <a:t>我們以從 observation data 中了解 variable 的  relationship，像是 攝取太多 和 太晚攝取 都會影響睡眠</a:t>
            </a:r>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Intervention data</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Confounding variables  例如，年齡、性別、生活習慣等因素都可能影響咖啡因攝入量和睡眠質量，因此很難確定兩者(T和Y)之間的因果關係。</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將個體 </a:t>
            </a:r>
            <a:r>
              <a:rPr b="1" lang="en" sz="1200">
                <a:solidFill>
                  <a:schemeClr val="dk1"/>
                </a:solidFill>
              </a:rPr>
              <a:t>隨機分配</a:t>
            </a:r>
            <a:r>
              <a:rPr lang="en" sz="1200">
                <a:solidFill>
                  <a:schemeClr val="dk1"/>
                </a:solidFill>
              </a:rPr>
              <a:t> 製對照組和控制組 可以降 confounding bias 的風險。因此，對照組和控制組織間的差異就可以歸於因為 interest variable(caffeine income difference)的不同。</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Counterfactual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個人對不同 interest variable 的差異</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和 intervetion data 一樣都是為了降低 confounder 但是一個是用 group 一個是對個人。</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2e8001ea4c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2e8001ea4c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SCM: SCM 是一個用於理解因果關係的框架，它強調生成觀察數據的機制。 它指定了一組方程式，這些方程式描述了系統中的不同變量如何相互作用以產生觀察到的數據。 SCM 框架使用有向無環圖 (DAG) 來直觀地表示變量之間的因果關係。</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Data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Observational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The observation data could include variables such as:</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amount of caffeine consumed each day, 每天攝入的咖啡因量</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time of day that caffeine was consumed 攝入咖啡因的時間</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number of hours of sleep each night 每晚睡眠的小時數</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quality of sleep, as measured by a self-report scale or a sleep-tracking device  睡眠質量，通過自我報告量表或睡眠跟踪設備測量</a:t>
            </a:r>
            <a:endParaRPr sz="1200">
              <a:solidFill>
                <a:schemeClr val="dk1"/>
              </a:solidFill>
            </a:endParaRPr>
          </a:p>
          <a:p>
            <a:pPr indent="-304800" lvl="2" marL="1371600" rtl="0" algn="l">
              <a:spcBef>
                <a:spcPts val="0"/>
              </a:spcBef>
              <a:spcAft>
                <a:spcPts val="0"/>
              </a:spcAft>
              <a:buClr>
                <a:srgbClr val="434343"/>
              </a:buClr>
              <a:buSzPts val="1200"/>
              <a:buChar char="■"/>
            </a:pPr>
            <a:r>
              <a:rPr lang="en"/>
              <a:t>我們以從 observation data 中了解 variable 的  relationship，像是 攝取太多 和 太晚攝取 都會影響睡眠</a:t>
            </a:r>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Intervention data</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Confounding variables  例如，年齡、性別、生活習慣等因素都可能影響咖啡因攝入量和睡眠質量，因此很難確定兩者(T和Y)之間的因果關係。</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將個體 </a:t>
            </a:r>
            <a:r>
              <a:rPr b="1" lang="en" sz="1200">
                <a:solidFill>
                  <a:schemeClr val="dk1"/>
                </a:solidFill>
              </a:rPr>
              <a:t>隨機分配</a:t>
            </a:r>
            <a:r>
              <a:rPr lang="en" sz="1200">
                <a:solidFill>
                  <a:schemeClr val="dk1"/>
                </a:solidFill>
              </a:rPr>
              <a:t> 製對照組和控制組 可以降 confounding bias 的風險。因此，對照組和控制組織間的差異就可以歸於因為 interest variable(caffeine income difference)的不同。</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Counterfactual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個人對不同 interest variable 的差異</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和 intervetion data 一樣都是為了降低 confounder 但是一個是用 group 一個是對個人。</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2e8001ea4c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2e8001ea4c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POM: 側重於比較不同條件或乾預措施下的潛在結果。 它假設給定個體有多種潛在結果，並且觀察到的結果只是在特定條件或乾預下實現的這些</a:t>
            </a:r>
            <a:r>
              <a:rPr b="1" lang="en" sz="1200">
                <a:solidFill>
                  <a:srgbClr val="CC0000"/>
                </a:solidFill>
              </a:rPr>
              <a:t>潛在結果之一</a:t>
            </a:r>
            <a:r>
              <a:rPr lang="en" sz="1200"/>
              <a:t>。 POM 框架使用 Y(0) 和 Y(1) 等符號來表示個體在不同條件或乾預下的潛在結果。</a:t>
            </a:r>
            <a:endParaRPr sz="1200"/>
          </a:p>
          <a:p>
            <a:pPr indent="-304800" lvl="0" marL="457200" rtl="0" algn="l">
              <a:spcBef>
                <a:spcPts val="0"/>
              </a:spcBef>
              <a:spcAft>
                <a:spcPts val="0"/>
              </a:spcAft>
              <a:buSzPts val="1200"/>
              <a:buChar char="●"/>
            </a:pPr>
            <a:r>
              <a:rPr lang="en" sz="1200"/>
              <a:t>SCM vs POM:這兩個框架之間的一個主要區別是 SCM 強調生成數據的機制，而 POM 側重於比較不同條件或乾預措施下的潛在結果。 SCM框架常用於物理、工程等領域，而POM框架常用於醫學、社會科學等領域。兩個框架之間的另一個主要區別是它們處理反事實的方式。 SCM 使用反事實來解釋生成觀察到的數據的機制，而 POM 使用反事實來比較不同條件或乾預下的潛在結果。</a:t>
            </a:r>
            <a:endParaRPr sz="1200"/>
          </a:p>
          <a:p>
            <a:pPr indent="-304800" lvl="0" marL="457200" rtl="0" algn="l">
              <a:spcBef>
                <a:spcPts val="0"/>
              </a:spcBef>
              <a:spcAft>
                <a:spcPts val="0"/>
              </a:spcAft>
              <a:buSzPts val="1200"/>
              <a:buChar char="●"/>
            </a:pPr>
            <a:r>
              <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2e8001ea4c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2e8001ea4c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2e8001ea4c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2e8001ea4c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34343"/>
              </a:buClr>
              <a:buSzPts val="1200"/>
              <a:buChar char="●"/>
            </a:pPr>
            <a:r>
              <a:rPr lang="en" sz="1200">
                <a:solidFill>
                  <a:srgbClr val="434343"/>
                </a:solidFill>
              </a:rPr>
              <a:t>將DAG 圖中 非循環約束( constraints of acyclicity) 轉化為對鄰接矩陣積( trace of the adjacency matrix)的約束</a:t>
            </a:r>
            <a:endParaRPr sz="1200">
              <a:solidFill>
                <a:srgbClr val="434343"/>
              </a:solidFill>
            </a:endParaRPr>
          </a:p>
          <a:p>
            <a:pPr indent="-304800" lvl="0" marL="457200" rtl="0" algn="l">
              <a:lnSpc>
                <a:spcPct val="115000"/>
              </a:lnSpc>
              <a:spcBef>
                <a:spcPts val="0"/>
              </a:spcBef>
              <a:spcAft>
                <a:spcPts val="0"/>
              </a:spcAft>
              <a:buClr>
                <a:srgbClr val="434343"/>
              </a:buClr>
              <a:buSzPts val="1200"/>
              <a:buChar char="●"/>
            </a:pPr>
            <a:r>
              <a:t/>
            </a:r>
            <a:endParaRPr sz="1200">
              <a:solidFill>
                <a:srgbClr val="434343"/>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2e8001ea4c_2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2e8001ea4c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2c0d45027b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2c0d45027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covariates </a:t>
            </a:r>
            <a:r>
              <a:rPr lang="en"/>
              <a:t>are pre-selected variables that are included in the analysis to control for potential confounding factors</a:t>
            </a:r>
            <a:r>
              <a:rPr lang="en"/>
              <a:t>, while </a:t>
            </a:r>
            <a:endParaRPr/>
          </a:p>
          <a:p>
            <a:pPr indent="0" lvl="0" marL="0" rtl="0" algn="l">
              <a:spcBef>
                <a:spcPts val="0"/>
              </a:spcBef>
              <a:spcAft>
                <a:spcPts val="0"/>
              </a:spcAft>
              <a:buNone/>
            </a:pPr>
            <a:r>
              <a:rPr b="1" lang="en"/>
              <a:t>confounders </a:t>
            </a:r>
            <a:r>
              <a:rPr lang="en"/>
              <a:t>are variables that are associated with both the treatment and the outcome and need to be controlled for to accurately estimate the causal effect.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2e4aaa8a3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2e4aaa8a3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POM: 側重於比較不同條件或乾預措施下的潛在結果。 它假設給定個體有多種潛在結果，並且觀察到的結果只是在特定條件或乾預下實現的這些</a:t>
            </a:r>
            <a:r>
              <a:rPr b="1" lang="en" sz="1200">
                <a:solidFill>
                  <a:srgbClr val="CC0000"/>
                </a:solidFill>
              </a:rPr>
              <a:t>潛在結果之一</a:t>
            </a:r>
            <a:r>
              <a:rPr lang="en" sz="1200"/>
              <a:t>。 POM 框架使用 Y(0) 和 Y(1) 等符號來表示個體在不同條件或乾預下的潛在結果。</a:t>
            </a:r>
            <a:endParaRPr sz="1200"/>
          </a:p>
          <a:p>
            <a:pPr indent="-304800" lvl="0" marL="457200" rtl="0" algn="l">
              <a:spcBef>
                <a:spcPts val="0"/>
              </a:spcBef>
              <a:spcAft>
                <a:spcPts val="0"/>
              </a:spcAft>
              <a:buSzPts val="1200"/>
              <a:buChar char="●"/>
            </a:pPr>
            <a:r>
              <a:rPr lang="en" sz="1200"/>
              <a:t>SCM vs POM:這兩個框架之間的一個主要區別是 SCM 強調生成數據的機制，而 POM 側重於比較不同條件或乾預措施下的潛在結果。 SCM框架常用於物理、工程等領域，而POM框架常用於醫學、社會科學等領域。兩個框架之間的另一個主要區別是它們處理反事實的方式。 SCM 使用反事實來解釋生成觀察到的數據的機制，而 POM 使用反事實來比較不同條件或乾預下的潛在結果。</a:t>
            </a:r>
            <a:endParaRPr sz="1200"/>
          </a:p>
          <a:p>
            <a:pPr indent="-304800" lvl="0" marL="457200" rtl="0" algn="l">
              <a:spcBef>
                <a:spcPts val="0"/>
              </a:spcBef>
              <a:spcAft>
                <a:spcPts val="0"/>
              </a:spcAft>
              <a:buSzPts val="1200"/>
              <a:buChar char="●"/>
            </a:pPr>
            <a:r>
              <a:t/>
            </a:r>
            <a:endParaRP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2e4aaa8a3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2e4aaa8a3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2e32db26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2e32db26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2e32db266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2e32db266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SCM: SCM 是一個用於理解因果關係的框架，它強調生成觀察數據的機制。 它指定了一組方程式，這些方程式描述了系統中的不同變量如何相互作用以產生觀察到的數據。 SCM 框架使用有向無環圖 (DAG) 來直觀地表示變量之間的因果關係。</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Data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Observational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The observation data could include variables such as:</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amount of caffeine consumed each day, 每天攝入的咖啡因量</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time of day that caffeine was consumed 攝入咖啡因的時間</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number of hours of sleep each night 每晚睡眠的小時數</a:t>
            </a:r>
            <a:endParaRPr sz="1200">
              <a:solidFill>
                <a:schemeClr val="dk1"/>
              </a:solidFill>
            </a:endParaRPr>
          </a:p>
          <a:p>
            <a:pPr indent="-304800" lvl="3" marL="1828800" rtl="0" algn="l">
              <a:lnSpc>
                <a:spcPct val="115000"/>
              </a:lnSpc>
              <a:spcBef>
                <a:spcPts val="0"/>
              </a:spcBef>
              <a:spcAft>
                <a:spcPts val="0"/>
              </a:spcAft>
              <a:buClr>
                <a:schemeClr val="dk1"/>
              </a:buClr>
              <a:buSzPts val="1200"/>
              <a:buChar char="●"/>
            </a:pPr>
            <a:r>
              <a:rPr lang="en" sz="1200">
                <a:solidFill>
                  <a:schemeClr val="dk1"/>
                </a:solidFill>
              </a:rPr>
              <a:t>The quality of sleep, as measured by a self-report scale or a sleep-tracking device  睡眠質量，通過自我報告量表或睡眠跟踪設備測量</a:t>
            </a:r>
            <a:endParaRPr sz="1200">
              <a:solidFill>
                <a:schemeClr val="dk1"/>
              </a:solidFill>
            </a:endParaRPr>
          </a:p>
          <a:p>
            <a:pPr indent="-304800" lvl="2" marL="1371600" rtl="0" algn="l">
              <a:spcBef>
                <a:spcPts val="0"/>
              </a:spcBef>
              <a:spcAft>
                <a:spcPts val="0"/>
              </a:spcAft>
              <a:buClr>
                <a:srgbClr val="434343"/>
              </a:buClr>
              <a:buSzPts val="1200"/>
              <a:buChar char="■"/>
            </a:pPr>
            <a:r>
              <a:rPr lang="en"/>
              <a:t>我們以從 observation data 中了解 variable 的  relationship，像是 攝取太多 和 太晚攝取 都會影響睡眠</a:t>
            </a:r>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Intervention data</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Confounding variables  例如，年齡、性別、生活習慣等因素都可能影響咖啡因攝入量和睡眠質量，因此很難確定兩者(T和Y)之間的因果關係。</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將個體 </a:t>
            </a:r>
            <a:r>
              <a:rPr b="1" lang="en" sz="1200">
                <a:solidFill>
                  <a:schemeClr val="dk1"/>
                </a:solidFill>
              </a:rPr>
              <a:t>隨機分配</a:t>
            </a:r>
            <a:r>
              <a:rPr lang="en" sz="1200">
                <a:solidFill>
                  <a:schemeClr val="dk1"/>
                </a:solidFill>
              </a:rPr>
              <a:t> 製對照組和控制組 可以降 confounding bias 的風險。因此，對照組和控制組織間的差異就可以歸於因為 interest variable(caffeine income difference)的不同。</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Counterfactual data: </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個人對不同 interest variable 的差異</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和 intervetion data 一樣都是為了降低 confounder 但是一個是用 group 一個是對個人。</a:t>
            </a:r>
            <a:endParaRPr sz="12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2e4aaa8a3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2e4aaa8a3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SCM</a:t>
            </a:r>
            <a:endParaRPr sz="1200"/>
          </a:p>
          <a:p>
            <a:pPr indent="-304800" lvl="1" marL="914400" rtl="0" algn="l">
              <a:spcBef>
                <a:spcPts val="0"/>
              </a:spcBef>
              <a:spcAft>
                <a:spcPts val="0"/>
              </a:spcAft>
              <a:buSzPts val="1200"/>
              <a:buChar char="○"/>
            </a:pPr>
            <a:r>
              <a:rPr lang="en" sz="1200"/>
              <a:t>治療對結果的平均因果效應，計算為接受治療和未接受治療的結果的</a:t>
            </a:r>
            <a:r>
              <a:rPr b="1" lang="en" sz="1200"/>
              <a:t>預期值的差異</a:t>
            </a:r>
            <a:r>
              <a:rPr lang="en" sz="1200"/>
              <a:t>。 這可以在數學上表示為 ATE=E[Y(1)]-E[Y(0)]</a:t>
            </a:r>
            <a:endParaRPr sz="1200"/>
          </a:p>
          <a:p>
            <a:pPr indent="-304800" lvl="1" marL="914400" rtl="0" algn="l">
              <a:spcBef>
                <a:spcPts val="0"/>
              </a:spcBef>
              <a:spcAft>
                <a:spcPts val="0"/>
              </a:spcAft>
              <a:buSzPts val="1200"/>
              <a:buChar char="○"/>
            </a:pPr>
            <a:r>
              <a:rPr lang="en" sz="1200"/>
              <a:t>ATE 是使用隨機對照試驗、自然實驗或觀察研究等方法估算的，並對混雜變量進行了適當的統計調整。 與 POM 不同 </a:t>
            </a:r>
            <a:r>
              <a:rPr lang="en" sz="1200">
                <a:solidFill>
                  <a:schemeClr val="dk1"/>
                </a:solidFill>
              </a:rPr>
              <a:t>SCM</a:t>
            </a:r>
            <a:r>
              <a:rPr lang="en" sz="1200"/>
              <a:t> 不需要對變量之間因果關係的結構進行強假設，ATE 的估計是基於</a:t>
            </a:r>
            <a:r>
              <a:rPr b="1" lang="en" sz="1200"/>
              <a:t>可觀察數據和因果推理技術</a:t>
            </a:r>
            <a:r>
              <a:rPr lang="en" sz="1200"/>
              <a:t>。</a:t>
            </a:r>
            <a:endParaRPr sz="1200"/>
          </a:p>
          <a:p>
            <a:pPr indent="-304800" lvl="0" marL="457200" rtl="0" algn="l">
              <a:spcBef>
                <a:spcPts val="0"/>
              </a:spcBef>
              <a:spcAft>
                <a:spcPts val="0"/>
              </a:spcAft>
              <a:buSzPts val="1200"/>
              <a:buChar char="●"/>
            </a:pPr>
            <a:r>
              <a:rPr lang="en" sz="1200"/>
              <a:t>PO</a:t>
            </a:r>
            <a:r>
              <a:rPr lang="en" sz="1200"/>
              <a:t>M</a:t>
            </a:r>
            <a:endParaRPr sz="1200"/>
          </a:p>
          <a:p>
            <a:pPr indent="-304800" lvl="1" marL="914400" rtl="0" algn="l">
              <a:spcBef>
                <a:spcPts val="0"/>
              </a:spcBef>
              <a:spcAft>
                <a:spcPts val="0"/>
              </a:spcAft>
              <a:buSzPts val="1200"/>
              <a:buChar char="○"/>
            </a:pPr>
            <a:r>
              <a:rPr lang="en" sz="1200"/>
              <a:t>ATE 表示治療對結果的平均因果效應，對</a:t>
            </a:r>
            <a:r>
              <a:rPr b="1" lang="en" sz="1200"/>
              <a:t>人口中的所有單位進行平均</a:t>
            </a:r>
            <a:r>
              <a:rPr lang="en" sz="1200"/>
              <a:t>。 這可以在數學上表示為 </a:t>
            </a:r>
            <a:r>
              <a:rPr lang="en" sz="1200">
                <a:solidFill>
                  <a:schemeClr val="dk1"/>
                </a:solidFill>
              </a:rPr>
              <a:t>POM</a:t>
            </a:r>
            <a:r>
              <a:rPr lang="en" sz="1200"/>
              <a:t>=E[Y(1)-Y(0)]，其中 Y(1) 和 Y(0) 分別是治療和未治療的潛在結果，E 代表對 人口</a:t>
            </a:r>
            <a:endParaRPr sz="1200"/>
          </a:p>
          <a:p>
            <a:pPr indent="-304800" lvl="1" marL="914400" rtl="0" algn="l">
              <a:spcBef>
                <a:spcPts val="0"/>
              </a:spcBef>
              <a:spcAft>
                <a:spcPts val="0"/>
              </a:spcAft>
              <a:buSzPts val="1200"/>
              <a:buChar char="○"/>
            </a:pPr>
            <a:r>
              <a:rPr lang="en" sz="1200"/>
              <a:t>ATE 是</a:t>
            </a:r>
            <a:r>
              <a:rPr lang="en" sz="1200"/>
              <a:t>通過結合使用</a:t>
            </a:r>
            <a:r>
              <a:rPr lang="en" sz="1200"/>
              <a:t>因果假設（例如治療對結果的因果效應）和統計方法（例如回歸分析或工具變量）來估計的。 </a:t>
            </a:r>
            <a:r>
              <a:rPr lang="en" sz="1200">
                <a:solidFill>
                  <a:schemeClr val="dk1"/>
                </a:solidFill>
              </a:rPr>
              <a:t>POM</a:t>
            </a:r>
            <a:r>
              <a:rPr lang="en" sz="1200"/>
              <a:t> 中 ATE 的估計通常需要對變量之間因果關係的結構進行強有力的假設，這在實踐中可能難以驗證。</a:t>
            </a:r>
            <a:endParaRPr sz="1200"/>
          </a:p>
          <a:p>
            <a:pPr indent="-304800" lvl="0" marL="457200" rtl="0" algn="l">
              <a:spcBef>
                <a:spcPts val="0"/>
              </a:spcBef>
              <a:spcAft>
                <a:spcPts val="0"/>
              </a:spcAft>
              <a:buSzPts val="1200"/>
              <a:buChar char="●"/>
            </a:pPr>
            <a:r>
              <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2e4aaa8a3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2e4aaa8a3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2bf582d10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2bf582d10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3-1 </a:t>
            </a:r>
            <a:r>
              <a:rPr b="1" lang="en"/>
              <a:t>Confounder</a:t>
            </a:r>
            <a:r>
              <a:rPr b="1" lang="en"/>
              <a:t> bias</a:t>
            </a:r>
            <a:r>
              <a:rPr lang="en"/>
              <a:t>: </a:t>
            </a:r>
            <a:r>
              <a:rPr lang="en"/>
              <a:t>混淆偏差 = </a:t>
            </a:r>
            <a:r>
              <a:rPr b="1" lang="en"/>
              <a:t>covariate </a:t>
            </a:r>
            <a:endParaRPr b="1"/>
          </a:p>
          <a:p>
            <a:pPr indent="0" lvl="0" marL="0" rtl="0" algn="l">
              <a:spcBef>
                <a:spcPts val="0"/>
              </a:spcBef>
              <a:spcAft>
                <a:spcPts val="0"/>
              </a:spcAft>
              <a:buNone/>
            </a:pPr>
            <a:r>
              <a:rPr b="1" lang="en"/>
              <a:t>平衡協變量的目的是創造暴露和未暴露受試者的可交換性，從而消除與治療和結果相關的變量的混雜效應</a:t>
            </a:r>
            <a:endParaRPr b="1"/>
          </a:p>
          <a:p>
            <a:pPr indent="0" lvl="0" marL="0" rtl="0" algn="l">
              <a:spcBef>
                <a:spcPts val="0"/>
              </a:spcBef>
              <a:spcAft>
                <a:spcPts val="0"/>
              </a:spcAft>
              <a:buNone/>
            </a:pPr>
            <a:r>
              <a:rPr b="1" lang="en">
                <a:solidFill>
                  <a:schemeClr val="dk1"/>
                </a:solidFill>
              </a:rPr>
              <a:t>3-2 選擇偏倚selection bias</a:t>
            </a:r>
            <a:r>
              <a:rPr lang="en">
                <a:solidFill>
                  <a:schemeClr val="dk1"/>
                </a:solidFill>
              </a:rPr>
              <a:t>：由於Confounders的存在，treatment組合對照組的分佈有可能不一致，因此導致出現偏差，這也使得推理更加困難</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2e6888d5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2e6888d5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34343"/>
              </a:buClr>
              <a:buSzPts val="1200"/>
              <a:buChar char="●"/>
            </a:pPr>
            <a:r>
              <a:rPr lang="en" sz="1200">
                <a:solidFill>
                  <a:srgbClr val="434343"/>
                </a:solidFill>
              </a:rPr>
              <a:t>例如</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Observation data: 考慮一項檢查咖啡因攝入量與睡眠質量之間關係的研究。 觀察數據可能涉及調查參與者的咖啡因攝入量和睡眠習慣，然後分析這些變量之間的相關性。 然而，這種方法</a:t>
            </a:r>
            <a:r>
              <a:rPr b="1" lang="en" sz="1200">
                <a:solidFill>
                  <a:srgbClr val="434343"/>
                </a:solidFill>
              </a:rPr>
              <a:t>無法確定咖啡因的攝入是否直接導致睡眠質量的變化，或者是否有其他因素影響這兩個變量。</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Intervention data: </a:t>
            </a:r>
            <a:endParaRPr sz="1200">
              <a:solidFill>
                <a:srgbClr val="434343"/>
              </a:solidFill>
            </a:endParaRPr>
          </a:p>
          <a:p>
            <a:pPr indent="-304800" lvl="2" marL="1371600" rtl="0" algn="l">
              <a:lnSpc>
                <a:spcPct val="115000"/>
              </a:lnSpc>
              <a:spcBef>
                <a:spcPts val="0"/>
              </a:spcBef>
              <a:spcAft>
                <a:spcPts val="0"/>
              </a:spcAft>
              <a:buClr>
                <a:srgbClr val="434343"/>
              </a:buClr>
              <a:buSzPts val="1200"/>
              <a:buChar char="■"/>
            </a:pPr>
            <a:r>
              <a:rPr lang="en" sz="1200">
                <a:solidFill>
                  <a:srgbClr val="434343"/>
                </a:solidFill>
              </a:rPr>
              <a:t>可能涉及將參與者隨機分配到接受咖啡因的組或接受安慰劑的組，然後測量他們的睡眠質量。 通過積極干預咖啡因變量，研究人員可以控制其他混雜變量並建立咖啡因攝入量與睡眠質量之間的因果關係</a:t>
            </a:r>
            <a:endParaRPr sz="1200">
              <a:solidFill>
                <a:srgbClr val="434343"/>
              </a:solidFill>
            </a:endParaRPr>
          </a:p>
          <a:p>
            <a:pPr indent="-304800" lvl="2" marL="1371600" rtl="0" algn="l">
              <a:lnSpc>
                <a:spcPct val="115000"/>
              </a:lnSpc>
              <a:spcBef>
                <a:spcPts val="0"/>
              </a:spcBef>
              <a:spcAft>
                <a:spcPts val="0"/>
              </a:spcAft>
              <a:buClr>
                <a:srgbClr val="434343"/>
              </a:buClr>
              <a:buSzPts val="1200"/>
              <a:buChar char="■"/>
            </a:pPr>
            <a:r>
              <a:rPr lang="en" sz="1200">
                <a:solidFill>
                  <a:srgbClr val="434343"/>
                </a:solidFill>
              </a:rPr>
              <a:t>通過積極干預咖啡因變量，研究人員可以控制其他混雜變量，並建立咖啡因攝入量與睡眠質量之間的因果關係。</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Unobserved</a:t>
            </a:r>
            <a:r>
              <a:rPr lang="en" sz="1200">
                <a:solidFill>
                  <a:srgbClr val="434343"/>
                </a:solidFill>
              </a:rPr>
              <a:t> data: 影響咖啡因代謝或睡眠模式的遺傳因素可能是潛在的未觀察到的混雜因素。</a:t>
            </a:r>
            <a:endParaRPr sz="1200">
              <a:solidFill>
                <a:srgbClr val="434343"/>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2c0d45027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2c0d45027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34343"/>
              </a:buClr>
              <a:buSzPts val="1200"/>
              <a:buChar char="●"/>
            </a:pPr>
            <a:r>
              <a:rPr lang="en" sz="1200">
                <a:solidFill>
                  <a:srgbClr val="434343"/>
                </a:solidFill>
              </a:rPr>
              <a:t>將DAG 圖中 非循環約束( constraints of acyclicity) 轉化為對鄰接矩陣積( trace of the adjacency matrix)的約束</a:t>
            </a:r>
            <a:endParaRPr sz="1200">
              <a:solidFill>
                <a:srgbClr val="434343"/>
              </a:solidFill>
            </a:endParaRPr>
          </a:p>
          <a:p>
            <a:pPr indent="-304800" lvl="0" marL="457200" rtl="0" algn="l">
              <a:lnSpc>
                <a:spcPct val="115000"/>
              </a:lnSpc>
              <a:spcBef>
                <a:spcPts val="0"/>
              </a:spcBef>
              <a:spcAft>
                <a:spcPts val="0"/>
              </a:spcAft>
              <a:buClr>
                <a:srgbClr val="434343"/>
              </a:buClr>
              <a:buSzPts val="1200"/>
              <a:buChar char="●"/>
            </a:pPr>
            <a:r>
              <a:t/>
            </a:r>
            <a:endParaRPr sz="1200">
              <a:solidFill>
                <a:srgbClr val="434343"/>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2c0d45027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2c0d45027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107139d4f0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107139d4f0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2c0d45027b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2c0d45027b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107139d4f0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107139d4f0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107139d4f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107139d4f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107139d4f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107139d4f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107139d4f0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107139d4f0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107139d4f0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107139d4f0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107139d4f0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107139d4f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107139d4f0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107139d4f0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107139d4f0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107139d4f0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107139d4f0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107139d4f0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107139d4f0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107139d4f0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107139d4f0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107139d4f0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29cef2007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29cef2007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其中標準前饋神經網絡用於預測每個樣本接受處理的概率，並從隱藏層獲得表示。</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29cef2007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29cef2007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29cef2007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29cef2007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29cef2007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29cef2007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如果要求機器人抓取一個物體，它只需要知道物體的形狀和位置，而不是它的顏色。</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29cef2007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29cef2007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29cef2007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29cef2007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29cef2007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29cef2007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229cef20073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229cef2007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29cef20073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29cef20073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29cef2007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229cef2007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29cef20073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229cef20073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29cef2007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29cef2007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29cef20073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29cef2007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如果要求機器人抓取一個物體，它只需要知道物體的形狀和位置，而不是它的顏色。</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29cef20073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29cef20073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29cef20073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229cef20073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09bcef28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09bcef28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09bcef28a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09bcef28a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09bcef28a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09bcef28a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2c0d45027b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2c0d45027b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643858" y="1172225"/>
            <a:ext cx="6770700" cy="2052600"/>
          </a:xfrm>
          <a:prstGeom prst="rect">
            <a:avLst/>
          </a:prstGeom>
        </p:spPr>
        <p:txBody>
          <a:bodyPr anchorCtr="0" anchor="b" bIns="91425" lIns="91425" spcFirstLastPara="1" rIns="91425" wrap="square" tIns="91425">
            <a:noAutofit/>
          </a:bodyPr>
          <a:lstStyle>
            <a:lvl1pPr lvl="0" algn="r">
              <a:spcBef>
                <a:spcPts val="0"/>
              </a:spcBef>
              <a:spcAft>
                <a:spcPts val="0"/>
              </a:spcAft>
              <a:buClr>
                <a:srgbClr val="434343"/>
              </a:buClr>
              <a:buSzPts val="5200"/>
              <a:buNone/>
              <a:defRPr sz="5300">
                <a:solidFill>
                  <a:srgbClr val="434343"/>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643852" y="3261775"/>
            <a:ext cx="6770700" cy="557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434343"/>
              </a:buClr>
              <a:buSzPts val="3600"/>
              <a:buNone/>
              <a:defRPr sz="4700">
                <a:solidFill>
                  <a:srgbClr val="434343"/>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 type="subTitle"/>
          </p:nvPr>
        </p:nvSpPr>
        <p:spPr>
          <a:xfrm>
            <a:off x="3968275" y="3045375"/>
            <a:ext cx="4462500" cy="678000"/>
          </a:xfrm>
          <a:prstGeom prst="rect">
            <a:avLst/>
          </a:prstGeom>
        </p:spPr>
        <p:txBody>
          <a:bodyPr anchorCtr="0" anchor="t" bIns="91425" lIns="91425" spcFirstLastPara="1" rIns="91425" wrap="square" tIns="91425">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7" name="Google Shape;17;p3"/>
          <p:cNvSpPr txBox="1"/>
          <p:nvPr>
            <p:ph hasCustomPrompt="1" idx="2" type="title"/>
          </p:nvPr>
        </p:nvSpPr>
        <p:spPr>
          <a:xfrm>
            <a:off x="3968350" y="1262325"/>
            <a:ext cx="4462500" cy="1141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7200"/>
              <a:buNone/>
              <a:defRPr sz="7200">
                <a:solidFill>
                  <a:schemeClr val="dk2"/>
                </a:solidFill>
              </a:defRPr>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a:r>
              <a:t>xx%</a:t>
            </a:r>
          </a:p>
        </p:txBody>
      </p:sp>
      <p:sp>
        <p:nvSpPr>
          <p:cNvPr id="18" name="Google Shape;18;p3"/>
          <p:cNvSpPr/>
          <p:nvPr/>
        </p:nvSpPr>
        <p:spPr>
          <a:xfrm flipH="1" rot="10800000">
            <a:off x="1441925" y="2571600"/>
            <a:ext cx="1216200" cy="1592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flipH="1" rot="10800000">
            <a:off x="2658125" y="0"/>
            <a:ext cx="12162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434343"/>
              </a:buClr>
              <a:buSzPts val="1200"/>
              <a:buFont typeface="Arial"/>
              <a:buChar char="●"/>
              <a:defRPr sz="1200">
                <a:solidFill>
                  <a:srgbClr val="434343"/>
                </a:solidFill>
                <a:latin typeface="Arial"/>
                <a:ea typeface="Arial"/>
                <a:cs typeface="Arial"/>
                <a:sym typeface="Arial"/>
              </a:defRPr>
            </a:lvl1pPr>
            <a:lvl2pPr indent="-304800" lvl="1" marL="9144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2pPr>
            <a:lvl3pPr indent="-304800" lvl="2" marL="13716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3pPr>
            <a:lvl4pPr indent="-304800" lvl="3" marL="18288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4pPr>
            <a:lvl5pPr indent="-304800" lvl="4" marL="22860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5pPr>
            <a:lvl6pPr indent="-304800" lvl="5" marL="27432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6pPr>
            <a:lvl7pPr indent="-304800" lvl="6" marL="32004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7pPr>
            <a:lvl8pPr indent="-304800" lvl="7" marL="365760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8pPr>
            <a:lvl9pPr indent="-304800" lvl="8" marL="4114800">
              <a:lnSpc>
                <a:spcPct val="115000"/>
              </a:lnSpc>
              <a:spcBef>
                <a:spcPts val="1600"/>
              </a:spcBef>
              <a:spcAft>
                <a:spcPts val="1600"/>
              </a:spcAft>
              <a:buClr>
                <a:srgbClr val="434343"/>
              </a:buClr>
              <a:buSzPts val="1200"/>
              <a:buFont typeface="Arial"/>
              <a:buChar char="■"/>
              <a:defRPr sz="1200">
                <a:solidFill>
                  <a:srgbClr val="434343"/>
                </a:solidFill>
                <a:latin typeface="Arial"/>
                <a:ea typeface="Arial"/>
                <a:cs typeface="Arial"/>
                <a:sym typeface="Arial"/>
              </a:defRPr>
            </a:lvl9pPr>
          </a:lstStyle>
          <a:p/>
        </p:txBody>
      </p:sp>
      <p:sp>
        <p:nvSpPr>
          <p:cNvPr id="23" name="Google Shape;23;p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4"/>
          <p:cNvSpPr/>
          <p:nvPr/>
        </p:nvSpPr>
        <p:spPr>
          <a:xfrm flipH="1">
            <a:off x="457200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flipH="1">
            <a:off x="5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434343"/>
                </a:solidFill>
                <a:latin typeface="Arial"/>
                <a:ea typeface="Arial"/>
                <a:cs typeface="Arial"/>
                <a:sym typeface="Arial"/>
              </a:defRPr>
            </a:lvl1pPr>
            <a:lvl2pPr lvl="1">
              <a:buNone/>
              <a:defRPr>
                <a:solidFill>
                  <a:srgbClr val="434343"/>
                </a:solidFill>
                <a:latin typeface="Arial"/>
                <a:ea typeface="Arial"/>
                <a:cs typeface="Arial"/>
                <a:sym typeface="Arial"/>
              </a:defRPr>
            </a:lvl2pPr>
            <a:lvl3pPr lvl="2">
              <a:buNone/>
              <a:defRPr>
                <a:solidFill>
                  <a:srgbClr val="434343"/>
                </a:solidFill>
                <a:latin typeface="Arial"/>
                <a:ea typeface="Arial"/>
                <a:cs typeface="Arial"/>
                <a:sym typeface="Arial"/>
              </a:defRPr>
            </a:lvl3pPr>
            <a:lvl4pPr lvl="3">
              <a:buNone/>
              <a:defRPr>
                <a:solidFill>
                  <a:srgbClr val="434343"/>
                </a:solidFill>
                <a:latin typeface="Arial"/>
                <a:ea typeface="Arial"/>
                <a:cs typeface="Arial"/>
                <a:sym typeface="Arial"/>
              </a:defRPr>
            </a:lvl4pPr>
            <a:lvl5pPr lvl="4">
              <a:buNone/>
              <a:defRPr>
                <a:solidFill>
                  <a:srgbClr val="434343"/>
                </a:solidFill>
                <a:latin typeface="Arial"/>
                <a:ea typeface="Arial"/>
                <a:cs typeface="Arial"/>
                <a:sym typeface="Arial"/>
              </a:defRPr>
            </a:lvl5pPr>
            <a:lvl6pPr lvl="5">
              <a:buNone/>
              <a:defRPr>
                <a:solidFill>
                  <a:srgbClr val="434343"/>
                </a:solidFill>
                <a:latin typeface="Arial"/>
                <a:ea typeface="Arial"/>
                <a:cs typeface="Arial"/>
                <a:sym typeface="Arial"/>
              </a:defRPr>
            </a:lvl6pPr>
            <a:lvl7pPr lvl="6">
              <a:buNone/>
              <a:defRPr>
                <a:solidFill>
                  <a:srgbClr val="434343"/>
                </a:solidFill>
                <a:latin typeface="Arial"/>
                <a:ea typeface="Arial"/>
                <a:cs typeface="Arial"/>
                <a:sym typeface="Arial"/>
              </a:defRPr>
            </a:lvl7pPr>
            <a:lvl8pPr lvl="7">
              <a:buNone/>
              <a:defRPr>
                <a:solidFill>
                  <a:srgbClr val="434343"/>
                </a:solidFill>
                <a:latin typeface="Arial"/>
                <a:ea typeface="Arial"/>
                <a:cs typeface="Arial"/>
                <a:sym typeface="Arial"/>
              </a:defRPr>
            </a:lvl8pPr>
            <a:lvl9pPr lvl="8">
              <a:buNone/>
              <a:defRPr>
                <a:solidFill>
                  <a:srgbClr val="43434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與內文 1">
  <p:cSld name="TITLE_AND_BODY_1">
    <p:spTree>
      <p:nvGrpSpPr>
        <p:cNvPr id="27" name="Shape 27"/>
        <p:cNvGrpSpPr/>
        <p:nvPr/>
      </p:nvGrpSpPr>
      <p:grpSpPr>
        <a:xfrm>
          <a:off x="0" y="0"/>
          <a:ext cx="0" cy="0"/>
          <a:chOff x="0" y="0"/>
          <a:chExt cx="0" cy="0"/>
        </a:xfrm>
      </p:grpSpPr>
      <p:sp>
        <p:nvSpPr>
          <p:cNvPr id="28" name="Google Shape;28;p5"/>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434343"/>
              </a:buClr>
              <a:buSzPts val="1200"/>
              <a:buFont typeface="Arial"/>
              <a:buChar char="●"/>
              <a:defRPr sz="1200">
                <a:solidFill>
                  <a:srgbClr val="434343"/>
                </a:solidFill>
                <a:latin typeface="Arial"/>
                <a:ea typeface="Arial"/>
                <a:cs typeface="Arial"/>
                <a:sym typeface="Arial"/>
              </a:defRPr>
            </a:lvl1pPr>
            <a:lvl2pPr indent="-304800" lvl="1" marL="9144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2pPr>
            <a:lvl3pPr indent="-304800" lvl="2" marL="13716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3pPr>
            <a:lvl4pPr indent="-304800" lvl="3" marL="18288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4pPr>
            <a:lvl5pPr indent="-304800" lvl="4" marL="22860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5pPr>
            <a:lvl6pPr indent="-304800" lvl="5" marL="27432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6pPr>
            <a:lvl7pPr indent="-304800" lvl="6" marL="32004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7pPr>
            <a:lvl8pPr indent="-304800" lvl="7" marL="3657600" rtl="0">
              <a:lnSpc>
                <a:spcPct val="115000"/>
              </a:lnSpc>
              <a:spcBef>
                <a:spcPts val="1600"/>
              </a:spcBef>
              <a:spcAft>
                <a:spcPts val="0"/>
              </a:spcAft>
              <a:buClr>
                <a:srgbClr val="434343"/>
              </a:buClr>
              <a:buSzPts val="1200"/>
              <a:buFont typeface="Arial"/>
              <a:buChar char="○"/>
              <a:defRPr sz="1200">
                <a:solidFill>
                  <a:srgbClr val="434343"/>
                </a:solidFill>
                <a:latin typeface="Arial"/>
                <a:ea typeface="Arial"/>
                <a:cs typeface="Arial"/>
                <a:sym typeface="Arial"/>
              </a:defRPr>
            </a:lvl8pPr>
            <a:lvl9pPr indent="-304800" lvl="8" marL="4114800" rtl="0">
              <a:lnSpc>
                <a:spcPct val="115000"/>
              </a:lnSpc>
              <a:spcBef>
                <a:spcPts val="1600"/>
              </a:spcBef>
              <a:spcAft>
                <a:spcPts val="1600"/>
              </a:spcAft>
              <a:buClr>
                <a:srgbClr val="434343"/>
              </a:buClr>
              <a:buSzPts val="1200"/>
              <a:buFont typeface="Arial"/>
              <a:buChar char="■"/>
              <a:defRPr sz="1200">
                <a:solidFill>
                  <a:srgbClr val="434343"/>
                </a:solidFill>
                <a:latin typeface="Arial"/>
                <a:ea typeface="Arial"/>
                <a:cs typeface="Arial"/>
                <a:sym typeface="Arial"/>
              </a:defRPr>
            </a:lvl9pPr>
          </a:lstStyle>
          <a:p/>
        </p:txBody>
      </p:sp>
      <p:sp>
        <p:nvSpPr>
          <p:cNvPr id="29" name="Google Shape;29;p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 name="Google Shape;30;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a:solidFill>
                  <a:srgbClr val="434343"/>
                </a:solidFill>
                <a:latin typeface="Arial"/>
                <a:ea typeface="Arial"/>
                <a:cs typeface="Arial"/>
                <a:sym typeface="Arial"/>
              </a:defRPr>
            </a:lvl1pPr>
            <a:lvl2pPr lvl="1" rtl="0">
              <a:buNone/>
              <a:defRPr>
                <a:solidFill>
                  <a:srgbClr val="434343"/>
                </a:solidFill>
                <a:latin typeface="Arial"/>
                <a:ea typeface="Arial"/>
                <a:cs typeface="Arial"/>
                <a:sym typeface="Arial"/>
              </a:defRPr>
            </a:lvl2pPr>
            <a:lvl3pPr lvl="2" rtl="0">
              <a:buNone/>
              <a:defRPr>
                <a:solidFill>
                  <a:srgbClr val="434343"/>
                </a:solidFill>
                <a:latin typeface="Arial"/>
                <a:ea typeface="Arial"/>
                <a:cs typeface="Arial"/>
                <a:sym typeface="Arial"/>
              </a:defRPr>
            </a:lvl3pPr>
            <a:lvl4pPr lvl="3" rtl="0">
              <a:buNone/>
              <a:defRPr>
                <a:solidFill>
                  <a:srgbClr val="434343"/>
                </a:solidFill>
                <a:latin typeface="Arial"/>
                <a:ea typeface="Arial"/>
                <a:cs typeface="Arial"/>
                <a:sym typeface="Arial"/>
              </a:defRPr>
            </a:lvl4pPr>
            <a:lvl5pPr lvl="4" rtl="0">
              <a:buNone/>
              <a:defRPr>
                <a:solidFill>
                  <a:srgbClr val="434343"/>
                </a:solidFill>
                <a:latin typeface="Arial"/>
                <a:ea typeface="Arial"/>
                <a:cs typeface="Arial"/>
                <a:sym typeface="Arial"/>
              </a:defRPr>
            </a:lvl5pPr>
            <a:lvl6pPr lvl="5" rtl="0">
              <a:buNone/>
              <a:defRPr>
                <a:solidFill>
                  <a:srgbClr val="434343"/>
                </a:solidFill>
                <a:latin typeface="Arial"/>
                <a:ea typeface="Arial"/>
                <a:cs typeface="Arial"/>
                <a:sym typeface="Arial"/>
              </a:defRPr>
            </a:lvl6pPr>
            <a:lvl7pPr lvl="6" rtl="0">
              <a:buNone/>
              <a:defRPr>
                <a:solidFill>
                  <a:srgbClr val="434343"/>
                </a:solidFill>
                <a:latin typeface="Arial"/>
                <a:ea typeface="Arial"/>
                <a:cs typeface="Arial"/>
                <a:sym typeface="Arial"/>
              </a:defRPr>
            </a:lvl7pPr>
            <a:lvl8pPr lvl="7" rtl="0">
              <a:buNone/>
              <a:defRPr>
                <a:solidFill>
                  <a:srgbClr val="434343"/>
                </a:solidFill>
                <a:latin typeface="Arial"/>
                <a:ea typeface="Arial"/>
                <a:cs typeface="Arial"/>
                <a:sym typeface="Arial"/>
              </a:defRPr>
            </a:lvl8pPr>
            <a:lvl9pPr lvl="8" rtl="0">
              <a:buNone/>
              <a:defRPr>
                <a:solidFill>
                  <a:srgbClr val="43434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5"/>
          <p:cNvSpPr/>
          <p:nvPr/>
        </p:nvSpPr>
        <p:spPr>
          <a:xfrm flipH="1">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flipH="1">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6"/>
          <p:cNvSpPr txBox="1"/>
          <p:nvPr>
            <p:ph idx="1" type="body"/>
          </p:nvPr>
        </p:nvSpPr>
        <p:spPr>
          <a:xfrm>
            <a:off x="713225" y="2371675"/>
            <a:ext cx="2987100" cy="1279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000043"/>
              </a:buClr>
              <a:buSzPts val="1400"/>
              <a:buFont typeface="Quicksand Medium"/>
              <a:buChar char=""/>
              <a:defRPr sz="1400">
                <a:solidFill>
                  <a:schemeClr val="dk1"/>
                </a:solidFill>
              </a:defRPr>
            </a:lvl1pPr>
            <a:lvl2pPr indent="-317500" lvl="1" marL="914400">
              <a:spcBef>
                <a:spcPts val="0"/>
              </a:spcBef>
              <a:spcAft>
                <a:spcPts val="0"/>
              </a:spcAft>
              <a:buClr>
                <a:srgbClr val="000043"/>
              </a:buClr>
              <a:buSzPts val="1400"/>
              <a:buFont typeface="Quicksand Medium"/>
              <a:buChar char="●"/>
              <a:defRPr sz="1200"/>
            </a:lvl2pPr>
            <a:lvl3pPr indent="-317500" lvl="2" marL="1371600">
              <a:spcBef>
                <a:spcPts val="1600"/>
              </a:spcBef>
              <a:spcAft>
                <a:spcPts val="0"/>
              </a:spcAft>
              <a:buClr>
                <a:srgbClr val="000043"/>
              </a:buClr>
              <a:buSzPts val="1400"/>
              <a:buFont typeface="Quicksand Medium"/>
              <a:buChar char="■"/>
              <a:defRPr sz="1200"/>
            </a:lvl3pPr>
            <a:lvl4pPr indent="-317500" lvl="3" marL="1828800">
              <a:spcBef>
                <a:spcPts val="1600"/>
              </a:spcBef>
              <a:spcAft>
                <a:spcPts val="0"/>
              </a:spcAft>
              <a:buClr>
                <a:srgbClr val="000043"/>
              </a:buClr>
              <a:buSzPts val="1400"/>
              <a:buFont typeface="Quicksand Medium"/>
              <a:buChar char="●"/>
              <a:defRPr sz="1200"/>
            </a:lvl4pPr>
            <a:lvl5pPr indent="-317500" lvl="4" marL="2286000">
              <a:spcBef>
                <a:spcPts val="1600"/>
              </a:spcBef>
              <a:spcAft>
                <a:spcPts val="0"/>
              </a:spcAft>
              <a:buClr>
                <a:srgbClr val="000043"/>
              </a:buClr>
              <a:buSzPts val="1400"/>
              <a:buFont typeface="Quicksand Medium"/>
              <a:buChar char="○"/>
              <a:defRPr sz="1200"/>
            </a:lvl5pPr>
            <a:lvl6pPr indent="-317500" lvl="5" marL="2743200">
              <a:spcBef>
                <a:spcPts val="1600"/>
              </a:spcBef>
              <a:spcAft>
                <a:spcPts val="0"/>
              </a:spcAft>
              <a:buClr>
                <a:srgbClr val="000043"/>
              </a:buClr>
              <a:buSzPts val="1400"/>
              <a:buFont typeface="Quicksand Medium"/>
              <a:buChar char="■"/>
              <a:defRPr sz="1200"/>
            </a:lvl6pPr>
            <a:lvl7pPr indent="-317500" lvl="6" marL="3200400">
              <a:spcBef>
                <a:spcPts val="1600"/>
              </a:spcBef>
              <a:spcAft>
                <a:spcPts val="0"/>
              </a:spcAft>
              <a:buClr>
                <a:srgbClr val="000043"/>
              </a:buClr>
              <a:buSzPts val="1400"/>
              <a:buFont typeface="Quicksand Medium"/>
              <a:buChar char="●"/>
              <a:defRPr sz="1200"/>
            </a:lvl7pPr>
            <a:lvl8pPr indent="-317500" lvl="7" marL="3657600">
              <a:spcBef>
                <a:spcPts val="1600"/>
              </a:spcBef>
              <a:spcAft>
                <a:spcPts val="0"/>
              </a:spcAft>
              <a:buClr>
                <a:srgbClr val="000043"/>
              </a:buClr>
              <a:buSzPts val="1400"/>
              <a:buFont typeface="Quicksand Medium"/>
              <a:buChar char="○"/>
              <a:defRPr sz="1200"/>
            </a:lvl8pPr>
            <a:lvl9pPr indent="-317500" lvl="8" marL="4114800">
              <a:spcBef>
                <a:spcPts val="1600"/>
              </a:spcBef>
              <a:spcAft>
                <a:spcPts val="1600"/>
              </a:spcAft>
              <a:buClr>
                <a:srgbClr val="000043"/>
              </a:buClr>
              <a:buSzPts val="1400"/>
              <a:buFont typeface="Quicksand Medium"/>
              <a:buChar char="■"/>
              <a:defRPr sz="1200"/>
            </a:lvl9pPr>
          </a:lstStyle>
          <a:p/>
        </p:txBody>
      </p:sp>
      <p:sp>
        <p:nvSpPr>
          <p:cNvPr id="35" name="Google Shape;35;p6"/>
          <p:cNvSpPr txBox="1"/>
          <p:nvPr>
            <p:ph idx="2" type="body"/>
          </p:nvPr>
        </p:nvSpPr>
        <p:spPr>
          <a:xfrm>
            <a:off x="3962400" y="2371675"/>
            <a:ext cx="2987100" cy="1279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000043"/>
              </a:buClr>
              <a:buSzPts val="1400"/>
              <a:buFont typeface="Quicksand Medium"/>
              <a:buChar char=""/>
              <a:defRPr sz="1400">
                <a:solidFill>
                  <a:schemeClr val="dk1"/>
                </a:solidFill>
              </a:defRPr>
            </a:lvl1pPr>
            <a:lvl2pPr indent="-317500" lvl="1" marL="914400">
              <a:spcBef>
                <a:spcPts val="0"/>
              </a:spcBef>
              <a:spcAft>
                <a:spcPts val="0"/>
              </a:spcAft>
              <a:buClr>
                <a:srgbClr val="000043"/>
              </a:buClr>
              <a:buSzPts val="1400"/>
              <a:buFont typeface="Quicksand Medium"/>
              <a:buChar char="●"/>
              <a:defRPr sz="1200"/>
            </a:lvl2pPr>
            <a:lvl3pPr indent="-317500" lvl="2" marL="1371600">
              <a:spcBef>
                <a:spcPts val="1600"/>
              </a:spcBef>
              <a:spcAft>
                <a:spcPts val="0"/>
              </a:spcAft>
              <a:buClr>
                <a:srgbClr val="000043"/>
              </a:buClr>
              <a:buSzPts val="1400"/>
              <a:buFont typeface="Quicksand Medium"/>
              <a:buChar char="■"/>
              <a:defRPr sz="1200"/>
            </a:lvl3pPr>
            <a:lvl4pPr indent="-317500" lvl="3" marL="1828800">
              <a:spcBef>
                <a:spcPts val="1600"/>
              </a:spcBef>
              <a:spcAft>
                <a:spcPts val="0"/>
              </a:spcAft>
              <a:buClr>
                <a:srgbClr val="000043"/>
              </a:buClr>
              <a:buSzPts val="1400"/>
              <a:buFont typeface="Quicksand Medium"/>
              <a:buChar char="●"/>
              <a:defRPr sz="1200"/>
            </a:lvl4pPr>
            <a:lvl5pPr indent="-317500" lvl="4" marL="2286000">
              <a:spcBef>
                <a:spcPts val="1600"/>
              </a:spcBef>
              <a:spcAft>
                <a:spcPts val="0"/>
              </a:spcAft>
              <a:buClr>
                <a:srgbClr val="000043"/>
              </a:buClr>
              <a:buSzPts val="1400"/>
              <a:buFont typeface="Quicksand Medium"/>
              <a:buChar char="○"/>
              <a:defRPr sz="1200"/>
            </a:lvl5pPr>
            <a:lvl6pPr indent="-317500" lvl="5" marL="2743200">
              <a:spcBef>
                <a:spcPts val="1600"/>
              </a:spcBef>
              <a:spcAft>
                <a:spcPts val="0"/>
              </a:spcAft>
              <a:buClr>
                <a:srgbClr val="000043"/>
              </a:buClr>
              <a:buSzPts val="1400"/>
              <a:buFont typeface="Quicksand Medium"/>
              <a:buChar char="■"/>
              <a:defRPr sz="1200"/>
            </a:lvl6pPr>
            <a:lvl7pPr indent="-317500" lvl="6" marL="3200400">
              <a:spcBef>
                <a:spcPts val="1600"/>
              </a:spcBef>
              <a:spcAft>
                <a:spcPts val="0"/>
              </a:spcAft>
              <a:buClr>
                <a:srgbClr val="000043"/>
              </a:buClr>
              <a:buSzPts val="1400"/>
              <a:buFont typeface="Quicksand Medium"/>
              <a:buChar char="●"/>
              <a:defRPr sz="1200"/>
            </a:lvl7pPr>
            <a:lvl8pPr indent="-317500" lvl="7" marL="3657600">
              <a:spcBef>
                <a:spcPts val="1600"/>
              </a:spcBef>
              <a:spcAft>
                <a:spcPts val="0"/>
              </a:spcAft>
              <a:buClr>
                <a:srgbClr val="000043"/>
              </a:buClr>
              <a:buSzPts val="1400"/>
              <a:buFont typeface="Quicksand Medium"/>
              <a:buChar char="○"/>
              <a:defRPr sz="1200"/>
            </a:lvl8pPr>
            <a:lvl9pPr indent="-317500" lvl="8" marL="4114800">
              <a:spcBef>
                <a:spcPts val="1600"/>
              </a:spcBef>
              <a:spcAft>
                <a:spcPts val="1600"/>
              </a:spcAft>
              <a:buClr>
                <a:srgbClr val="000043"/>
              </a:buClr>
              <a:buSzPts val="1400"/>
              <a:buFont typeface="Quicksand Medium"/>
              <a:buChar char="■"/>
              <a:defRPr sz="1200"/>
            </a:lvl9pPr>
          </a:lstStyle>
          <a:p/>
        </p:txBody>
      </p:sp>
      <p:sp>
        <p:nvSpPr>
          <p:cNvPr id="36" name="Google Shape;36;p6"/>
          <p:cNvSpPr txBox="1"/>
          <p:nvPr>
            <p:ph idx="3" type="subTitle"/>
          </p:nvPr>
        </p:nvSpPr>
        <p:spPr>
          <a:xfrm>
            <a:off x="713225" y="1925800"/>
            <a:ext cx="2987100" cy="470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800"/>
              <a:buNone/>
              <a:defRPr b="1">
                <a:solidFill>
                  <a:schemeClr val="accen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37" name="Google Shape;37;p6"/>
          <p:cNvSpPr txBox="1"/>
          <p:nvPr>
            <p:ph idx="4" type="subTitle"/>
          </p:nvPr>
        </p:nvSpPr>
        <p:spPr>
          <a:xfrm>
            <a:off x="3962400" y="1925800"/>
            <a:ext cx="2987100" cy="470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800"/>
              <a:buNone/>
              <a:defRPr b="1">
                <a:solidFill>
                  <a:schemeClr val="accen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8" name="Google Shape;38;p6"/>
          <p:cNvSpPr/>
          <p:nvPr/>
        </p:nvSpPr>
        <p:spPr>
          <a:xfrm>
            <a:off x="7520700" y="205110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a:off x="6304500" y="0"/>
            <a:ext cx="1216200" cy="205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7"/>
          <p:cNvSpPr/>
          <p:nvPr/>
        </p:nvSpPr>
        <p:spPr>
          <a:xfrm rot="5400000">
            <a:off x="6703350" y="270292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 name="Google Shape;45;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8"/>
          <p:cNvSpPr txBox="1"/>
          <p:nvPr>
            <p:ph type="title"/>
          </p:nvPr>
        </p:nvSpPr>
        <p:spPr>
          <a:xfrm>
            <a:off x="1156525" y="1340400"/>
            <a:ext cx="42321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8"/>
          <p:cNvSpPr txBox="1"/>
          <p:nvPr>
            <p:ph idx="1" type="body"/>
          </p:nvPr>
        </p:nvSpPr>
        <p:spPr>
          <a:xfrm>
            <a:off x="1156525" y="2096100"/>
            <a:ext cx="4232100" cy="201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solidFill>
                  <a:schemeClr val="accent2"/>
                </a:solidFill>
              </a:defRPr>
            </a:lvl1pPr>
            <a:lvl2pPr indent="-304800" lvl="1" marL="914400">
              <a:spcBef>
                <a:spcPts val="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8"/>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9"/>
          <p:cNvSpPr txBox="1"/>
          <p:nvPr>
            <p:ph type="title"/>
          </p:nvPr>
        </p:nvSpPr>
        <p:spPr>
          <a:xfrm>
            <a:off x="713225" y="1170000"/>
            <a:ext cx="5533200" cy="2803500"/>
          </a:xfrm>
          <a:prstGeom prst="rect">
            <a:avLst/>
          </a:prstGeom>
        </p:spPr>
        <p:txBody>
          <a:bodyPr anchorCtr="0" anchor="ctr" bIns="91425" lIns="91425" spcFirstLastPara="1" rIns="91425" wrap="square" tIns="91425">
            <a:noAutofit/>
          </a:bodyPr>
          <a:lstStyle>
            <a:lvl1pPr lvl="0">
              <a:spcBef>
                <a:spcPts val="0"/>
              </a:spcBef>
              <a:spcAft>
                <a:spcPts val="0"/>
              </a:spcAft>
              <a:buClr>
                <a:srgbClr val="434343"/>
              </a:buClr>
              <a:buSzPts val="4800"/>
              <a:buNone/>
              <a:defRPr sz="7400">
                <a:solidFill>
                  <a:srgbClr val="434343"/>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4" name="Google Shape;54;p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p:nvPr/>
        </p:nvSpPr>
        <p:spPr>
          <a:xfrm>
            <a:off x="7951325" y="2571750"/>
            <a:ext cx="1216200" cy="134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 name="Shape 57"/>
        <p:cNvGrpSpPr/>
        <p:nvPr/>
      </p:nvGrpSpPr>
      <p:grpSpPr>
        <a:xfrm>
          <a:off x="0" y="0"/>
          <a:ext cx="0" cy="0"/>
          <a:chOff x="0" y="0"/>
          <a:chExt cx="0" cy="0"/>
        </a:xfrm>
      </p:grpSpPr>
      <p:sp>
        <p:nvSpPr>
          <p:cNvPr id="58" name="Google Shape;58;p10"/>
          <p:cNvSpPr txBox="1"/>
          <p:nvPr>
            <p:ph type="title"/>
          </p:nvPr>
        </p:nvSpPr>
        <p:spPr>
          <a:xfrm>
            <a:off x="713375" y="2227050"/>
            <a:ext cx="4462500" cy="841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434343"/>
              </a:buClr>
              <a:buSzPts val="3600"/>
              <a:buNone/>
              <a:defRPr sz="4700">
                <a:solidFill>
                  <a:srgbClr val="434343"/>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59" name="Google Shape;59;p10"/>
          <p:cNvSpPr txBox="1"/>
          <p:nvPr>
            <p:ph idx="1" type="subTitle"/>
          </p:nvPr>
        </p:nvSpPr>
        <p:spPr>
          <a:xfrm>
            <a:off x="713225" y="3045375"/>
            <a:ext cx="4462500" cy="6780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60" name="Google Shape;60;p10"/>
          <p:cNvSpPr txBox="1"/>
          <p:nvPr>
            <p:ph hasCustomPrompt="1" idx="2" type="title"/>
          </p:nvPr>
        </p:nvSpPr>
        <p:spPr>
          <a:xfrm>
            <a:off x="713300" y="1262325"/>
            <a:ext cx="4462500" cy="1141800"/>
          </a:xfrm>
          <a:prstGeom prst="rect">
            <a:avLst/>
          </a:prstGeom>
        </p:spPr>
        <p:txBody>
          <a:bodyPr anchorCtr="0" anchor="b" bIns="91425" lIns="91425" spcFirstLastPara="1" rIns="91425" wrap="square" tIns="91425">
            <a:noAutofit/>
          </a:bodyPr>
          <a:lstStyle>
            <a:lvl1pPr lvl="0" rtl="0">
              <a:spcBef>
                <a:spcPts val="0"/>
              </a:spcBef>
              <a:spcAft>
                <a:spcPts val="0"/>
              </a:spcAft>
              <a:buSzPts val="7200"/>
              <a:buNone/>
              <a:defRPr sz="7200">
                <a:solidFill>
                  <a:schemeClr val="dk2"/>
                </a:solidFill>
              </a:defRPr>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61" name="Google Shape;61;p10"/>
          <p:cNvSpPr/>
          <p:nvPr/>
        </p:nvSpPr>
        <p:spPr>
          <a:xfrm>
            <a:off x="5270400" y="979500"/>
            <a:ext cx="1216200" cy="1592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a:off x="6486600" y="2571900"/>
            <a:ext cx="12162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1"/>
          <p:cNvSpPr txBox="1"/>
          <p:nvPr>
            <p:ph idx="1" type="body"/>
          </p:nvPr>
        </p:nvSpPr>
        <p:spPr>
          <a:xfrm>
            <a:off x="713225" y="544075"/>
            <a:ext cx="4264800" cy="1541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rgbClr val="434343"/>
              </a:buClr>
              <a:buSzPts val="1800"/>
              <a:buNone/>
              <a:defRPr b="1" sz="3800">
                <a:solidFill>
                  <a:srgbClr val="434343"/>
                </a:solidFill>
                <a:latin typeface="Inter"/>
                <a:ea typeface="Inter"/>
                <a:cs typeface="Inter"/>
                <a:sym typeface="Inter"/>
              </a:defRPr>
            </a:lvl1pPr>
          </a:lstStyle>
          <a:p/>
        </p:txBody>
      </p:sp>
      <p:sp>
        <p:nvSpPr>
          <p:cNvPr id="66" name="Google Shape;66;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434343"/>
                </a:solidFill>
                <a:latin typeface="Inter"/>
                <a:ea typeface="Inter"/>
                <a:cs typeface="Inter"/>
                <a:sym typeface="Inter"/>
              </a:defRPr>
            </a:lvl1pPr>
            <a:lvl2pPr lvl="1">
              <a:buNone/>
              <a:defRPr>
                <a:solidFill>
                  <a:srgbClr val="434343"/>
                </a:solidFill>
                <a:latin typeface="Inter"/>
                <a:ea typeface="Inter"/>
                <a:cs typeface="Inter"/>
                <a:sym typeface="Inter"/>
              </a:defRPr>
            </a:lvl2pPr>
            <a:lvl3pPr lvl="2">
              <a:buNone/>
              <a:defRPr>
                <a:solidFill>
                  <a:srgbClr val="434343"/>
                </a:solidFill>
                <a:latin typeface="Inter"/>
                <a:ea typeface="Inter"/>
                <a:cs typeface="Inter"/>
                <a:sym typeface="Inter"/>
              </a:defRPr>
            </a:lvl3pPr>
            <a:lvl4pPr lvl="3">
              <a:buNone/>
              <a:defRPr>
                <a:solidFill>
                  <a:srgbClr val="434343"/>
                </a:solidFill>
                <a:latin typeface="Inter"/>
                <a:ea typeface="Inter"/>
                <a:cs typeface="Inter"/>
                <a:sym typeface="Inter"/>
              </a:defRPr>
            </a:lvl4pPr>
            <a:lvl5pPr lvl="4">
              <a:buNone/>
              <a:defRPr>
                <a:solidFill>
                  <a:srgbClr val="434343"/>
                </a:solidFill>
                <a:latin typeface="Inter"/>
                <a:ea typeface="Inter"/>
                <a:cs typeface="Inter"/>
                <a:sym typeface="Inter"/>
              </a:defRPr>
            </a:lvl5pPr>
            <a:lvl6pPr lvl="5">
              <a:buNone/>
              <a:defRPr>
                <a:solidFill>
                  <a:srgbClr val="434343"/>
                </a:solidFill>
                <a:latin typeface="Inter"/>
                <a:ea typeface="Inter"/>
                <a:cs typeface="Inter"/>
                <a:sym typeface="Inter"/>
              </a:defRPr>
            </a:lvl6pPr>
            <a:lvl7pPr lvl="6">
              <a:buNone/>
              <a:defRPr>
                <a:solidFill>
                  <a:srgbClr val="434343"/>
                </a:solidFill>
                <a:latin typeface="Inter"/>
                <a:ea typeface="Inter"/>
                <a:cs typeface="Inter"/>
                <a:sym typeface="Inter"/>
              </a:defRPr>
            </a:lvl7pPr>
            <a:lvl8pPr lvl="7">
              <a:buNone/>
              <a:defRPr>
                <a:solidFill>
                  <a:srgbClr val="434343"/>
                </a:solidFill>
                <a:latin typeface="Inter"/>
                <a:ea typeface="Inter"/>
                <a:cs typeface="Inter"/>
                <a:sym typeface="Inter"/>
              </a:defRPr>
            </a:lvl8pPr>
            <a:lvl9pPr lvl="8">
              <a:buNone/>
              <a:defRPr>
                <a:solidFill>
                  <a:srgbClr val="434343"/>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12"/>
          <p:cNvSpPr txBox="1"/>
          <p:nvPr>
            <p:ph hasCustomPrompt="1" type="title"/>
          </p:nvPr>
        </p:nvSpPr>
        <p:spPr>
          <a:xfrm>
            <a:off x="713225" y="1412150"/>
            <a:ext cx="7717500" cy="1657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9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9" name="Google Shape;69;p12"/>
          <p:cNvSpPr txBox="1"/>
          <p:nvPr>
            <p:ph idx="1" type="body"/>
          </p:nvPr>
        </p:nvSpPr>
        <p:spPr>
          <a:xfrm>
            <a:off x="713400" y="3069625"/>
            <a:ext cx="7717500" cy="6615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sz="1400">
                <a:solidFill>
                  <a:schemeClr val="dk1"/>
                </a:solidFill>
              </a:defRPr>
            </a:lvl1pPr>
            <a:lvl2pPr indent="-317500" lvl="1" marL="914400" algn="ctr">
              <a:spcBef>
                <a:spcPts val="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70" name="Google Shape;70;p12"/>
          <p:cNvSpPr/>
          <p:nvPr/>
        </p:nvSpPr>
        <p:spPr>
          <a:xfrm flipH="1"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2"/>
          <p:cNvSpPr/>
          <p:nvPr/>
        </p:nvSpPr>
        <p:spPr>
          <a:xfrm flipH="1" rot="10800000">
            <a:off x="7927800"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75" name="Shape 75"/>
        <p:cNvGrpSpPr/>
        <p:nvPr/>
      </p:nvGrpSpPr>
      <p:grpSpPr>
        <a:xfrm>
          <a:off x="0" y="0"/>
          <a:ext cx="0" cy="0"/>
          <a:chOff x="0" y="0"/>
          <a:chExt cx="0" cy="0"/>
        </a:xfrm>
      </p:grpSpPr>
      <p:sp>
        <p:nvSpPr>
          <p:cNvPr id="76" name="Google Shape;76;p14"/>
          <p:cNvSpPr txBox="1"/>
          <p:nvPr>
            <p:ph type="title"/>
          </p:nvPr>
        </p:nvSpPr>
        <p:spPr>
          <a:xfrm>
            <a:off x="2683950" y="3273525"/>
            <a:ext cx="57573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b="1" sz="1800">
                <a:solidFill>
                  <a:schemeClr val="accent1"/>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4"/>
          <p:cNvSpPr txBox="1"/>
          <p:nvPr>
            <p:ph idx="1" type="subTitle"/>
          </p:nvPr>
        </p:nvSpPr>
        <p:spPr>
          <a:xfrm flipH="1">
            <a:off x="2684000" y="1247225"/>
            <a:ext cx="5757300" cy="1855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rgbClr val="434343"/>
              </a:buClr>
              <a:buSzPts val="1800"/>
              <a:buFont typeface="Didact Gothic"/>
              <a:buNone/>
              <a:defRPr sz="2800">
                <a:solidFill>
                  <a:srgbClr val="434343"/>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 name="Google Shape;78;p14"/>
          <p:cNvSpPr/>
          <p:nvPr/>
        </p:nvSpPr>
        <p:spPr>
          <a:xfrm flipH="1" rot="10800000">
            <a:off x="1216200" y="2571750"/>
            <a:ext cx="12162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flipH="1" rot="10800000">
            <a:off x="0" y="1061825"/>
            <a:ext cx="1216200" cy="150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81" name="Shape 81"/>
        <p:cNvGrpSpPr/>
        <p:nvPr/>
      </p:nvGrpSpPr>
      <p:grpSpPr>
        <a:xfrm>
          <a:off x="0" y="0"/>
          <a:ext cx="0" cy="0"/>
          <a:chOff x="0" y="0"/>
          <a:chExt cx="0" cy="0"/>
        </a:xfrm>
      </p:grpSpPr>
      <p:sp>
        <p:nvSpPr>
          <p:cNvPr id="82" name="Google Shape;82;p15"/>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p:txBody>
      </p:sp>
      <p:sp>
        <p:nvSpPr>
          <p:cNvPr id="83" name="Google Shape;83;p15"/>
          <p:cNvSpPr txBox="1"/>
          <p:nvPr>
            <p:ph idx="2" type="ctrTitle"/>
          </p:nvPr>
        </p:nvSpPr>
        <p:spPr>
          <a:xfrm>
            <a:off x="2310350" y="1446813"/>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84" name="Google Shape;84;p15"/>
          <p:cNvSpPr txBox="1"/>
          <p:nvPr>
            <p:ph hasCustomPrompt="1" idx="3" type="title"/>
          </p:nvPr>
        </p:nvSpPr>
        <p:spPr>
          <a:xfrm>
            <a:off x="717800" y="1521025"/>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6D9EEB"/>
              </a:buClr>
              <a:buSzPts val="8000"/>
              <a:buNone/>
              <a:defRPr sz="7000">
                <a:solidFill>
                  <a:srgbClr val="6D9EEB"/>
                </a:solidFill>
              </a:defRPr>
            </a:lvl1pPr>
            <a:lvl2pPr lvl="1"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9pPr>
          </a:lstStyle>
          <a:p>
            <a:r>
              <a:t>xx%</a:t>
            </a:r>
          </a:p>
        </p:txBody>
      </p:sp>
      <p:sp>
        <p:nvSpPr>
          <p:cNvPr id="85" name="Google Shape;85;p15"/>
          <p:cNvSpPr txBox="1"/>
          <p:nvPr>
            <p:ph idx="1" type="subTitle"/>
          </p:nvPr>
        </p:nvSpPr>
        <p:spPr>
          <a:xfrm>
            <a:off x="2310350" y="185887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86" name="Google Shape;86;p15"/>
          <p:cNvSpPr txBox="1"/>
          <p:nvPr>
            <p:ph idx="4" type="ctrTitle"/>
          </p:nvPr>
        </p:nvSpPr>
        <p:spPr>
          <a:xfrm>
            <a:off x="6233050" y="1446813"/>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87" name="Google Shape;87;p15"/>
          <p:cNvSpPr txBox="1"/>
          <p:nvPr>
            <p:ph hasCustomPrompt="1" idx="5" type="title"/>
          </p:nvPr>
        </p:nvSpPr>
        <p:spPr>
          <a:xfrm>
            <a:off x="4686400" y="1521025"/>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6D9EEB"/>
              </a:buClr>
              <a:buSzPts val="8000"/>
              <a:buNone/>
              <a:defRPr sz="7000">
                <a:solidFill>
                  <a:srgbClr val="6D9EEB"/>
                </a:solidFill>
              </a:defRPr>
            </a:lvl1pPr>
            <a:lvl2pPr lvl="1"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9pPr>
          </a:lstStyle>
          <a:p>
            <a:r>
              <a:t>xx%</a:t>
            </a:r>
          </a:p>
        </p:txBody>
      </p:sp>
      <p:sp>
        <p:nvSpPr>
          <p:cNvPr id="88" name="Google Shape;88;p15"/>
          <p:cNvSpPr txBox="1"/>
          <p:nvPr>
            <p:ph idx="6" type="subTitle"/>
          </p:nvPr>
        </p:nvSpPr>
        <p:spPr>
          <a:xfrm>
            <a:off x="6275800" y="1858878"/>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89" name="Google Shape;89;p15"/>
          <p:cNvSpPr txBox="1"/>
          <p:nvPr>
            <p:ph idx="7" type="ctrTitle"/>
          </p:nvPr>
        </p:nvSpPr>
        <p:spPr>
          <a:xfrm>
            <a:off x="2310350" y="2868777"/>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90" name="Google Shape;90;p15"/>
          <p:cNvSpPr txBox="1"/>
          <p:nvPr>
            <p:ph hasCustomPrompt="1" idx="8" type="title"/>
          </p:nvPr>
        </p:nvSpPr>
        <p:spPr>
          <a:xfrm>
            <a:off x="717800" y="2960450"/>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6D9EEB"/>
              </a:buClr>
              <a:buSzPts val="8000"/>
              <a:buNone/>
              <a:defRPr sz="7000">
                <a:solidFill>
                  <a:srgbClr val="6D9EEB"/>
                </a:solidFill>
              </a:defRPr>
            </a:lvl1pPr>
            <a:lvl2pPr lvl="1"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9pPr>
          </a:lstStyle>
          <a:p>
            <a:r>
              <a:t>xx%</a:t>
            </a:r>
          </a:p>
        </p:txBody>
      </p:sp>
      <p:sp>
        <p:nvSpPr>
          <p:cNvPr id="91" name="Google Shape;91;p15"/>
          <p:cNvSpPr txBox="1"/>
          <p:nvPr>
            <p:ph idx="9" type="subTitle"/>
          </p:nvPr>
        </p:nvSpPr>
        <p:spPr>
          <a:xfrm>
            <a:off x="2310350" y="329832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92" name="Google Shape;92;p15"/>
          <p:cNvSpPr txBox="1"/>
          <p:nvPr>
            <p:ph idx="13" type="ctrTitle"/>
          </p:nvPr>
        </p:nvSpPr>
        <p:spPr>
          <a:xfrm>
            <a:off x="6275650" y="2868775"/>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93" name="Google Shape;93;p15"/>
          <p:cNvSpPr txBox="1"/>
          <p:nvPr>
            <p:ph hasCustomPrompt="1" idx="14" type="title"/>
          </p:nvPr>
        </p:nvSpPr>
        <p:spPr>
          <a:xfrm>
            <a:off x="4686400" y="2960450"/>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6D9EEB"/>
              </a:buClr>
              <a:buSzPts val="8000"/>
              <a:buNone/>
              <a:defRPr sz="7000">
                <a:solidFill>
                  <a:srgbClr val="6D9EEB"/>
                </a:solidFill>
              </a:defRPr>
            </a:lvl1pPr>
            <a:lvl2pPr lvl="1"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6D9EEB"/>
              </a:buClr>
              <a:buSzPts val="8000"/>
              <a:buFont typeface="Fira Sans Extra Condensed Medium"/>
              <a:buNone/>
              <a:defRPr sz="8000">
                <a:solidFill>
                  <a:srgbClr val="6D9EEB"/>
                </a:solidFill>
                <a:latin typeface="Fira Sans Extra Condensed Medium"/>
                <a:ea typeface="Fira Sans Extra Condensed Medium"/>
                <a:cs typeface="Fira Sans Extra Condensed Medium"/>
                <a:sym typeface="Fira Sans Extra Condensed Medium"/>
              </a:defRPr>
            </a:lvl9pPr>
          </a:lstStyle>
          <a:p>
            <a:r>
              <a:t>xx%</a:t>
            </a:r>
          </a:p>
        </p:txBody>
      </p:sp>
      <p:sp>
        <p:nvSpPr>
          <p:cNvPr id="94" name="Google Shape;94;p15"/>
          <p:cNvSpPr txBox="1"/>
          <p:nvPr>
            <p:ph idx="15" type="subTitle"/>
          </p:nvPr>
        </p:nvSpPr>
        <p:spPr>
          <a:xfrm>
            <a:off x="6275800" y="329832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95" name="Google Shape;95;p15"/>
          <p:cNvSpPr/>
          <p:nvPr/>
        </p:nvSpPr>
        <p:spPr>
          <a:xfrm>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
    <p:spTree>
      <p:nvGrpSpPr>
        <p:cNvPr id="98" name="Shape 98"/>
        <p:cNvGrpSpPr/>
        <p:nvPr/>
      </p:nvGrpSpPr>
      <p:grpSpPr>
        <a:xfrm>
          <a:off x="0" y="0"/>
          <a:ext cx="0" cy="0"/>
          <a:chOff x="0" y="0"/>
          <a:chExt cx="0" cy="0"/>
        </a:xfrm>
      </p:grpSpPr>
      <p:sp>
        <p:nvSpPr>
          <p:cNvPr id="99" name="Google Shape;99;p16"/>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00" name="Google Shape;100;p16"/>
          <p:cNvSpPr txBox="1"/>
          <p:nvPr>
            <p:ph idx="1" type="subTitle"/>
          </p:nvPr>
        </p:nvSpPr>
        <p:spPr>
          <a:xfrm>
            <a:off x="1454225" y="33913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01" name="Google Shape;101;p16"/>
          <p:cNvSpPr txBox="1"/>
          <p:nvPr>
            <p:ph idx="2" type="subTitle"/>
          </p:nvPr>
        </p:nvSpPr>
        <p:spPr>
          <a:xfrm>
            <a:off x="1454225" y="37667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102" name="Google Shape;102;p16"/>
          <p:cNvSpPr txBox="1"/>
          <p:nvPr>
            <p:ph idx="3" type="subTitle"/>
          </p:nvPr>
        </p:nvSpPr>
        <p:spPr>
          <a:xfrm>
            <a:off x="5427875" y="33913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03" name="Google Shape;103;p16"/>
          <p:cNvSpPr txBox="1"/>
          <p:nvPr>
            <p:ph idx="4" type="subTitle"/>
          </p:nvPr>
        </p:nvSpPr>
        <p:spPr>
          <a:xfrm>
            <a:off x="5427875" y="37667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104" name="Google Shape;104;p16"/>
          <p:cNvSpPr/>
          <p:nvPr/>
        </p:nvSpPr>
        <p:spPr>
          <a:xfrm rot="5400000">
            <a:off x="-2131350" y="2050000"/>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5">
    <p:spTree>
      <p:nvGrpSpPr>
        <p:cNvPr id="106" name="Shape 106"/>
        <p:cNvGrpSpPr/>
        <p:nvPr/>
      </p:nvGrpSpPr>
      <p:grpSpPr>
        <a:xfrm>
          <a:off x="0" y="0"/>
          <a:ext cx="0" cy="0"/>
          <a:chOff x="0" y="0"/>
          <a:chExt cx="0" cy="0"/>
        </a:xfrm>
      </p:grpSpPr>
      <p:sp>
        <p:nvSpPr>
          <p:cNvPr id="107" name="Google Shape;107;p17"/>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08" name="Google Shape;108;p17"/>
          <p:cNvSpPr txBox="1"/>
          <p:nvPr>
            <p:ph idx="1" type="subTitle"/>
          </p:nvPr>
        </p:nvSpPr>
        <p:spPr>
          <a:xfrm>
            <a:off x="1098800" y="3775200"/>
            <a:ext cx="28131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09" name="Google Shape;109;p17"/>
          <p:cNvSpPr txBox="1"/>
          <p:nvPr>
            <p:ph idx="2" type="subTitle"/>
          </p:nvPr>
        </p:nvSpPr>
        <p:spPr>
          <a:xfrm>
            <a:off x="1098800" y="3051300"/>
            <a:ext cx="28131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10" name="Google Shape;110;p17"/>
          <p:cNvSpPr txBox="1"/>
          <p:nvPr>
            <p:ph idx="3" type="subTitle"/>
          </p:nvPr>
        </p:nvSpPr>
        <p:spPr>
          <a:xfrm>
            <a:off x="1098800" y="2315550"/>
            <a:ext cx="28131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11" name="Google Shape;111;p17"/>
          <p:cNvSpPr txBox="1"/>
          <p:nvPr>
            <p:ph idx="4" type="subTitle"/>
          </p:nvPr>
        </p:nvSpPr>
        <p:spPr>
          <a:xfrm>
            <a:off x="1098800" y="1591650"/>
            <a:ext cx="28131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12" name="Google Shape;112;p17"/>
          <p:cNvSpPr/>
          <p:nvPr/>
        </p:nvSpPr>
        <p:spPr>
          <a:xfrm flipH="1" rot="10800000">
            <a:off x="5416200" y="1010100"/>
            <a:ext cx="1216200" cy="15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flipH="1" rot="10800000">
            <a:off x="6632400" y="2571600"/>
            <a:ext cx="1216200" cy="2571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15" name="Shape 115"/>
        <p:cNvGrpSpPr/>
        <p:nvPr/>
      </p:nvGrpSpPr>
      <p:grpSpPr>
        <a:xfrm>
          <a:off x="0" y="0"/>
          <a:ext cx="0" cy="0"/>
          <a:chOff x="0" y="0"/>
          <a:chExt cx="0" cy="0"/>
        </a:xfrm>
      </p:grpSpPr>
      <p:sp>
        <p:nvSpPr>
          <p:cNvPr id="116" name="Google Shape;116;p18"/>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17" name="Google Shape;117;p18"/>
          <p:cNvSpPr txBox="1"/>
          <p:nvPr>
            <p:ph idx="1" type="subTitle"/>
          </p:nvPr>
        </p:nvSpPr>
        <p:spPr>
          <a:xfrm>
            <a:off x="78810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18" name="Google Shape;118;p18"/>
          <p:cNvSpPr txBox="1"/>
          <p:nvPr>
            <p:ph idx="2" type="subTitle"/>
          </p:nvPr>
        </p:nvSpPr>
        <p:spPr>
          <a:xfrm>
            <a:off x="78810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19" name="Google Shape;119;p18"/>
          <p:cNvSpPr txBox="1"/>
          <p:nvPr>
            <p:ph idx="3" type="subTitle"/>
          </p:nvPr>
        </p:nvSpPr>
        <p:spPr>
          <a:xfrm>
            <a:off x="344115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20" name="Google Shape;120;p18"/>
          <p:cNvSpPr txBox="1"/>
          <p:nvPr>
            <p:ph idx="4" type="subTitle"/>
          </p:nvPr>
        </p:nvSpPr>
        <p:spPr>
          <a:xfrm>
            <a:off x="344115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21" name="Google Shape;121;p18"/>
          <p:cNvSpPr txBox="1"/>
          <p:nvPr>
            <p:ph idx="5" type="subTitle"/>
          </p:nvPr>
        </p:nvSpPr>
        <p:spPr>
          <a:xfrm>
            <a:off x="609420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22" name="Google Shape;122;p18"/>
          <p:cNvSpPr txBox="1"/>
          <p:nvPr>
            <p:ph idx="6" type="subTitle"/>
          </p:nvPr>
        </p:nvSpPr>
        <p:spPr>
          <a:xfrm>
            <a:off x="609420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23" name="Google Shape;123;p18"/>
          <p:cNvSpPr/>
          <p:nvPr/>
        </p:nvSpPr>
        <p:spPr>
          <a:xfrm flipH="1">
            <a:off x="457200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8"/>
          <p:cNvSpPr/>
          <p:nvPr/>
        </p:nvSpPr>
        <p:spPr>
          <a:xfrm flipH="1">
            <a:off x="5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p:cSld name="CUSTOM_3">
    <p:spTree>
      <p:nvGrpSpPr>
        <p:cNvPr id="126" name="Shape 126"/>
        <p:cNvGrpSpPr/>
        <p:nvPr/>
      </p:nvGrpSpPr>
      <p:grpSpPr>
        <a:xfrm>
          <a:off x="0" y="0"/>
          <a:ext cx="0" cy="0"/>
          <a:chOff x="0" y="0"/>
          <a:chExt cx="0" cy="0"/>
        </a:xfrm>
      </p:grpSpPr>
      <p:sp>
        <p:nvSpPr>
          <p:cNvPr id="127" name="Google Shape;127;p19"/>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28" name="Google Shape;128;p19"/>
          <p:cNvSpPr txBox="1"/>
          <p:nvPr>
            <p:ph idx="1" type="subTitle"/>
          </p:nvPr>
        </p:nvSpPr>
        <p:spPr>
          <a:xfrm>
            <a:off x="1878275" y="1251675"/>
            <a:ext cx="2787600" cy="423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29" name="Google Shape;129;p19"/>
          <p:cNvSpPr txBox="1"/>
          <p:nvPr>
            <p:ph idx="2" type="subTitle"/>
          </p:nvPr>
        </p:nvSpPr>
        <p:spPr>
          <a:xfrm>
            <a:off x="1878275" y="1744345"/>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30" name="Google Shape;130;p19"/>
          <p:cNvSpPr txBox="1"/>
          <p:nvPr>
            <p:ph idx="3" type="subTitle"/>
          </p:nvPr>
        </p:nvSpPr>
        <p:spPr>
          <a:xfrm>
            <a:off x="5351497" y="1251675"/>
            <a:ext cx="2787600" cy="423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31" name="Google Shape;131;p19"/>
          <p:cNvSpPr txBox="1"/>
          <p:nvPr>
            <p:ph idx="4" type="subTitle"/>
          </p:nvPr>
        </p:nvSpPr>
        <p:spPr>
          <a:xfrm>
            <a:off x="5351493" y="1744282"/>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32" name="Google Shape;132;p19"/>
          <p:cNvSpPr txBox="1"/>
          <p:nvPr>
            <p:ph idx="5" type="subTitle"/>
          </p:nvPr>
        </p:nvSpPr>
        <p:spPr>
          <a:xfrm>
            <a:off x="1878275" y="2898148"/>
            <a:ext cx="2787600" cy="3402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33" name="Google Shape;133;p19"/>
          <p:cNvSpPr txBox="1"/>
          <p:nvPr>
            <p:ph idx="6" type="subTitle"/>
          </p:nvPr>
        </p:nvSpPr>
        <p:spPr>
          <a:xfrm>
            <a:off x="1878275" y="3390754"/>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34" name="Google Shape;134;p19"/>
          <p:cNvSpPr txBox="1"/>
          <p:nvPr>
            <p:ph idx="7" type="subTitle"/>
          </p:nvPr>
        </p:nvSpPr>
        <p:spPr>
          <a:xfrm>
            <a:off x="5351425" y="2898156"/>
            <a:ext cx="2787600" cy="3402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35" name="Google Shape;135;p19"/>
          <p:cNvSpPr txBox="1"/>
          <p:nvPr>
            <p:ph idx="8" type="subTitle"/>
          </p:nvPr>
        </p:nvSpPr>
        <p:spPr>
          <a:xfrm>
            <a:off x="5351425" y="3390754"/>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36" name="Google Shape;136;p19"/>
          <p:cNvSpPr txBox="1"/>
          <p:nvPr>
            <p:ph idx="9" type="subTitle"/>
          </p:nvPr>
        </p:nvSpPr>
        <p:spPr>
          <a:xfrm rot="-5400803">
            <a:off x="609009" y="1779468"/>
            <a:ext cx="1284300" cy="4926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None/>
              <a:defRPr b="1">
                <a:solidFill>
                  <a:schemeClr val="lt1"/>
                </a:solidFill>
              </a:defRPr>
            </a:lvl1pPr>
            <a:lvl2pPr lvl="1">
              <a:spcBef>
                <a:spcPts val="1600"/>
              </a:spcBef>
              <a:spcAft>
                <a:spcPts val="0"/>
              </a:spcAft>
              <a:buSzPts val="1400"/>
              <a:buNone/>
              <a:defRPr b="1"/>
            </a:lvl2pPr>
            <a:lvl3pPr lvl="2">
              <a:spcBef>
                <a:spcPts val="1600"/>
              </a:spcBef>
              <a:spcAft>
                <a:spcPts val="0"/>
              </a:spcAft>
              <a:buSzPts val="1400"/>
              <a:buNone/>
              <a:defRPr b="1"/>
            </a:lvl3pPr>
            <a:lvl4pPr lvl="3">
              <a:spcBef>
                <a:spcPts val="1600"/>
              </a:spcBef>
              <a:spcAft>
                <a:spcPts val="0"/>
              </a:spcAft>
              <a:buSzPts val="1400"/>
              <a:buNone/>
              <a:defRPr b="1"/>
            </a:lvl4pPr>
            <a:lvl5pPr lvl="4">
              <a:spcBef>
                <a:spcPts val="1600"/>
              </a:spcBef>
              <a:spcAft>
                <a:spcPts val="0"/>
              </a:spcAft>
              <a:buSzPts val="1400"/>
              <a:buNone/>
              <a:defRPr b="1"/>
            </a:lvl5pPr>
            <a:lvl6pPr lvl="5">
              <a:spcBef>
                <a:spcPts val="1600"/>
              </a:spcBef>
              <a:spcAft>
                <a:spcPts val="0"/>
              </a:spcAft>
              <a:buSzPts val="1400"/>
              <a:buNone/>
              <a:defRPr b="1"/>
            </a:lvl6pPr>
            <a:lvl7pPr lvl="6">
              <a:spcBef>
                <a:spcPts val="1600"/>
              </a:spcBef>
              <a:spcAft>
                <a:spcPts val="0"/>
              </a:spcAft>
              <a:buSzPts val="1400"/>
              <a:buNone/>
              <a:defRPr b="1"/>
            </a:lvl7pPr>
            <a:lvl8pPr lvl="7">
              <a:spcBef>
                <a:spcPts val="1600"/>
              </a:spcBef>
              <a:spcAft>
                <a:spcPts val="0"/>
              </a:spcAft>
              <a:buSzPts val="1400"/>
              <a:buNone/>
              <a:defRPr b="1"/>
            </a:lvl8pPr>
            <a:lvl9pPr lvl="8">
              <a:spcBef>
                <a:spcPts val="1600"/>
              </a:spcBef>
              <a:spcAft>
                <a:spcPts val="1600"/>
              </a:spcAft>
              <a:buSzPts val="1400"/>
              <a:buNone/>
              <a:defRPr b="1"/>
            </a:lvl9pPr>
          </a:lstStyle>
          <a:p/>
        </p:txBody>
      </p:sp>
      <p:sp>
        <p:nvSpPr>
          <p:cNvPr id="137" name="Google Shape;137;p19"/>
          <p:cNvSpPr txBox="1"/>
          <p:nvPr>
            <p:ph idx="13" type="subTitle"/>
          </p:nvPr>
        </p:nvSpPr>
        <p:spPr>
          <a:xfrm rot="-5400000">
            <a:off x="609075" y="3422400"/>
            <a:ext cx="1284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None/>
              <a:defRPr b="1">
                <a:solidFill>
                  <a:schemeClr val="lt1"/>
                </a:solidFill>
              </a:defRPr>
            </a:lvl1pPr>
            <a:lvl2pPr lvl="1" rtl="0">
              <a:spcBef>
                <a:spcPts val="1600"/>
              </a:spcBef>
              <a:spcAft>
                <a:spcPts val="0"/>
              </a:spcAft>
              <a:buSzPts val="1400"/>
              <a:buNone/>
              <a:defRPr b="1"/>
            </a:lvl2pPr>
            <a:lvl3pPr lvl="2" rtl="0">
              <a:spcBef>
                <a:spcPts val="1600"/>
              </a:spcBef>
              <a:spcAft>
                <a:spcPts val="0"/>
              </a:spcAft>
              <a:buSzPts val="1400"/>
              <a:buNone/>
              <a:defRPr b="1"/>
            </a:lvl3pPr>
            <a:lvl4pPr lvl="3" rtl="0">
              <a:spcBef>
                <a:spcPts val="1600"/>
              </a:spcBef>
              <a:spcAft>
                <a:spcPts val="0"/>
              </a:spcAft>
              <a:buSzPts val="1400"/>
              <a:buNone/>
              <a:defRPr b="1"/>
            </a:lvl4pPr>
            <a:lvl5pPr lvl="4" rtl="0">
              <a:spcBef>
                <a:spcPts val="1600"/>
              </a:spcBef>
              <a:spcAft>
                <a:spcPts val="0"/>
              </a:spcAft>
              <a:buSzPts val="1400"/>
              <a:buNone/>
              <a:defRPr b="1"/>
            </a:lvl5pPr>
            <a:lvl6pPr lvl="5" rtl="0">
              <a:spcBef>
                <a:spcPts val="1600"/>
              </a:spcBef>
              <a:spcAft>
                <a:spcPts val="0"/>
              </a:spcAft>
              <a:buSzPts val="1400"/>
              <a:buNone/>
              <a:defRPr b="1"/>
            </a:lvl6pPr>
            <a:lvl7pPr lvl="6" rtl="0">
              <a:spcBef>
                <a:spcPts val="1600"/>
              </a:spcBef>
              <a:spcAft>
                <a:spcPts val="0"/>
              </a:spcAft>
              <a:buSzPts val="1400"/>
              <a:buNone/>
              <a:defRPr b="1"/>
            </a:lvl7pPr>
            <a:lvl8pPr lvl="7" rtl="0">
              <a:spcBef>
                <a:spcPts val="1600"/>
              </a:spcBef>
              <a:spcAft>
                <a:spcPts val="0"/>
              </a:spcAft>
              <a:buSzPts val="1400"/>
              <a:buNone/>
              <a:defRPr b="1"/>
            </a:lvl8pPr>
            <a:lvl9pPr lvl="8" rtl="0">
              <a:spcBef>
                <a:spcPts val="1600"/>
              </a:spcBef>
              <a:spcAft>
                <a:spcPts val="1600"/>
              </a:spcAft>
              <a:buSzPts val="1400"/>
              <a:buNone/>
              <a:defRPr b="1"/>
            </a:lvl9pPr>
          </a:lstStyle>
          <a:p/>
        </p:txBody>
      </p:sp>
      <p:sp>
        <p:nvSpPr>
          <p:cNvPr id="138" name="Google Shape;138;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4">
    <p:spTree>
      <p:nvGrpSpPr>
        <p:cNvPr id="139" name="Shape 139"/>
        <p:cNvGrpSpPr/>
        <p:nvPr/>
      </p:nvGrpSpPr>
      <p:grpSpPr>
        <a:xfrm>
          <a:off x="0" y="0"/>
          <a:ext cx="0" cy="0"/>
          <a:chOff x="0" y="0"/>
          <a:chExt cx="0" cy="0"/>
        </a:xfrm>
      </p:grpSpPr>
      <p:sp>
        <p:nvSpPr>
          <p:cNvPr id="140" name="Google Shape;140;p20"/>
          <p:cNvSpPr txBox="1"/>
          <p:nvPr>
            <p:ph idx="1" type="subTitle"/>
          </p:nvPr>
        </p:nvSpPr>
        <p:spPr>
          <a:xfrm>
            <a:off x="5951340" y="1570850"/>
            <a:ext cx="2479500" cy="4239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41" name="Google Shape;141;p20"/>
          <p:cNvSpPr txBox="1"/>
          <p:nvPr>
            <p:ph idx="2" type="subTitle"/>
          </p:nvPr>
        </p:nvSpPr>
        <p:spPr>
          <a:xfrm>
            <a:off x="5951336" y="1941975"/>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1600"/>
              </a:spcBef>
              <a:spcAft>
                <a:spcPts val="0"/>
              </a:spcAft>
              <a:buNone/>
              <a:defRPr sz="1400">
                <a:solidFill>
                  <a:schemeClr val="dk1"/>
                </a:solidFill>
              </a:defRPr>
            </a:lvl2pPr>
            <a:lvl3pPr lvl="2" rtl="0" algn="r">
              <a:lnSpc>
                <a:spcPct val="100000"/>
              </a:lnSpc>
              <a:spcBef>
                <a:spcPts val="1600"/>
              </a:spcBef>
              <a:spcAft>
                <a:spcPts val="0"/>
              </a:spcAft>
              <a:buNone/>
              <a:defRPr sz="1400">
                <a:solidFill>
                  <a:schemeClr val="dk1"/>
                </a:solidFill>
              </a:defRPr>
            </a:lvl3pPr>
            <a:lvl4pPr lvl="3" rtl="0" algn="r">
              <a:lnSpc>
                <a:spcPct val="100000"/>
              </a:lnSpc>
              <a:spcBef>
                <a:spcPts val="1600"/>
              </a:spcBef>
              <a:spcAft>
                <a:spcPts val="0"/>
              </a:spcAft>
              <a:buNone/>
              <a:defRPr sz="1400">
                <a:solidFill>
                  <a:schemeClr val="dk1"/>
                </a:solidFill>
              </a:defRPr>
            </a:lvl4pPr>
            <a:lvl5pPr lvl="4" rtl="0" algn="r">
              <a:lnSpc>
                <a:spcPct val="100000"/>
              </a:lnSpc>
              <a:spcBef>
                <a:spcPts val="1600"/>
              </a:spcBef>
              <a:spcAft>
                <a:spcPts val="0"/>
              </a:spcAft>
              <a:buNone/>
              <a:defRPr sz="1400">
                <a:solidFill>
                  <a:schemeClr val="dk1"/>
                </a:solidFill>
              </a:defRPr>
            </a:lvl5pPr>
            <a:lvl6pPr lvl="5" rtl="0" algn="r">
              <a:lnSpc>
                <a:spcPct val="100000"/>
              </a:lnSpc>
              <a:spcBef>
                <a:spcPts val="1600"/>
              </a:spcBef>
              <a:spcAft>
                <a:spcPts val="0"/>
              </a:spcAft>
              <a:buNone/>
              <a:defRPr sz="1400">
                <a:solidFill>
                  <a:schemeClr val="dk1"/>
                </a:solidFill>
              </a:defRPr>
            </a:lvl6pPr>
            <a:lvl7pPr lvl="6" rtl="0" algn="r">
              <a:lnSpc>
                <a:spcPct val="100000"/>
              </a:lnSpc>
              <a:spcBef>
                <a:spcPts val="1600"/>
              </a:spcBef>
              <a:spcAft>
                <a:spcPts val="0"/>
              </a:spcAft>
              <a:buNone/>
              <a:defRPr sz="1400">
                <a:solidFill>
                  <a:schemeClr val="dk1"/>
                </a:solidFill>
              </a:defRPr>
            </a:lvl7pPr>
            <a:lvl8pPr lvl="7" rtl="0" algn="r">
              <a:lnSpc>
                <a:spcPct val="100000"/>
              </a:lnSpc>
              <a:spcBef>
                <a:spcPts val="1600"/>
              </a:spcBef>
              <a:spcAft>
                <a:spcPts val="0"/>
              </a:spcAft>
              <a:buNone/>
              <a:defRPr sz="1400">
                <a:solidFill>
                  <a:schemeClr val="dk1"/>
                </a:solidFill>
              </a:defRPr>
            </a:lvl8pPr>
            <a:lvl9pPr lvl="8" rtl="0" algn="r">
              <a:lnSpc>
                <a:spcPct val="100000"/>
              </a:lnSpc>
              <a:spcBef>
                <a:spcPts val="1600"/>
              </a:spcBef>
              <a:spcAft>
                <a:spcPts val="1600"/>
              </a:spcAft>
              <a:buNone/>
              <a:defRPr sz="1400">
                <a:solidFill>
                  <a:schemeClr val="dk1"/>
                </a:solidFill>
              </a:defRPr>
            </a:lvl9pPr>
          </a:lstStyle>
          <a:p/>
        </p:txBody>
      </p:sp>
      <p:sp>
        <p:nvSpPr>
          <p:cNvPr id="142" name="Google Shape;142;p20"/>
          <p:cNvSpPr txBox="1"/>
          <p:nvPr>
            <p:ph idx="3" type="subTitle"/>
          </p:nvPr>
        </p:nvSpPr>
        <p:spPr>
          <a:xfrm>
            <a:off x="5951276" y="3064926"/>
            <a:ext cx="2479500" cy="3402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43" name="Google Shape;143;p20"/>
          <p:cNvSpPr txBox="1"/>
          <p:nvPr>
            <p:ph idx="4" type="subTitle"/>
          </p:nvPr>
        </p:nvSpPr>
        <p:spPr>
          <a:xfrm>
            <a:off x="5951276" y="3436049"/>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144" name="Google Shape;144;p20"/>
          <p:cNvSpPr txBox="1"/>
          <p:nvPr>
            <p:ph idx="5" type="subTitle"/>
          </p:nvPr>
        </p:nvSpPr>
        <p:spPr>
          <a:xfrm>
            <a:off x="3156090" y="1570850"/>
            <a:ext cx="2479500" cy="4239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45" name="Google Shape;145;p20"/>
          <p:cNvSpPr txBox="1"/>
          <p:nvPr>
            <p:ph idx="6" type="subTitle"/>
          </p:nvPr>
        </p:nvSpPr>
        <p:spPr>
          <a:xfrm>
            <a:off x="3156036" y="1941975"/>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146" name="Google Shape;146;p20"/>
          <p:cNvSpPr txBox="1"/>
          <p:nvPr>
            <p:ph idx="7" type="subTitle"/>
          </p:nvPr>
        </p:nvSpPr>
        <p:spPr>
          <a:xfrm>
            <a:off x="3156026" y="3064926"/>
            <a:ext cx="2479500" cy="3402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47" name="Google Shape;147;p20"/>
          <p:cNvSpPr txBox="1"/>
          <p:nvPr>
            <p:ph idx="8" type="subTitle"/>
          </p:nvPr>
        </p:nvSpPr>
        <p:spPr>
          <a:xfrm>
            <a:off x="3155976" y="3436049"/>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1600"/>
              </a:spcBef>
              <a:spcAft>
                <a:spcPts val="0"/>
              </a:spcAft>
              <a:buNone/>
              <a:defRPr sz="1400">
                <a:solidFill>
                  <a:schemeClr val="dk1"/>
                </a:solidFill>
              </a:defRPr>
            </a:lvl2pPr>
            <a:lvl3pPr lvl="2" rtl="0" algn="r">
              <a:lnSpc>
                <a:spcPct val="100000"/>
              </a:lnSpc>
              <a:spcBef>
                <a:spcPts val="1600"/>
              </a:spcBef>
              <a:spcAft>
                <a:spcPts val="0"/>
              </a:spcAft>
              <a:buNone/>
              <a:defRPr sz="1400">
                <a:solidFill>
                  <a:schemeClr val="dk1"/>
                </a:solidFill>
              </a:defRPr>
            </a:lvl3pPr>
            <a:lvl4pPr lvl="3" rtl="0" algn="r">
              <a:lnSpc>
                <a:spcPct val="100000"/>
              </a:lnSpc>
              <a:spcBef>
                <a:spcPts val="1600"/>
              </a:spcBef>
              <a:spcAft>
                <a:spcPts val="0"/>
              </a:spcAft>
              <a:buNone/>
              <a:defRPr sz="1400">
                <a:solidFill>
                  <a:schemeClr val="dk1"/>
                </a:solidFill>
              </a:defRPr>
            </a:lvl4pPr>
            <a:lvl5pPr lvl="4" rtl="0" algn="r">
              <a:lnSpc>
                <a:spcPct val="100000"/>
              </a:lnSpc>
              <a:spcBef>
                <a:spcPts val="1600"/>
              </a:spcBef>
              <a:spcAft>
                <a:spcPts val="0"/>
              </a:spcAft>
              <a:buNone/>
              <a:defRPr sz="1400">
                <a:solidFill>
                  <a:schemeClr val="dk1"/>
                </a:solidFill>
              </a:defRPr>
            </a:lvl5pPr>
            <a:lvl6pPr lvl="5" rtl="0" algn="r">
              <a:lnSpc>
                <a:spcPct val="100000"/>
              </a:lnSpc>
              <a:spcBef>
                <a:spcPts val="1600"/>
              </a:spcBef>
              <a:spcAft>
                <a:spcPts val="0"/>
              </a:spcAft>
              <a:buNone/>
              <a:defRPr sz="1400">
                <a:solidFill>
                  <a:schemeClr val="dk1"/>
                </a:solidFill>
              </a:defRPr>
            </a:lvl6pPr>
            <a:lvl7pPr lvl="6" rtl="0" algn="r">
              <a:lnSpc>
                <a:spcPct val="100000"/>
              </a:lnSpc>
              <a:spcBef>
                <a:spcPts val="1600"/>
              </a:spcBef>
              <a:spcAft>
                <a:spcPts val="0"/>
              </a:spcAft>
              <a:buNone/>
              <a:defRPr sz="1400">
                <a:solidFill>
                  <a:schemeClr val="dk1"/>
                </a:solidFill>
              </a:defRPr>
            </a:lvl7pPr>
            <a:lvl8pPr lvl="7" rtl="0" algn="r">
              <a:lnSpc>
                <a:spcPct val="100000"/>
              </a:lnSpc>
              <a:spcBef>
                <a:spcPts val="1600"/>
              </a:spcBef>
              <a:spcAft>
                <a:spcPts val="0"/>
              </a:spcAft>
              <a:buNone/>
              <a:defRPr sz="1400">
                <a:solidFill>
                  <a:schemeClr val="dk1"/>
                </a:solidFill>
              </a:defRPr>
            </a:lvl8pPr>
            <a:lvl9pPr lvl="8" rtl="0" algn="r">
              <a:lnSpc>
                <a:spcPct val="100000"/>
              </a:lnSpc>
              <a:spcBef>
                <a:spcPts val="1600"/>
              </a:spcBef>
              <a:spcAft>
                <a:spcPts val="1600"/>
              </a:spcAft>
              <a:buNone/>
              <a:defRPr sz="1400">
                <a:solidFill>
                  <a:schemeClr val="dk1"/>
                </a:solidFill>
              </a:defRPr>
            </a:lvl9pPr>
          </a:lstStyle>
          <a:p/>
        </p:txBody>
      </p:sp>
      <p:sp>
        <p:nvSpPr>
          <p:cNvPr id="148" name="Google Shape;148;p20"/>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49" name="Google Shape;149;p20"/>
          <p:cNvSpPr/>
          <p:nvPr/>
        </p:nvSpPr>
        <p:spPr>
          <a:xfrm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0"/>
          <p:cNvSpPr/>
          <p:nvPr/>
        </p:nvSpPr>
        <p:spPr>
          <a:xfrm rot="10800000">
            <a:off x="1216200" y="1061825"/>
            <a:ext cx="1216200" cy="150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CUSTOM_6">
    <p:spTree>
      <p:nvGrpSpPr>
        <p:cNvPr id="152" name="Shape 152"/>
        <p:cNvGrpSpPr/>
        <p:nvPr/>
      </p:nvGrpSpPr>
      <p:grpSpPr>
        <a:xfrm>
          <a:off x="0" y="0"/>
          <a:ext cx="0" cy="0"/>
          <a:chOff x="0" y="0"/>
          <a:chExt cx="0" cy="0"/>
        </a:xfrm>
      </p:grpSpPr>
      <p:sp>
        <p:nvSpPr>
          <p:cNvPr id="153" name="Google Shape;153;p21"/>
          <p:cNvSpPr txBox="1"/>
          <p:nvPr>
            <p:ph type="title"/>
          </p:nvPr>
        </p:nvSpPr>
        <p:spPr>
          <a:xfrm>
            <a:off x="3984975" y="1495800"/>
            <a:ext cx="4055400" cy="7230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 name="Google Shape;154;p21"/>
          <p:cNvSpPr txBox="1"/>
          <p:nvPr>
            <p:ph idx="1" type="subTitle"/>
          </p:nvPr>
        </p:nvSpPr>
        <p:spPr>
          <a:xfrm>
            <a:off x="3994375" y="2142600"/>
            <a:ext cx="4055400" cy="15051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14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55" name="Google Shape;155;p21"/>
          <p:cNvSpPr/>
          <p:nvPr/>
        </p:nvSpPr>
        <p:spPr>
          <a:xfrm flipH="1" rot="10800000">
            <a:off x="0" y="2571825"/>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flipH="1" rot="10800000">
            <a:off x="1219200" y="1247175"/>
            <a:ext cx="1216200" cy="132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CUSTOM_10">
    <p:spTree>
      <p:nvGrpSpPr>
        <p:cNvPr id="158" name="Shape 158"/>
        <p:cNvGrpSpPr/>
        <p:nvPr/>
      </p:nvGrpSpPr>
      <p:grpSpPr>
        <a:xfrm>
          <a:off x="0" y="0"/>
          <a:ext cx="0" cy="0"/>
          <a:chOff x="0" y="0"/>
          <a:chExt cx="0" cy="0"/>
        </a:xfrm>
      </p:grpSpPr>
      <p:sp>
        <p:nvSpPr>
          <p:cNvPr id="159" name="Google Shape;159;p22"/>
          <p:cNvSpPr txBox="1"/>
          <p:nvPr>
            <p:ph type="title"/>
          </p:nvPr>
        </p:nvSpPr>
        <p:spPr>
          <a:xfrm>
            <a:off x="3730075" y="1631700"/>
            <a:ext cx="4700700" cy="10902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accent1"/>
              </a:buClr>
              <a:buSzPts val="2800"/>
              <a:buNone/>
              <a:defRPr sz="3000">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0" name="Google Shape;160;p22"/>
          <p:cNvSpPr txBox="1"/>
          <p:nvPr>
            <p:ph idx="1" type="subTitle"/>
          </p:nvPr>
        </p:nvSpPr>
        <p:spPr>
          <a:xfrm>
            <a:off x="3730075" y="2726700"/>
            <a:ext cx="4700700" cy="8613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1400"/>
              <a:buNone/>
              <a:defRPr sz="14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1" name="Google Shape;161;p22"/>
          <p:cNvSpPr/>
          <p:nvPr/>
        </p:nvSpPr>
        <p:spPr>
          <a:xfrm flipH="1" rot="10800000">
            <a:off x="2110925"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2"/>
          <p:cNvSpPr/>
          <p:nvPr/>
        </p:nvSpPr>
        <p:spPr>
          <a:xfrm flipH="1"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4">
    <p:spTree>
      <p:nvGrpSpPr>
        <p:cNvPr id="164" name="Shape 164"/>
        <p:cNvGrpSpPr/>
        <p:nvPr/>
      </p:nvGrpSpPr>
      <p:grpSpPr>
        <a:xfrm>
          <a:off x="0" y="0"/>
          <a:ext cx="0" cy="0"/>
          <a:chOff x="0" y="0"/>
          <a:chExt cx="0" cy="0"/>
        </a:xfrm>
      </p:grpSpPr>
      <p:sp>
        <p:nvSpPr>
          <p:cNvPr id="165" name="Google Shape;165;p23"/>
          <p:cNvSpPr txBox="1"/>
          <p:nvPr>
            <p:ph type="title"/>
          </p:nvPr>
        </p:nvSpPr>
        <p:spPr>
          <a:xfrm>
            <a:off x="717800" y="383175"/>
            <a:ext cx="7708200" cy="9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66" name="Google Shape;166;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7">
    <p:spTree>
      <p:nvGrpSpPr>
        <p:cNvPr id="167" name="Shape 167"/>
        <p:cNvGrpSpPr/>
        <p:nvPr/>
      </p:nvGrpSpPr>
      <p:grpSpPr>
        <a:xfrm>
          <a:off x="0" y="0"/>
          <a:ext cx="0" cy="0"/>
          <a:chOff x="0" y="0"/>
          <a:chExt cx="0" cy="0"/>
        </a:xfrm>
      </p:grpSpPr>
      <p:sp>
        <p:nvSpPr>
          <p:cNvPr id="168" name="Google Shape;168;p24"/>
          <p:cNvSpPr txBox="1"/>
          <p:nvPr>
            <p:ph type="title"/>
          </p:nvPr>
        </p:nvSpPr>
        <p:spPr>
          <a:xfrm>
            <a:off x="717800" y="383175"/>
            <a:ext cx="7708200" cy="9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69" name="Google Shape;169;p24"/>
          <p:cNvSpPr/>
          <p:nvPr/>
        </p:nvSpPr>
        <p:spPr>
          <a:xfrm flipH="1">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flipH="1">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72" name="Shape 172"/>
        <p:cNvGrpSpPr/>
        <p:nvPr/>
      </p:nvGrpSpPr>
      <p:grpSpPr>
        <a:xfrm>
          <a:off x="0" y="0"/>
          <a:ext cx="0" cy="0"/>
          <a:chOff x="0" y="0"/>
          <a:chExt cx="0" cy="0"/>
        </a:xfrm>
      </p:grpSpPr>
      <p:sp>
        <p:nvSpPr>
          <p:cNvPr id="173" name="Google Shape;173;p25"/>
          <p:cNvSpPr txBox="1"/>
          <p:nvPr>
            <p:ph idx="1" type="subTitle"/>
          </p:nvPr>
        </p:nvSpPr>
        <p:spPr>
          <a:xfrm>
            <a:off x="717800" y="1255775"/>
            <a:ext cx="4631700" cy="33981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sz="1400">
                <a:solidFill>
                  <a:schemeClr val="dk1"/>
                </a:solidFill>
              </a:defRPr>
            </a:lvl1pPr>
            <a:lvl2pPr lvl="1">
              <a:spcBef>
                <a:spcPts val="1600"/>
              </a:spcBef>
              <a:spcAft>
                <a:spcPts val="0"/>
              </a:spcAft>
              <a:buSzPts val="1400"/>
              <a:buChar char="○"/>
              <a:defRPr/>
            </a:lvl2pPr>
            <a:lvl3pPr lvl="2">
              <a:spcBef>
                <a:spcPts val="1600"/>
              </a:spcBef>
              <a:spcAft>
                <a:spcPts val="0"/>
              </a:spcAft>
              <a:buSzPts val="1400"/>
              <a:buChar char="■"/>
              <a:defRPr/>
            </a:lvl3pPr>
            <a:lvl4pPr lvl="3">
              <a:spcBef>
                <a:spcPts val="1600"/>
              </a:spcBef>
              <a:spcAft>
                <a:spcPts val="0"/>
              </a:spcAft>
              <a:buSzPts val="1400"/>
              <a:buChar char="●"/>
              <a:defRPr/>
            </a:lvl4pPr>
            <a:lvl5pPr lvl="4">
              <a:spcBef>
                <a:spcPts val="1600"/>
              </a:spcBef>
              <a:spcAft>
                <a:spcPts val="0"/>
              </a:spcAft>
              <a:buSzPts val="1400"/>
              <a:buChar char="○"/>
              <a:defRPr/>
            </a:lvl5pPr>
            <a:lvl6pPr lvl="5">
              <a:spcBef>
                <a:spcPts val="1600"/>
              </a:spcBef>
              <a:spcAft>
                <a:spcPts val="0"/>
              </a:spcAft>
              <a:buSzPts val="1400"/>
              <a:buChar char="■"/>
              <a:defRPr/>
            </a:lvl6pPr>
            <a:lvl7pPr lvl="6">
              <a:spcBef>
                <a:spcPts val="1600"/>
              </a:spcBef>
              <a:spcAft>
                <a:spcPts val="0"/>
              </a:spcAft>
              <a:buSzPts val="1400"/>
              <a:buChar char="●"/>
              <a:defRPr/>
            </a:lvl7pPr>
            <a:lvl8pPr lvl="7">
              <a:spcBef>
                <a:spcPts val="1600"/>
              </a:spcBef>
              <a:spcAft>
                <a:spcPts val="0"/>
              </a:spcAft>
              <a:buSzPts val="1400"/>
              <a:buChar char="○"/>
              <a:defRPr/>
            </a:lvl8pPr>
            <a:lvl9pPr lvl="8">
              <a:spcBef>
                <a:spcPts val="1600"/>
              </a:spcBef>
              <a:spcAft>
                <a:spcPts val="1600"/>
              </a:spcAft>
              <a:buSzPts val="1400"/>
              <a:buChar char="■"/>
              <a:defRPr/>
            </a:lvl9pPr>
          </a:lstStyle>
          <a:p/>
        </p:txBody>
      </p:sp>
      <p:sp>
        <p:nvSpPr>
          <p:cNvPr id="174" name="Google Shape;174;p25"/>
          <p:cNvSpPr/>
          <p:nvPr/>
        </p:nvSpPr>
        <p:spPr>
          <a:xfrm>
            <a:off x="7927800" y="257160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6" name="Google Shape;176;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77" name="Shape 177"/>
        <p:cNvGrpSpPr/>
        <p:nvPr/>
      </p:nvGrpSpPr>
      <p:grpSpPr>
        <a:xfrm>
          <a:off x="0" y="0"/>
          <a:ext cx="0" cy="0"/>
          <a:chOff x="0" y="0"/>
          <a:chExt cx="0" cy="0"/>
        </a:xfrm>
      </p:grpSpPr>
      <p:sp>
        <p:nvSpPr>
          <p:cNvPr id="178" name="Google Shape;178;p26"/>
          <p:cNvSpPr txBox="1"/>
          <p:nvPr>
            <p:ph hasCustomPrompt="1" type="title"/>
          </p:nvPr>
        </p:nvSpPr>
        <p:spPr>
          <a:xfrm>
            <a:off x="750975"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79" name="Google Shape;179;p26"/>
          <p:cNvSpPr txBox="1"/>
          <p:nvPr>
            <p:ph idx="1" type="subTitle"/>
          </p:nvPr>
        </p:nvSpPr>
        <p:spPr>
          <a:xfrm>
            <a:off x="750975"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80" name="Google Shape;180;p26"/>
          <p:cNvSpPr txBox="1"/>
          <p:nvPr>
            <p:ph hasCustomPrompt="1" idx="2" type="title"/>
          </p:nvPr>
        </p:nvSpPr>
        <p:spPr>
          <a:xfrm>
            <a:off x="3508587"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81" name="Google Shape;181;p26"/>
          <p:cNvSpPr txBox="1"/>
          <p:nvPr>
            <p:ph idx="3" type="subTitle"/>
          </p:nvPr>
        </p:nvSpPr>
        <p:spPr>
          <a:xfrm>
            <a:off x="3508587"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82" name="Google Shape;182;p26"/>
          <p:cNvSpPr txBox="1"/>
          <p:nvPr>
            <p:ph hasCustomPrompt="1" idx="4" type="title"/>
          </p:nvPr>
        </p:nvSpPr>
        <p:spPr>
          <a:xfrm>
            <a:off x="6216100"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83" name="Google Shape;183;p26"/>
          <p:cNvSpPr txBox="1"/>
          <p:nvPr>
            <p:ph idx="5" type="subTitle"/>
          </p:nvPr>
        </p:nvSpPr>
        <p:spPr>
          <a:xfrm>
            <a:off x="6216100"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84" name="Google Shape;184;p26"/>
          <p:cNvSpPr/>
          <p:nvPr/>
        </p:nvSpPr>
        <p:spPr>
          <a:xfrm flipH="1">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6"/>
          <p:cNvSpPr/>
          <p:nvPr/>
        </p:nvSpPr>
        <p:spPr>
          <a:xfrm flipH="1">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6"/>
          <p:cNvSpPr txBox="1"/>
          <p:nvPr>
            <p:ph idx="6"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7" name="Google Shape;18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2">
    <p:spTree>
      <p:nvGrpSpPr>
        <p:cNvPr id="188" name="Shape 188"/>
        <p:cNvGrpSpPr/>
        <p:nvPr/>
      </p:nvGrpSpPr>
      <p:grpSpPr>
        <a:xfrm>
          <a:off x="0" y="0"/>
          <a:ext cx="0" cy="0"/>
          <a:chOff x="0" y="0"/>
          <a:chExt cx="0" cy="0"/>
        </a:xfrm>
      </p:grpSpPr>
      <p:sp>
        <p:nvSpPr>
          <p:cNvPr id="189" name="Google Shape;189;p27"/>
          <p:cNvSpPr txBox="1"/>
          <p:nvPr>
            <p:ph idx="1" type="subTitle"/>
          </p:nvPr>
        </p:nvSpPr>
        <p:spPr>
          <a:xfrm>
            <a:off x="71190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0" name="Google Shape;190;p27"/>
          <p:cNvSpPr txBox="1"/>
          <p:nvPr>
            <p:ph idx="2" type="subTitle"/>
          </p:nvPr>
        </p:nvSpPr>
        <p:spPr>
          <a:xfrm>
            <a:off x="71190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91" name="Google Shape;191;p27"/>
          <p:cNvSpPr txBox="1"/>
          <p:nvPr>
            <p:ph idx="3" type="subTitle"/>
          </p:nvPr>
        </p:nvSpPr>
        <p:spPr>
          <a:xfrm>
            <a:off x="298395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2" name="Google Shape;192;p27"/>
          <p:cNvSpPr txBox="1"/>
          <p:nvPr>
            <p:ph idx="4" type="subTitle"/>
          </p:nvPr>
        </p:nvSpPr>
        <p:spPr>
          <a:xfrm>
            <a:off x="298395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3" name="Google Shape;193;p27"/>
          <p:cNvSpPr txBox="1"/>
          <p:nvPr>
            <p:ph idx="5" type="subTitle"/>
          </p:nvPr>
        </p:nvSpPr>
        <p:spPr>
          <a:xfrm>
            <a:off x="525600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4" name="Google Shape;194;p27"/>
          <p:cNvSpPr txBox="1"/>
          <p:nvPr>
            <p:ph idx="6" type="subTitle"/>
          </p:nvPr>
        </p:nvSpPr>
        <p:spPr>
          <a:xfrm>
            <a:off x="525600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95" name="Google Shape;195;p27"/>
          <p:cNvSpPr txBox="1"/>
          <p:nvPr>
            <p:ph idx="7" type="subTitle"/>
          </p:nvPr>
        </p:nvSpPr>
        <p:spPr>
          <a:xfrm>
            <a:off x="71190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6" name="Google Shape;196;p27"/>
          <p:cNvSpPr txBox="1"/>
          <p:nvPr>
            <p:ph idx="8" type="subTitle"/>
          </p:nvPr>
        </p:nvSpPr>
        <p:spPr>
          <a:xfrm>
            <a:off x="71190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7" name="Google Shape;197;p27"/>
          <p:cNvSpPr txBox="1"/>
          <p:nvPr>
            <p:ph idx="9" type="subTitle"/>
          </p:nvPr>
        </p:nvSpPr>
        <p:spPr>
          <a:xfrm>
            <a:off x="298395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8" name="Google Shape;198;p27"/>
          <p:cNvSpPr txBox="1"/>
          <p:nvPr>
            <p:ph idx="13" type="subTitle"/>
          </p:nvPr>
        </p:nvSpPr>
        <p:spPr>
          <a:xfrm>
            <a:off x="298395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9" name="Google Shape;199;p27"/>
          <p:cNvSpPr txBox="1"/>
          <p:nvPr>
            <p:ph idx="14" type="subTitle"/>
          </p:nvPr>
        </p:nvSpPr>
        <p:spPr>
          <a:xfrm>
            <a:off x="525600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200" name="Google Shape;200;p27"/>
          <p:cNvSpPr txBox="1"/>
          <p:nvPr>
            <p:ph idx="15" type="subTitle"/>
          </p:nvPr>
        </p:nvSpPr>
        <p:spPr>
          <a:xfrm>
            <a:off x="525600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201" name="Google Shape;201;p27"/>
          <p:cNvSpPr/>
          <p:nvPr/>
        </p:nvSpPr>
        <p:spPr>
          <a:xfrm>
            <a:off x="7927800" y="257160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792780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34343"/>
              </a:buClr>
              <a:buSzPts val="2800"/>
              <a:buNone/>
              <a:defRPr>
                <a:solidFill>
                  <a:srgbClr val="43434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4" name="Google Shape;204;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5">
    <p:spTree>
      <p:nvGrpSpPr>
        <p:cNvPr id="205" name="Shape 205"/>
        <p:cNvGrpSpPr/>
        <p:nvPr/>
      </p:nvGrpSpPr>
      <p:grpSpPr>
        <a:xfrm>
          <a:off x="0" y="0"/>
          <a:ext cx="0" cy="0"/>
          <a:chOff x="0" y="0"/>
          <a:chExt cx="0" cy="0"/>
        </a:xfrm>
      </p:grpSpPr>
      <p:sp>
        <p:nvSpPr>
          <p:cNvPr id="206" name="Google Shape;206;p28"/>
          <p:cNvSpPr txBox="1"/>
          <p:nvPr>
            <p:ph type="title"/>
          </p:nvPr>
        </p:nvSpPr>
        <p:spPr>
          <a:xfrm>
            <a:off x="713225" y="445025"/>
            <a:ext cx="3858900" cy="1338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2800"/>
              <a:buNone/>
              <a:defRPr sz="7200">
                <a:solidFill>
                  <a:schemeClr val="accent1"/>
                </a:solidFill>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07" name="Google Shape;207;p28"/>
          <p:cNvSpPr txBox="1"/>
          <p:nvPr/>
        </p:nvSpPr>
        <p:spPr>
          <a:xfrm>
            <a:off x="713225" y="3485675"/>
            <a:ext cx="3956100" cy="61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300"/>
              </a:spcBef>
              <a:spcAft>
                <a:spcPts val="0"/>
              </a:spcAft>
              <a:buNone/>
            </a:pPr>
            <a:r>
              <a:rPr lang="en" sz="1100">
                <a:solidFill>
                  <a:schemeClr val="accent2"/>
                </a:solidFill>
                <a:latin typeface="Montserrat"/>
                <a:ea typeface="Montserrat"/>
                <a:cs typeface="Montserrat"/>
                <a:sym typeface="Montserrat"/>
              </a:rPr>
              <a:t>CREDITS: This presentation template was created by </a:t>
            </a:r>
            <a:r>
              <a:rPr b="1" lang="en" sz="1100">
                <a:solidFill>
                  <a:schemeClr val="accent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accent2"/>
                </a:solidFill>
                <a:latin typeface="Montserrat"/>
                <a:ea typeface="Montserrat"/>
                <a:cs typeface="Montserrat"/>
                <a:sym typeface="Montserrat"/>
              </a:rPr>
              <a:t>, including icons by </a:t>
            </a:r>
            <a:r>
              <a:rPr b="1" lang="en" sz="1100">
                <a:solidFill>
                  <a:schemeClr val="accent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accent2"/>
                </a:solidFill>
                <a:latin typeface="Montserrat"/>
                <a:ea typeface="Montserrat"/>
                <a:cs typeface="Montserrat"/>
                <a:sym typeface="Montserrat"/>
              </a:rPr>
              <a:t>, and infographics &amp; images by </a:t>
            </a:r>
            <a:r>
              <a:rPr b="1" lang="en" sz="1100">
                <a:solidFill>
                  <a:schemeClr val="accent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accent2"/>
              </a:solidFill>
              <a:latin typeface="Montserrat"/>
              <a:ea typeface="Montserrat"/>
              <a:cs typeface="Montserrat"/>
              <a:sym typeface="Montserrat"/>
            </a:endParaRPr>
          </a:p>
        </p:txBody>
      </p:sp>
      <p:sp>
        <p:nvSpPr>
          <p:cNvPr id="208" name="Google Shape;208;p28"/>
          <p:cNvSpPr/>
          <p:nvPr/>
        </p:nvSpPr>
        <p:spPr>
          <a:xfrm>
            <a:off x="6711600" y="257160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7927800"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Montserrat"/>
                <a:ea typeface="Montserrat"/>
                <a:cs typeface="Montserrat"/>
                <a:sym typeface="Montserrat"/>
              </a:defRPr>
            </a:lvl1pPr>
            <a:lvl2pPr lvl="1" algn="r">
              <a:buNone/>
              <a:defRPr sz="1300">
                <a:solidFill>
                  <a:schemeClr val="dk2"/>
                </a:solidFill>
                <a:latin typeface="Montserrat"/>
                <a:ea typeface="Montserrat"/>
                <a:cs typeface="Montserrat"/>
                <a:sym typeface="Montserrat"/>
              </a:defRPr>
            </a:lvl2pPr>
            <a:lvl3pPr lvl="2" algn="r">
              <a:buNone/>
              <a:defRPr sz="1300">
                <a:solidFill>
                  <a:schemeClr val="dk2"/>
                </a:solidFill>
                <a:latin typeface="Montserrat"/>
                <a:ea typeface="Montserrat"/>
                <a:cs typeface="Montserrat"/>
                <a:sym typeface="Montserrat"/>
              </a:defRPr>
            </a:lvl3pPr>
            <a:lvl4pPr lvl="3" algn="r">
              <a:buNone/>
              <a:defRPr sz="1300">
                <a:solidFill>
                  <a:schemeClr val="dk2"/>
                </a:solidFill>
                <a:latin typeface="Montserrat"/>
                <a:ea typeface="Montserrat"/>
                <a:cs typeface="Montserrat"/>
                <a:sym typeface="Montserrat"/>
              </a:defRPr>
            </a:lvl4pPr>
            <a:lvl5pPr lvl="4" algn="r">
              <a:buNone/>
              <a:defRPr sz="1300">
                <a:solidFill>
                  <a:schemeClr val="dk2"/>
                </a:solidFill>
                <a:latin typeface="Montserrat"/>
                <a:ea typeface="Montserrat"/>
                <a:cs typeface="Montserrat"/>
                <a:sym typeface="Montserrat"/>
              </a:defRPr>
            </a:lvl5pPr>
            <a:lvl6pPr lvl="5" algn="r">
              <a:buNone/>
              <a:defRPr sz="1300">
                <a:solidFill>
                  <a:schemeClr val="dk2"/>
                </a:solidFill>
                <a:latin typeface="Montserrat"/>
                <a:ea typeface="Montserrat"/>
                <a:cs typeface="Montserrat"/>
                <a:sym typeface="Montserrat"/>
              </a:defRPr>
            </a:lvl6pPr>
            <a:lvl7pPr lvl="6" algn="r">
              <a:buNone/>
              <a:defRPr sz="1300">
                <a:solidFill>
                  <a:schemeClr val="dk2"/>
                </a:solidFill>
                <a:latin typeface="Montserrat"/>
                <a:ea typeface="Montserrat"/>
                <a:cs typeface="Montserrat"/>
                <a:sym typeface="Montserrat"/>
              </a:defRPr>
            </a:lvl7pPr>
            <a:lvl8pPr lvl="7" algn="r">
              <a:buNone/>
              <a:defRPr sz="1300">
                <a:solidFill>
                  <a:schemeClr val="dk2"/>
                </a:solidFill>
                <a:latin typeface="Montserrat"/>
                <a:ea typeface="Montserrat"/>
                <a:cs typeface="Montserrat"/>
                <a:sym typeface="Montserrat"/>
              </a:defRPr>
            </a:lvl8pPr>
            <a:lvl9pPr lvl="8" algn="r">
              <a:buNone/>
              <a:defRPr sz="13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8.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9"/>
          <p:cNvSpPr txBox="1"/>
          <p:nvPr>
            <p:ph type="ctrTitle"/>
          </p:nvPr>
        </p:nvSpPr>
        <p:spPr>
          <a:xfrm>
            <a:off x="1643858" y="1172225"/>
            <a:ext cx="6770700" cy="2052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2500"/>
              <a:t>Deep Causal Learning: Representation, Discovery and Inference</a:t>
            </a:r>
            <a:endParaRPr sz="2500">
              <a:solidFill>
                <a:schemeClr val="dk2"/>
              </a:solidFill>
            </a:endParaRPr>
          </a:p>
        </p:txBody>
      </p:sp>
      <p:sp>
        <p:nvSpPr>
          <p:cNvPr id="216" name="Google Shape;216;p29"/>
          <p:cNvSpPr txBox="1"/>
          <p:nvPr>
            <p:ph idx="1" type="subTitle"/>
          </p:nvPr>
        </p:nvSpPr>
        <p:spPr>
          <a:xfrm>
            <a:off x="1643852" y="3261775"/>
            <a:ext cx="6770700" cy="557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100"/>
              <a:t>ZIZHEN DENG, XIAOLONG ZHENG*, HU TIAN, and DANIEL DAJUN ZENG,</a:t>
            </a:r>
            <a:endParaRPr sz="1100"/>
          </a:p>
          <a:p>
            <a:pPr indent="0" lvl="0" marL="0" rtl="0" algn="r">
              <a:spcBef>
                <a:spcPts val="0"/>
              </a:spcBef>
              <a:spcAft>
                <a:spcPts val="0"/>
              </a:spcAft>
              <a:buNone/>
            </a:pPr>
            <a:r>
              <a:t/>
            </a:r>
            <a:endParaRPr sz="1100"/>
          </a:p>
        </p:txBody>
      </p:sp>
      <p:sp>
        <p:nvSpPr>
          <p:cNvPr id="217" name="Google Shape;217;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Learning the </a:t>
            </a:r>
            <a:r>
              <a:rPr lang="en" sz="1400">
                <a:solidFill>
                  <a:schemeClr val="accent6"/>
                </a:solidFill>
              </a:rPr>
              <a:t>cause–effect</a:t>
            </a:r>
            <a:r>
              <a:rPr lang="en" sz="1400"/>
              <a:t> relationships or determining the causal status among a set of two or more events</a:t>
            </a:r>
            <a:endParaRPr sz="1400"/>
          </a:p>
        </p:txBody>
      </p:sp>
      <p:sp>
        <p:nvSpPr>
          <p:cNvPr id="223" name="Google Shape;223;p30"/>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causal learning ?</a:t>
            </a:r>
            <a:endParaRPr/>
          </a:p>
        </p:txBody>
      </p:sp>
      <p:sp>
        <p:nvSpPr>
          <p:cNvPr id="224" name="Google Shape;224;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30" name="Google Shape;230;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sp>
        <p:nvSpPr>
          <p:cNvPr id="231" name="Google Shape;231;p31"/>
          <p:cNvSpPr txBox="1"/>
          <p:nvPr>
            <p:ph idx="1" type="body"/>
          </p:nvPr>
        </p:nvSpPr>
        <p:spPr>
          <a:xfrm>
            <a:off x="713225" y="1152475"/>
            <a:ext cx="4111200" cy="3060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Variable:</a:t>
            </a:r>
            <a:endParaRPr/>
          </a:p>
          <a:p>
            <a:pPr indent="-304800" lvl="1" marL="914400" rtl="0" algn="l">
              <a:spcBef>
                <a:spcPts val="0"/>
              </a:spcBef>
              <a:spcAft>
                <a:spcPts val="0"/>
              </a:spcAft>
              <a:buSzPts val="1200"/>
              <a:buChar char="○"/>
            </a:pPr>
            <a:r>
              <a:rPr b="1" lang="en"/>
              <a:t>Treatment</a:t>
            </a:r>
            <a:endParaRPr/>
          </a:p>
          <a:p>
            <a:pPr indent="-304800" lvl="1" marL="914400" rtl="0" algn="l">
              <a:spcBef>
                <a:spcPts val="0"/>
              </a:spcBef>
              <a:spcAft>
                <a:spcPts val="0"/>
              </a:spcAft>
              <a:buSzPts val="1200"/>
              <a:buChar char="○"/>
            </a:pPr>
            <a:r>
              <a:rPr b="1" lang="en"/>
              <a:t>Outcome</a:t>
            </a:r>
            <a:endParaRPr b="1"/>
          </a:p>
          <a:p>
            <a:pPr indent="-304800" lvl="1" marL="914400" rtl="0" algn="l">
              <a:spcBef>
                <a:spcPts val="0"/>
              </a:spcBef>
              <a:spcAft>
                <a:spcPts val="0"/>
              </a:spcAft>
              <a:buSzPts val="1200"/>
              <a:buChar char="○"/>
            </a:pPr>
            <a:r>
              <a:rPr b="1" lang="en"/>
              <a:t>Covariate: </a:t>
            </a:r>
            <a:r>
              <a:rPr lang="en"/>
              <a:t>may or maynot be related to the outcome.</a:t>
            </a:r>
            <a:endParaRPr/>
          </a:p>
          <a:p>
            <a:pPr indent="-304800" lvl="1" marL="914400" rtl="0" algn="l">
              <a:spcBef>
                <a:spcPts val="0"/>
              </a:spcBef>
              <a:spcAft>
                <a:spcPts val="0"/>
              </a:spcAft>
              <a:buSzPts val="1200"/>
              <a:buChar char="○"/>
            </a:pPr>
            <a:r>
              <a:rPr b="1" lang="en"/>
              <a:t>Confounder</a:t>
            </a:r>
            <a:r>
              <a:rPr lang="en"/>
              <a:t>: related to both the outcome and treatment.</a:t>
            </a:r>
            <a:endParaRPr b="1"/>
          </a:p>
          <a:p>
            <a:pPr indent="-304800" lvl="0" marL="457200" rtl="0" algn="l">
              <a:spcBef>
                <a:spcPts val="0"/>
              </a:spcBef>
              <a:spcAft>
                <a:spcPts val="0"/>
              </a:spcAft>
              <a:buSzPts val="1200"/>
              <a:buChar char="●"/>
            </a:pPr>
            <a:r>
              <a:rPr lang="en"/>
              <a:t>Example:</a:t>
            </a:r>
            <a:endParaRPr/>
          </a:p>
          <a:p>
            <a:pPr indent="-304800" lvl="1" marL="914400" rtl="0" algn="l">
              <a:spcBef>
                <a:spcPts val="0"/>
              </a:spcBef>
              <a:spcAft>
                <a:spcPts val="0"/>
              </a:spcAft>
              <a:buSzPts val="1200"/>
              <a:buChar char="○"/>
            </a:pPr>
            <a:r>
              <a:rPr lang="en"/>
              <a:t>Target: Vitamin D supplements prevent melanoma.</a:t>
            </a:r>
            <a:endParaRPr/>
          </a:p>
          <a:p>
            <a:pPr indent="-304800" lvl="1" marL="914400" rtl="0" algn="l">
              <a:spcBef>
                <a:spcPts val="0"/>
              </a:spcBef>
              <a:spcAft>
                <a:spcPts val="0"/>
              </a:spcAft>
              <a:buSzPts val="1200"/>
              <a:buChar char="○"/>
            </a:pPr>
            <a:r>
              <a:rPr lang="en"/>
              <a:t>Treatment: Vitamin D</a:t>
            </a:r>
            <a:endParaRPr/>
          </a:p>
          <a:p>
            <a:pPr indent="-304800" lvl="1" marL="914400" rtl="0" algn="l">
              <a:spcBef>
                <a:spcPts val="0"/>
              </a:spcBef>
              <a:spcAft>
                <a:spcPts val="0"/>
              </a:spcAft>
              <a:buSzPts val="1200"/>
              <a:buChar char="○"/>
            </a:pPr>
            <a:r>
              <a:rPr lang="en"/>
              <a:t>Outcome: Melanoma</a:t>
            </a:r>
            <a:endParaRPr/>
          </a:p>
          <a:p>
            <a:pPr indent="-304800" lvl="1" marL="914400" rtl="0" algn="l">
              <a:spcBef>
                <a:spcPts val="0"/>
              </a:spcBef>
              <a:spcAft>
                <a:spcPts val="0"/>
              </a:spcAft>
              <a:buSzPts val="1200"/>
              <a:buChar char="○"/>
            </a:pPr>
            <a:r>
              <a:rPr lang="en"/>
              <a:t>Covariate: </a:t>
            </a:r>
            <a:r>
              <a:rPr lang="en"/>
              <a:t>race, sun exposure</a:t>
            </a:r>
            <a:endParaRPr/>
          </a:p>
        </p:txBody>
      </p:sp>
      <p:sp>
        <p:nvSpPr>
          <p:cNvPr id="232" name="Google Shape;232;p31"/>
          <p:cNvSpPr txBox="1"/>
          <p:nvPr/>
        </p:nvSpPr>
        <p:spPr>
          <a:xfrm>
            <a:off x="0" y="4553100"/>
            <a:ext cx="67083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rgbClr val="666666"/>
                </a:solidFill>
              </a:rPr>
              <a:t>https://www.straighthealthcare.com/confounder-covariate.html</a:t>
            </a:r>
            <a:endParaRPr sz="600">
              <a:solidFill>
                <a:srgbClr val="666666"/>
              </a:solidFill>
            </a:endParaRPr>
          </a:p>
        </p:txBody>
      </p:sp>
      <p:pic>
        <p:nvPicPr>
          <p:cNvPr id="233" name="Google Shape;233;p31"/>
          <p:cNvPicPr preferRelativeResize="0"/>
          <p:nvPr/>
        </p:nvPicPr>
        <p:blipFill>
          <a:blip r:embed="rId3">
            <a:alphaModFix/>
          </a:blip>
          <a:stretch>
            <a:fillRect/>
          </a:stretch>
        </p:blipFill>
        <p:spPr>
          <a:xfrm>
            <a:off x="4824453" y="1091650"/>
            <a:ext cx="3449419" cy="317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713225" y="384050"/>
            <a:ext cx="832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causal learning vs deep causal learning</a:t>
            </a:r>
            <a:endParaRPr/>
          </a:p>
        </p:txBody>
      </p:sp>
      <p:sp>
        <p:nvSpPr>
          <p:cNvPr id="239" name="Google Shape;239;p32"/>
          <p:cNvSpPr txBox="1"/>
          <p:nvPr>
            <p:ph idx="1" type="body"/>
          </p:nvPr>
        </p:nvSpPr>
        <p:spPr>
          <a:xfrm>
            <a:off x="713225" y="1152475"/>
            <a:ext cx="1945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40" name="Google Shape;24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pic>
        <p:nvPicPr>
          <p:cNvPr id="241" name="Google Shape;241;p32"/>
          <p:cNvPicPr preferRelativeResize="0"/>
          <p:nvPr/>
        </p:nvPicPr>
        <p:blipFill>
          <a:blip r:embed="rId3">
            <a:alphaModFix/>
          </a:blip>
          <a:stretch>
            <a:fillRect/>
          </a:stretch>
        </p:blipFill>
        <p:spPr>
          <a:xfrm>
            <a:off x="2069625" y="998873"/>
            <a:ext cx="5593260" cy="37236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txBox="1"/>
          <p:nvPr>
            <p:ph idx="1" type="body"/>
          </p:nvPr>
        </p:nvSpPr>
        <p:spPr>
          <a:xfrm>
            <a:off x="713225" y="1152475"/>
            <a:ext cx="83922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b="1" lang="en" sz="1300">
                <a:solidFill>
                  <a:schemeClr val="accent5"/>
                </a:solidFill>
              </a:rPr>
              <a:t>Observational</a:t>
            </a:r>
            <a:r>
              <a:rPr lang="en" sz="1300">
                <a:solidFill>
                  <a:schemeClr val="dk1"/>
                </a:solidFill>
              </a:rPr>
              <a:t> data: </a:t>
            </a:r>
            <a:endParaRPr sz="1300">
              <a:solidFill>
                <a:schemeClr val="dk1"/>
              </a:solidFill>
            </a:endParaRPr>
          </a:p>
          <a:p>
            <a:pPr indent="-311150" lvl="1" marL="914400" rtl="0" algn="l">
              <a:spcBef>
                <a:spcPts val="0"/>
              </a:spcBef>
              <a:spcAft>
                <a:spcPts val="0"/>
              </a:spcAft>
              <a:buClr>
                <a:schemeClr val="accent2"/>
              </a:buClr>
              <a:buSzPts val="1300"/>
              <a:buChar char="○"/>
            </a:pPr>
            <a:r>
              <a:rPr b="1" lang="en" sz="1300">
                <a:solidFill>
                  <a:schemeClr val="dk1"/>
                </a:solidFill>
              </a:rPr>
              <a:t>Collect</a:t>
            </a:r>
            <a:r>
              <a:rPr lang="en" sz="1300"/>
              <a:t> data of a group of individuals over a period of time</a:t>
            </a:r>
            <a:endParaRPr sz="1300"/>
          </a:p>
          <a:p>
            <a:pPr indent="-311150" lvl="1" marL="914400" rtl="0" algn="l">
              <a:spcBef>
                <a:spcPts val="0"/>
              </a:spcBef>
              <a:spcAft>
                <a:spcPts val="0"/>
              </a:spcAft>
              <a:buClr>
                <a:schemeClr val="accent2"/>
              </a:buClr>
              <a:buSzPts val="1300"/>
              <a:buChar char="○"/>
            </a:pPr>
            <a:r>
              <a:rPr b="1" lang="en" sz="1300">
                <a:solidFill>
                  <a:schemeClr val="dk1"/>
                </a:solidFill>
              </a:rPr>
              <a:t>Find</a:t>
            </a:r>
            <a:r>
              <a:rPr lang="en" sz="1300"/>
              <a:t> the relationship in each variable.</a:t>
            </a:r>
            <a:endParaRPr sz="1300"/>
          </a:p>
          <a:p>
            <a:pPr indent="-311150" lvl="0" marL="457200" rtl="0" algn="l">
              <a:spcBef>
                <a:spcPts val="0"/>
              </a:spcBef>
              <a:spcAft>
                <a:spcPts val="0"/>
              </a:spcAft>
              <a:buClr>
                <a:schemeClr val="dk1"/>
              </a:buClr>
              <a:buSzPts val="1300"/>
              <a:buChar char="●"/>
            </a:pPr>
            <a:r>
              <a:rPr b="1" lang="en" sz="1300">
                <a:solidFill>
                  <a:schemeClr val="accent5"/>
                </a:solidFill>
              </a:rPr>
              <a:t>Intervention</a:t>
            </a:r>
            <a:r>
              <a:rPr lang="en" sz="1300"/>
              <a:t> data:</a:t>
            </a:r>
            <a:endParaRPr sz="1300"/>
          </a:p>
          <a:p>
            <a:pPr indent="-311150" lvl="1" marL="914400" rtl="0" algn="l">
              <a:spcBef>
                <a:spcPts val="0"/>
              </a:spcBef>
              <a:spcAft>
                <a:spcPts val="0"/>
              </a:spcAft>
              <a:buClr>
                <a:schemeClr val="accent2"/>
              </a:buClr>
              <a:buSzPts val="1300"/>
              <a:buChar char="○"/>
            </a:pPr>
            <a:r>
              <a:rPr lang="en" sz="1300"/>
              <a:t>Use interest variable (caffeine intake) to </a:t>
            </a:r>
            <a:r>
              <a:rPr b="1" lang="en" sz="1300">
                <a:solidFill>
                  <a:schemeClr val="dk1"/>
                </a:solidFill>
              </a:rPr>
              <a:t>randomly assign</a:t>
            </a:r>
            <a:r>
              <a:rPr lang="en" sz="1300"/>
              <a:t>(reduce confounding variable bias) individuals to the intervention or control group.</a:t>
            </a:r>
            <a:endParaRPr sz="1300"/>
          </a:p>
          <a:p>
            <a:pPr indent="-311150" lvl="1" marL="914400" rtl="0" algn="l">
              <a:spcBef>
                <a:spcPts val="0"/>
              </a:spcBef>
              <a:spcAft>
                <a:spcPts val="0"/>
              </a:spcAft>
              <a:buClr>
                <a:schemeClr val="accent2"/>
              </a:buClr>
              <a:buSzPts val="1300"/>
              <a:buChar char="○"/>
            </a:pPr>
            <a:r>
              <a:rPr b="1" lang="en" sz="1300">
                <a:solidFill>
                  <a:schemeClr val="dk1"/>
                </a:solidFill>
              </a:rPr>
              <a:t>Any differences</a:t>
            </a:r>
            <a:r>
              <a:rPr lang="en" sz="1300"/>
              <a:t> in sleep quality between the intervention and control groups can be attributed to the effect of caffeine intake rather than other confounding variables</a:t>
            </a:r>
            <a:endParaRPr sz="1300"/>
          </a:p>
          <a:p>
            <a:pPr indent="-311150" lvl="0" marL="457200" rtl="0" algn="l">
              <a:spcBef>
                <a:spcPts val="0"/>
              </a:spcBef>
              <a:spcAft>
                <a:spcPts val="0"/>
              </a:spcAft>
              <a:buClr>
                <a:schemeClr val="dk1"/>
              </a:buClr>
              <a:buSzPts val="1300"/>
              <a:buChar char="●"/>
            </a:pPr>
            <a:r>
              <a:rPr b="1" lang="en" sz="1300">
                <a:solidFill>
                  <a:schemeClr val="accent5"/>
                </a:solidFill>
              </a:rPr>
              <a:t>Counterfactual</a:t>
            </a:r>
            <a:r>
              <a:rPr lang="en" sz="1300">
                <a:solidFill>
                  <a:schemeClr val="dk1"/>
                </a:solidFill>
              </a:rPr>
              <a:t> data:</a:t>
            </a:r>
            <a:endParaRPr sz="1300">
              <a:solidFill>
                <a:schemeClr val="dk1"/>
              </a:solidFill>
            </a:endParaRPr>
          </a:p>
          <a:p>
            <a:pPr indent="-311150" lvl="1" marL="914400" rtl="0" algn="l">
              <a:spcBef>
                <a:spcPts val="0"/>
              </a:spcBef>
              <a:spcAft>
                <a:spcPts val="0"/>
              </a:spcAft>
              <a:buClr>
                <a:schemeClr val="accent2"/>
              </a:buClr>
              <a:buSzPts val="1300"/>
              <a:buChar char="○"/>
            </a:pPr>
            <a:r>
              <a:rPr lang="en" sz="1300"/>
              <a:t>Data that describes what would have happened to an </a:t>
            </a:r>
            <a:r>
              <a:rPr b="1" lang="en" sz="1300">
                <a:solidFill>
                  <a:schemeClr val="dk1"/>
                </a:solidFill>
              </a:rPr>
              <a:t>individual under different conditions</a:t>
            </a:r>
            <a:endParaRPr sz="1300"/>
          </a:p>
        </p:txBody>
      </p:sp>
      <p:sp>
        <p:nvSpPr>
          <p:cNvPr id="247" name="Google Shape;247;p33"/>
          <p:cNvSpPr txBox="1"/>
          <p:nvPr>
            <p:ph type="title"/>
          </p:nvPr>
        </p:nvSpPr>
        <p:spPr>
          <a:xfrm>
            <a:off x="713225" y="384051"/>
            <a:ext cx="7717500" cy="9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Data</a:t>
            </a:r>
            <a:endParaRPr/>
          </a:p>
        </p:txBody>
      </p:sp>
      <p:sp>
        <p:nvSpPr>
          <p:cNvPr id="248" name="Google Shape;248;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p:nvPr/>
        </p:nvSpPr>
        <p:spPr>
          <a:xfrm>
            <a:off x="6607250" y="1058400"/>
            <a:ext cx="393600" cy="3936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t>
            </a:r>
            <a:endParaRPr/>
          </a:p>
        </p:txBody>
      </p:sp>
      <p:sp>
        <p:nvSpPr>
          <p:cNvPr id="250" name="Google Shape;250;p33"/>
          <p:cNvSpPr/>
          <p:nvPr/>
        </p:nvSpPr>
        <p:spPr>
          <a:xfrm>
            <a:off x="7945675" y="1058400"/>
            <a:ext cx="393600" cy="3936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cxnSp>
        <p:nvCxnSpPr>
          <p:cNvPr id="251" name="Google Shape;251;p33"/>
          <p:cNvCxnSpPr>
            <a:endCxn id="250" idx="2"/>
          </p:cNvCxnSpPr>
          <p:nvPr/>
        </p:nvCxnSpPr>
        <p:spPr>
          <a:xfrm>
            <a:off x="7007575" y="1241700"/>
            <a:ext cx="938100" cy="13500"/>
          </a:xfrm>
          <a:prstGeom prst="straightConnector1">
            <a:avLst/>
          </a:prstGeom>
          <a:noFill/>
          <a:ln cap="flat" cmpd="sng" w="9525">
            <a:solidFill>
              <a:schemeClr val="accent6"/>
            </a:solidFill>
            <a:prstDash val="solid"/>
            <a:round/>
            <a:headEnd len="med" w="med" type="none"/>
            <a:tailEnd len="med" w="med" type="triangle"/>
          </a:ln>
        </p:spPr>
      </p:cxnSp>
      <p:sp>
        <p:nvSpPr>
          <p:cNvPr id="252" name="Google Shape;252;p33"/>
          <p:cNvSpPr txBox="1"/>
          <p:nvPr/>
        </p:nvSpPr>
        <p:spPr>
          <a:xfrm>
            <a:off x="6268025" y="1452000"/>
            <a:ext cx="145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Vitamin D</a:t>
            </a:r>
            <a:endParaRPr sz="1200"/>
          </a:p>
        </p:txBody>
      </p:sp>
      <p:sp>
        <p:nvSpPr>
          <p:cNvPr id="253" name="Google Shape;253;p33"/>
          <p:cNvSpPr txBox="1"/>
          <p:nvPr/>
        </p:nvSpPr>
        <p:spPr>
          <a:xfrm>
            <a:off x="7690875" y="1452000"/>
            <a:ext cx="145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Melanoma</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idx="1" type="body"/>
          </p:nvPr>
        </p:nvSpPr>
        <p:spPr>
          <a:xfrm>
            <a:off x="713225" y="1152475"/>
            <a:ext cx="83922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accent6"/>
              </a:buClr>
              <a:buSzPts val="1200"/>
              <a:buChar char="●"/>
            </a:pPr>
            <a:r>
              <a:rPr b="1" lang="en">
                <a:solidFill>
                  <a:schemeClr val="accent6"/>
                </a:solidFill>
              </a:rPr>
              <a:t>Struction Causal models (SCM)</a:t>
            </a:r>
            <a:endParaRPr b="1">
              <a:solidFill>
                <a:schemeClr val="accent6"/>
              </a:solidFill>
            </a:endParaRPr>
          </a:p>
          <a:p>
            <a:pPr indent="-304800" lvl="1" marL="914400" rtl="0" algn="l">
              <a:spcBef>
                <a:spcPts val="0"/>
              </a:spcBef>
              <a:spcAft>
                <a:spcPts val="0"/>
              </a:spcAft>
              <a:buClr>
                <a:srgbClr val="434343"/>
              </a:buClr>
              <a:buSzPts val="1200"/>
              <a:buChar char="○"/>
            </a:pPr>
            <a:r>
              <a:rPr lang="en"/>
              <a:t>SCM: Emphasizes the </a:t>
            </a:r>
            <a:r>
              <a:rPr b="1" lang="en">
                <a:solidFill>
                  <a:srgbClr val="000000"/>
                </a:solidFill>
              </a:rPr>
              <a:t>mechanisms(F)</a:t>
            </a:r>
            <a:r>
              <a:rPr lang="en">
                <a:solidFill>
                  <a:srgbClr val="000000"/>
                </a:solidFill>
              </a:rPr>
              <a:t> </a:t>
            </a:r>
            <a:r>
              <a:rPr lang="en"/>
              <a:t>that generate the observed data.</a:t>
            </a:r>
            <a:endParaRPr/>
          </a:p>
          <a:p>
            <a:pPr indent="-304800" lvl="1" marL="914400" rtl="0" algn="l">
              <a:spcBef>
                <a:spcPts val="0"/>
              </a:spcBef>
              <a:spcAft>
                <a:spcPts val="0"/>
              </a:spcAft>
              <a:buClr>
                <a:srgbClr val="434343"/>
              </a:buClr>
              <a:buSzPts val="1200"/>
              <a:buChar char="○"/>
            </a:pPr>
            <a:r>
              <a:rPr b="1" lang="en">
                <a:solidFill>
                  <a:srgbClr val="000000"/>
                </a:solidFill>
              </a:rPr>
              <a:t>Causal Graph</a:t>
            </a:r>
            <a:r>
              <a:rPr lang="en"/>
              <a:t>: each SCM model has a corresponding causal graph (DAG)</a:t>
            </a:r>
            <a:endParaRPr/>
          </a:p>
          <a:p>
            <a:pPr indent="-304800" lvl="1" marL="914400" rtl="0" algn="l">
              <a:spcBef>
                <a:spcPts val="0"/>
              </a:spcBef>
              <a:spcAft>
                <a:spcPts val="0"/>
              </a:spcAft>
              <a:buClr>
                <a:schemeClr val="accent2"/>
              </a:buClr>
              <a:buSzPts val="1200"/>
              <a:buChar char="○"/>
            </a:pPr>
            <a:r>
              <a:rPr b="1" lang="en">
                <a:latin typeface="Times New Roman"/>
                <a:ea typeface="Times New Roman"/>
                <a:cs typeface="Times New Roman"/>
                <a:sym typeface="Times New Roman"/>
              </a:rPr>
              <a:t>Average Treatment Effect (ATE):</a:t>
            </a:r>
            <a:endParaRPr b="1">
              <a:latin typeface="Times New Roman"/>
              <a:ea typeface="Times New Roman"/>
              <a:cs typeface="Times New Roman"/>
              <a:sym typeface="Times New Roman"/>
            </a:endParaRPr>
          </a:p>
          <a:p>
            <a:pPr indent="0" lvl="0" marL="1371600" rtl="0" algn="l">
              <a:spcBef>
                <a:spcPts val="1600"/>
              </a:spcBef>
              <a:spcAft>
                <a:spcPts val="0"/>
              </a:spcAft>
              <a:buNone/>
            </a:pPr>
            <a:r>
              <a:t/>
            </a:r>
            <a:endParaRPr b="1">
              <a:latin typeface="Times New Roman"/>
              <a:ea typeface="Times New Roman"/>
              <a:cs typeface="Times New Roman"/>
              <a:sym typeface="Times New Roman"/>
            </a:endParaRPr>
          </a:p>
          <a:p>
            <a:pPr indent="-304800" lvl="0" marL="457200" rtl="0" algn="l">
              <a:spcBef>
                <a:spcPts val="1600"/>
              </a:spcBef>
              <a:spcAft>
                <a:spcPts val="0"/>
              </a:spcAft>
              <a:buClr>
                <a:schemeClr val="accent6"/>
              </a:buClr>
              <a:buSzPts val="1200"/>
              <a:buChar char="●"/>
            </a:pPr>
            <a:r>
              <a:rPr b="1" lang="en">
                <a:solidFill>
                  <a:schemeClr val="accent6"/>
                </a:solidFill>
              </a:rPr>
              <a:t>Potential Outcome model (POM)</a:t>
            </a:r>
            <a:endParaRPr b="1">
              <a:solidFill>
                <a:schemeClr val="accent6"/>
              </a:solidFill>
            </a:endParaRPr>
          </a:p>
          <a:p>
            <a:pPr indent="-304800" lvl="1" marL="914400" rtl="0" algn="l">
              <a:spcBef>
                <a:spcPts val="0"/>
              </a:spcBef>
              <a:spcAft>
                <a:spcPts val="0"/>
              </a:spcAft>
              <a:buClr>
                <a:srgbClr val="434343"/>
              </a:buClr>
              <a:buSzPts val="1200"/>
              <a:buChar char="○"/>
            </a:pPr>
            <a:r>
              <a:rPr lang="en"/>
              <a:t>F</a:t>
            </a:r>
            <a:r>
              <a:rPr lang="en"/>
              <a:t>ocuses on comparing </a:t>
            </a:r>
            <a:r>
              <a:rPr b="1" lang="en">
                <a:solidFill>
                  <a:schemeClr val="dk1"/>
                </a:solidFill>
              </a:rPr>
              <a:t>potential outcomes</a:t>
            </a:r>
            <a:r>
              <a:rPr lang="en"/>
              <a:t> under different conditions or interventions.</a:t>
            </a:r>
            <a:endParaRPr/>
          </a:p>
          <a:p>
            <a:pPr indent="-304800" lvl="1" marL="914400" rtl="0" algn="l">
              <a:spcBef>
                <a:spcPts val="0"/>
              </a:spcBef>
              <a:spcAft>
                <a:spcPts val="0"/>
              </a:spcAft>
              <a:buClr>
                <a:schemeClr val="accent2"/>
              </a:buClr>
              <a:buSzPts val="1200"/>
              <a:buChar char="○"/>
            </a:pPr>
            <a:r>
              <a:t/>
            </a:r>
            <a:endParaRPr/>
          </a:p>
        </p:txBody>
      </p:sp>
      <p:sp>
        <p:nvSpPr>
          <p:cNvPr id="259" name="Google Shape;259;p34"/>
          <p:cNvSpPr txBox="1"/>
          <p:nvPr>
            <p:ph type="title"/>
          </p:nvPr>
        </p:nvSpPr>
        <p:spPr>
          <a:xfrm>
            <a:off x="713225" y="384051"/>
            <a:ext cx="7717500" cy="9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Two frameworks</a:t>
            </a:r>
            <a:endParaRPr/>
          </a:p>
        </p:txBody>
      </p:sp>
      <p:sp>
        <p:nvSpPr>
          <p:cNvPr id="260" name="Google Shape;260;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1" name="Google Shape;261;p34"/>
          <p:cNvPicPr preferRelativeResize="0"/>
          <p:nvPr/>
        </p:nvPicPr>
        <p:blipFill>
          <a:blip r:embed="rId3">
            <a:alphaModFix/>
          </a:blip>
          <a:stretch>
            <a:fillRect/>
          </a:stretch>
        </p:blipFill>
        <p:spPr>
          <a:xfrm>
            <a:off x="5598726" y="354500"/>
            <a:ext cx="3420425" cy="988511"/>
          </a:xfrm>
          <a:prstGeom prst="rect">
            <a:avLst/>
          </a:prstGeom>
          <a:noFill/>
          <a:ln>
            <a:noFill/>
          </a:ln>
        </p:spPr>
      </p:pic>
      <p:pic>
        <p:nvPicPr>
          <p:cNvPr id="262" name="Google Shape;262;p34"/>
          <p:cNvPicPr preferRelativeResize="0"/>
          <p:nvPr/>
        </p:nvPicPr>
        <p:blipFill>
          <a:blip r:embed="rId4">
            <a:alphaModFix/>
          </a:blip>
          <a:stretch>
            <a:fillRect/>
          </a:stretch>
        </p:blipFill>
        <p:spPr>
          <a:xfrm>
            <a:off x="3362350" y="2160925"/>
            <a:ext cx="2186053" cy="264763"/>
          </a:xfrm>
          <a:prstGeom prst="rect">
            <a:avLst/>
          </a:prstGeom>
          <a:noFill/>
          <a:ln>
            <a:noFill/>
          </a:ln>
        </p:spPr>
      </p:pic>
      <p:pic>
        <p:nvPicPr>
          <p:cNvPr id="263" name="Google Shape;263;p34"/>
          <p:cNvPicPr preferRelativeResize="0"/>
          <p:nvPr/>
        </p:nvPicPr>
        <p:blipFill>
          <a:blip r:embed="rId5">
            <a:alphaModFix/>
          </a:blip>
          <a:stretch>
            <a:fillRect/>
          </a:stretch>
        </p:blipFill>
        <p:spPr>
          <a:xfrm>
            <a:off x="1661275" y="3150700"/>
            <a:ext cx="4248000" cy="1647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idx="1" type="body"/>
          </p:nvPr>
        </p:nvSpPr>
        <p:spPr>
          <a:xfrm>
            <a:off x="713225" y="1152475"/>
            <a:ext cx="79248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Causal Learning</a:t>
            </a:r>
            <a:endParaRPr b="1"/>
          </a:p>
          <a:p>
            <a:pPr indent="-304800" lvl="1" marL="914400" rtl="0" algn="l">
              <a:spcBef>
                <a:spcPts val="0"/>
              </a:spcBef>
              <a:spcAft>
                <a:spcPts val="0"/>
              </a:spcAft>
              <a:buClr>
                <a:schemeClr val="accent5"/>
              </a:buClr>
              <a:buSzPts val="1200"/>
              <a:buChar char="○"/>
            </a:pPr>
            <a:r>
              <a:rPr b="1" lang="en">
                <a:solidFill>
                  <a:schemeClr val="accent5"/>
                </a:solidFill>
              </a:rPr>
              <a:t>Causal Discovery </a:t>
            </a:r>
            <a:endParaRPr b="1">
              <a:solidFill>
                <a:schemeClr val="accent5"/>
              </a:solidFill>
            </a:endParaRPr>
          </a:p>
          <a:p>
            <a:pPr indent="-304800" lvl="2" marL="1371600" rtl="0" algn="l">
              <a:spcBef>
                <a:spcPts val="0"/>
              </a:spcBef>
              <a:spcAft>
                <a:spcPts val="0"/>
              </a:spcAft>
              <a:buClr>
                <a:srgbClr val="434343"/>
              </a:buClr>
              <a:buSzPts val="1200"/>
              <a:buChar char="■"/>
            </a:pPr>
            <a:r>
              <a:rPr lang="en"/>
              <a:t>Using observational data to discover </a:t>
            </a:r>
            <a:r>
              <a:rPr b="1" lang="en">
                <a:solidFill>
                  <a:srgbClr val="6AA84F"/>
                </a:solidFill>
              </a:rPr>
              <a:t>causal relationships</a:t>
            </a:r>
            <a:r>
              <a:rPr lang="en"/>
              <a:t> between variables </a:t>
            </a:r>
            <a:endParaRPr/>
          </a:p>
          <a:p>
            <a:pPr indent="-304800" lvl="1" marL="914400" rtl="0" algn="l">
              <a:spcBef>
                <a:spcPts val="0"/>
              </a:spcBef>
              <a:spcAft>
                <a:spcPts val="0"/>
              </a:spcAft>
              <a:buClr>
                <a:schemeClr val="accent5"/>
              </a:buClr>
              <a:buSzPts val="1200"/>
              <a:buChar char="○"/>
            </a:pPr>
            <a:r>
              <a:rPr b="1" lang="en">
                <a:solidFill>
                  <a:schemeClr val="accent5"/>
                </a:solidFill>
              </a:rPr>
              <a:t>Causal Inference</a:t>
            </a:r>
            <a:endParaRPr b="1">
              <a:solidFill>
                <a:schemeClr val="accent5"/>
              </a:solidFill>
            </a:endParaRPr>
          </a:p>
          <a:p>
            <a:pPr indent="-304800" lvl="2" marL="1371600" rtl="0" algn="l">
              <a:spcBef>
                <a:spcPts val="0"/>
              </a:spcBef>
              <a:spcAft>
                <a:spcPts val="0"/>
              </a:spcAft>
              <a:buClr>
                <a:srgbClr val="434343"/>
              </a:buClr>
              <a:buSzPts val="1200"/>
              <a:buChar char="■"/>
            </a:pPr>
            <a:r>
              <a:rPr lang="en"/>
              <a:t> The </a:t>
            </a:r>
            <a:r>
              <a:rPr b="1" lang="en">
                <a:solidFill>
                  <a:srgbClr val="6AA84F"/>
                </a:solidFill>
              </a:rPr>
              <a:t>causal effect </a:t>
            </a:r>
            <a:r>
              <a:rPr lang="en"/>
              <a:t>is estimated.</a:t>
            </a:r>
            <a:endParaRPr/>
          </a:p>
          <a:p>
            <a:pPr indent="-304800" lvl="0" marL="457200" rtl="0" algn="l">
              <a:spcBef>
                <a:spcPts val="0"/>
              </a:spcBef>
              <a:spcAft>
                <a:spcPts val="0"/>
              </a:spcAft>
              <a:buSzPts val="1200"/>
              <a:buChar char="●"/>
            </a:pPr>
            <a:r>
              <a:rPr b="1" lang="en"/>
              <a:t>Deep Causal Learning</a:t>
            </a:r>
            <a:endParaRPr b="1"/>
          </a:p>
          <a:p>
            <a:pPr indent="-304800" lvl="1" marL="914400" rtl="0" algn="l">
              <a:spcBef>
                <a:spcPts val="0"/>
              </a:spcBef>
              <a:spcAft>
                <a:spcPts val="0"/>
              </a:spcAft>
              <a:buClr>
                <a:schemeClr val="accent5"/>
              </a:buClr>
              <a:buSzPts val="1200"/>
              <a:buChar char="○"/>
            </a:pPr>
            <a:r>
              <a:rPr b="1" lang="en">
                <a:solidFill>
                  <a:schemeClr val="accent5"/>
                </a:solidFill>
              </a:rPr>
              <a:t>Deep Causal Variable Representation</a:t>
            </a:r>
            <a:endParaRPr b="1">
              <a:solidFill>
                <a:schemeClr val="accent5"/>
              </a:solidFill>
            </a:endParaRPr>
          </a:p>
          <a:p>
            <a:pPr indent="-304800" lvl="2" marL="1371600" rtl="0" algn="l">
              <a:spcBef>
                <a:spcPts val="0"/>
              </a:spcBef>
              <a:spcAft>
                <a:spcPts val="0"/>
              </a:spcAft>
              <a:buSzPts val="1200"/>
              <a:buChar char="■"/>
            </a:pPr>
            <a:r>
              <a:rPr lang="en"/>
              <a:t>Learn the low-dimensional balanced structured representation of high-dimensional (ex:MP4)</a:t>
            </a:r>
            <a:endParaRPr/>
          </a:p>
          <a:p>
            <a:pPr indent="-304800" lvl="1" marL="914400" rtl="0" algn="l">
              <a:spcBef>
                <a:spcPts val="0"/>
              </a:spcBef>
              <a:spcAft>
                <a:spcPts val="0"/>
              </a:spcAft>
              <a:buClr>
                <a:schemeClr val="accent5"/>
              </a:buClr>
              <a:buSzPts val="1200"/>
              <a:buChar char="○"/>
            </a:pPr>
            <a:r>
              <a:rPr b="1" lang="en">
                <a:solidFill>
                  <a:schemeClr val="accent5"/>
                </a:solidFill>
              </a:rPr>
              <a:t>Deep Causal Discovery</a:t>
            </a:r>
            <a:endParaRPr>
              <a:solidFill>
                <a:schemeClr val="accent5"/>
              </a:solidFill>
            </a:endParaRPr>
          </a:p>
          <a:p>
            <a:pPr indent="-304800" lvl="1" marL="914400" rtl="0" algn="l">
              <a:spcBef>
                <a:spcPts val="0"/>
              </a:spcBef>
              <a:spcAft>
                <a:spcPts val="0"/>
              </a:spcAft>
              <a:buClr>
                <a:schemeClr val="accent5"/>
              </a:buClr>
              <a:buSzPts val="1200"/>
              <a:buChar char="○"/>
            </a:pPr>
            <a:r>
              <a:rPr b="1" lang="en">
                <a:solidFill>
                  <a:schemeClr val="accent5"/>
                </a:solidFill>
              </a:rPr>
              <a:t>Deep Causal Inference</a:t>
            </a:r>
            <a:endParaRPr b="1">
              <a:solidFill>
                <a:schemeClr val="accent5"/>
              </a:solidFill>
            </a:endParaRPr>
          </a:p>
        </p:txBody>
      </p:sp>
      <p:sp>
        <p:nvSpPr>
          <p:cNvPr id="269" name="Google Shape;269;p3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causal learning vs deep causal learning</a:t>
            </a:r>
            <a:endParaRPr/>
          </a:p>
          <a:p>
            <a:pPr indent="0" lvl="0" marL="0" rtl="0" algn="l">
              <a:spcBef>
                <a:spcPts val="0"/>
              </a:spcBef>
              <a:spcAft>
                <a:spcPts val="0"/>
              </a:spcAft>
              <a:buNone/>
            </a:pPr>
            <a:r>
              <a:t/>
            </a:r>
            <a:endParaRPr/>
          </a:p>
        </p:txBody>
      </p:sp>
      <p:sp>
        <p:nvSpPr>
          <p:cNvPr id="270" name="Google Shape;270;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36"/>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Two fundamental problems of causal inference: (1 )selection bias  (2) lack of counterfactual data</a:t>
            </a:r>
            <a:endParaRPr/>
          </a:p>
          <a:p>
            <a:pPr indent="-304800" lvl="0" marL="457200" rtl="0" algn="l">
              <a:spcBef>
                <a:spcPts val="0"/>
              </a:spcBef>
              <a:spcAft>
                <a:spcPts val="0"/>
              </a:spcAft>
              <a:buSzPts val="1200"/>
              <a:buChar char="●"/>
            </a:pPr>
            <a:r>
              <a:rPr lang="en"/>
              <a:t>Causal variable representation target: </a:t>
            </a:r>
            <a:endParaRPr/>
          </a:p>
          <a:p>
            <a:pPr indent="-304800" lvl="1" marL="742950" rtl="0" algn="l">
              <a:spcBef>
                <a:spcPts val="0"/>
              </a:spcBef>
              <a:spcAft>
                <a:spcPts val="0"/>
              </a:spcAft>
              <a:buClr>
                <a:schemeClr val="accent6"/>
              </a:buClr>
              <a:buSzPts val="1200"/>
              <a:buChar char="○"/>
            </a:pPr>
            <a:r>
              <a:rPr lang="en">
                <a:solidFill>
                  <a:schemeClr val="accent6"/>
                </a:solidFill>
              </a:rPr>
              <a:t>covariates are balanced</a:t>
            </a:r>
            <a:endParaRPr>
              <a:solidFill>
                <a:schemeClr val="accent6"/>
              </a:solidFill>
            </a:endParaRPr>
          </a:p>
          <a:p>
            <a:pPr indent="-304800" lvl="1" marL="742950" rtl="0" algn="l">
              <a:spcBef>
                <a:spcPts val="0"/>
              </a:spcBef>
              <a:spcAft>
                <a:spcPts val="0"/>
              </a:spcAft>
              <a:buClr>
                <a:schemeClr val="accent6"/>
              </a:buClr>
              <a:buSzPts val="1200"/>
              <a:buChar char="○"/>
            </a:pPr>
            <a:r>
              <a:rPr lang="en">
                <a:solidFill>
                  <a:schemeClr val="accent6"/>
                </a:solidFill>
              </a:rPr>
              <a:t>counterfactual data or the causal generation mechanism of the variable can be obtained.</a:t>
            </a:r>
            <a:endParaRPr>
              <a:solidFill>
                <a:schemeClr val="accent6"/>
              </a:solidFill>
            </a:endParaRPr>
          </a:p>
          <a:p>
            <a:pPr indent="-304800" lvl="0" marL="457200" rtl="0" algn="l">
              <a:spcBef>
                <a:spcPts val="0"/>
              </a:spcBef>
              <a:spcAft>
                <a:spcPts val="0"/>
              </a:spcAft>
              <a:buClr>
                <a:schemeClr val="accent5"/>
              </a:buClr>
              <a:buSzPts val="1200"/>
              <a:buChar char="●"/>
            </a:pPr>
            <a:r>
              <a:rPr lang="en">
                <a:solidFill>
                  <a:schemeClr val="accent5"/>
                </a:solidFill>
              </a:rPr>
              <a:t>Regularization Adjustment for Covariate Balance</a:t>
            </a:r>
            <a:br>
              <a:rPr lang="en">
                <a:solidFill>
                  <a:schemeClr val="accent5"/>
                </a:solidFill>
              </a:rPr>
            </a:br>
            <a:br>
              <a:rPr lang="en">
                <a:solidFill>
                  <a:schemeClr val="accent5"/>
                </a:solidFill>
              </a:rPr>
            </a:br>
            <a:br>
              <a:rPr lang="en">
                <a:solidFill>
                  <a:schemeClr val="accent5"/>
                </a:solidFill>
              </a:rPr>
            </a:br>
            <a:br>
              <a:rPr lang="en">
                <a:solidFill>
                  <a:schemeClr val="accent5"/>
                </a:solidFill>
              </a:rPr>
            </a:br>
            <a:br>
              <a:rPr lang="en">
                <a:solidFill>
                  <a:schemeClr val="accent5"/>
                </a:solidFill>
              </a:rPr>
            </a:br>
            <a:endParaRPr>
              <a:solidFill>
                <a:schemeClr val="accent5"/>
              </a:solidFill>
            </a:endParaRPr>
          </a:p>
          <a:p>
            <a:pPr indent="-304800" lvl="0" marL="457200" rtl="0" algn="l">
              <a:spcBef>
                <a:spcPts val="0"/>
              </a:spcBef>
              <a:spcAft>
                <a:spcPts val="0"/>
              </a:spcAft>
              <a:buClr>
                <a:schemeClr val="accent5"/>
              </a:buClr>
              <a:buSzPts val="1200"/>
              <a:buChar char="●"/>
            </a:pPr>
            <a:r>
              <a:rPr lang="en">
                <a:solidFill>
                  <a:schemeClr val="accent5"/>
                </a:solidFill>
              </a:rPr>
              <a:t>Implicit Generation of Counterfactual Data (GAN)</a:t>
            </a:r>
            <a:br>
              <a:rPr lang="en">
                <a:solidFill>
                  <a:schemeClr val="accent5"/>
                </a:solidFill>
              </a:rPr>
            </a:br>
            <a:br>
              <a:rPr lang="en">
                <a:solidFill>
                  <a:schemeClr val="accent5"/>
                </a:solidFill>
              </a:rPr>
            </a:br>
            <a:br>
              <a:rPr lang="en">
                <a:solidFill>
                  <a:schemeClr val="accent5"/>
                </a:solidFill>
              </a:rPr>
            </a:br>
            <a:endParaRPr>
              <a:solidFill>
                <a:schemeClr val="accent5"/>
              </a:solidFill>
            </a:endParaRPr>
          </a:p>
          <a:p>
            <a:pPr indent="-304800" lvl="0" marL="457200" rtl="0" algn="l">
              <a:spcBef>
                <a:spcPts val="0"/>
              </a:spcBef>
              <a:spcAft>
                <a:spcPts val="0"/>
              </a:spcAft>
              <a:buClr>
                <a:schemeClr val="accent5"/>
              </a:buClr>
              <a:buSzPts val="1200"/>
              <a:buChar char="●"/>
            </a:pPr>
            <a:r>
              <a:rPr lang="en">
                <a:solidFill>
                  <a:schemeClr val="accent5"/>
                </a:solidFill>
              </a:rPr>
              <a:t>Explicit Generation for Disentangled Causal Mechanisms</a:t>
            </a:r>
            <a:endParaRPr/>
          </a:p>
        </p:txBody>
      </p:sp>
      <p:sp>
        <p:nvSpPr>
          <p:cNvPr id="276" name="Google Shape;276;p3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Representation</a:t>
            </a:r>
            <a:endParaRPr>
              <a:solidFill>
                <a:schemeClr val="accent6"/>
              </a:solidFill>
            </a:endParaRPr>
          </a:p>
        </p:txBody>
      </p:sp>
      <p:sp>
        <p:nvSpPr>
          <p:cNvPr id="277" name="Google Shape;277;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8" name="Google Shape;278;p36"/>
          <p:cNvPicPr preferRelativeResize="0"/>
          <p:nvPr/>
        </p:nvPicPr>
        <p:blipFill rotWithShape="1">
          <a:blip r:embed="rId3">
            <a:alphaModFix/>
          </a:blip>
          <a:srcRect b="7501" l="0" r="0" t="0"/>
          <a:stretch/>
        </p:blipFill>
        <p:spPr>
          <a:xfrm>
            <a:off x="5148925" y="2103488"/>
            <a:ext cx="3118399" cy="1603175"/>
          </a:xfrm>
          <a:prstGeom prst="rect">
            <a:avLst/>
          </a:prstGeom>
          <a:noFill/>
          <a:ln>
            <a:noFill/>
          </a:ln>
        </p:spPr>
      </p:pic>
      <p:pic>
        <p:nvPicPr>
          <p:cNvPr id="279" name="Google Shape;279;p36"/>
          <p:cNvPicPr preferRelativeResize="0"/>
          <p:nvPr/>
        </p:nvPicPr>
        <p:blipFill rotWithShape="1">
          <a:blip r:embed="rId4">
            <a:alphaModFix/>
          </a:blip>
          <a:srcRect b="18500" l="0" r="0" t="0"/>
          <a:stretch/>
        </p:blipFill>
        <p:spPr>
          <a:xfrm>
            <a:off x="3864593" y="3559900"/>
            <a:ext cx="2531182" cy="572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p37"/>
          <p:cNvSpPr txBox="1"/>
          <p:nvPr>
            <p:ph idx="1" type="body"/>
          </p:nvPr>
        </p:nvSpPr>
        <p:spPr>
          <a:xfrm>
            <a:off x="713225" y="1152475"/>
            <a:ext cx="55080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solidFill>
                  <a:schemeClr val="accent5"/>
                </a:solidFill>
              </a:rPr>
              <a:t>Observation Data-driven</a:t>
            </a:r>
            <a:r>
              <a:rPr lang="en"/>
              <a:t> Causal Discovery</a:t>
            </a:r>
            <a:endParaRPr/>
          </a:p>
          <a:p>
            <a:pPr indent="-304800" lvl="1" marL="914400" rtl="0" algn="l">
              <a:spcBef>
                <a:spcPts val="0"/>
              </a:spcBef>
              <a:spcAft>
                <a:spcPts val="0"/>
              </a:spcAft>
              <a:buSzPts val="1200"/>
              <a:buChar char="○"/>
            </a:pPr>
            <a:r>
              <a:rPr lang="en">
                <a:solidFill>
                  <a:srgbClr val="6AA84F"/>
                </a:solidFill>
              </a:rPr>
              <a:t>Non-time series data</a:t>
            </a:r>
            <a:r>
              <a:rPr lang="en"/>
              <a:t>: the methods usually convert the constraints of acyclicity into constraints on the </a:t>
            </a:r>
            <a:r>
              <a:rPr b="1" lang="en"/>
              <a:t>trace of the adjacency matrix</a:t>
            </a:r>
            <a:endParaRPr b="1"/>
          </a:p>
          <a:p>
            <a:pPr indent="-304800" lvl="1" marL="914400" rtl="0" algn="l">
              <a:spcBef>
                <a:spcPts val="0"/>
              </a:spcBef>
              <a:spcAft>
                <a:spcPts val="0"/>
              </a:spcAft>
              <a:buSzPts val="1200"/>
              <a:buChar char="○"/>
            </a:pPr>
            <a:r>
              <a:rPr lang="en">
                <a:solidFill>
                  <a:srgbClr val="6AA84F"/>
                </a:solidFill>
              </a:rPr>
              <a:t>Time series data</a:t>
            </a:r>
            <a:r>
              <a:rPr b="1" lang="en"/>
              <a:t>:</a:t>
            </a:r>
            <a:r>
              <a:rPr lang="en"/>
              <a:t> the causal graph obtained from the time series is likely to have cycles, which does not satisfy the DAG condition</a:t>
            </a:r>
            <a:endParaRPr/>
          </a:p>
          <a:p>
            <a:pPr indent="-304800" lvl="0" marL="457200" rtl="0" algn="l">
              <a:spcBef>
                <a:spcPts val="0"/>
              </a:spcBef>
              <a:spcAft>
                <a:spcPts val="0"/>
              </a:spcAft>
              <a:buSzPts val="1200"/>
              <a:buChar char="●"/>
            </a:pPr>
            <a:r>
              <a:rPr lang="en">
                <a:solidFill>
                  <a:schemeClr val="accent5"/>
                </a:solidFill>
              </a:rPr>
              <a:t>Intervention Data-driven</a:t>
            </a:r>
            <a:r>
              <a:rPr lang="en"/>
              <a:t> Causal Discovery</a:t>
            </a:r>
            <a:endParaRPr/>
          </a:p>
          <a:p>
            <a:pPr indent="-304800" lvl="1" marL="914400" rtl="0" algn="l">
              <a:spcBef>
                <a:spcPts val="0"/>
              </a:spcBef>
              <a:spcAft>
                <a:spcPts val="0"/>
              </a:spcAft>
              <a:buClr>
                <a:srgbClr val="6AA84F"/>
              </a:buClr>
              <a:buSzPts val="1200"/>
              <a:buChar char="○"/>
            </a:pPr>
            <a:r>
              <a:rPr lang="en">
                <a:solidFill>
                  <a:srgbClr val="6AA84F"/>
                </a:solidFill>
              </a:rPr>
              <a:t>Known Intervention</a:t>
            </a:r>
            <a:endParaRPr>
              <a:solidFill>
                <a:srgbClr val="6AA84F"/>
              </a:solidFill>
            </a:endParaRPr>
          </a:p>
          <a:p>
            <a:pPr indent="-304800" lvl="1" marL="914400" rtl="0" algn="l">
              <a:spcBef>
                <a:spcPts val="0"/>
              </a:spcBef>
              <a:spcAft>
                <a:spcPts val="0"/>
              </a:spcAft>
              <a:buClr>
                <a:srgbClr val="6AA84F"/>
              </a:buClr>
              <a:buSzPts val="1200"/>
              <a:buChar char="○"/>
            </a:pPr>
            <a:r>
              <a:rPr lang="en">
                <a:solidFill>
                  <a:srgbClr val="6AA84F"/>
                </a:solidFill>
              </a:rPr>
              <a:t>Unknown Intervention</a:t>
            </a:r>
            <a:endParaRPr>
              <a:solidFill>
                <a:srgbClr val="6AA84F"/>
              </a:solidFill>
            </a:endParaRPr>
          </a:p>
          <a:p>
            <a:pPr indent="-304800" lvl="0" marL="457200" rtl="0" algn="l">
              <a:spcBef>
                <a:spcPts val="0"/>
              </a:spcBef>
              <a:spcAft>
                <a:spcPts val="0"/>
              </a:spcAft>
              <a:buSzPts val="1200"/>
              <a:buChar char="●"/>
            </a:pPr>
            <a:r>
              <a:rPr lang="en">
                <a:solidFill>
                  <a:schemeClr val="accent5"/>
                </a:solidFill>
              </a:rPr>
              <a:t>Unobserved Confounders Data-driven</a:t>
            </a:r>
            <a:r>
              <a:rPr lang="en"/>
              <a:t> Causal Discovery</a:t>
            </a:r>
            <a:endParaRPr/>
          </a:p>
          <a:p>
            <a:pPr indent="-304800" lvl="1" marL="914400" rtl="0" algn="l">
              <a:spcBef>
                <a:spcPts val="0"/>
              </a:spcBef>
              <a:spcAft>
                <a:spcPts val="0"/>
              </a:spcAft>
              <a:buSzPts val="1200"/>
              <a:buChar char="○"/>
            </a:pPr>
            <a:r>
              <a:rPr lang="en">
                <a:solidFill>
                  <a:srgbClr val="6AA84F"/>
                </a:solidFill>
              </a:rPr>
              <a:t>Non-time series data: </a:t>
            </a:r>
            <a:r>
              <a:rPr lang="en"/>
              <a:t>More efficiently and accurately find causal relationships in the presence of unobserved confounders.</a:t>
            </a:r>
            <a:endParaRPr/>
          </a:p>
          <a:p>
            <a:pPr indent="-304800" lvl="1" marL="914400" rtl="0" algn="l">
              <a:spcBef>
                <a:spcPts val="0"/>
              </a:spcBef>
              <a:spcAft>
                <a:spcPts val="0"/>
              </a:spcAft>
              <a:buSzPts val="1200"/>
              <a:buChar char="○"/>
            </a:pPr>
            <a:r>
              <a:rPr lang="en">
                <a:solidFill>
                  <a:srgbClr val="6AA84F"/>
                </a:solidFill>
              </a:rPr>
              <a:t>Time series data:</a:t>
            </a:r>
            <a:endParaRPr/>
          </a:p>
        </p:txBody>
      </p:sp>
      <p:sp>
        <p:nvSpPr>
          <p:cNvPr id="285" name="Google Shape;285;p3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discovery</a:t>
            </a:r>
            <a:endParaRPr>
              <a:solidFill>
                <a:schemeClr val="accent6"/>
              </a:solidFill>
            </a:endParaRPr>
          </a:p>
        </p:txBody>
      </p:sp>
      <p:sp>
        <p:nvSpPr>
          <p:cNvPr id="286" name="Google Shape;286;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7" name="Google Shape;287;p37"/>
          <p:cNvPicPr preferRelativeResize="0"/>
          <p:nvPr/>
        </p:nvPicPr>
        <p:blipFill>
          <a:blip r:embed="rId3">
            <a:alphaModFix/>
          </a:blip>
          <a:stretch>
            <a:fillRect/>
          </a:stretch>
        </p:blipFill>
        <p:spPr>
          <a:xfrm>
            <a:off x="6283775" y="1347900"/>
            <a:ext cx="1751125" cy="984225"/>
          </a:xfrm>
          <a:prstGeom prst="rect">
            <a:avLst/>
          </a:prstGeom>
          <a:noFill/>
          <a:ln>
            <a:noFill/>
          </a:ln>
        </p:spPr>
      </p:pic>
      <p:pic>
        <p:nvPicPr>
          <p:cNvPr id="288" name="Google Shape;288;p37"/>
          <p:cNvPicPr preferRelativeResize="0"/>
          <p:nvPr/>
        </p:nvPicPr>
        <p:blipFill>
          <a:blip r:embed="rId4">
            <a:alphaModFix/>
          </a:blip>
          <a:stretch>
            <a:fillRect/>
          </a:stretch>
        </p:blipFill>
        <p:spPr>
          <a:xfrm>
            <a:off x="6507450" y="2908350"/>
            <a:ext cx="1527450" cy="1161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713225" y="1170000"/>
            <a:ext cx="5533200" cy="280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400"/>
              <a:t>End</a:t>
            </a:r>
            <a:endParaRPr sz="4400"/>
          </a:p>
        </p:txBody>
      </p:sp>
      <p:sp>
        <p:nvSpPr>
          <p:cNvPr id="294" name="Google Shape;294;p3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3200"/>
              <a:t>Abstract</a:t>
            </a:r>
            <a:endParaRPr sz="3200"/>
          </a:p>
        </p:txBody>
      </p:sp>
      <p:sp>
        <p:nvSpPr>
          <p:cNvPr id="300" name="Google Shape;300;p39"/>
          <p:cNvSpPr txBox="1"/>
          <p:nvPr>
            <p:ph idx="2" type="title"/>
          </p:nvPr>
        </p:nvSpPr>
        <p:spPr>
          <a:xfrm>
            <a:off x="3968350" y="1262325"/>
            <a:ext cx="4462500" cy="11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chemeClr val="accent5"/>
                </a:solidFill>
              </a:rPr>
              <a:t>0</a:t>
            </a:r>
            <a:endParaRPr>
              <a:solidFill>
                <a:schemeClr val="accent5"/>
              </a:solidFill>
            </a:endParaRPr>
          </a:p>
        </p:txBody>
      </p:sp>
      <p:sp>
        <p:nvSpPr>
          <p:cNvPr id="301" name="Google Shape;301;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idx="1" type="body"/>
          </p:nvPr>
        </p:nvSpPr>
        <p:spPr>
          <a:xfrm>
            <a:off x="713225" y="1152475"/>
            <a:ext cx="79248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Causal Learning</a:t>
            </a:r>
            <a:endParaRPr b="1"/>
          </a:p>
          <a:p>
            <a:pPr indent="-304800" lvl="1" marL="914400" rtl="0" algn="l">
              <a:spcBef>
                <a:spcPts val="0"/>
              </a:spcBef>
              <a:spcAft>
                <a:spcPts val="0"/>
              </a:spcAft>
              <a:buClr>
                <a:schemeClr val="accent5"/>
              </a:buClr>
              <a:buSzPts val="1200"/>
              <a:buChar char="○"/>
            </a:pPr>
            <a:r>
              <a:rPr b="1" lang="en">
                <a:solidFill>
                  <a:schemeClr val="accent5"/>
                </a:solidFill>
              </a:rPr>
              <a:t>Causal Discovery </a:t>
            </a:r>
            <a:endParaRPr b="1">
              <a:solidFill>
                <a:schemeClr val="accent5"/>
              </a:solidFill>
            </a:endParaRPr>
          </a:p>
          <a:p>
            <a:pPr indent="-304800" lvl="2" marL="1371600" rtl="0" algn="l">
              <a:spcBef>
                <a:spcPts val="0"/>
              </a:spcBef>
              <a:spcAft>
                <a:spcPts val="0"/>
              </a:spcAft>
              <a:buClr>
                <a:srgbClr val="434343"/>
              </a:buClr>
              <a:buSzPts val="1200"/>
              <a:buChar char="■"/>
            </a:pPr>
            <a:r>
              <a:rPr lang="en"/>
              <a:t>Using observational data to discover </a:t>
            </a:r>
            <a:r>
              <a:rPr b="1" lang="en">
                <a:solidFill>
                  <a:srgbClr val="6AA84F"/>
                </a:solidFill>
              </a:rPr>
              <a:t>causal relationships</a:t>
            </a:r>
            <a:r>
              <a:rPr lang="en"/>
              <a:t> between variables </a:t>
            </a:r>
            <a:endParaRPr/>
          </a:p>
          <a:p>
            <a:pPr indent="-304800" lvl="1" marL="914400" rtl="0" algn="l">
              <a:spcBef>
                <a:spcPts val="0"/>
              </a:spcBef>
              <a:spcAft>
                <a:spcPts val="0"/>
              </a:spcAft>
              <a:buClr>
                <a:schemeClr val="accent5"/>
              </a:buClr>
              <a:buSzPts val="1200"/>
              <a:buChar char="○"/>
            </a:pPr>
            <a:r>
              <a:rPr b="1" lang="en">
                <a:solidFill>
                  <a:schemeClr val="accent5"/>
                </a:solidFill>
              </a:rPr>
              <a:t>Causal Inference</a:t>
            </a:r>
            <a:endParaRPr b="1">
              <a:solidFill>
                <a:schemeClr val="accent5"/>
              </a:solidFill>
            </a:endParaRPr>
          </a:p>
          <a:p>
            <a:pPr indent="-304800" lvl="2" marL="1371600" rtl="0" algn="l">
              <a:spcBef>
                <a:spcPts val="0"/>
              </a:spcBef>
              <a:spcAft>
                <a:spcPts val="0"/>
              </a:spcAft>
              <a:buClr>
                <a:srgbClr val="434343"/>
              </a:buClr>
              <a:buSzPts val="1200"/>
              <a:buChar char="■"/>
            </a:pPr>
            <a:r>
              <a:rPr lang="en"/>
              <a:t> The </a:t>
            </a:r>
            <a:r>
              <a:rPr b="1" lang="en">
                <a:solidFill>
                  <a:srgbClr val="6AA84F"/>
                </a:solidFill>
              </a:rPr>
              <a:t>causal effect </a:t>
            </a:r>
            <a:r>
              <a:rPr lang="en"/>
              <a:t>is estimated.</a:t>
            </a:r>
            <a:endParaRPr/>
          </a:p>
          <a:p>
            <a:pPr indent="-304800" lvl="0" marL="457200" rtl="0" algn="l">
              <a:spcBef>
                <a:spcPts val="0"/>
              </a:spcBef>
              <a:spcAft>
                <a:spcPts val="0"/>
              </a:spcAft>
              <a:buSzPts val="1200"/>
              <a:buChar char="●"/>
            </a:pPr>
            <a:r>
              <a:rPr b="1" lang="en"/>
              <a:t>Deep Causal Learning</a:t>
            </a:r>
            <a:endParaRPr b="1"/>
          </a:p>
          <a:p>
            <a:pPr indent="-304800" lvl="1" marL="914400" rtl="0" algn="l">
              <a:spcBef>
                <a:spcPts val="0"/>
              </a:spcBef>
              <a:spcAft>
                <a:spcPts val="0"/>
              </a:spcAft>
              <a:buClr>
                <a:schemeClr val="accent5"/>
              </a:buClr>
              <a:buSzPts val="1200"/>
              <a:buChar char="○"/>
            </a:pPr>
            <a:r>
              <a:rPr b="1" lang="en">
                <a:solidFill>
                  <a:schemeClr val="accent5"/>
                </a:solidFill>
              </a:rPr>
              <a:t>Deep Causal Variable Representation</a:t>
            </a:r>
            <a:endParaRPr b="1">
              <a:solidFill>
                <a:schemeClr val="accent5"/>
              </a:solidFill>
            </a:endParaRPr>
          </a:p>
          <a:p>
            <a:pPr indent="-304800" lvl="2" marL="1371600" rtl="0" algn="l">
              <a:spcBef>
                <a:spcPts val="0"/>
              </a:spcBef>
              <a:spcAft>
                <a:spcPts val="0"/>
              </a:spcAft>
              <a:buSzPts val="1200"/>
              <a:buChar char="■"/>
            </a:pPr>
            <a:r>
              <a:rPr lang="en"/>
              <a:t>Learn the low-dimensional balanced structured representation of high-dimensional (ex:MP4)</a:t>
            </a:r>
            <a:endParaRPr/>
          </a:p>
          <a:p>
            <a:pPr indent="-304800" lvl="1" marL="914400" rtl="0" algn="l">
              <a:spcBef>
                <a:spcPts val="0"/>
              </a:spcBef>
              <a:spcAft>
                <a:spcPts val="0"/>
              </a:spcAft>
              <a:buClr>
                <a:schemeClr val="accent5"/>
              </a:buClr>
              <a:buSzPts val="1200"/>
              <a:buChar char="○"/>
            </a:pPr>
            <a:r>
              <a:rPr b="1" lang="en">
                <a:solidFill>
                  <a:schemeClr val="accent5"/>
                </a:solidFill>
              </a:rPr>
              <a:t>Deep Causal Discovery</a:t>
            </a:r>
            <a:endParaRPr>
              <a:solidFill>
                <a:schemeClr val="accent5"/>
              </a:solidFill>
            </a:endParaRPr>
          </a:p>
          <a:p>
            <a:pPr indent="-304800" lvl="1" marL="914400" rtl="0" algn="l">
              <a:spcBef>
                <a:spcPts val="0"/>
              </a:spcBef>
              <a:spcAft>
                <a:spcPts val="0"/>
              </a:spcAft>
              <a:buClr>
                <a:schemeClr val="accent5"/>
              </a:buClr>
              <a:buSzPts val="1200"/>
              <a:buChar char="○"/>
            </a:pPr>
            <a:r>
              <a:rPr b="1" lang="en">
                <a:solidFill>
                  <a:schemeClr val="accent5"/>
                </a:solidFill>
              </a:rPr>
              <a:t>Deep Causal Inference</a:t>
            </a:r>
            <a:endParaRPr b="1">
              <a:solidFill>
                <a:schemeClr val="accent5"/>
              </a:solidFill>
            </a:endParaRPr>
          </a:p>
        </p:txBody>
      </p:sp>
      <p:sp>
        <p:nvSpPr>
          <p:cNvPr id="307" name="Google Shape;307;p40"/>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causal learning vs deep causal learning</a:t>
            </a:r>
            <a:endParaRPr/>
          </a:p>
          <a:p>
            <a:pPr indent="0" lvl="0" marL="0" rtl="0" algn="l">
              <a:spcBef>
                <a:spcPts val="0"/>
              </a:spcBef>
              <a:spcAft>
                <a:spcPts val="0"/>
              </a:spcAft>
              <a:buNone/>
            </a:pPr>
            <a:r>
              <a:t/>
            </a:r>
            <a:endParaRPr/>
          </a:p>
        </p:txBody>
      </p:sp>
      <p:sp>
        <p:nvSpPr>
          <p:cNvPr id="308" name="Google Shape;308;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type="title"/>
          </p:nvPr>
        </p:nvSpPr>
        <p:spPr>
          <a:xfrm>
            <a:off x="713225" y="384050"/>
            <a:ext cx="832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causal learning vs deep causal learning</a:t>
            </a:r>
            <a:endParaRPr/>
          </a:p>
        </p:txBody>
      </p:sp>
      <p:sp>
        <p:nvSpPr>
          <p:cNvPr id="314" name="Google Shape;314;p41"/>
          <p:cNvSpPr txBox="1"/>
          <p:nvPr>
            <p:ph idx="1" type="body"/>
          </p:nvPr>
        </p:nvSpPr>
        <p:spPr>
          <a:xfrm>
            <a:off x="713225" y="1152475"/>
            <a:ext cx="1945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15" name="Google Shape;315;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pic>
        <p:nvPicPr>
          <p:cNvPr id="316" name="Google Shape;316;p41"/>
          <p:cNvPicPr preferRelativeResize="0"/>
          <p:nvPr/>
        </p:nvPicPr>
        <p:blipFill>
          <a:blip r:embed="rId3">
            <a:alphaModFix/>
          </a:blip>
          <a:stretch>
            <a:fillRect/>
          </a:stretch>
        </p:blipFill>
        <p:spPr>
          <a:xfrm>
            <a:off x="2069625" y="998873"/>
            <a:ext cx="5593260" cy="37236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322" name="Google Shape;322;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sp>
        <p:nvSpPr>
          <p:cNvPr id="323" name="Google Shape;323;p42"/>
          <p:cNvSpPr txBox="1"/>
          <p:nvPr>
            <p:ph idx="1" type="body"/>
          </p:nvPr>
        </p:nvSpPr>
        <p:spPr>
          <a:xfrm>
            <a:off x="713225" y="1152475"/>
            <a:ext cx="7717500" cy="482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24" name="Google Shape;324;p42"/>
          <p:cNvSpPr/>
          <p:nvPr/>
        </p:nvSpPr>
        <p:spPr>
          <a:xfrm>
            <a:off x="2904675" y="2034775"/>
            <a:ext cx="484800" cy="4848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t>
            </a:r>
            <a:endParaRPr/>
          </a:p>
        </p:txBody>
      </p:sp>
      <p:sp>
        <p:nvSpPr>
          <p:cNvPr id="325" name="Google Shape;325;p42"/>
          <p:cNvSpPr/>
          <p:nvPr/>
        </p:nvSpPr>
        <p:spPr>
          <a:xfrm>
            <a:off x="4553225" y="2034775"/>
            <a:ext cx="484800" cy="4848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326" name="Google Shape;326;p42"/>
          <p:cNvSpPr/>
          <p:nvPr/>
        </p:nvSpPr>
        <p:spPr>
          <a:xfrm>
            <a:off x="3800950" y="2855850"/>
            <a:ext cx="484800" cy="484800"/>
          </a:xfrm>
          <a:prstGeom prst="ellipse">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sp>
        <p:nvSpPr>
          <p:cNvPr id="327" name="Google Shape;327;p42"/>
          <p:cNvSpPr txBox="1"/>
          <p:nvPr/>
        </p:nvSpPr>
        <p:spPr>
          <a:xfrm>
            <a:off x="4350675" y="3340650"/>
            <a:ext cx="157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t>
            </a:r>
            <a:r>
              <a:rPr lang="en"/>
              <a:t>onfounder: 吸菸</a:t>
            </a:r>
            <a:endParaRPr/>
          </a:p>
        </p:txBody>
      </p:sp>
      <p:sp>
        <p:nvSpPr>
          <p:cNvPr id="328" name="Google Shape;328;p42"/>
          <p:cNvSpPr txBox="1"/>
          <p:nvPr/>
        </p:nvSpPr>
        <p:spPr>
          <a:xfrm>
            <a:off x="3099850" y="1634575"/>
            <a:ext cx="188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Treatment: </a:t>
            </a:r>
            <a:r>
              <a:rPr lang="en"/>
              <a:t>新藥物</a:t>
            </a:r>
            <a:endParaRPr/>
          </a:p>
        </p:txBody>
      </p:sp>
      <p:sp>
        <p:nvSpPr>
          <p:cNvPr id="329" name="Google Shape;329;p42"/>
          <p:cNvSpPr txBox="1"/>
          <p:nvPr/>
        </p:nvSpPr>
        <p:spPr>
          <a:xfrm>
            <a:off x="5174650" y="2077075"/>
            <a:ext cx="231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Outcome: </a:t>
            </a:r>
            <a:r>
              <a:rPr lang="en"/>
              <a:t>心臟病風險高低</a:t>
            </a:r>
            <a:endParaRPr/>
          </a:p>
        </p:txBody>
      </p:sp>
      <p:cxnSp>
        <p:nvCxnSpPr>
          <p:cNvPr id="330" name="Google Shape;330;p42"/>
          <p:cNvCxnSpPr>
            <a:stCxn id="326" idx="1"/>
            <a:endCxn id="324" idx="5"/>
          </p:cNvCxnSpPr>
          <p:nvPr/>
        </p:nvCxnSpPr>
        <p:spPr>
          <a:xfrm rot="10800000">
            <a:off x="3318447" y="2448647"/>
            <a:ext cx="553500" cy="478200"/>
          </a:xfrm>
          <a:prstGeom prst="straightConnector1">
            <a:avLst/>
          </a:prstGeom>
          <a:noFill/>
          <a:ln cap="flat" cmpd="sng" w="9525">
            <a:solidFill>
              <a:schemeClr val="accent5"/>
            </a:solidFill>
            <a:prstDash val="solid"/>
            <a:round/>
            <a:headEnd len="med" w="med" type="none"/>
            <a:tailEnd len="med" w="med" type="triangle"/>
          </a:ln>
        </p:spPr>
      </p:cxnSp>
      <p:cxnSp>
        <p:nvCxnSpPr>
          <p:cNvPr id="331" name="Google Shape;331;p42"/>
          <p:cNvCxnSpPr>
            <a:stCxn id="326" idx="7"/>
            <a:endCxn id="325" idx="3"/>
          </p:cNvCxnSpPr>
          <p:nvPr/>
        </p:nvCxnSpPr>
        <p:spPr>
          <a:xfrm flipH="1" rot="10800000">
            <a:off x="4214753" y="2448647"/>
            <a:ext cx="409500" cy="478200"/>
          </a:xfrm>
          <a:prstGeom prst="straightConnector1">
            <a:avLst/>
          </a:prstGeom>
          <a:noFill/>
          <a:ln cap="flat" cmpd="sng" w="9525">
            <a:solidFill>
              <a:schemeClr val="accent5"/>
            </a:solidFill>
            <a:prstDash val="solid"/>
            <a:round/>
            <a:headEnd len="med" w="med" type="none"/>
            <a:tailEnd len="med" w="med" type="triangle"/>
          </a:ln>
        </p:spPr>
      </p:cxnSp>
      <p:cxnSp>
        <p:nvCxnSpPr>
          <p:cNvPr id="332" name="Google Shape;332;p42"/>
          <p:cNvCxnSpPr>
            <a:endCxn id="325" idx="2"/>
          </p:cNvCxnSpPr>
          <p:nvPr/>
        </p:nvCxnSpPr>
        <p:spPr>
          <a:xfrm>
            <a:off x="3397925" y="2260375"/>
            <a:ext cx="1155300" cy="16800"/>
          </a:xfrm>
          <a:prstGeom prst="straightConnector1">
            <a:avLst/>
          </a:prstGeom>
          <a:noFill/>
          <a:ln cap="flat" cmpd="sng" w="9525">
            <a:solidFill>
              <a:schemeClr val="accent6"/>
            </a:solidFill>
            <a:prstDash val="solid"/>
            <a:round/>
            <a:headEnd len="med" w="med" type="none"/>
            <a:tailEnd len="med" w="med" type="triangle"/>
          </a:ln>
        </p:spPr>
      </p:cxnSp>
      <p:sp>
        <p:nvSpPr>
          <p:cNvPr id="333" name="Google Shape;333;p42"/>
          <p:cNvSpPr/>
          <p:nvPr/>
        </p:nvSpPr>
        <p:spPr>
          <a:xfrm>
            <a:off x="2691450" y="2519575"/>
            <a:ext cx="627000" cy="269400"/>
          </a:xfrm>
          <a:prstGeom prst="rect">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a:t>
            </a:r>
            <a:endParaRPr/>
          </a:p>
        </p:txBody>
      </p:sp>
      <p:sp>
        <p:nvSpPr>
          <p:cNvPr id="334" name="Google Shape;334;p42"/>
          <p:cNvSpPr txBox="1"/>
          <p:nvPr/>
        </p:nvSpPr>
        <p:spPr>
          <a:xfrm>
            <a:off x="2061450" y="2898150"/>
            <a:ext cx="188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Covariate: 年紀</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3"/>
          <p:cNvSpPr txBox="1"/>
          <p:nvPr>
            <p:ph idx="1" type="body"/>
          </p:nvPr>
        </p:nvSpPr>
        <p:spPr>
          <a:xfrm>
            <a:off x="713225" y="1152475"/>
            <a:ext cx="83922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accent6"/>
              </a:buClr>
              <a:buSzPts val="1200"/>
              <a:buChar char="●"/>
            </a:pPr>
            <a:r>
              <a:rPr b="1" lang="en">
                <a:solidFill>
                  <a:schemeClr val="accent6"/>
                </a:solidFill>
              </a:rPr>
              <a:t>Struction Causal models</a:t>
            </a:r>
            <a:endParaRPr b="1">
              <a:solidFill>
                <a:schemeClr val="accent6"/>
              </a:solidFill>
            </a:endParaRPr>
          </a:p>
          <a:p>
            <a:pPr indent="-304800" lvl="1" marL="914400" rtl="0" algn="l">
              <a:spcBef>
                <a:spcPts val="0"/>
              </a:spcBef>
              <a:spcAft>
                <a:spcPts val="0"/>
              </a:spcAft>
              <a:buClr>
                <a:srgbClr val="434343"/>
              </a:buClr>
              <a:buSzPts val="1200"/>
              <a:buChar char="○"/>
            </a:pPr>
            <a:r>
              <a:rPr lang="en"/>
              <a:t>SCM: Emphasizes the </a:t>
            </a:r>
            <a:r>
              <a:rPr b="1" lang="en">
                <a:solidFill>
                  <a:srgbClr val="000000"/>
                </a:solidFill>
              </a:rPr>
              <a:t>mechanisms(F)</a:t>
            </a:r>
            <a:r>
              <a:rPr lang="en">
                <a:solidFill>
                  <a:srgbClr val="000000"/>
                </a:solidFill>
              </a:rPr>
              <a:t> </a:t>
            </a:r>
            <a:r>
              <a:rPr lang="en"/>
              <a:t>that generate the observed data.</a:t>
            </a:r>
            <a:endParaRPr/>
          </a:p>
          <a:p>
            <a:pPr indent="-304800" lvl="1" marL="914400" rtl="0" algn="l">
              <a:spcBef>
                <a:spcPts val="0"/>
              </a:spcBef>
              <a:spcAft>
                <a:spcPts val="0"/>
              </a:spcAft>
              <a:buClr>
                <a:srgbClr val="434343"/>
              </a:buClr>
              <a:buSzPts val="1200"/>
              <a:buChar char="○"/>
            </a:pPr>
            <a:r>
              <a:rPr b="1" lang="en">
                <a:solidFill>
                  <a:srgbClr val="000000"/>
                </a:solidFill>
              </a:rPr>
              <a:t>Causal Graph</a:t>
            </a:r>
            <a:r>
              <a:rPr lang="en"/>
              <a:t>: each SCM model has a corresponding causal graph (DAG)</a:t>
            </a:r>
            <a:endParaRPr/>
          </a:p>
          <a:p>
            <a:pPr indent="-304800" lvl="1" marL="914400" rtl="0" algn="l">
              <a:spcBef>
                <a:spcPts val="0"/>
              </a:spcBef>
              <a:spcAft>
                <a:spcPts val="0"/>
              </a:spcAft>
              <a:buClr>
                <a:srgbClr val="434343"/>
              </a:buClr>
              <a:buSzPts val="1200"/>
              <a:buChar char="○"/>
            </a:pPr>
            <a:r>
              <a:rPr lang="en"/>
              <a:t>Data:</a:t>
            </a:r>
            <a:endParaRPr/>
          </a:p>
          <a:p>
            <a:pPr indent="-304800" lvl="2" marL="1371600" rtl="0" algn="l">
              <a:spcBef>
                <a:spcPts val="0"/>
              </a:spcBef>
              <a:spcAft>
                <a:spcPts val="0"/>
              </a:spcAft>
              <a:buClr>
                <a:schemeClr val="dk1"/>
              </a:buClr>
              <a:buSzPts val="1200"/>
              <a:buChar char="■"/>
            </a:pPr>
            <a:r>
              <a:rPr b="1" lang="en">
                <a:solidFill>
                  <a:schemeClr val="accent5"/>
                </a:solidFill>
              </a:rPr>
              <a:t>Observational</a:t>
            </a:r>
            <a:r>
              <a:rPr lang="en">
                <a:solidFill>
                  <a:schemeClr val="dk1"/>
                </a:solidFill>
              </a:rPr>
              <a:t> data: </a:t>
            </a:r>
            <a:endParaRPr>
              <a:solidFill>
                <a:schemeClr val="dk1"/>
              </a:solidFill>
            </a:endParaRPr>
          </a:p>
          <a:p>
            <a:pPr indent="-304800" lvl="3" marL="1828800" rtl="0" algn="l">
              <a:spcBef>
                <a:spcPts val="0"/>
              </a:spcBef>
              <a:spcAft>
                <a:spcPts val="0"/>
              </a:spcAft>
              <a:buSzPts val="1200"/>
              <a:buChar char="●"/>
            </a:pPr>
            <a:r>
              <a:rPr b="1" lang="en">
                <a:solidFill>
                  <a:schemeClr val="dk1"/>
                </a:solidFill>
              </a:rPr>
              <a:t>Collect</a:t>
            </a:r>
            <a:r>
              <a:rPr lang="en"/>
              <a:t> data of a group of individuals over a period of time</a:t>
            </a:r>
            <a:endParaRPr/>
          </a:p>
          <a:p>
            <a:pPr indent="-304800" lvl="3" marL="1828800" rtl="0" algn="l">
              <a:spcBef>
                <a:spcPts val="0"/>
              </a:spcBef>
              <a:spcAft>
                <a:spcPts val="0"/>
              </a:spcAft>
              <a:buSzPts val="1200"/>
              <a:buChar char="●"/>
            </a:pPr>
            <a:r>
              <a:rPr b="1" lang="en">
                <a:solidFill>
                  <a:schemeClr val="dk1"/>
                </a:solidFill>
              </a:rPr>
              <a:t>Find</a:t>
            </a:r>
            <a:r>
              <a:rPr lang="en"/>
              <a:t> the relationship in each variable.</a:t>
            </a:r>
            <a:endParaRPr/>
          </a:p>
          <a:p>
            <a:pPr indent="-304800" lvl="2" marL="1371600" rtl="0" algn="l">
              <a:spcBef>
                <a:spcPts val="0"/>
              </a:spcBef>
              <a:spcAft>
                <a:spcPts val="0"/>
              </a:spcAft>
              <a:buClr>
                <a:schemeClr val="dk1"/>
              </a:buClr>
              <a:buSzPts val="1200"/>
              <a:buChar char="■"/>
            </a:pPr>
            <a:r>
              <a:rPr b="1" lang="en">
                <a:solidFill>
                  <a:schemeClr val="accent5"/>
                </a:solidFill>
              </a:rPr>
              <a:t>Intervention</a:t>
            </a:r>
            <a:r>
              <a:rPr lang="en"/>
              <a:t> data:</a:t>
            </a:r>
            <a:endParaRPr/>
          </a:p>
          <a:p>
            <a:pPr indent="-304800" lvl="3" marL="1828800" rtl="0" algn="l">
              <a:spcBef>
                <a:spcPts val="0"/>
              </a:spcBef>
              <a:spcAft>
                <a:spcPts val="0"/>
              </a:spcAft>
              <a:buSzPts val="1200"/>
              <a:buChar char="●"/>
            </a:pPr>
            <a:r>
              <a:rPr lang="en"/>
              <a:t>Use interest variable (caffeine intake) to </a:t>
            </a:r>
            <a:r>
              <a:rPr b="1" lang="en">
                <a:solidFill>
                  <a:schemeClr val="dk1"/>
                </a:solidFill>
              </a:rPr>
              <a:t>randomly assign</a:t>
            </a:r>
            <a:r>
              <a:rPr lang="en"/>
              <a:t>(reduce confounding variable bias) individuals to the intervention or control group.</a:t>
            </a:r>
            <a:endParaRPr/>
          </a:p>
          <a:p>
            <a:pPr indent="-304800" lvl="3" marL="1828800" rtl="0" algn="l">
              <a:spcBef>
                <a:spcPts val="0"/>
              </a:spcBef>
              <a:spcAft>
                <a:spcPts val="0"/>
              </a:spcAft>
              <a:buSzPts val="1200"/>
              <a:buChar char="●"/>
            </a:pPr>
            <a:r>
              <a:rPr b="1" lang="en">
                <a:solidFill>
                  <a:schemeClr val="dk1"/>
                </a:solidFill>
              </a:rPr>
              <a:t>Any differences</a:t>
            </a:r>
            <a:r>
              <a:rPr lang="en"/>
              <a:t> in sleep quality between the intervention and control groups can be attributed to the effect of caffeine intake rather than other confounding variables</a:t>
            </a:r>
            <a:endParaRPr/>
          </a:p>
          <a:p>
            <a:pPr indent="-304800" lvl="2" marL="1371600" rtl="0" algn="l">
              <a:spcBef>
                <a:spcPts val="0"/>
              </a:spcBef>
              <a:spcAft>
                <a:spcPts val="0"/>
              </a:spcAft>
              <a:buClr>
                <a:schemeClr val="dk1"/>
              </a:buClr>
              <a:buSzPts val="1200"/>
              <a:buChar char="■"/>
            </a:pPr>
            <a:r>
              <a:rPr b="1" lang="en">
                <a:solidFill>
                  <a:schemeClr val="accent5"/>
                </a:solidFill>
              </a:rPr>
              <a:t>Counterfactual</a:t>
            </a:r>
            <a:r>
              <a:rPr lang="en">
                <a:solidFill>
                  <a:schemeClr val="dk1"/>
                </a:solidFill>
              </a:rPr>
              <a:t> data:</a:t>
            </a:r>
            <a:endParaRPr>
              <a:solidFill>
                <a:schemeClr val="dk1"/>
              </a:solidFill>
            </a:endParaRPr>
          </a:p>
          <a:p>
            <a:pPr indent="-304800" lvl="3" marL="1828800" rtl="0" algn="l">
              <a:spcBef>
                <a:spcPts val="0"/>
              </a:spcBef>
              <a:spcAft>
                <a:spcPts val="0"/>
              </a:spcAft>
              <a:buSzPts val="1200"/>
              <a:buChar char="●"/>
            </a:pPr>
            <a:r>
              <a:rPr lang="en"/>
              <a:t>Data that describes what would have happened to an </a:t>
            </a:r>
            <a:r>
              <a:rPr b="1" lang="en">
                <a:solidFill>
                  <a:schemeClr val="dk1"/>
                </a:solidFill>
              </a:rPr>
              <a:t>individual under different conditions</a:t>
            </a:r>
            <a:endParaRPr b="1">
              <a:solidFill>
                <a:schemeClr val="dk1"/>
              </a:solidFill>
            </a:endParaRPr>
          </a:p>
          <a:p>
            <a:pPr indent="-304800" lvl="0" marL="457200" rtl="0" algn="l">
              <a:spcBef>
                <a:spcPts val="0"/>
              </a:spcBef>
              <a:spcAft>
                <a:spcPts val="0"/>
              </a:spcAft>
              <a:buClr>
                <a:schemeClr val="accent6"/>
              </a:buClr>
              <a:buSzPts val="1200"/>
              <a:buChar char="●"/>
            </a:pPr>
            <a:r>
              <a:rPr b="1" lang="en">
                <a:solidFill>
                  <a:schemeClr val="accent6"/>
                </a:solidFill>
              </a:rPr>
              <a:t>Potential Outcome model (POM)</a:t>
            </a:r>
            <a:endParaRPr b="1">
              <a:solidFill>
                <a:schemeClr val="accent6"/>
              </a:solidFill>
            </a:endParaRPr>
          </a:p>
          <a:p>
            <a:pPr indent="-304800" lvl="1" marL="914400" rtl="0" algn="l">
              <a:spcBef>
                <a:spcPts val="0"/>
              </a:spcBef>
              <a:spcAft>
                <a:spcPts val="0"/>
              </a:spcAft>
              <a:buClr>
                <a:srgbClr val="434343"/>
              </a:buClr>
              <a:buSzPts val="1200"/>
              <a:buChar char="○"/>
            </a:pPr>
            <a:r>
              <a:rPr lang="en"/>
              <a:t>focuses on comparing </a:t>
            </a:r>
            <a:r>
              <a:rPr b="1" lang="en">
                <a:solidFill>
                  <a:schemeClr val="dk1"/>
                </a:solidFill>
              </a:rPr>
              <a:t>potential outcomes</a:t>
            </a:r>
            <a:r>
              <a:rPr lang="en"/>
              <a:t> under different conditions or interventions.</a:t>
            </a:r>
            <a:endParaRPr/>
          </a:p>
        </p:txBody>
      </p:sp>
      <p:sp>
        <p:nvSpPr>
          <p:cNvPr id="340" name="Google Shape;340;p43"/>
          <p:cNvSpPr txBox="1"/>
          <p:nvPr>
            <p:ph type="title"/>
          </p:nvPr>
        </p:nvSpPr>
        <p:spPr>
          <a:xfrm>
            <a:off x="713225" y="384051"/>
            <a:ext cx="7717500" cy="9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Two frameworks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41" name="Google Shape;341;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2" name="Google Shape;342;p43"/>
          <p:cNvPicPr preferRelativeResize="0"/>
          <p:nvPr/>
        </p:nvPicPr>
        <p:blipFill>
          <a:blip r:embed="rId3">
            <a:alphaModFix/>
          </a:blip>
          <a:stretch>
            <a:fillRect/>
          </a:stretch>
        </p:blipFill>
        <p:spPr>
          <a:xfrm>
            <a:off x="5598726" y="354500"/>
            <a:ext cx="3420425" cy="988511"/>
          </a:xfrm>
          <a:prstGeom prst="rect">
            <a:avLst/>
          </a:prstGeom>
          <a:noFill/>
          <a:ln>
            <a:noFill/>
          </a:ln>
        </p:spPr>
      </p:pic>
      <p:sp>
        <p:nvSpPr>
          <p:cNvPr id="343" name="Google Shape;343;p43"/>
          <p:cNvSpPr/>
          <p:nvPr/>
        </p:nvSpPr>
        <p:spPr>
          <a:xfrm>
            <a:off x="6988250" y="1972800"/>
            <a:ext cx="393600" cy="3936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t>
            </a:r>
            <a:endParaRPr/>
          </a:p>
        </p:txBody>
      </p:sp>
      <p:sp>
        <p:nvSpPr>
          <p:cNvPr id="344" name="Google Shape;344;p43"/>
          <p:cNvSpPr/>
          <p:nvPr/>
        </p:nvSpPr>
        <p:spPr>
          <a:xfrm>
            <a:off x="8326675" y="1972800"/>
            <a:ext cx="393600" cy="3936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cxnSp>
        <p:nvCxnSpPr>
          <p:cNvPr id="345" name="Google Shape;345;p43"/>
          <p:cNvCxnSpPr>
            <a:endCxn id="344" idx="2"/>
          </p:cNvCxnSpPr>
          <p:nvPr/>
        </p:nvCxnSpPr>
        <p:spPr>
          <a:xfrm>
            <a:off x="7388575" y="2156100"/>
            <a:ext cx="938100" cy="13500"/>
          </a:xfrm>
          <a:prstGeom prst="straightConnector1">
            <a:avLst/>
          </a:prstGeom>
          <a:noFill/>
          <a:ln cap="flat" cmpd="sng" w="9525">
            <a:solidFill>
              <a:schemeClr val="accent6"/>
            </a:solidFill>
            <a:prstDash val="solid"/>
            <a:round/>
            <a:headEnd len="med" w="med" type="none"/>
            <a:tailEnd len="med" w="med" type="triangle"/>
          </a:ln>
        </p:spPr>
      </p:cxnSp>
      <p:sp>
        <p:nvSpPr>
          <p:cNvPr id="346" name="Google Shape;346;p43"/>
          <p:cNvSpPr txBox="1"/>
          <p:nvPr/>
        </p:nvSpPr>
        <p:spPr>
          <a:xfrm>
            <a:off x="6649025" y="2366400"/>
            <a:ext cx="145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Caffeine intake</a:t>
            </a:r>
            <a:endParaRPr sz="1200"/>
          </a:p>
        </p:txBody>
      </p:sp>
      <p:sp>
        <p:nvSpPr>
          <p:cNvPr id="347" name="Google Shape;347;p43"/>
          <p:cNvSpPr txBox="1"/>
          <p:nvPr/>
        </p:nvSpPr>
        <p:spPr>
          <a:xfrm>
            <a:off x="8071875" y="2366400"/>
            <a:ext cx="145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Sleep quality</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accent6"/>
              </a:buClr>
              <a:buSzPts val="1200"/>
              <a:buChar char="●"/>
            </a:pPr>
            <a:r>
              <a:rPr b="1" lang="en">
                <a:solidFill>
                  <a:schemeClr val="accent6"/>
                </a:solidFill>
              </a:rPr>
              <a:t>Struction Causal models</a:t>
            </a:r>
            <a:endParaRPr b="1">
              <a:solidFill>
                <a:schemeClr val="accent6"/>
              </a:solidFill>
            </a:endParaRPr>
          </a:p>
          <a:p>
            <a:pPr indent="-304800" lvl="1" marL="914400" rtl="0" algn="l">
              <a:spcBef>
                <a:spcPts val="0"/>
              </a:spcBef>
              <a:spcAft>
                <a:spcPts val="0"/>
              </a:spcAft>
              <a:buClr>
                <a:srgbClr val="434343"/>
              </a:buClr>
              <a:buSzPts val="1200"/>
              <a:buChar char="○"/>
            </a:pPr>
            <a:r>
              <a:rPr b="1" lang="en">
                <a:latin typeface="Times New Roman"/>
                <a:ea typeface="Times New Roman"/>
                <a:cs typeface="Times New Roman"/>
                <a:sym typeface="Times New Roman"/>
              </a:rPr>
              <a:t>Average Treatment Effect (ATE):</a:t>
            </a:r>
            <a:br>
              <a:rPr lang="en"/>
            </a:br>
            <a:br>
              <a:rPr lang="en"/>
            </a:br>
            <a:br>
              <a:rPr lang="en"/>
            </a:br>
            <a:endParaRPr b="1">
              <a:solidFill>
                <a:schemeClr val="dk1"/>
              </a:solidFill>
            </a:endParaRPr>
          </a:p>
          <a:p>
            <a:pPr indent="-304800" lvl="0" marL="457200" rtl="0" algn="l">
              <a:spcBef>
                <a:spcPts val="0"/>
              </a:spcBef>
              <a:spcAft>
                <a:spcPts val="0"/>
              </a:spcAft>
              <a:buClr>
                <a:schemeClr val="accent6"/>
              </a:buClr>
              <a:buSzPts val="1200"/>
              <a:buChar char="●"/>
            </a:pPr>
            <a:r>
              <a:rPr b="1" lang="en">
                <a:solidFill>
                  <a:schemeClr val="accent6"/>
                </a:solidFill>
              </a:rPr>
              <a:t>Potential Outcome model (POM)</a:t>
            </a:r>
            <a:endParaRPr b="1">
              <a:solidFill>
                <a:schemeClr val="accent6"/>
              </a:solidFill>
            </a:endParaRPr>
          </a:p>
          <a:p>
            <a:pPr indent="-304800" lvl="1" marL="914400" rtl="0" algn="l">
              <a:spcBef>
                <a:spcPts val="0"/>
              </a:spcBef>
              <a:spcAft>
                <a:spcPts val="0"/>
              </a:spcAft>
              <a:buClr>
                <a:srgbClr val="434343"/>
              </a:buClr>
              <a:buSzPts val="1200"/>
              <a:buChar char="○"/>
            </a:pPr>
            <a:r>
              <a:t/>
            </a:r>
            <a:endParaRPr/>
          </a:p>
          <a:p>
            <a:pPr indent="0" lvl="0" marL="0" rtl="0" algn="l">
              <a:spcBef>
                <a:spcPts val="1600"/>
              </a:spcBef>
              <a:spcAft>
                <a:spcPts val="1600"/>
              </a:spcAft>
              <a:buNone/>
            </a:pPr>
            <a:r>
              <a:t/>
            </a:r>
            <a:endParaRPr/>
          </a:p>
        </p:txBody>
      </p:sp>
      <p:sp>
        <p:nvSpPr>
          <p:cNvPr id="353" name="Google Shape;353;p4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Two frameworks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54" name="Google Shape;354;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5" name="Google Shape;355;p44"/>
          <p:cNvPicPr preferRelativeResize="0"/>
          <p:nvPr/>
        </p:nvPicPr>
        <p:blipFill>
          <a:blip r:embed="rId3">
            <a:alphaModFix/>
          </a:blip>
          <a:stretch>
            <a:fillRect/>
          </a:stretch>
        </p:blipFill>
        <p:spPr>
          <a:xfrm>
            <a:off x="3612775" y="1708325"/>
            <a:ext cx="3249749" cy="393600"/>
          </a:xfrm>
          <a:prstGeom prst="rect">
            <a:avLst/>
          </a:prstGeom>
          <a:noFill/>
          <a:ln>
            <a:noFill/>
          </a:ln>
        </p:spPr>
      </p:pic>
      <p:pic>
        <p:nvPicPr>
          <p:cNvPr id="356" name="Google Shape;356;p44"/>
          <p:cNvPicPr preferRelativeResize="0"/>
          <p:nvPr/>
        </p:nvPicPr>
        <p:blipFill>
          <a:blip r:embed="rId4">
            <a:alphaModFix/>
          </a:blip>
          <a:stretch>
            <a:fillRect/>
          </a:stretch>
        </p:blipFill>
        <p:spPr>
          <a:xfrm>
            <a:off x="1606250" y="2534450"/>
            <a:ext cx="5713425" cy="2215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a:t>
            </a:r>
            <a:r>
              <a:rPr lang="en"/>
              <a:t>wo fundamental problems of causal inference: (1)selection bias  (2) lack of counterfactual data</a:t>
            </a:r>
            <a:endParaRPr/>
          </a:p>
          <a:p>
            <a:pPr indent="-304800" lvl="0" marL="457200" rtl="0" algn="l">
              <a:spcBef>
                <a:spcPts val="0"/>
              </a:spcBef>
              <a:spcAft>
                <a:spcPts val="0"/>
              </a:spcAft>
              <a:buSzPts val="1200"/>
              <a:buChar char="●"/>
            </a:pPr>
            <a:r>
              <a:rPr lang="en"/>
              <a:t>Causal variable representation target: </a:t>
            </a:r>
            <a:endParaRPr/>
          </a:p>
          <a:p>
            <a:pPr indent="-304800" lvl="1" marL="742950" rtl="0" algn="l">
              <a:spcBef>
                <a:spcPts val="0"/>
              </a:spcBef>
              <a:spcAft>
                <a:spcPts val="0"/>
              </a:spcAft>
              <a:buClr>
                <a:schemeClr val="accent6"/>
              </a:buClr>
              <a:buSzPts val="1200"/>
              <a:buChar char="○"/>
            </a:pPr>
            <a:r>
              <a:rPr lang="en">
                <a:solidFill>
                  <a:schemeClr val="accent6"/>
                </a:solidFill>
              </a:rPr>
              <a:t>covariates are balanced</a:t>
            </a:r>
            <a:endParaRPr>
              <a:solidFill>
                <a:schemeClr val="accent6"/>
              </a:solidFill>
            </a:endParaRPr>
          </a:p>
          <a:p>
            <a:pPr indent="-304800" lvl="1" marL="742950" rtl="0" algn="l">
              <a:spcBef>
                <a:spcPts val="0"/>
              </a:spcBef>
              <a:spcAft>
                <a:spcPts val="0"/>
              </a:spcAft>
              <a:buClr>
                <a:schemeClr val="accent6"/>
              </a:buClr>
              <a:buSzPts val="1200"/>
              <a:buChar char="○"/>
            </a:pPr>
            <a:r>
              <a:rPr lang="en">
                <a:solidFill>
                  <a:schemeClr val="accent6"/>
                </a:solidFill>
              </a:rPr>
              <a:t>counterfactual data or the causal generation mechanism of the variable can be obtained.</a:t>
            </a:r>
            <a:endParaRPr>
              <a:solidFill>
                <a:schemeClr val="accent6"/>
              </a:solidFill>
            </a:endParaRPr>
          </a:p>
          <a:p>
            <a:pPr indent="-304800" lvl="0" marL="457200" rtl="0" algn="l">
              <a:spcBef>
                <a:spcPts val="0"/>
              </a:spcBef>
              <a:spcAft>
                <a:spcPts val="0"/>
              </a:spcAft>
              <a:buClr>
                <a:schemeClr val="accent5"/>
              </a:buClr>
              <a:buSzPts val="1200"/>
              <a:buChar char="●"/>
            </a:pPr>
            <a:r>
              <a:rPr lang="en">
                <a:solidFill>
                  <a:schemeClr val="accent5"/>
                </a:solidFill>
              </a:rPr>
              <a:t>Regularization Adjustment for Covariate Balance</a:t>
            </a:r>
            <a:endParaRPr>
              <a:solidFill>
                <a:schemeClr val="accent5"/>
              </a:solidFill>
            </a:endParaRPr>
          </a:p>
          <a:p>
            <a:pPr indent="-304800" lvl="1" marL="742950" rtl="0" algn="l">
              <a:spcBef>
                <a:spcPts val="0"/>
              </a:spcBef>
              <a:spcAft>
                <a:spcPts val="0"/>
              </a:spcAft>
              <a:buSzPts val="1200"/>
              <a:buChar char="○"/>
            </a:pPr>
            <a:r>
              <a:rPr lang="en"/>
              <a:t>Adjusted through </a:t>
            </a:r>
            <a:r>
              <a:rPr b="1" lang="en"/>
              <a:t>various forms of regularization</a:t>
            </a:r>
            <a:r>
              <a:rPr lang="en"/>
              <a:t> and attempts to </a:t>
            </a:r>
            <a:r>
              <a:rPr lang="en">
                <a:solidFill>
                  <a:schemeClr val="dk1"/>
                </a:solidFill>
              </a:rPr>
              <a:t>balance covariates as much as possible</a:t>
            </a:r>
            <a:r>
              <a:rPr lang="en"/>
              <a:t>, while obtaining structured variable representations</a:t>
            </a:r>
            <a:endParaRPr/>
          </a:p>
          <a:p>
            <a:pPr indent="-304800" lvl="1" marL="742950" rtl="0" algn="l">
              <a:spcBef>
                <a:spcPts val="0"/>
              </a:spcBef>
              <a:spcAft>
                <a:spcPts val="0"/>
              </a:spcAft>
              <a:buSzPts val="1200"/>
              <a:buChar char="○"/>
            </a:pPr>
            <a:r>
              <a:rPr lang="en"/>
              <a:t>(1) input : covariates</a:t>
            </a:r>
            <a:endParaRPr/>
          </a:p>
          <a:p>
            <a:pPr indent="-304800" lvl="1" marL="742950" rtl="0" algn="l">
              <a:spcBef>
                <a:spcPts val="0"/>
              </a:spcBef>
              <a:spcAft>
                <a:spcPts val="0"/>
              </a:spcAft>
              <a:buSzPts val="1200"/>
              <a:buChar char="○"/>
            </a:pPr>
            <a:r>
              <a:rPr lang="en"/>
              <a:t>(2) input : reprs. of covariates</a:t>
            </a:r>
            <a:br>
              <a:rPr lang="en"/>
            </a:br>
            <a:r>
              <a:rPr lang="en"/>
              <a:t>     output :  potential outcome</a:t>
            </a:r>
            <a:endParaRPr/>
          </a:p>
          <a:p>
            <a:pPr indent="-304800" lvl="1" marL="742950" rtl="0" algn="l">
              <a:spcBef>
                <a:spcPts val="0"/>
              </a:spcBef>
              <a:spcAft>
                <a:spcPts val="0"/>
              </a:spcAft>
              <a:buClr>
                <a:schemeClr val="accent5"/>
              </a:buClr>
              <a:buSzPts val="1200"/>
              <a:buChar char="○"/>
            </a:pPr>
            <a:r>
              <a:rPr lang="en">
                <a:solidFill>
                  <a:schemeClr val="accent5"/>
                </a:solidFill>
              </a:rPr>
              <a:t>(3) </a:t>
            </a:r>
            <a:r>
              <a:rPr lang="en"/>
              <a:t>represents the difference in covariate distribution</a:t>
            </a:r>
            <a:br>
              <a:rPr lang="en"/>
            </a:br>
            <a:r>
              <a:rPr lang="en"/>
              <a:t>      between the </a:t>
            </a:r>
            <a:r>
              <a:rPr b="1" lang="en"/>
              <a:t>treatment</a:t>
            </a:r>
            <a:r>
              <a:rPr lang="en"/>
              <a:t> and </a:t>
            </a:r>
            <a:r>
              <a:rPr b="1" lang="en"/>
              <a:t>control groups</a:t>
            </a:r>
            <a:endParaRPr b="1"/>
          </a:p>
          <a:p>
            <a:pPr indent="-304800" lvl="1" marL="742950" rtl="0" algn="l">
              <a:spcBef>
                <a:spcPts val="0"/>
              </a:spcBef>
              <a:spcAft>
                <a:spcPts val="0"/>
              </a:spcAft>
              <a:buSzPts val="1200"/>
              <a:buChar char="○"/>
            </a:pPr>
            <a:r>
              <a:rPr lang="en"/>
              <a:t>(4) record the error between         and  </a:t>
            </a:r>
            <a:endParaRPr/>
          </a:p>
          <a:p>
            <a:pPr indent="-304800" lvl="1" marL="742950" rtl="0" algn="l">
              <a:spcBef>
                <a:spcPts val="0"/>
              </a:spcBef>
              <a:spcAft>
                <a:spcPts val="0"/>
              </a:spcAft>
              <a:buSzPts val="1200"/>
              <a:buChar char="○"/>
            </a:pPr>
            <a:r>
              <a:rPr lang="en"/>
              <a:t>(5)</a:t>
            </a:r>
            <a:endParaRPr/>
          </a:p>
        </p:txBody>
      </p:sp>
      <p:sp>
        <p:nvSpPr>
          <p:cNvPr id="362" name="Google Shape;362;p4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Representation</a:t>
            </a:r>
            <a:endParaRPr>
              <a:solidFill>
                <a:schemeClr val="accent6"/>
              </a:solidFill>
            </a:endParaRPr>
          </a:p>
        </p:txBody>
      </p:sp>
      <p:sp>
        <p:nvSpPr>
          <p:cNvPr id="363" name="Google Shape;363;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64" name="Google Shape;364;p45"/>
          <p:cNvPicPr preferRelativeResize="0"/>
          <p:nvPr/>
        </p:nvPicPr>
        <p:blipFill rotWithShape="1">
          <a:blip r:embed="rId3">
            <a:alphaModFix/>
          </a:blip>
          <a:srcRect b="7501" l="0" r="0" t="0"/>
          <a:stretch/>
        </p:blipFill>
        <p:spPr>
          <a:xfrm>
            <a:off x="5069225" y="2722275"/>
            <a:ext cx="4074775" cy="2094850"/>
          </a:xfrm>
          <a:prstGeom prst="rect">
            <a:avLst/>
          </a:prstGeom>
          <a:noFill/>
          <a:ln>
            <a:noFill/>
          </a:ln>
        </p:spPr>
      </p:pic>
      <p:pic>
        <p:nvPicPr>
          <p:cNvPr id="365" name="Google Shape;365;p45"/>
          <p:cNvPicPr preferRelativeResize="0"/>
          <p:nvPr/>
        </p:nvPicPr>
        <p:blipFill>
          <a:blip r:embed="rId4">
            <a:alphaModFix/>
          </a:blip>
          <a:stretch>
            <a:fillRect/>
          </a:stretch>
        </p:blipFill>
        <p:spPr>
          <a:xfrm>
            <a:off x="3522975" y="3752175"/>
            <a:ext cx="216540" cy="231650"/>
          </a:xfrm>
          <a:prstGeom prst="rect">
            <a:avLst/>
          </a:prstGeom>
          <a:noFill/>
          <a:ln>
            <a:noFill/>
          </a:ln>
        </p:spPr>
      </p:pic>
      <p:pic>
        <p:nvPicPr>
          <p:cNvPr id="366" name="Google Shape;366;p45"/>
          <p:cNvPicPr preferRelativeResize="0"/>
          <p:nvPr/>
        </p:nvPicPr>
        <p:blipFill rotWithShape="1">
          <a:blip r:embed="rId5">
            <a:alphaModFix/>
          </a:blip>
          <a:srcRect b="0" l="13389" r="0" t="0"/>
          <a:stretch/>
        </p:blipFill>
        <p:spPr>
          <a:xfrm>
            <a:off x="4196849" y="3716400"/>
            <a:ext cx="216550" cy="267425"/>
          </a:xfrm>
          <a:prstGeom prst="rect">
            <a:avLst/>
          </a:prstGeom>
          <a:noFill/>
          <a:ln>
            <a:noFill/>
          </a:ln>
        </p:spPr>
      </p:pic>
      <p:pic>
        <p:nvPicPr>
          <p:cNvPr id="367" name="Google Shape;367;p45"/>
          <p:cNvPicPr preferRelativeResize="0"/>
          <p:nvPr/>
        </p:nvPicPr>
        <p:blipFill>
          <a:blip r:embed="rId6">
            <a:alphaModFix/>
          </a:blip>
          <a:stretch>
            <a:fillRect/>
          </a:stretch>
        </p:blipFill>
        <p:spPr>
          <a:xfrm>
            <a:off x="1777025" y="3983825"/>
            <a:ext cx="2158600" cy="269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Representation</a:t>
            </a:r>
            <a:endParaRPr sz="1800">
              <a:solidFill>
                <a:schemeClr val="accent6"/>
              </a:solidFill>
            </a:endParaRPr>
          </a:p>
        </p:txBody>
      </p:sp>
      <p:sp>
        <p:nvSpPr>
          <p:cNvPr id="373" name="Google Shape;373;p46"/>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accent5"/>
              </a:buClr>
              <a:buSzPts val="1200"/>
              <a:buChar char="●"/>
            </a:pPr>
            <a:r>
              <a:rPr lang="en">
                <a:solidFill>
                  <a:schemeClr val="accent5"/>
                </a:solidFill>
              </a:rPr>
              <a:t>Implicit Generation of Counterfactual Data (GAN)</a:t>
            </a:r>
            <a:endParaRPr>
              <a:solidFill>
                <a:schemeClr val="accent5"/>
              </a:solidFill>
            </a:endParaRPr>
          </a:p>
          <a:p>
            <a:pPr indent="-304800" lvl="1" marL="914400" rtl="0" algn="l">
              <a:spcBef>
                <a:spcPts val="0"/>
              </a:spcBef>
              <a:spcAft>
                <a:spcPts val="0"/>
              </a:spcAft>
              <a:buSzPts val="1200"/>
              <a:buChar char="○"/>
            </a:pPr>
            <a:r>
              <a:rPr lang="en"/>
              <a:t>It </a:t>
            </a:r>
            <a:r>
              <a:rPr lang="en" u="sng"/>
              <a:t>eliminates selection bias</a:t>
            </a:r>
            <a:r>
              <a:rPr lang="en"/>
              <a:t> and </a:t>
            </a:r>
            <a:r>
              <a:rPr lang="en" u="sng"/>
              <a:t>counterfactual data are generated directly</a:t>
            </a:r>
            <a:r>
              <a:rPr lang="en"/>
              <a:t> because the discriminator is </a:t>
            </a:r>
            <a:r>
              <a:rPr b="1" lang="en"/>
              <a:t>unable to distinguish</a:t>
            </a:r>
            <a:r>
              <a:rPr lang="en"/>
              <a:t> the received sample from the treatment group</a:t>
            </a:r>
            <a:r>
              <a:rPr lang="en"/>
              <a:t>（T = 1）or control group（T = </a:t>
            </a:r>
            <a:r>
              <a:rPr lang="en"/>
              <a:t>0）</a:t>
            </a:r>
            <a:br>
              <a:rPr lang="en"/>
            </a:br>
            <a:br>
              <a:rPr lang="en"/>
            </a:br>
            <a:br>
              <a:rPr lang="en"/>
            </a:br>
            <a:br>
              <a:rPr lang="en"/>
            </a:br>
            <a:endParaRPr/>
          </a:p>
          <a:p>
            <a:pPr indent="-304800" lvl="0" marL="457200" rtl="0" algn="l">
              <a:spcBef>
                <a:spcPts val="0"/>
              </a:spcBef>
              <a:spcAft>
                <a:spcPts val="0"/>
              </a:spcAft>
              <a:buClr>
                <a:schemeClr val="accent5"/>
              </a:buClr>
              <a:buSzPts val="1200"/>
              <a:buChar char="●"/>
            </a:pPr>
            <a:r>
              <a:rPr lang="en">
                <a:solidFill>
                  <a:schemeClr val="accent5"/>
                </a:solidFill>
              </a:rPr>
              <a:t>Explicit Generation for Disentangled Causal Mechanisms</a:t>
            </a:r>
            <a:endParaRPr>
              <a:solidFill>
                <a:schemeClr val="accent5"/>
              </a:solidFill>
            </a:endParaRPr>
          </a:p>
          <a:p>
            <a:pPr indent="-304800" lvl="1" marL="914400" rtl="0" algn="l">
              <a:spcBef>
                <a:spcPts val="0"/>
              </a:spcBef>
              <a:spcAft>
                <a:spcPts val="0"/>
              </a:spcAft>
              <a:buSzPts val="1200"/>
              <a:buChar char="○"/>
            </a:pPr>
            <a:r>
              <a:rPr lang="en"/>
              <a:t>每個 表徵 variable</a:t>
            </a:r>
            <a:r>
              <a:rPr b="1" lang="en"/>
              <a:t> </a:t>
            </a:r>
            <a:r>
              <a:rPr lang="en"/>
              <a:t>都被認為是一種</a:t>
            </a:r>
            <a:r>
              <a:rPr b="1" lang="en"/>
              <a:t> disentangled causal mechanism</a:t>
            </a:r>
            <a:r>
              <a:rPr lang="en"/>
              <a:t> 以獲得更穩定的表徵</a:t>
            </a:r>
            <a:endParaRPr/>
          </a:p>
          <a:p>
            <a:pPr indent="-304800" lvl="1" marL="914400" rtl="0" algn="l">
              <a:spcBef>
                <a:spcPts val="0"/>
              </a:spcBef>
              <a:spcAft>
                <a:spcPts val="0"/>
              </a:spcAft>
              <a:buSzPts val="1200"/>
              <a:buChar char="○"/>
            </a:pPr>
            <a:r>
              <a:rPr i="1" lang="en"/>
              <a:t>X </a:t>
            </a:r>
            <a:r>
              <a:rPr lang="en"/>
              <a:t>is the observed variable</a:t>
            </a:r>
            <a:endParaRPr/>
          </a:p>
          <a:p>
            <a:pPr indent="-304800" lvl="1" marL="914400" rtl="0" algn="l">
              <a:spcBef>
                <a:spcPts val="0"/>
              </a:spcBef>
              <a:spcAft>
                <a:spcPts val="0"/>
              </a:spcAft>
              <a:buSzPts val="1200"/>
              <a:buChar char="○"/>
            </a:pPr>
            <a:r>
              <a:rPr i="1" lang="en"/>
              <a:t>G </a:t>
            </a:r>
            <a:r>
              <a:rPr lang="en"/>
              <a:t>is real mechanics generate factors</a:t>
            </a:r>
            <a:endParaRPr/>
          </a:p>
          <a:p>
            <a:pPr indent="-304800" lvl="1" marL="914400" rtl="0" algn="l">
              <a:spcBef>
                <a:spcPts val="0"/>
              </a:spcBef>
              <a:spcAft>
                <a:spcPts val="0"/>
              </a:spcAft>
              <a:buSzPts val="1200"/>
              <a:buChar char="○"/>
            </a:pPr>
            <a:r>
              <a:rPr i="1" lang="en"/>
              <a:t>Z </a:t>
            </a:r>
            <a:r>
              <a:rPr lang="en"/>
              <a:t>is the learned latent representation</a:t>
            </a:r>
            <a:endParaRPr/>
          </a:p>
          <a:p>
            <a:pPr indent="0" lvl="0" marL="0" rtl="0" algn="l">
              <a:spcBef>
                <a:spcPts val="1600"/>
              </a:spcBef>
              <a:spcAft>
                <a:spcPts val="0"/>
              </a:spcAft>
              <a:buNone/>
            </a:pPr>
            <a:r>
              <a:t/>
            </a:r>
            <a:endParaRPr/>
          </a:p>
          <a:p>
            <a:pPr indent="-304800" lvl="0" marL="457200" rtl="0" algn="l">
              <a:spcBef>
                <a:spcPts val="1600"/>
              </a:spcBef>
              <a:spcAft>
                <a:spcPts val="0"/>
              </a:spcAft>
              <a:buSzPts val="1200"/>
              <a:buChar char="●"/>
            </a:pPr>
            <a:br>
              <a:rPr lang="en"/>
            </a:br>
            <a:br>
              <a:rPr lang="en"/>
            </a:br>
            <a:endParaRPr/>
          </a:p>
        </p:txBody>
      </p:sp>
      <p:sp>
        <p:nvSpPr>
          <p:cNvPr id="374" name="Google Shape;374;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75" name="Google Shape;375;p46"/>
          <p:cNvPicPr preferRelativeResize="0"/>
          <p:nvPr/>
        </p:nvPicPr>
        <p:blipFill rotWithShape="1">
          <a:blip r:embed="rId3">
            <a:alphaModFix/>
          </a:blip>
          <a:srcRect b="18500" l="0" r="0" t="0"/>
          <a:stretch/>
        </p:blipFill>
        <p:spPr>
          <a:xfrm>
            <a:off x="3929375" y="1964000"/>
            <a:ext cx="3731449" cy="844275"/>
          </a:xfrm>
          <a:prstGeom prst="rect">
            <a:avLst/>
          </a:prstGeom>
          <a:noFill/>
          <a:ln>
            <a:noFill/>
          </a:ln>
        </p:spPr>
      </p:pic>
      <p:pic>
        <p:nvPicPr>
          <p:cNvPr id="376" name="Google Shape;376;p46"/>
          <p:cNvPicPr preferRelativeResize="0"/>
          <p:nvPr/>
        </p:nvPicPr>
        <p:blipFill rotWithShape="1">
          <a:blip r:embed="rId4">
            <a:alphaModFix/>
          </a:blip>
          <a:srcRect b="10506" l="0" r="0" t="0"/>
          <a:stretch/>
        </p:blipFill>
        <p:spPr>
          <a:xfrm>
            <a:off x="5486575" y="3340375"/>
            <a:ext cx="2339176" cy="1475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7"/>
          <p:cNvSpPr txBox="1"/>
          <p:nvPr>
            <p:ph idx="1" type="body"/>
          </p:nvPr>
        </p:nvSpPr>
        <p:spPr>
          <a:xfrm>
            <a:off x="713225" y="1152475"/>
            <a:ext cx="8206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solidFill>
                  <a:schemeClr val="accent5"/>
                </a:solidFill>
              </a:rPr>
              <a:t>Observation Data</a:t>
            </a:r>
            <a:endParaRPr>
              <a:solidFill>
                <a:schemeClr val="accent5"/>
              </a:solidFill>
            </a:endParaRPr>
          </a:p>
          <a:p>
            <a:pPr indent="-304800" lvl="1" marL="914400" rtl="0" algn="l">
              <a:spcBef>
                <a:spcPts val="0"/>
              </a:spcBef>
              <a:spcAft>
                <a:spcPts val="0"/>
              </a:spcAft>
              <a:buSzPts val="1200"/>
              <a:buChar char="○"/>
            </a:pPr>
            <a:r>
              <a:rPr lang="en"/>
              <a:t>variables are measured but not directly manipulated</a:t>
            </a:r>
            <a:endParaRPr/>
          </a:p>
          <a:p>
            <a:pPr indent="-304800" lvl="0" marL="457200" rtl="0" algn="l">
              <a:spcBef>
                <a:spcPts val="0"/>
              </a:spcBef>
              <a:spcAft>
                <a:spcPts val="0"/>
              </a:spcAft>
              <a:buSzPts val="1200"/>
              <a:buChar char="●"/>
            </a:pPr>
            <a:r>
              <a:rPr lang="en">
                <a:solidFill>
                  <a:schemeClr val="accent5"/>
                </a:solidFill>
              </a:rPr>
              <a:t>Intervention Data-driven</a:t>
            </a:r>
            <a:r>
              <a:rPr lang="en"/>
              <a:t> </a:t>
            </a:r>
            <a:endParaRPr/>
          </a:p>
          <a:p>
            <a:pPr indent="-304800" lvl="1" marL="914400" rtl="0" algn="l">
              <a:spcBef>
                <a:spcPts val="0"/>
              </a:spcBef>
              <a:spcAft>
                <a:spcPts val="0"/>
              </a:spcAft>
              <a:buSzPts val="1200"/>
              <a:buChar char="○"/>
            </a:pPr>
            <a:r>
              <a:rPr lang="en"/>
              <a:t>data that is obtained from experiments where the</a:t>
            </a:r>
            <a:r>
              <a:rPr lang="en">
                <a:solidFill>
                  <a:schemeClr val="accent6"/>
                </a:solidFill>
              </a:rPr>
              <a:t> researcher actively intervenes</a:t>
            </a:r>
            <a:r>
              <a:rPr lang="en"/>
              <a:t> on one or more variables in order to observe the effects on other variables</a:t>
            </a:r>
            <a:endParaRPr/>
          </a:p>
          <a:p>
            <a:pPr indent="-304800" lvl="0" marL="457200" rtl="0" algn="l">
              <a:spcBef>
                <a:spcPts val="0"/>
              </a:spcBef>
              <a:spcAft>
                <a:spcPts val="0"/>
              </a:spcAft>
              <a:buSzPts val="1200"/>
              <a:buChar char="●"/>
            </a:pPr>
            <a:r>
              <a:rPr lang="en">
                <a:solidFill>
                  <a:schemeClr val="accent5"/>
                </a:solidFill>
              </a:rPr>
              <a:t>Unobserved Confounders Data</a:t>
            </a:r>
            <a:endParaRPr>
              <a:solidFill>
                <a:schemeClr val="accent5"/>
              </a:solidFill>
            </a:endParaRPr>
          </a:p>
          <a:p>
            <a:pPr indent="-304800" lvl="1" marL="914400" rtl="0" algn="l">
              <a:spcBef>
                <a:spcPts val="0"/>
              </a:spcBef>
              <a:spcAft>
                <a:spcPts val="0"/>
              </a:spcAft>
              <a:buSzPts val="1200"/>
              <a:buChar char="○"/>
            </a:pPr>
            <a:r>
              <a:rPr lang="en"/>
              <a:t>Unobserved confounders refer to variables that affect both the treatment and outcome variables in a study, but are not measured or observed.</a:t>
            </a:r>
            <a:endParaRPr/>
          </a:p>
          <a:p>
            <a:pPr indent="-304800" lvl="0" marL="457200" rtl="0" algn="l">
              <a:spcBef>
                <a:spcPts val="0"/>
              </a:spcBef>
              <a:spcAft>
                <a:spcPts val="0"/>
              </a:spcAft>
              <a:buSzPts val="1200"/>
              <a:buChar char="●"/>
            </a:pPr>
            <a:r>
              <a:rPr lang="en"/>
              <a:t>Example: Caffeine intake and sleep quality</a:t>
            </a:r>
            <a:endParaRPr/>
          </a:p>
          <a:p>
            <a:pPr indent="-304800" lvl="1" marL="914400" rtl="0" algn="l">
              <a:spcBef>
                <a:spcPts val="0"/>
              </a:spcBef>
              <a:spcAft>
                <a:spcPts val="0"/>
              </a:spcAft>
              <a:buSzPts val="1200"/>
              <a:buChar char="○"/>
            </a:pPr>
            <a:r>
              <a:rPr b="1" lang="en"/>
              <a:t>Observation </a:t>
            </a:r>
            <a:r>
              <a:rPr lang="en"/>
              <a:t>data: </a:t>
            </a:r>
            <a:r>
              <a:rPr b="1" lang="en"/>
              <a:t>surveying </a:t>
            </a:r>
            <a:r>
              <a:rPr lang="en"/>
              <a:t>participants about their caffeine consumption and sleep habits, and then analyzing the correlations between these variables. </a:t>
            </a:r>
            <a:endParaRPr/>
          </a:p>
          <a:p>
            <a:pPr indent="-304800" lvl="1" marL="914400" rtl="0" algn="l">
              <a:spcBef>
                <a:spcPts val="0"/>
              </a:spcBef>
              <a:spcAft>
                <a:spcPts val="0"/>
              </a:spcAft>
              <a:buSzPts val="1200"/>
              <a:buChar char="○"/>
            </a:pPr>
            <a:r>
              <a:rPr b="1" lang="en"/>
              <a:t>Intervention </a:t>
            </a:r>
            <a:r>
              <a:rPr lang="en"/>
              <a:t>data: involve </a:t>
            </a:r>
            <a:r>
              <a:rPr b="1" lang="en"/>
              <a:t>randomly assigning</a:t>
            </a:r>
            <a:r>
              <a:rPr lang="en"/>
              <a:t> participants to either a group that receives caffeine or a group that receives a placebo, and then measuring their sleep quality</a:t>
            </a:r>
            <a:endParaRPr/>
          </a:p>
          <a:p>
            <a:pPr indent="-304800" lvl="1" marL="914400" rtl="0" algn="l">
              <a:spcBef>
                <a:spcPts val="0"/>
              </a:spcBef>
              <a:spcAft>
                <a:spcPts val="0"/>
              </a:spcAft>
              <a:buSzPts val="1200"/>
              <a:buChar char="○"/>
            </a:pPr>
            <a:r>
              <a:rPr b="1" lang="en"/>
              <a:t>Unobserved confounders </a:t>
            </a:r>
            <a:r>
              <a:rPr lang="en"/>
              <a:t>data:  </a:t>
            </a:r>
            <a:r>
              <a:rPr b="1" lang="en"/>
              <a:t>genetic factors</a:t>
            </a:r>
            <a:r>
              <a:rPr lang="en"/>
              <a:t> that affect caffeine metabolism or sleep patterns could be potential unobserved confounders.</a:t>
            </a:r>
            <a:endParaRPr/>
          </a:p>
        </p:txBody>
      </p:sp>
      <p:sp>
        <p:nvSpPr>
          <p:cNvPr id="382" name="Google Shape;382;p4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discovery</a:t>
            </a:r>
            <a:endParaRPr>
              <a:solidFill>
                <a:schemeClr val="accent6"/>
              </a:solidFill>
            </a:endParaRPr>
          </a:p>
        </p:txBody>
      </p:sp>
      <p:sp>
        <p:nvSpPr>
          <p:cNvPr id="383" name="Google Shape;383;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idx="1" type="body"/>
          </p:nvPr>
        </p:nvSpPr>
        <p:spPr>
          <a:xfrm>
            <a:off x="713225" y="1152475"/>
            <a:ext cx="55080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solidFill>
                  <a:schemeClr val="accent5"/>
                </a:solidFill>
              </a:rPr>
              <a:t>Observation Data-driven</a:t>
            </a:r>
            <a:r>
              <a:rPr lang="en"/>
              <a:t> Causal Discovery</a:t>
            </a:r>
            <a:endParaRPr/>
          </a:p>
          <a:p>
            <a:pPr indent="-304800" lvl="1" marL="914400" rtl="0" algn="l">
              <a:spcBef>
                <a:spcPts val="0"/>
              </a:spcBef>
              <a:spcAft>
                <a:spcPts val="0"/>
              </a:spcAft>
              <a:buSzPts val="1200"/>
              <a:buChar char="○"/>
            </a:pPr>
            <a:r>
              <a:rPr lang="en">
                <a:solidFill>
                  <a:srgbClr val="6AA84F"/>
                </a:solidFill>
              </a:rPr>
              <a:t>Non-time series data</a:t>
            </a:r>
            <a:r>
              <a:rPr lang="en"/>
              <a:t>: the</a:t>
            </a:r>
            <a:r>
              <a:rPr lang="en"/>
              <a:t> methods usually convert the constraints of acyclicity into constraints on the </a:t>
            </a:r>
            <a:r>
              <a:rPr b="1" lang="en"/>
              <a:t>trace of the adjacency matrix</a:t>
            </a:r>
            <a:endParaRPr b="1"/>
          </a:p>
          <a:p>
            <a:pPr indent="-304800" lvl="1" marL="914400" rtl="0" algn="l">
              <a:spcBef>
                <a:spcPts val="0"/>
              </a:spcBef>
              <a:spcAft>
                <a:spcPts val="0"/>
              </a:spcAft>
              <a:buSzPts val="1200"/>
              <a:buChar char="○"/>
            </a:pPr>
            <a:r>
              <a:rPr lang="en">
                <a:solidFill>
                  <a:srgbClr val="6AA84F"/>
                </a:solidFill>
              </a:rPr>
              <a:t>Time series data</a:t>
            </a:r>
            <a:r>
              <a:rPr b="1" lang="en"/>
              <a:t>:</a:t>
            </a:r>
            <a:r>
              <a:rPr lang="en"/>
              <a:t> the causal graph obtained from the time series is likely to have cycles, which does not satisfy the DAG condition</a:t>
            </a:r>
            <a:endParaRPr/>
          </a:p>
          <a:p>
            <a:pPr indent="-304800" lvl="0" marL="457200" rtl="0" algn="l">
              <a:spcBef>
                <a:spcPts val="0"/>
              </a:spcBef>
              <a:spcAft>
                <a:spcPts val="0"/>
              </a:spcAft>
              <a:buSzPts val="1200"/>
              <a:buChar char="●"/>
            </a:pPr>
            <a:r>
              <a:rPr lang="en">
                <a:solidFill>
                  <a:schemeClr val="accent5"/>
                </a:solidFill>
              </a:rPr>
              <a:t>Intervention Data-driven</a:t>
            </a:r>
            <a:r>
              <a:rPr lang="en"/>
              <a:t> Causal Discovery</a:t>
            </a:r>
            <a:endParaRPr/>
          </a:p>
          <a:p>
            <a:pPr indent="-304800" lvl="1" marL="914400" rtl="0" algn="l">
              <a:spcBef>
                <a:spcPts val="0"/>
              </a:spcBef>
              <a:spcAft>
                <a:spcPts val="0"/>
              </a:spcAft>
              <a:buClr>
                <a:srgbClr val="6AA84F"/>
              </a:buClr>
              <a:buSzPts val="1200"/>
              <a:buChar char="○"/>
            </a:pPr>
            <a:r>
              <a:rPr lang="en">
                <a:solidFill>
                  <a:srgbClr val="6AA84F"/>
                </a:solidFill>
              </a:rPr>
              <a:t>Known Intervention</a:t>
            </a:r>
            <a:endParaRPr>
              <a:solidFill>
                <a:srgbClr val="6AA84F"/>
              </a:solidFill>
            </a:endParaRPr>
          </a:p>
          <a:p>
            <a:pPr indent="-304800" lvl="1" marL="914400" rtl="0" algn="l">
              <a:spcBef>
                <a:spcPts val="0"/>
              </a:spcBef>
              <a:spcAft>
                <a:spcPts val="0"/>
              </a:spcAft>
              <a:buClr>
                <a:srgbClr val="6AA84F"/>
              </a:buClr>
              <a:buSzPts val="1200"/>
              <a:buChar char="○"/>
            </a:pPr>
            <a:r>
              <a:rPr lang="en">
                <a:solidFill>
                  <a:srgbClr val="6AA84F"/>
                </a:solidFill>
              </a:rPr>
              <a:t>Unknown Intervention</a:t>
            </a:r>
            <a:endParaRPr>
              <a:solidFill>
                <a:srgbClr val="6AA84F"/>
              </a:solidFill>
            </a:endParaRPr>
          </a:p>
          <a:p>
            <a:pPr indent="-304800" lvl="0" marL="457200" rtl="0" algn="l">
              <a:spcBef>
                <a:spcPts val="0"/>
              </a:spcBef>
              <a:spcAft>
                <a:spcPts val="0"/>
              </a:spcAft>
              <a:buSzPts val="1200"/>
              <a:buChar char="●"/>
            </a:pPr>
            <a:r>
              <a:rPr lang="en">
                <a:solidFill>
                  <a:schemeClr val="accent5"/>
                </a:solidFill>
              </a:rPr>
              <a:t>Unobserved Confounders Data-driven</a:t>
            </a:r>
            <a:r>
              <a:rPr lang="en"/>
              <a:t> Causal Discovery</a:t>
            </a:r>
            <a:endParaRPr/>
          </a:p>
          <a:p>
            <a:pPr indent="-304800" lvl="1" marL="914400" rtl="0" algn="l">
              <a:spcBef>
                <a:spcPts val="0"/>
              </a:spcBef>
              <a:spcAft>
                <a:spcPts val="0"/>
              </a:spcAft>
              <a:buSzPts val="1200"/>
              <a:buChar char="○"/>
            </a:pPr>
            <a:r>
              <a:rPr lang="en">
                <a:solidFill>
                  <a:srgbClr val="6AA84F"/>
                </a:solidFill>
              </a:rPr>
              <a:t>Non-time series data: </a:t>
            </a:r>
            <a:r>
              <a:rPr lang="en"/>
              <a:t>More efficiently and accurately find causal relationships in the presence of unobserved confounders.</a:t>
            </a:r>
            <a:endParaRPr/>
          </a:p>
          <a:p>
            <a:pPr indent="-304800" lvl="1" marL="914400" rtl="0" algn="l">
              <a:spcBef>
                <a:spcPts val="0"/>
              </a:spcBef>
              <a:spcAft>
                <a:spcPts val="0"/>
              </a:spcAft>
              <a:buSzPts val="1200"/>
              <a:buChar char="○"/>
            </a:pPr>
            <a:r>
              <a:rPr lang="en">
                <a:solidFill>
                  <a:srgbClr val="6AA84F"/>
                </a:solidFill>
              </a:rPr>
              <a:t>Time series data:</a:t>
            </a:r>
            <a:endParaRPr/>
          </a:p>
        </p:txBody>
      </p:sp>
      <p:sp>
        <p:nvSpPr>
          <p:cNvPr id="389" name="Google Shape;389;p48"/>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discovery</a:t>
            </a:r>
            <a:endParaRPr>
              <a:solidFill>
                <a:schemeClr val="accent6"/>
              </a:solidFill>
            </a:endParaRPr>
          </a:p>
        </p:txBody>
      </p:sp>
      <p:sp>
        <p:nvSpPr>
          <p:cNvPr id="390" name="Google Shape;390;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91" name="Google Shape;391;p48"/>
          <p:cNvPicPr preferRelativeResize="0"/>
          <p:nvPr/>
        </p:nvPicPr>
        <p:blipFill>
          <a:blip r:embed="rId3">
            <a:alphaModFix/>
          </a:blip>
          <a:stretch>
            <a:fillRect/>
          </a:stretch>
        </p:blipFill>
        <p:spPr>
          <a:xfrm>
            <a:off x="6283775" y="1347900"/>
            <a:ext cx="1751125" cy="984225"/>
          </a:xfrm>
          <a:prstGeom prst="rect">
            <a:avLst/>
          </a:prstGeom>
          <a:noFill/>
          <a:ln>
            <a:noFill/>
          </a:ln>
        </p:spPr>
      </p:pic>
      <p:pic>
        <p:nvPicPr>
          <p:cNvPr id="392" name="Google Shape;392;p48"/>
          <p:cNvPicPr preferRelativeResize="0"/>
          <p:nvPr/>
        </p:nvPicPr>
        <p:blipFill>
          <a:blip r:embed="rId4">
            <a:alphaModFix/>
          </a:blip>
          <a:stretch>
            <a:fillRect/>
          </a:stretch>
        </p:blipFill>
        <p:spPr>
          <a:xfrm>
            <a:off x="6507450" y="2908350"/>
            <a:ext cx="1527450" cy="1161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9"/>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causal </a:t>
            </a:r>
            <a:r>
              <a:rPr lang="en">
                <a:solidFill>
                  <a:schemeClr val="accent6"/>
                </a:solidFill>
              </a:rPr>
              <a:t>inference</a:t>
            </a:r>
            <a:endParaRPr>
              <a:solidFill>
                <a:schemeClr val="accent6"/>
              </a:solidFill>
            </a:endParaRPr>
          </a:p>
          <a:p>
            <a:pPr indent="0" lvl="0" marL="0" rtl="0" algn="l">
              <a:spcBef>
                <a:spcPts val="0"/>
              </a:spcBef>
              <a:spcAft>
                <a:spcPts val="0"/>
              </a:spcAft>
              <a:buNone/>
            </a:pPr>
            <a:r>
              <a:t/>
            </a:r>
            <a:endParaRPr/>
          </a:p>
        </p:txBody>
      </p:sp>
      <p:sp>
        <p:nvSpPr>
          <p:cNvPr id="398" name="Google Shape;398;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49"/>
          <p:cNvSpPr txBox="1"/>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34343"/>
              </a:buClr>
              <a:buSzPts val="1200"/>
              <a:buChar char="●"/>
            </a:pPr>
            <a:r>
              <a:rPr lang="en" sz="1200">
                <a:solidFill>
                  <a:srgbClr val="434343"/>
                </a:solidFill>
              </a:rPr>
              <a:t>Core problem:</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(1) missing counterfactual data</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(2) selection bias</a:t>
            </a:r>
            <a:endParaRPr sz="1200">
              <a:solidFill>
                <a:srgbClr val="434343"/>
              </a:solidFill>
            </a:endParaRPr>
          </a:p>
          <a:p>
            <a:pPr indent="-304800" lvl="0" marL="457200" rtl="0" algn="l">
              <a:lnSpc>
                <a:spcPct val="115000"/>
              </a:lnSpc>
              <a:spcBef>
                <a:spcPts val="0"/>
              </a:spcBef>
              <a:spcAft>
                <a:spcPts val="0"/>
              </a:spcAft>
              <a:buClr>
                <a:srgbClr val="434343"/>
              </a:buClr>
              <a:buSzPts val="1200"/>
              <a:buChar char="●"/>
            </a:pPr>
            <a:r>
              <a:rPr lang="en" sz="1200">
                <a:solidFill>
                  <a:srgbClr val="434343"/>
                </a:solidFill>
              </a:rPr>
              <a:t>CI method method to solve problem:</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selection bias-oriented</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lang="en" sz="1200">
                <a:solidFill>
                  <a:srgbClr val="434343"/>
                </a:solidFill>
              </a:rPr>
              <a:t>Counterfactual data-oriented methods</a:t>
            </a:r>
            <a:endParaRPr sz="1200">
              <a:solidFill>
                <a:srgbClr val="434343"/>
              </a:solidFill>
            </a:endParaRPr>
          </a:p>
          <a:p>
            <a:pPr indent="-304800" lvl="0" marL="457200" rtl="0" algn="l">
              <a:lnSpc>
                <a:spcPct val="115000"/>
              </a:lnSpc>
              <a:spcBef>
                <a:spcPts val="0"/>
              </a:spcBef>
              <a:spcAft>
                <a:spcPts val="0"/>
              </a:spcAft>
              <a:buClr>
                <a:srgbClr val="434343"/>
              </a:buClr>
              <a:buSzPts val="1200"/>
              <a:buChar char="●"/>
            </a:pPr>
            <a:r>
              <a:rPr lang="en" sz="1200">
                <a:solidFill>
                  <a:srgbClr val="434343"/>
                </a:solidFill>
              </a:rPr>
              <a:t>Deep CI method :</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b="1" lang="en" sz="1200">
                <a:solidFill>
                  <a:schemeClr val="accent5"/>
                </a:solidFill>
              </a:rPr>
              <a:t>covariate balance-based</a:t>
            </a:r>
            <a:r>
              <a:rPr lang="en" sz="1200">
                <a:solidFill>
                  <a:srgbClr val="434343"/>
                </a:solidFill>
              </a:rPr>
              <a:t> methods (1) : 調整 covariates 以平衡不同 treatment groups 中covariates 的分佈，從而消除選擇偏差(selection bias-oriented)</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b="1" lang="en" sz="1200">
                <a:solidFill>
                  <a:schemeClr val="accent5"/>
                </a:solidFill>
              </a:rPr>
              <a:t>adversarial training-based</a:t>
            </a:r>
            <a:r>
              <a:rPr lang="en" sz="1200">
                <a:solidFill>
                  <a:srgbClr val="434343"/>
                </a:solidFill>
              </a:rPr>
              <a:t> methods (2) : 利用對抗訓練使判別器無法區分真實數據和生成器生成的數據，從而實現隱式反事實數據的生成</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b="1" lang="en" sz="1200">
                <a:solidFill>
                  <a:schemeClr val="accent5"/>
                </a:solidFill>
              </a:rPr>
              <a:t>proxy variable-based</a:t>
            </a:r>
            <a:r>
              <a:rPr lang="en" sz="1200">
                <a:solidFill>
                  <a:schemeClr val="accent5"/>
                </a:solidFill>
              </a:rPr>
              <a:t> </a:t>
            </a:r>
            <a:r>
              <a:rPr lang="en" sz="1200">
                <a:solidFill>
                  <a:srgbClr val="434343"/>
                </a:solidFill>
              </a:rPr>
              <a:t>methods (3) : 將數據生成機制建模為多個潛在變量之間的聯合作用，以實現顯式反事實生成(study the presence of unobserved confounders)</a:t>
            </a:r>
            <a:endParaRPr sz="1200">
              <a:solidFill>
                <a:srgbClr val="434343"/>
              </a:solidFill>
            </a:endParaRPr>
          </a:p>
          <a:p>
            <a:pPr indent="-304800" lvl="1" marL="914400" rtl="0" algn="l">
              <a:lnSpc>
                <a:spcPct val="115000"/>
              </a:lnSpc>
              <a:spcBef>
                <a:spcPts val="0"/>
              </a:spcBef>
              <a:spcAft>
                <a:spcPts val="0"/>
              </a:spcAft>
              <a:buClr>
                <a:srgbClr val="434343"/>
              </a:buClr>
              <a:buSzPts val="1200"/>
              <a:buChar char="○"/>
            </a:pPr>
            <a:r>
              <a:rPr b="1" lang="en" sz="1200">
                <a:solidFill>
                  <a:schemeClr val="accent5"/>
                </a:solidFill>
              </a:rPr>
              <a:t>deep structural causal model</a:t>
            </a:r>
            <a:r>
              <a:rPr b="1" lang="en" sz="1200">
                <a:solidFill>
                  <a:srgbClr val="E06666"/>
                </a:solidFill>
              </a:rPr>
              <a:t> </a:t>
            </a:r>
            <a:r>
              <a:rPr lang="en" sz="1200">
                <a:solidFill>
                  <a:srgbClr val="434343"/>
                </a:solidFill>
              </a:rPr>
              <a:t>methods (4) : 通常將SCM和NN結合，利用SCM的結構信息和神NN的擬合能力對數據生成機制進行建模，實現反事實生成。</a:t>
            </a:r>
            <a:endParaRPr sz="1200">
              <a:solidFill>
                <a:srgbClr val="434343"/>
              </a:solidFill>
            </a:endParaRPr>
          </a:p>
        </p:txBody>
      </p:sp>
      <p:pic>
        <p:nvPicPr>
          <p:cNvPr id="400" name="Google Shape;400;p49"/>
          <p:cNvPicPr preferRelativeResize="0"/>
          <p:nvPr/>
        </p:nvPicPr>
        <p:blipFill>
          <a:blip r:embed="rId3">
            <a:alphaModFix/>
          </a:blip>
          <a:stretch>
            <a:fillRect/>
          </a:stretch>
        </p:blipFill>
        <p:spPr>
          <a:xfrm>
            <a:off x="5023176" y="753699"/>
            <a:ext cx="4120826" cy="19250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0"/>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3200"/>
              <a:t>introduction</a:t>
            </a:r>
            <a:endParaRPr sz="3200"/>
          </a:p>
        </p:txBody>
      </p:sp>
      <p:sp>
        <p:nvSpPr>
          <p:cNvPr id="406" name="Google Shape;406;p50"/>
          <p:cNvSpPr txBox="1"/>
          <p:nvPr>
            <p:ph idx="2" type="title"/>
          </p:nvPr>
        </p:nvSpPr>
        <p:spPr>
          <a:xfrm>
            <a:off x="3968350" y="1262325"/>
            <a:ext cx="4462500" cy="11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solidFill>
                  <a:srgbClr val="6D9EEB"/>
                </a:solidFill>
              </a:rPr>
              <a:t>01</a:t>
            </a:r>
            <a:endParaRPr>
              <a:solidFill>
                <a:srgbClr val="6D9EEB"/>
              </a:solidFill>
            </a:endParaRPr>
          </a:p>
        </p:txBody>
      </p:sp>
      <p:sp>
        <p:nvSpPr>
          <p:cNvPr id="407" name="Google Shape;407;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accent5"/>
              </a:buClr>
              <a:buSzPts val="1200"/>
              <a:buChar char="●"/>
            </a:pPr>
            <a:r>
              <a:rPr lang="en">
                <a:solidFill>
                  <a:schemeClr val="accent5"/>
                </a:solidFill>
              </a:rPr>
              <a:t>Structure Causal Model </a:t>
            </a:r>
            <a:r>
              <a:rPr lang="en"/>
              <a:t>for evaluating causal effect:</a:t>
            </a:r>
            <a:endParaRPr/>
          </a:p>
          <a:p>
            <a:pPr indent="-304800" lvl="1" marL="914400" rtl="0" algn="l">
              <a:spcBef>
                <a:spcPts val="0"/>
              </a:spcBef>
              <a:spcAft>
                <a:spcPts val="0"/>
              </a:spcAft>
              <a:buSzPts val="1200"/>
              <a:buChar char="○"/>
            </a:pPr>
            <a:r>
              <a:rPr lang="en"/>
              <a:t>The average treatment effect (ATE) under the SCM framework:</a:t>
            </a:r>
            <a:br>
              <a:rPr lang="en"/>
            </a:br>
            <a:br>
              <a:rPr lang="en"/>
            </a:br>
            <a:endParaRPr/>
          </a:p>
          <a:p>
            <a:pPr indent="-304800" lvl="1" marL="914400" rtl="0" algn="l">
              <a:spcBef>
                <a:spcPts val="0"/>
              </a:spcBef>
              <a:spcAft>
                <a:spcPts val="0"/>
              </a:spcAft>
              <a:buSzPts val="1200"/>
              <a:buChar char="○"/>
            </a:pPr>
            <a:r>
              <a:rPr lang="en"/>
              <a:t>calculating the causal effect is to calculate the </a:t>
            </a:r>
            <a:r>
              <a:rPr b="1" lang="en"/>
              <a:t>probability</a:t>
            </a:r>
            <a:r>
              <a:rPr lang="en"/>
              <a:t> under the intervention</a:t>
            </a:r>
            <a:br>
              <a:rPr lang="en"/>
            </a:br>
            <a:endParaRPr/>
          </a:p>
          <a:p>
            <a:pPr indent="-304800" lvl="0" marL="457200" rtl="0" algn="l">
              <a:spcBef>
                <a:spcPts val="0"/>
              </a:spcBef>
              <a:spcAft>
                <a:spcPts val="0"/>
              </a:spcAft>
              <a:buClr>
                <a:schemeClr val="accent5"/>
              </a:buClr>
              <a:buSzPts val="1200"/>
              <a:buChar char="●"/>
            </a:pPr>
            <a:r>
              <a:rPr lang="en">
                <a:solidFill>
                  <a:schemeClr val="accent5"/>
                </a:solidFill>
              </a:rPr>
              <a:t>Po</a:t>
            </a:r>
            <a:r>
              <a:rPr lang="en">
                <a:solidFill>
                  <a:schemeClr val="accent5"/>
                </a:solidFill>
              </a:rPr>
              <a:t>tential Outcome Model </a:t>
            </a:r>
            <a:r>
              <a:rPr lang="en"/>
              <a:t>for evaluating causal effect:</a:t>
            </a:r>
            <a:endParaRPr>
              <a:solidFill>
                <a:schemeClr val="accent5"/>
              </a:solidFill>
            </a:endParaRPr>
          </a:p>
        </p:txBody>
      </p:sp>
      <p:sp>
        <p:nvSpPr>
          <p:cNvPr id="413" name="Google Shape;413;p51"/>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3.	Deep causal </a:t>
            </a:r>
            <a:r>
              <a:rPr lang="en" sz="1800">
                <a:solidFill>
                  <a:schemeClr val="accent6"/>
                </a:solidFill>
              </a:rPr>
              <a:t>inference</a:t>
            </a:r>
            <a:endParaRPr sz="1800">
              <a:solidFill>
                <a:schemeClr val="accent6"/>
              </a:solidFill>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a:p>
        </p:txBody>
      </p:sp>
      <p:sp>
        <p:nvSpPr>
          <p:cNvPr id="414" name="Google Shape;414;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15" name="Google Shape;415;p51"/>
          <p:cNvPicPr preferRelativeResize="0"/>
          <p:nvPr/>
        </p:nvPicPr>
        <p:blipFill rotWithShape="1">
          <a:blip r:embed="rId3">
            <a:alphaModFix/>
          </a:blip>
          <a:srcRect b="0" l="-1058" r="27518" t="0"/>
          <a:stretch/>
        </p:blipFill>
        <p:spPr>
          <a:xfrm>
            <a:off x="1658300" y="2817275"/>
            <a:ext cx="4792750" cy="1804125"/>
          </a:xfrm>
          <a:prstGeom prst="rect">
            <a:avLst/>
          </a:prstGeom>
          <a:noFill/>
          <a:ln>
            <a:noFill/>
          </a:ln>
        </p:spPr>
      </p:pic>
      <p:pic>
        <p:nvPicPr>
          <p:cNvPr id="416" name="Google Shape;416;p51"/>
          <p:cNvPicPr preferRelativeResize="0"/>
          <p:nvPr/>
        </p:nvPicPr>
        <p:blipFill>
          <a:blip r:embed="rId4">
            <a:alphaModFix/>
          </a:blip>
          <a:stretch>
            <a:fillRect/>
          </a:stretch>
        </p:blipFill>
        <p:spPr>
          <a:xfrm>
            <a:off x="2634425" y="1777200"/>
            <a:ext cx="2563850" cy="219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422" name="Google Shape;422;p52"/>
          <p:cNvSpPr txBox="1"/>
          <p:nvPr>
            <p:ph idx="1" type="body"/>
          </p:nvPr>
        </p:nvSpPr>
        <p:spPr>
          <a:xfrm>
            <a:off x="713225" y="1152475"/>
            <a:ext cx="7717500" cy="379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Traditional CD method:</a:t>
            </a:r>
            <a:endParaRPr/>
          </a:p>
          <a:p>
            <a:pPr indent="-304800" lvl="1" marL="914400" rtl="0" algn="l">
              <a:spcBef>
                <a:spcPts val="0"/>
              </a:spcBef>
              <a:spcAft>
                <a:spcPts val="0"/>
              </a:spcAft>
              <a:buSzPts val="1200"/>
              <a:buChar char="○"/>
            </a:pPr>
            <a:r>
              <a:rPr lang="en"/>
              <a:t>constraint-based method, score-based methods, asymmetric (function)-based methods</a:t>
            </a:r>
            <a:endParaRPr/>
          </a:p>
          <a:p>
            <a:pPr indent="-304800" lvl="0" marL="457200" rtl="0" algn="l">
              <a:spcBef>
                <a:spcPts val="0"/>
              </a:spcBef>
              <a:spcAft>
                <a:spcPts val="0"/>
              </a:spcAft>
              <a:buSzPts val="1200"/>
              <a:buChar char="●"/>
            </a:pPr>
            <a:r>
              <a:rPr lang="en"/>
              <a:t>Traditional CI method:</a:t>
            </a:r>
            <a:endParaRPr/>
          </a:p>
          <a:p>
            <a:pPr indent="-304800" lvl="1" marL="914400" rtl="0" algn="l">
              <a:spcBef>
                <a:spcPts val="0"/>
              </a:spcBef>
              <a:spcAft>
                <a:spcPts val="0"/>
              </a:spcAft>
              <a:buSzPts val="1200"/>
              <a:buChar char="○"/>
            </a:pPr>
            <a:r>
              <a:rPr lang="en"/>
              <a:t>whether the causal effect can be estimated based on the existing information is determined, and in causal estimation, specific causal effect values are obtained. </a:t>
            </a:r>
            <a:endParaRPr/>
          </a:p>
          <a:p>
            <a:pPr indent="-304800" lvl="1" marL="914400" rtl="0" algn="l">
              <a:spcBef>
                <a:spcPts val="0"/>
              </a:spcBef>
              <a:spcAft>
                <a:spcPts val="0"/>
              </a:spcAft>
              <a:buSzPts val="1200"/>
              <a:buChar char="○"/>
            </a:pPr>
            <a:r>
              <a:rPr lang="en"/>
              <a:t> structural causal model (SCM) , potential outcome model (POM)</a:t>
            </a:r>
            <a:endParaRPr/>
          </a:p>
          <a:p>
            <a:pPr indent="-304800" lvl="0" marL="457200" rtl="0" algn="l">
              <a:spcBef>
                <a:spcPts val="0"/>
              </a:spcBef>
              <a:spcAft>
                <a:spcPts val="0"/>
              </a:spcAft>
              <a:buSzPts val="1200"/>
              <a:buChar char="●"/>
            </a:pPr>
            <a:r>
              <a:rPr lang="en"/>
              <a:t>Traditional Problem:</a:t>
            </a:r>
            <a:endParaRPr/>
          </a:p>
          <a:p>
            <a:pPr indent="-304800" lvl="1" marL="914400" rtl="0" algn="l">
              <a:spcBef>
                <a:spcPts val="0"/>
              </a:spcBef>
              <a:spcAft>
                <a:spcPts val="0"/>
              </a:spcAft>
              <a:buSzPts val="1200"/>
              <a:buChar char="○"/>
            </a:pPr>
            <a:r>
              <a:rPr lang="en"/>
              <a:t>low-dimensional structured data: Nowaday, many high-dimensional unstructured data need ex: video, image</a:t>
            </a:r>
            <a:endParaRPr/>
          </a:p>
          <a:p>
            <a:pPr indent="-304800" lvl="1" marL="914400" rtl="0" algn="l">
              <a:spcBef>
                <a:spcPts val="0"/>
              </a:spcBef>
              <a:spcAft>
                <a:spcPts val="0"/>
              </a:spcAft>
              <a:buSzPts val="1200"/>
              <a:buChar char="○"/>
            </a:pPr>
            <a:r>
              <a:rPr lang="en"/>
              <a:t>Even if causal variables are structured, their </a:t>
            </a:r>
            <a:r>
              <a:rPr b="1" lang="en"/>
              <a:t>covariate distributions</a:t>
            </a:r>
            <a:r>
              <a:rPr lang="en"/>
              <a:t> could be unbalanced, becoming a source of selection bias. For </a:t>
            </a:r>
            <a:r>
              <a:rPr i="1" lang="en"/>
              <a:t>causal discovery</a:t>
            </a:r>
            <a:r>
              <a:rPr lang="en"/>
              <a:t>, most methods require strong assumptions For </a:t>
            </a:r>
            <a:r>
              <a:rPr i="1" lang="en"/>
              <a:t>causal inference</a:t>
            </a:r>
            <a:r>
              <a:rPr lang="en"/>
              <a:t>, due to the lack of counterfactual data, the gold standard for estimating causal effects is random controlled trials (RCT) </a:t>
            </a:r>
            <a:endParaRPr/>
          </a:p>
          <a:p>
            <a:pPr indent="-304800" lvl="1" marL="914400" rtl="0" algn="l">
              <a:spcBef>
                <a:spcPts val="0"/>
              </a:spcBef>
              <a:spcAft>
                <a:spcPts val="0"/>
              </a:spcAft>
              <a:buSzPts val="1200"/>
              <a:buChar char="○"/>
            </a:pPr>
            <a:r>
              <a:rPr lang="en"/>
              <a:t>The key problem with causal inference from observational data is </a:t>
            </a:r>
            <a:r>
              <a:rPr b="1" lang="en">
                <a:solidFill>
                  <a:srgbClr val="E06666"/>
                </a:solidFill>
              </a:rPr>
              <a:t>selection bias</a:t>
            </a:r>
            <a:r>
              <a:rPr b="1" lang="en"/>
              <a:t>,</a:t>
            </a:r>
            <a:r>
              <a:rPr lang="en"/>
              <a:t>which consists of </a:t>
            </a:r>
            <a:r>
              <a:rPr b="1" lang="en">
                <a:solidFill>
                  <a:schemeClr val="accent5"/>
                </a:solidFill>
              </a:rPr>
              <a:t>confounding bias</a:t>
            </a:r>
            <a:r>
              <a:rPr lang="en"/>
              <a:t> (from confounders) and </a:t>
            </a:r>
            <a:r>
              <a:rPr b="1" lang="en">
                <a:solidFill>
                  <a:schemeClr val="accent5"/>
                </a:solidFill>
              </a:rPr>
              <a:t>data selection bias</a:t>
            </a:r>
            <a:r>
              <a:rPr lang="en"/>
              <a:t> (from colliders).</a:t>
            </a:r>
            <a:endParaRPr/>
          </a:p>
        </p:txBody>
      </p:sp>
      <p:sp>
        <p:nvSpPr>
          <p:cNvPr id="423" name="Google Shape;423;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3"/>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429" name="Google Shape;429;p53"/>
          <p:cNvSpPr txBox="1"/>
          <p:nvPr>
            <p:ph idx="1" type="body"/>
          </p:nvPr>
        </p:nvSpPr>
        <p:spPr>
          <a:xfrm>
            <a:off x="713225" y="1152475"/>
            <a:ext cx="7717500" cy="379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The three core strengths of </a:t>
            </a:r>
            <a:r>
              <a:rPr lang="en">
                <a:solidFill>
                  <a:schemeClr val="accent6"/>
                </a:solidFill>
              </a:rPr>
              <a:t>deep learning</a:t>
            </a:r>
            <a:r>
              <a:rPr lang="en"/>
              <a:t> for </a:t>
            </a:r>
            <a:r>
              <a:rPr lang="en"/>
              <a:t>causal</a:t>
            </a:r>
            <a:r>
              <a:rPr lang="en"/>
              <a:t> learning are </a:t>
            </a:r>
            <a:r>
              <a:rPr b="1" lang="en"/>
              <a:t>strong representational capabilities,</a:t>
            </a:r>
            <a:r>
              <a:rPr lang="en"/>
              <a:t> </a:t>
            </a:r>
            <a:r>
              <a:rPr b="1" lang="en"/>
              <a:t>fitting capabilities,</a:t>
            </a:r>
            <a:r>
              <a:rPr lang="en"/>
              <a:t> and the ability to </a:t>
            </a:r>
            <a:r>
              <a:rPr b="1" lang="en"/>
              <a:t>approximate data generation mechanisms</a:t>
            </a:r>
            <a:r>
              <a:rPr lang="en"/>
              <a:t>.</a:t>
            </a:r>
            <a:endParaRPr/>
          </a:p>
          <a:p>
            <a:pPr indent="-304800" lvl="1" marL="914400" rtl="0" algn="l">
              <a:spcBef>
                <a:spcPts val="0"/>
              </a:spcBef>
              <a:spcAft>
                <a:spcPts val="0"/>
              </a:spcAft>
              <a:buSzPts val="1200"/>
              <a:buChar char="○"/>
            </a:pPr>
            <a:r>
              <a:rPr lang="en">
                <a:solidFill>
                  <a:schemeClr val="accent6"/>
                </a:solidFill>
              </a:rPr>
              <a:t>deep representation</a:t>
            </a:r>
            <a:r>
              <a:rPr lang="en"/>
              <a:t> : (1) learn the </a:t>
            </a:r>
            <a:r>
              <a:rPr b="1" lang="en">
                <a:solidFill>
                  <a:schemeClr val="accent5"/>
                </a:solidFill>
              </a:rPr>
              <a:t>low-dimensional balanced structured representation</a:t>
            </a:r>
            <a:r>
              <a:rPr lang="en"/>
              <a:t> of high-dimensional, unstructured and unbalanced data so that variables can be better used for causal discovery and causal inference (2) universal approximation theorem indicates that neural networks can </a:t>
            </a:r>
            <a:r>
              <a:rPr b="1" lang="en">
                <a:solidFill>
                  <a:schemeClr val="accent5"/>
                </a:solidFill>
              </a:rPr>
              <a:t>learn extremely complex functions</a:t>
            </a:r>
            <a:r>
              <a:rPr lang="en"/>
              <a:t> to estimate heterogeneous treatment effects with low bias estimators. </a:t>
            </a:r>
            <a:endParaRPr/>
          </a:p>
          <a:p>
            <a:pPr indent="-304800" lvl="1" marL="914400" rtl="0" algn="l">
              <a:spcBef>
                <a:spcPts val="0"/>
              </a:spcBef>
              <a:spcAft>
                <a:spcPts val="0"/>
              </a:spcAft>
              <a:buClr>
                <a:schemeClr val="accent6"/>
              </a:buClr>
              <a:buSzPts val="1200"/>
              <a:buChar char="○"/>
            </a:pPr>
            <a:r>
              <a:rPr lang="en">
                <a:solidFill>
                  <a:schemeClr val="accent6"/>
                </a:solidFill>
              </a:rPr>
              <a:t>causal discovery: </a:t>
            </a:r>
            <a:r>
              <a:rPr lang="en"/>
              <a:t>it has become the </a:t>
            </a:r>
            <a:r>
              <a:rPr b="1" lang="en">
                <a:solidFill>
                  <a:schemeClr val="accent5"/>
                </a:solidFill>
              </a:rPr>
              <a:t>main continuous optimization method</a:t>
            </a:r>
            <a:r>
              <a:rPr lang="en"/>
              <a:t> to solve the long-standing combinatorial optimization problem and can theoretically cope with large-scale data.</a:t>
            </a:r>
            <a:endParaRPr/>
          </a:p>
          <a:p>
            <a:pPr indent="-304800" lvl="1" marL="914400" rtl="0" algn="l">
              <a:spcBef>
                <a:spcPts val="0"/>
              </a:spcBef>
              <a:spcAft>
                <a:spcPts val="0"/>
              </a:spcAft>
              <a:buClr>
                <a:schemeClr val="accent6"/>
              </a:buClr>
              <a:buSzPts val="1200"/>
              <a:buChar char="○"/>
            </a:pPr>
            <a:r>
              <a:rPr lang="en">
                <a:solidFill>
                  <a:schemeClr val="accent6"/>
                </a:solidFill>
              </a:rPr>
              <a:t>causal generation: </a:t>
            </a:r>
            <a:r>
              <a:rPr lang="en"/>
              <a:t>GAN(implicitly), VAE(</a:t>
            </a:r>
            <a:r>
              <a:rPr lang="en"/>
              <a:t>explicitly</a:t>
            </a:r>
            <a:r>
              <a:rPr lang="en"/>
              <a:t>)</a:t>
            </a:r>
            <a:endParaRPr/>
          </a:p>
          <a:p>
            <a:pPr indent="-304800" lvl="1" marL="914400" rtl="0" algn="l">
              <a:spcBef>
                <a:spcPts val="0"/>
              </a:spcBef>
              <a:spcAft>
                <a:spcPts val="0"/>
              </a:spcAft>
              <a:buSzPts val="1200"/>
              <a:buChar char="○"/>
            </a:pPr>
            <a:r>
              <a:rPr lang="en"/>
              <a:t>Neural network-based methods for modeling data mechanisms require very little prior knowledge and </a:t>
            </a:r>
            <a:r>
              <a:rPr b="1" lang="en"/>
              <a:t>do not make many assumptions about the relationship between variable</a:t>
            </a:r>
            <a:r>
              <a:rPr lang="en"/>
              <a:t>s, so that deep learning-based causal inference and causal discovery methods </a:t>
            </a:r>
            <a:r>
              <a:rPr b="1" lang="en"/>
              <a:t>allow the presence of unobserved confounders and can also make use of intervention data.</a:t>
            </a:r>
            <a:endParaRPr b="1"/>
          </a:p>
          <a:p>
            <a:pPr indent="-304800" lvl="1" marL="914400" rtl="0" algn="l">
              <a:spcBef>
                <a:spcPts val="0"/>
              </a:spcBef>
              <a:spcAft>
                <a:spcPts val="0"/>
              </a:spcAft>
              <a:buSzPts val="1200"/>
              <a:buChar char="○"/>
            </a:pPr>
            <a:r>
              <a:t/>
            </a:r>
            <a:endParaRPr/>
          </a:p>
        </p:txBody>
      </p:sp>
      <p:sp>
        <p:nvSpPr>
          <p:cNvPr id="430" name="Google Shape;430;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436" name="Google Shape;436;p54"/>
          <p:cNvSpPr txBox="1"/>
          <p:nvPr>
            <p:ph idx="1" type="body"/>
          </p:nvPr>
        </p:nvSpPr>
        <p:spPr>
          <a:xfrm>
            <a:off x="713225" y="1152475"/>
            <a:ext cx="7717500" cy="650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 </a:t>
            </a:r>
            <a:endParaRPr/>
          </a:p>
        </p:txBody>
      </p:sp>
      <p:pic>
        <p:nvPicPr>
          <p:cNvPr id="437" name="Google Shape;437;p54"/>
          <p:cNvPicPr preferRelativeResize="0"/>
          <p:nvPr/>
        </p:nvPicPr>
        <p:blipFill>
          <a:blip r:embed="rId3">
            <a:alphaModFix/>
          </a:blip>
          <a:stretch>
            <a:fillRect/>
          </a:stretch>
        </p:blipFill>
        <p:spPr>
          <a:xfrm>
            <a:off x="4627225" y="1471850"/>
            <a:ext cx="4300750" cy="2909650"/>
          </a:xfrm>
          <a:prstGeom prst="rect">
            <a:avLst/>
          </a:prstGeom>
          <a:noFill/>
          <a:ln>
            <a:noFill/>
          </a:ln>
        </p:spPr>
      </p:pic>
      <p:sp>
        <p:nvSpPr>
          <p:cNvPr id="438" name="Google Shape;438;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39" name="Google Shape;439;p54"/>
          <p:cNvPicPr preferRelativeResize="0"/>
          <p:nvPr/>
        </p:nvPicPr>
        <p:blipFill>
          <a:blip r:embed="rId4">
            <a:alphaModFix/>
          </a:blip>
          <a:stretch>
            <a:fillRect/>
          </a:stretch>
        </p:blipFill>
        <p:spPr>
          <a:xfrm>
            <a:off x="201000" y="1541100"/>
            <a:ext cx="4322426" cy="24291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5"/>
          <p:cNvSpPr txBox="1"/>
          <p:nvPr>
            <p:ph type="title"/>
          </p:nvPr>
        </p:nvSpPr>
        <p:spPr>
          <a:xfrm>
            <a:off x="713375" y="2227050"/>
            <a:ext cx="44625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Preliminaries</a:t>
            </a:r>
            <a:endParaRPr/>
          </a:p>
        </p:txBody>
      </p:sp>
      <p:sp>
        <p:nvSpPr>
          <p:cNvPr id="445" name="Google Shape;445;p55"/>
          <p:cNvSpPr txBox="1"/>
          <p:nvPr>
            <p:ph idx="1" type="subTitle"/>
          </p:nvPr>
        </p:nvSpPr>
        <p:spPr>
          <a:xfrm>
            <a:off x="713225" y="3045375"/>
            <a:ext cx="44625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2.1 Structural Causal model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2.2 Potential outcome model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2.3 NN’s for causal learning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446" name="Google Shape;446;p55"/>
          <p:cNvSpPr txBox="1"/>
          <p:nvPr>
            <p:ph idx="2" type="title"/>
          </p:nvPr>
        </p:nvSpPr>
        <p:spPr>
          <a:xfrm>
            <a:off x="713300" y="1262325"/>
            <a:ext cx="4462500" cy="11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6D9EEB"/>
                </a:solidFill>
              </a:rPr>
              <a:t>02</a:t>
            </a:r>
            <a:endParaRPr>
              <a:solidFill>
                <a:srgbClr val="6D9EEB"/>
              </a:solidFill>
            </a:endParaRPr>
          </a:p>
        </p:txBody>
      </p:sp>
      <p:sp>
        <p:nvSpPr>
          <p:cNvPr id="447" name="Google Shape;447;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Causal Model</a:t>
            </a:r>
            <a:endParaRPr/>
          </a:p>
        </p:txBody>
      </p:sp>
      <p:sp>
        <p:nvSpPr>
          <p:cNvPr id="453" name="Google Shape;453;p56"/>
          <p:cNvSpPr txBox="1"/>
          <p:nvPr>
            <p:ph idx="1" type="body"/>
          </p:nvPr>
        </p:nvSpPr>
        <p:spPr>
          <a:xfrm>
            <a:off x="713225" y="10000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Definition</a:t>
            </a:r>
            <a:r>
              <a:rPr lang="en"/>
              <a:t>:</a:t>
            </a:r>
            <a:endParaRPr/>
          </a:p>
          <a:p>
            <a:pPr indent="-304800" lvl="1" marL="914400" rtl="0" algn="l">
              <a:spcBef>
                <a:spcPts val="0"/>
              </a:spcBef>
              <a:spcAft>
                <a:spcPts val="0"/>
              </a:spcAft>
              <a:buSzPts val="1200"/>
              <a:buChar char="○"/>
            </a:pPr>
            <a:r>
              <a:rPr i="1" lang="en"/>
              <a:t>V</a:t>
            </a:r>
            <a:r>
              <a:rPr lang="en"/>
              <a:t> :  a set of endogenous(</a:t>
            </a:r>
            <a:r>
              <a:rPr lang="en"/>
              <a:t>內生</a:t>
            </a:r>
            <a:r>
              <a:rPr lang="en"/>
              <a:t>) variables</a:t>
            </a:r>
            <a:endParaRPr/>
          </a:p>
          <a:p>
            <a:pPr indent="-304800" lvl="1" marL="914400" rtl="0" algn="l">
              <a:spcBef>
                <a:spcPts val="0"/>
              </a:spcBef>
              <a:spcAft>
                <a:spcPts val="0"/>
              </a:spcAft>
              <a:buSzPts val="1200"/>
              <a:buChar char="○"/>
            </a:pPr>
            <a:r>
              <a:rPr i="1" lang="en"/>
              <a:t>U</a:t>
            </a:r>
            <a:r>
              <a:rPr lang="en"/>
              <a:t> : a set of set of exogenous(</a:t>
            </a:r>
            <a:r>
              <a:rPr lang="en"/>
              <a:t>外生</a:t>
            </a:r>
            <a:r>
              <a:rPr lang="en"/>
              <a:t>) variables</a:t>
            </a:r>
            <a:endParaRPr/>
          </a:p>
          <a:p>
            <a:pPr indent="-304800" lvl="1" marL="914400" rtl="0" algn="l">
              <a:spcBef>
                <a:spcPts val="0"/>
              </a:spcBef>
              <a:spcAft>
                <a:spcPts val="0"/>
              </a:spcAft>
              <a:buSzPts val="1200"/>
              <a:buChar char="○"/>
            </a:pPr>
            <a:r>
              <a:rPr i="1" lang="en"/>
              <a:t>F</a:t>
            </a:r>
            <a:r>
              <a:rPr lang="en"/>
              <a:t> : set of mapping functions accomplish the mapping from the parent node </a:t>
            </a:r>
            <a:r>
              <a:rPr i="1" lang="en"/>
              <a:t>Pa_v</a:t>
            </a:r>
            <a:r>
              <a:rPr lang="en"/>
              <a:t> </a:t>
            </a:r>
            <a:r>
              <a:rPr lang="en" sz="1300"/>
              <a:t> </a:t>
            </a:r>
            <a:r>
              <a:rPr lang="en"/>
              <a:t>to </a:t>
            </a:r>
            <a:r>
              <a:rPr i="1" lang="en"/>
              <a:t>V.</a:t>
            </a:r>
            <a:endParaRPr i="1"/>
          </a:p>
          <a:p>
            <a:pPr indent="-304800" lvl="1" marL="914400" rtl="0" algn="l">
              <a:spcBef>
                <a:spcPts val="0"/>
              </a:spcBef>
              <a:spcAft>
                <a:spcPts val="0"/>
              </a:spcAft>
              <a:buSzPts val="1200"/>
              <a:buChar char="○"/>
            </a:pPr>
            <a:r>
              <a:rPr i="1" lang="en"/>
              <a:t>P(u) </a:t>
            </a:r>
            <a:r>
              <a:rPr lang="en"/>
              <a:t>:  distribution of exogenous variables.</a:t>
            </a:r>
            <a:endParaRPr/>
          </a:p>
          <a:p>
            <a:pPr indent="-304800" lvl="0" marL="457200" rtl="0" algn="l">
              <a:spcBef>
                <a:spcPts val="0"/>
              </a:spcBef>
              <a:spcAft>
                <a:spcPts val="0"/>
              </a:spcAft>
              <a:buSzPts val="1200"/>
              <a:buChar char="●"/>
            </a:pPr>
            <a:r>
              <a:rPr lang="en"/>
              <a:t>Causal Graph: directed acyclic graph (DAG) </a:t>
            </a:r>
            <a:endParaRPr/>
          </a:p>
          <a:p>
            <a:pPr indent="-304800" lvl="1" marL="914400" rtl="0" algn="l">
              <a:spcBef>
                <a:spcPts val="0"/>
              </a:spcBef>
              <a:spcAft>
                <a:spcPts val="0"/>
              </a:spcAft>
              <a:buSzPts val="1200"/>
              <a:buChar char="○"/>
            </a:pPr>
            <a:r>
              <a:rPr i="1" lang="en"/>
              <a:t>X</a:t>
            </a:r>
            <a:r>
              <a:rPr lang="en"/>
              <a:t>: covariates, </a:t>
            </a:r>
            <a:r>
              <a:rPr i="1" lang="en"/>
              <a:t>Y</a:t>
            </a:r>
            <a:r>
              <a:rPr lang="en"/>
              <a:t>: outcome, </a:t>
            </a:r>
            <a:r>
              <a:rPr i="1" lang="en"/>
              <a:t>T</a:t>
            </a:r>
            <a:r>
              <a:rPr lang="en"/>
              <a:t>:treatment, </a:t>
            </a:r>
            <a:r>
              <a:rPr i="1" lang="en"/>
              <a:t>C</a:t>
            </a:r>
            <a:r>
              <a:rPr lang="en"/>
              <a:t>: confounders,  </a:t>
            </a:r>
            <a:r>
              <a:rPr i="1" lang="en"/>
              <a:t>I</a:t>
            </a:r>
            <a:r>
              <a:rPr lang="en"/>
              <a:t>: instrumental variable</a:t>
            </a:r>
            <a:endParaRPr/>
          </a:p>
          <a:p>
            <a:pPr indent="-304800" lvl="1" marL="914400" rtl="0" algn="l">
              <a:spcBef>
                <a:spcPts val="0"/>
              </a:spcBef>
              <a:spcAft>
                <a:spcPts val="0"/>
              </a:spcAft>
              <a:buSzPts val="1200"/>
              <a:buChar char="○"/>
            </a:pPr>
            <a:r>
              <a:rPr i="1" lang="en"/>
              <a:t>U_t</a:t>
            </a:r>
            <a:r>
              <a:rPr lang="en"/>
              <a:t> : exogenous variable of </a:t>
            </a:r>
            <a:r>
              <a:rPr i="1" lang="en"/>
              <a:t>T, U_i</a:t>
            </a:r>
            <a:r>
              <a:rPr lang="en"/>
              <a:t>:</a:t>
            </a:r>
            <a:r>
              <a:rPr i="1" lang="en"/>
              <a:t> </a:t>
            </a:r>
            <a:r>
              <a:rPr lang="en"/>
              <a:t> exogenous variable of </a:t>
            </a:r>
            <a:r>
              <a:rPr i="1" lang="en"/>
              <a:t>Y</a:t>
            </a:r>
            <a:endParaRPr/>
          </a:p>
          <a:p>
            <a:pPr indent="-304800" lvl="0" marL="457200" rtl="0" algn="l">
              <a:spcBef>
                <a:spcPts val="0"/>
              </a:spcBef>
              <a:spcAft>
                <a:spcPts val="0"/>
              </a:spcAft>
              <a:buSzPts val="1200"/>
              <a:buChar char="●"/>
            </a:pPr>
            <a:r>
              <a:rPr lang="en"/>
              <a:t>Data form: </a:t>
            </a:r>
            <a:endParaRPr/>
          </a:p>
          <a:p>
            <a:pPr indent="-304800" lvl="1" marL="914400" rtl="0" algn="l">
              <a:spcBef>
                <a:spcPts val="0"/>
              </a:spcBef>
              <a:spcAft>
                <a:spcPts val="0"/>
              </a:spcAft>
              <a:buSzPts val="1200"/>
              <a:buChar char="○"/>
            </a:pPr>
            <a:r>
              <a:rPr b="1" lang="en"/>
              <a:t>observation</a:t>
            </a:r>
            <a:r>
              <a:rPr lang="en"/>
              <a:t> data: passive collection without any intervention</a:t>
            </a:r>
            <a:endParaRPr/>
          </a:p>
          <a:p>
            <a:pPr indent="-304800" lvl="1" marL="914400" rtl="0" algn="l">
              <a:spcBef>
                <a:spcPts val="0"/>
              </a:spcBef>
              <a:spcAft>
                <a:spcPts val="0"/>
              </a:spcAft>
              <a:buSzPts val="1200"/>
              <a:buChar char="○"/>
            </a:pPr>
            <a:r>
              <a:rPr b="1" lang="en"/>
              <a:t>intervention</a:t>
            </a:r>
            <a:r>
              <a:rPr lang="en"/>
              <a:t> data: changing the value or </a:t>
            </a:r>
            <a:br>
              <a:rPr lang="en"/>
            </a:br>
            <a:r>
              <a:rPr lang="en"/>
              <a:t>distribution of a few variables,  </a:t>
            </a:r>
            <a:br>
              <a:rPr lang="en"/>
            </a:br>
            <a:r>
              <a:rPr lang="en"/>
              <a:t>calculate </a:t>
            </a:r>
            <a:r>
              <a:rPr lang="en">
                <a:solidFill>
                  <a:schemeClr val="accent5"/>
                </a:solidFill>
              </a:rPr>
              <a:t>average treatment effect (ATE) </a:t>
            </a:r>
            <a:endParaRPr>
              <a:solidFill>
                <a:schemeClr val="accent5"/>
              </a:solidFill>
            </a:endParaRPr>
          </a:p>
          <a:p>
            <a:pPr indent="0" lvl="0" marL="914400" rtl="0" algn="l">
              <a:spcBef>
                <a:spcPts val="0"/>
              </a:spcBef>
              <a:spcAft>
                <a:spcPts val="0"/>
              </a:spcAft>
              <a:buNone/>
            </a:pPr>
            <a:r>
              <a:rPr b="1" lang="en"/>
              <a:t>counterfactual</a:t>
            </a:r>
            <a:r>
              <a:rPr lang="en"/>
              <a:t> data:  </a:t>
            </a:r>
            <a:endParaRPr/>
          </a:p>
          <a:p>
            <a:pPr indent="-304800" lvl="1" marL="914400" rtl="0" algn="l">
              <a:spcBef>
                <a:spcPts val="0"/>
              </a:spcBef>
              <a:spcAft>
                <a:spcPts val="0"/>
              </a:spcAft>
              <a:buSzPts val="1200"/>
              <a:buChar char="○"/>
            </a:pPr>
            <a:r>
              <a:rPr lang="en">
                <a:solidFill>
                  <a:schemeClr val="accent5"/>
                </a:solidFill>
              </a:rPr>
              <a:t>individual treatment effects (ITE) </a:t>
            </a:r>
            <a:br>
              <a:rPr lang="en">
                <a:solidFill>
                  <a:schemeClr val="accent5"/>
                </a:solidFill>
              </a:rPr>
            </a:br>
            <a:r>
              <a:rPr lang="en"/>
              <a:t>can be calculated with the help </a:t>
            </a:r>
            <a:br>
              <a:rPr lang="en"/>
            </a:br>
            <a:r>
              <a:rPr lang="en"/>
              <a:t>of counterfactual theory</a:t>
            </a:r>
            <a:endParaRPr/>
          </a:p>
          <a:p>
            <a:pPr indent="0" lvl="0" marL="0" rtl="0" algn="l">
              <a:spcBef>
                <a:spcPts val="0"/>
              </a:spcBef>
              <a:spcAft>
                <a:spcPts val="0"/>
              </a:spcAft>
              <a:buNone/>
            </a:pPr>
            <a:r>
              <a:t/>
            </a:r>
            <a:endParaRPr/>
          </a:p>
        </p:txBody>
      </p:sp>
      <p:sp>
        <p:nvSpPr>
          <p:cNvPr id="454" name="Google Shape;454;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pic>
        <p:nvPicPr>
          <p:cNvPr id="455" name="Google Shape;455;p56"/>
          <p:cNvPicPr preferRelativeResize="0"/>
          <p:nvPr/>
        </p:nvPicPr>
        <p:blipFill>
          <a:blip r:embed="rId3">
            <a:alphaModFix/>
          </a:blip>
          <a:stretch>
            <a:fillRect/>
          </a:stretch>
        </p:blipFill>
        <p:spPr>
          <a:xfrm>
            <a:off x="2054025" y="1065300"/>
            <a:ext cx="1303900" cy="223050"/>
          </a:xfrm>
          <a:prstGeom prst="rect">
            <a:avLst/>
          </a:prstGeom>
          <a:noFill/>
          <a:ln>
            <a:noFill/>
          </a:ln>
        </p:spPr>
      </p:pic>
      <p:pic>
        <p:nvPicPr>
          <p:cNvPr id="456" name="Google Shape;456;p56"/>
          <p:cNvPicPr preferRelativeResize="0"/>
          <p:nvPr/>
        </p:nvPicPr>
        <p:blipFill>
          <a:blip r:embed="rId4">
            <a:alphaModFix/>
          </a:blip>
          <a:stretch>
            <a:fillRect/>
          </a:stretch>
        </p:blipFill>
        <p:spPr>
          <a:xfrm>
            <a:off x="5145275" y="3210575"/>
            <a:ext cx="3736176" cy="1539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7"/>
          <p:cNvSpPr txBox="1"/>
          <p:nvPr>
            <p:ph idx="1" type="body"/>
          </p:nvPr>
        </p:nvSpPr>
        <p:spPr>
          <a:xfrm>
            <a:off x="713225" y="1152475"/>
            <a:ext cx="79227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solidFill>
                  <a:schemeClr val="accent6"/>
                </a:solidFill>
              </a:rPr>
              <a:t>C</a:t>
            </a:r>
            <a:r>
              <a:rPr b="1" lang="en">
                <a:solidFill>
                  <a:schemeClr val="accent6"/>
                </a:solidFill>
              </a:rPr>
              <a:t>ausal inference</a:t>
            </a:r>
            <a:endParaRPr b="1">
              <a:solidFill>
                <a:schemeClr val="accent6"/>
              </a:solidFill>
            </a:endParaRPr>
          </a:p>
          <a:p>
            <a:pPr indent="-304800" lvl="1" marL="914400" rtl="0" algn="l">
              <a:spcBef>
                <a:spcPts val="0"/>
              </a:spcBef>
              <a:spcAft>
                <a:spcPts val="0"/>
              </a:spcAft>
              <a:buSzPts val="1200"/>
              <a:buChar char="○"/>
            </a:pPr>
            <a:r>
              <a:rPr lang="en"/>
              <a:t>Back-door adjustment</a:t>
            </a:r>
            <a:endParaRPr/>
          </a:p>
          <a:p>
            <a:pPr indent="-304800" lvl="1" marL="914400" rtl="0" algn="l">
              <a:spcBef>
                <a:spcPts val="0"/>
              </a:spcBef>
              <a:spcAft>
                <a:spcPts val="0"/>
              </a:spcAft>
              <a:buSzPts val="1200"/>
              <a:buChar char="○"/>
            </a:pPr>
            <a:r>
              <a:rPr lang="en"/>
              <a:t>Front-door adjustment</a:t>
            </a:r>
            <a:endParaRPr/>
          </a:p>
          <a:p>
            <a:pPr indent="-304800" lvl="0" marL="457200" rtl="0" algn="l">
              <a:spcBef>
                <a:spcPts val="0"/>
              </a:spcBef>
              <a:spcAft>
                <a:spcPts val="0"/>
              </a:spcAft>
              <a:buSzPts val="1200"/>
              <a:buChar char="●"/>
            </a:pPr>
            <a:r>
              <a:rPr b="1" lang="en">
                <a:solidFill>
                  <a:schemeClr val="accent6"/>
                </a:solidFill>
              </a:rPr>
              <a:t>Causal Discovery</a:t>
            </a:r>
            <a:r>
              <a:rPr lang="en"/>
              <a:t>:</a:t>
            </a:r>
            <a:endParaRPr/>
          </a:p>
          <a:p>
            <a:pPr indent="-304800" lvl="1" marL="914400" rtl="0" algn="l">
              <a:spcBef>
                <a:spcPts val="0"/>
              </a:spcBef>
              <a:spcAft>
                <a:spcPts val="0"/>
              </a:spcAft>
              <a:buSzPts val="1200"/>
              <a:buChar char="○"/>
            </a:pPr>
            <a:r>
              <a:rPr lang="en"/>
              <a:t>Constraint-based methods: 通過分析數據中的條件獨立性來推斷因果圖。ex: PC, FCI</a:t>
            </a:r>
            <a:endParaRPr/>
          </a:p>
          <a:p>
            <a:pPr indent="-304800" lvl="1" marL="914400" rtl="0" algn="l">
              <a:spcBef>
                <a:spcPts val="0"/>
              </a:spcBef>
              <a:spcAft>
                <a:spcPts val="0"/>
              </a:spcAft>
              <a:buSzPts val="1200"/>
              <a:buChar char="○"/>
            </a:pPr>
            <a:r>
              <a:rPr lang="en"/>
              <a:t>Score-based methods: 網絡結構的某種形式的評分函數 ex: GES</a:t>
            </a:r>
            <a:endParaRPr/>
          </a:p>
          <a:p>
            <a:pPr indent="-304800" lvl="1" marL="914400" rtl="0" algn="l">
              <a:spcBef>
                <a:spcPts val="0"/>
              </a:spcBef>
              <a:spcAft>
                <a:spcPts val="0"/>
              </a:spcAft>
              <a:buSzPts val="1200"/>
              <a:buChar char="○"/>
            </a:pPr>
            <a:r>
              <a:rPr lang="en"/>
              <a:t>Function-based method: 需要假設變量之間的數據生成機制，通過殘差的不對稱性來判斷因果方向。</a:t>
            </a:r>
            <a:endParaRPr/>
          </a:p>
        </p:txBody>
      </p:sp>
      <p:sp>
        <p:nvSpPr>
          <p:cNvPr id="462" name="Google Shape;462;p5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Causal Model</a:t>
            </a:r>
            <a:endParaRPr/>
          </a:p>
        </p:txBody>
      </p:sp>
      <p:sp>
        <p:nvSpPr>
          <p:cNvPr id="463" name="Google Shape;463;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8"/>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Definition: </a:t>
            </a:r>
            <a:endParaRPr/>
          </a:p>
          <a:p>
            <a:pPr indent="-304800" lvl="1" marL="914400" rtl="0" algn="l">
              <a:spcBef>
                <a:spcPts val="0"/>
              </a:spcBef>
              <a:spcAft>
                <a:spcPts val="0"/>
              </a:spcAft>
              <a:buSzPts val="1200"/>
              <a:buChar char="○"/>
            </a:pPr>
            <a:r>
              <a:rPr i="1" lang="en"/>
              <a:t>X</a:t>
            </a:r>
            <a:r>
              <a:rPr lang="en"/>
              <a:t>: other covariates, </a:t>
            </a:r>
            <a:r>
              <a:rPr i="1" lang="en"/>
              <a:t>Y</a:t>
            </a:r>
            <a:r>
              <a:rPr lang="en"/>
              <a:t>: outcome, </a:t>
            </a:r>
            <a:r>
              <a:rPr i="1" lang="en"/>
              <a:t>T</a:t>
            </a:r>
            <a:r>
              <a:rPr lang="en"/>
              <a:t>: observed treatment,  </a:t>
            </a:r>
            <a:r>
              <a:rPr i="1" lang="en"/>
              <a:t>I</a:t>
            </a:r>
            <a:r>
              <a:rPr lang="en"/>
              <a:t>: specific individual, </a:t>
            </a:r>
            <a:r>
              <a:rPr i="1" lang="en"/>
              <a:t>N</a:t>
            </a:r>
            <a:r>
              <a:rPr lang="en"/>
              <a:t>: nums of sample</a:t>
            </a:r>
            <a:endParaRPr i="1"/>
          </a:p>
          <a:p>
            <a:pPr indent="-304800" lvl="1" marL="914400" rtl="0" algn="l">
              <a:spcBef>
                <a:spcPts val="0"/>
              </a:spcBef>
              <a:spcAft>
                <a:spcPts val="0"/>
              </a:spcAft>
              <a:buSzPts val="1200"/>
              <a:buChar char="○"/>
            </a:pPr>
            <a:r>
              <a:rPr i="1" lang="en"/>
              <a:t>Y(0)</a:t>
            </a:r>
            <a:r>
              <a:rPr lang="en"/>
              <a:t> : potential outcome under no treatment, </a:t>
            </a:r>
            <a:r>
              <a:rPr i="1" lang="en"/>
              <a:t>Y(1)</a:t>
            </a:r>
            <a:r>
              <a:rPr lang="en"/>
              <a:t> : potential outcome under treatment</a:t>
            </a:r>
            <a:endParaRPr/>
          </a:p>
          <a:p>
            <a:pPr indent="-304800" lvl="1" marL="914400" rtl="0" algn="l">
              <a:spcBef>
                <a:spcPts val="0"/>
              </a:spcBef>
              <a:spcAft>
                <a:spcPts val="0"/>
              </a:spcAft>
              <a:buSzPts val="1200"/>
              <a:buChar char="○"/>
            </a:pPr>
            <a:r>
              <a:rPr lang="en"/>
              <a:t>In the real world, we can only observe one of these outcomes, denoted as</a:t>
            </a:r>
            <a:br>
              <a:rPr lang="en"/>
            </a:br>
            <a:br>
              <a:rPr lang="en"/>
            </a:br>
            <a:br>
              <a:rPr lang="en"/>
            </a:br>
            <a:br>
              <a:rPr lang="en"/>
            </a:br>
            <a:br>
              <a:rPr lang="en"/>
            </a:br>
            <a:br>
              <a:rPr lang="en"/>
            </a:br>
            <a:br>
              <a:rPr lang="en"/>
            </a:br>
            <a:endParaRPr/>
          </a:p>
          <a:p>
            <a:pPr indent="-304800" lvl="0" marL="457200" rtl="0" algn="l">
              <a:spcBef>
                <a:spcPts val="0"/>
              </a:spcBef>
              <a:spcAft>
                <a:spcPts val="0"/>
              </a:spcAft>
              <a:buSzPts val="1200"/>
              <a:buChar char="●"/>
            </a:pPr>
            <a:r>
              <a:rPr lang="en"/>
              <a:t>Assumption:  </a:t>
            </a:r>
            <a:endParaRPr/>
          </a:p>
          <a:p>
            <a:pPr indent="-304800" lvl="1" marL="914400" rtl="0" algn="l">
              <a:spcBef>
                <a:spcPts val="0"/>
              </a:spcBef>
              <a:spcAft>
                <a:spcPts val="0"/>
              </a:spcAft>
              <a:buSzPts val="1200"/>
              <a:buChar char="○"/>
            </a:pPr>
            <a:r>
              <a:rPr lang="en"/>
              <a:t>Stable unit treatment value assumption</a:t>
            </a:r>
            <a:endParaRPr/>
          </a:p>
          <a:p>
            <a:pPr indent="-304800" lvl="1" marL="914400" rtl="0" algn="l">
              <a:spcBef>
                <a:spcPts val="0"/>
              </a:spcBef>
              <a:spcAft>
                <a:spcPts val="0"/>
              </a:spcAft>
              <a:buSzPts val="1200"/>
              <a:buChar char="○"/>
            </a:pPr>
            <a:r>
              <a:rPr lang="en"/>
              <a:t>Unconfoundedness</a:t>
            </a:r>
            <a:endParaRPr/>
          </a:p>
          <a:p>
            <a:pPr indent="-304800" lvl="1" marL="914400" rtl="0" algn="l">
              <a:spcBef>
                <a:spcPts val="0"/>
              </a:spcBef>
              <a:spcAft>
                <a:spcPts val="0"/>
              </a:spcAft>
              <a:buSzPts val="1200"/>
              <a:buChar char="○"/>
            </a:pPr>
            <a:r>
              <a:rPr lang="en"/>
              <a:t>Positivity</a:t>
            </a:r>
            <a:endParaRPr/>
          </a:p>
        </p:txBody>
      </p:sp>
      <p:sp>
        <p:nvSpPr>
          <p:cNvPr id="469" name="Google Shape;469;p58"/>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Potential Outcome model</a:t>
            </a:r>
            <a:endParaRPr/>
          </a:p>
        </p:txBody>
      </p:sp>
      <p:sp>
        <p:nvSpPr>
          <p:cNvPr id="470" name="Google Shape;470;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71" name="Google Shape;471;p58"/>
          <p:cNvPicPr preferRelativeResize="0"/>
          <p:nvPr/>
        </p:nvPicPr>
        <p:blipFill>
          <a:blip r:embed="rId3">
            <a:alphaModFix/>
          </a:blip>
          <a:stretch>
            <a:fillRect/>
          </a:stretch>
        </p:blipFill>
        <p:spPr>
          <a:xfrm>
            <a:off x="6728775" y="1870699"/>
            <a:ext cx="200650" cy="213375"/>
          </a:xfrm>
          <a:prstGeom prst="rect">
            <a:avLst/>
          </a:prstGeom>
          <a:noFill/>
          <a:ln>
            <a:noFill/>
          </a:ln>
        </p:spPr>
      </p:pic>
      <p:pic>
        <p:nvPicPr>
          <p:cNvPr id="472" name="Google Shape;472;p58"/>
          <p:cNvPicPr preferRelativeResize="0"/>
          <p:nvPr/>
        </p:nvPicPr>
        <p:blipFill>
          <a:blip r:embed="rId4">
            <a:alphaModFix/>
          </a:blip>
          <a:stretch>
            <a:fillRect/>
          </a:stretch>
        </p:blipFill>
        <p:spPr>
          <a:xfrm>
            <a:off x="1990075" y="1191800"/>
            <a:ext cx="723622" cy="269825"/>
          </a:xfrm>
          <a:prstGeom prst="rect">
            <a:avLst/>
          </a:prstGeom>
          <a:noFill/>
          <a:ln>
            <a:noFill/>
          </a:ln>
        </p:spPr>
      </p:pic>
      <p:pic>
        <p:nvPicPr>
          <p:cNvPr id="473" name="Google Shape;473;p58"/>
          <p:cNvPicPr preferRelativeResize="0"/>
          <p:nvPr/>
        </p:nvPicPr>
        <p:blipFill>
          <a:blip r:embed="rId5">
            <a:alphaModFix/>
          </a:blip>
          <a:stretch>
            <a:fillRect/>
          </a:stretch>
        </p:blipFill>
        <p:spPr>
          <a:xfrm>
            <a:off x="1722949" y="2181937"/>
            <a:ext cx="3547551" cy="13574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solidFill>
                  <a:schemeClr val="accent6"/>
                </a:solidFill>
              </a:rPr>
              <a:t>Causal Inference</a:t>
            </a:r>
            <a:r>
              <a:rPr lang="en"/>
              <a:t>:</a:t>
            </a:r>
            <a:endParaRPr/>
          </a:p>
          <a:p>
            <a:pPr indent="-304800" lvl="1" marL="914400" rtl="0" algn="l">
              <a:spcBef>
                <a:spcPts val="0"/>
              </a:spcBef>
              <a:spcAft>
                <a:spcPts val="0"/>
              </a:spcAft>
              <a:buSzPts val="1200"/>
              <a:buChar char="○"/>
            </a:pPr>
            <a:r>
              <a:rPr b="1" lang="en"/>
              <a:t>Match</a:t>
            </a:r>
            <a:r>
              <a:rPr lang="en"/>
              <a:t>:  匹配是從治療組和對照組中選擇個體，並不斷選擇最相似的兩個個體組成一對。Outcomes from matched samples can be approximated as counterfactual for each other</a:t>
            </a:r>
            <a:endParaRPr/>
          </a:p>
          <a:p>
            <a:pPr indent="-304800" lvl="1" marL="914400" rtl="0" algn="l">
              <a:spcBef>
                <a:spcPts val="0"/>
              </a:spcBef>
              <a:spcAft>
                <a:spcPts val="0"/>
              </a:spcAft>
              <a:buSzPts val="1200"/>
              <a:buChar char="○"/>
            </a:pPr>
            <a:r>
              <a:rPr b="1" lang="en"/>
              <a:t>Propensity score matching</a:t>
            </a:r>
            <a:r>
              <a:rPr lang="en"/>
              <a:t>: </a:t>
            </a:r>
            <a:endParaRPr/>
          </a:p>
          <a:p>
            <a:pPr indent="-304800" lvl="1" marL="914400" rtl="0" algn="l">
              <a:spcBef>
                <a:spcPts val="0"/>
              </a:spcBef>
              <a:spcAft>
                <a:spcPts val="0"/>
              </a:spcAft>
              <a:buSzPts val="1200"/>
              <a:buChar char="○"/>
            </a:pPr>
            <a:r>
              <a:rPr b="1" lang="en"/>
              <a:t>Inverse of propensity weighting: </a:t>
            </a:r>
            <a:r>
              <a:rPr lang="en"/>
              <a:t>reweighting. </a:t>
            </a:r>
            <a:endParaRPr/>
          </a:p>
        </p:txBody>
      </p:sp>
      <p:sp>
        <p:nvSpPr>
          <p:cNvPr id="479" name="Google Shape;479;p59"/>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Potential Outcome model</a:t>
            </a:r>
            <a:endParaRPr/>
          </a:p>
          <a:p>
            <a:pPr indent="0" lvl="0" marL="0" rtl="0" algn="l">
              <a:spcBef>
                <a:spcPts val="0"/>
              </a:spcBef>
              <a:spcAft>
                <a:spcPts val="0"/>
              </a:spcAft>
              <a:buNone/>
            </a:pPr>
            <a:r>
              <a:t/>
            </a:r>
            <a:endParaRPr/>
          </a:p>
        </p:txBody>
      </p:sp>
      <p:sp>
        <p:nvSpPr>
          <p:cNvPr id="480" name="Google Shape;480;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0"/>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FMM(feed forward): </a:t>
            </a:r>
            <a:endParaRPr/>
          </a:p>
          <a:p>
            <a:pPr indent="-304800" lvl="1" marL="914400" rtl="0" algn="l">
              <a:spcBef>
                <a:spcPts val="0"/>
              </a:spcBef>
              <a:spcAft>
                <a:spcPts val="0"/>
              </a:spcAft>
              <a:buSzPts val="1200"/>
              <a:buChar char="○"/>
            </a:pPr>
            <a:r>
              <a:rPr lang="en"/>
              <a:t>deep representation learning for causal variables</a:t>
            </a:r>
            <a:endParaRPr/>
          </a:p>
          <a:p>
            <a:pPr indent="-304800" lvl="1" marL="914400" rtl="0" algn="l">
              <a:spcBef>
                <a:spcPts val="0"/>
              </a:spcBef>
              <a:spcAft>
                <a:spcPts val="0"/>
              </a:spcAft>
              <a:buSzPts val="1200"/>
              <a:buChar char="○"/>
            </a:pPr>
            <a:r>
              <a:rPr b="1" lang="en"/>
              <a:t>convert covariates</a:t>
            </a:r>
            <a:r>
              <a:rPr lang="en"/>
              <a:t> from original space to latent space and </a:t>
            </a:r>
            <a:endParaRPr/>
          </a:p>
          <a:p>
            <a:pPr indent="-304800" lvl="1" marL="914400" rtl="0" algn="l">
              <a:spcBef>
                <a:spcPts val="0"/>
              </a:spcBef>
              <a:spcAft>
                <a:spcPts val="0"/>
              </a:spcAft>
              <a:buSzPts val="1200"/>
              <a:buChar char="○"/>
            </a:pPr>
            <a:r>
              <a:rPr lang="en"/>
              <a:t>cooperate with regular terms to achieve </a:t>
            </a:r>
            <a:r>
              <a:rPr b="1" lang="en"/>
              <a:t>covariate balance</a:t>
            </a:r>
            <a:endParaRPr/>
          </a:p>
          <a:p>
            <a:pPr indent="-304800" lvl="0" marL="457200" rtl="0" algn="l">
              <a:spcBef>
                <a:spcPts val="0"/>
              </a:spcBef>
              <a:spcAft>
                <a:spcPts val="0"/>
              </a:spcAft>
              <a:buSzPts val="1200"/>
              <a:buChar char="●"/>
            </a:pPr>
            <a:r>
              <a:rPr b="1" lang="en"/>
              <a:t>GAN</a:t>
            </a:r>
            <a:r>
              <a:rPr lang="en"/>
              <a:t>:  </a:t>
            </a:r>
            <a:r>
              <a:rPr b="1" lang="en"/>
              <a:t>generate counterfactuals</a:t>
            </a:r>
            <a:r>
              <a:rPr lang="en"/>
              <a:t> to address the core problem of the lack of counterfactual data in causal inference, thus making it possible to estimate causal effects directly.</a:t>
            </a:r>
            <a:endParaRPr/>
          </a:p>
          <a:p>
            <a:pPr indent="-304800" lvl="0" marL="457200" rtl="0" algn="l">
              <a:spcBef>
                <a:spcPts val="0"/>
              </a:spcBef>
              <a:spcAft>
                <a:spcPts val="0"/>
              </a:spcAft>
              <a:buSzPts val="1200"/>
              <a:buChar char="●"/>
            </a:pPr>
            <a:r>
              <a:rPr b="1" lang="en"/>
              <a:t>VAE</a:t>
            </a:r>
            <a:r>
              <a:rPr lang="en"/>
              <a:t>: solve representation learning to </a:t>
            </a:r>
            <a:r>
              <a:rPr b="1" lang="en"/>
              <a:t>disentangle causal mechanisms</a:t>
            </a:r>
            <a:r>
              <a:rPr lang="en"/>
              <a:t> and </a:t>
            </a:r>
            <a:r>
              <a:rPr b="1" lang="en"/>
              <a:t>estimation problems</a:t>
            </a:r>
            <a:r>
              <a:rPr lang="en"/>
              <a:t> in the presence of unobserved confounders. </a:t>
            </a:r>
            <a:endParaRPr/>
          </a:p>
          <a:p>
            <a:pPr indent="-304800" lvl="0" marL="457200" rtl="0" algn="l">
              <a:spcBef>
                <a:spcPts val="0"/>
              </a:spcBef>
              <a:spcAft>
                <a:spcPts val="0"/>
              </a:spcAft>
              <a:buSzPts val="1200"/>
              <a:buChar char="●"/>
            </a:pPr>
            <a:r>
              <a:rPr b="1" lang="en"/>
              <a:t>RNN</a:t>
            </a:r>
            <a:r>
              <a:rPr lang="en"/>
              <a:t>: model sequential information and are used for causal discovery and causal inference problems in time series scenarios.</a:t>
            </a:r>
            <a:endParaRPr/>
          </a:p>
          <a:p>
            <a:pPr indent="-304800" lvl="0" marL="457200" rtl="0" algn="l">
              <a:spcBef>
                <a:spcPts val="0"/>
              </a:spcBef>
              <a:spcAft>
                <a:spcPts val="0"/>
              </a:spcAft>
              <a:buSzPts val="1200"/>
              <a:buChar char="●"/>
            </a:pPr>
            <a:r>
              <a:rPr b="1" lang="en"/>
              <a:t>GNN</a:t>
            </a:r>
            <a:r>
              <a:rPr lang="en"/>
              <a:t>: model relation information when individual relationships are network structures or to approximate structural causal models directly. The estimation of causal parameters and causal effects can be completed in the GNNs’ optimization process. </a:t>
            </a:r>
            <a:endParaRPr/>
          </a:p>
        </p:txBody>
      </p:sp>
      <p:sp>
        <p:nvSpPr>
          <p:cNvPr id="486" name="Google Shape;486;p60"/>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 Deep Neural Network </a:t>
            </a:r>
            <a:endParaRPr sz="2700"/>
          </a:p>
        </p:txBody>
      </p:sp>
      <p:sp>
        <p:nvSpPr>
          <p:cNvPr id="487" name="Google Shape;487;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1"/>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800"/>
              <a:t>DEEP REPRESENTATION LEARNING FOR CAUSAL VARIABLES </a:t>
            </a:r>
            <a:endParaRPr sz="1800"/>
          </a:p>
        </p:txBody>
      </p:sp>
      <p:sp>
        <p:nvSpPr>
          <p:cNvPr id="493" name="Google Shape;493;p61"/>
          <p:cNvSpPr txBox="1"/>
          <p:nvPr>
            <p:ph idx="1" type="subTitle"/>
          </p:nvPr>
        </p:nvSpPr>
        <p:spPr>
          <a:xfrm>
            <a:off x="3968275" y="3045375"/>
            <a:ext cx="4462500" cy="6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t/>
            </a:r>
            <a:endParaRPr>
              <a:solidFill>
                <a:schemeClr val="accent2"/>
              </a:solidFill>
            </a:endParaRPr>
          </a:p>
        </p:txBody>
      </p:sp>
      <p:sp>
        <p:nvSpPr>
          <p:cNvPr id="494" name="Google Shape;494;p61"/>
          <p:cNvSpPr txBox="1"/>
          <p:nvPr>
            <p:ph idx="2" type="title"/>
          </p:nvPr>
        </p:nvSpPr>
        <p:spPr>
          <a:xfrm>
            <a:off x="3968350" y="1262325"/>
            <a:ext cx="4462500" cy="11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7000">
                <a:solidFill>
                  <a:srgbClr val="6D9EEB"/>
                </a:solidFill>
              </a:rPr>
              <a:t>03</a:t>
            </a:r>
            <a:endParaRPr/>
          </a:p>
        </p:txBody>
      </p:sp>
      <p:sp>
        <p:nvSpPr>
          <p:cNvPr id="495" name="Google Shape;495;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2"/>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A</a:t>
            </a:r>
            <a:r>
              <a:rPr lang="en"/>
              <a:t>djusted through various forms of regularization and attempts to </a:t>
            </a:r>
            <a:r>
              <a:rPr b="1" lang="en">
                <a:solidFill>
                  <a:schemeClr val="accent6"/>
                </a:solidFill>
              </a:rPr>
              <a:t>balance covariates as much as possible</a:t>
            </a:r>
            <a:r>
              <a:rPr lang="en"/>
              <a:t>, while obtaining structured variable representations</a:t>
            </a:r>
            <a:endParaRPr/>
          </a:p>
          <a:p>
            <a:pPr indent="-304800" lvl="0" marL="457200" rtl="0" algn="l">
              <a:spcBef>
                <a:spcPts val="0"/>
              </a:spcBef>
              <a:spcAft>
                <a:spcPts val="0"/>
              </a:spcAft>
              <a:buSzPts val="1200"/>
              <a:buChar char="●"/>
            </a:pPr>
            <a:r>
              <a:rPr lang="en"/>
              <a:t>(1)  obtain the representation of the original covariates</a:t>
            </a:r>
            <a:endParaRPr/>
          </a:p>
          <a:p>
            <a:pPr indent="-304800" lvl="0" marL="457200" rtl="0" algn="l">
              <a:spcBef>
                <a:spcPts val="0"/>
              </a:spcBef>
              <a:spcAft>
                <a:spcPts val="0"/>
              </a:spcAft>
              <a:buSzPts val="1200"/>
              <a:buChar char="●"/>
            </a:pPr>
            <a:r>
              <a:rPr lang="en"/>
              <a:t>(2)  predict the potential outcome</a:t>
            </a:r>
            <a:endParaRPr/>
          </a:p>
          <a:p>
            <a:pPr indent="-304800" lvl="0" marL="457200" rtl="0" algn="l">
              <a:spcBef>
                <a:spcPts val="0"/>
              </a:spcBef>
              <a:spcAft>
                <a:spcPts val="0"/>
              </a:spcAft>
              <a:buSzPts val="1200"/>
              <a:buChar char="●"/>
            </a:pPr>
            <a:r>
              <a:rPr lang="en"/>
              <a:t>(3)  core of the regularization adjustment-based representation learning framework, represents the </a:t>
            </a:r>
            <a:r>
              <a:rPr b="1" lang="en"/>
              <a:t>difference in covariate distribution between the </a:t>
            </a:r>
            <a:br>
              <a:rPr b="1" lang="en"/>
            </a:br>
            <a:r>
              <a:rPr b="1" lang="en"/>
              <a:t>treatment and control groups.</a:t>
            </a:r>
            <a:r>
              <a:rPr lang="en"/>
              <a:t> Study started </a:t>
            </a:r>
            <a:br>
              <a:rPr lang="en"/>
            </a:br>
            <a:r>
              <a:rPr lang="en"/>
              <a:t>from the </a:t>
            </a:r>
            <a:r>
              <a:rPr b="1" lang="en"/>
              <a:t>perspective of covariate shift</a:t>
            </a:r>
            <a:r>
              <a:rPr lang="en"/>
              <a:t> or </a:t>
            </a:r>
            <a:r>
              <a:rPr b="1" lang="en"/>
              <a:t>domain</a:t>
            </a:r>
            <a:br>
              <a:rPr b="1" lang="en"/>
            </a:br>
            <a:r>
              <a:rPr b="1" lang="en"/>
              <a:t>adaptation </a:t>
            </a:r>
            <a:r>
              <a:rPr lang="en"/>
              <a:t>to design this regular term.</a:t>
            </a:r>
            <a:endParaRPr/>
          </a:p>
          <a:p>
            <a:pPr indent="-304800" lvl="0" marL="457200" rtl="0" algn="l">
              <a:spcBef>
                <a:spcPts val="0"/>
              </a:spcBef>
              <a:spcAft>
                <a:spcPts val="0"/>
              </a:spcAft>
              <a:buSzPts val="1200"/>
              <a:buChar char="●"/>
            </a:pPr>
            <a:r>
              <a:rPr lang="en"/>
              <a:t>(4) record the error between the predicted outcome </a:t>
            </a:r>
            <a:br>
              <a:rPr lang="en"/>
            </a:br>
            <a:r>
              <a:rPr i="1" lang="en"/>
              <a:t>Y_hat</a:t>
            </a:r>
            <a:r>
              <a:rPr lang="en"/>
              <a:t> and the actual outcome </a:t>
            </a:r>
            <a:r>
              <a:rPr i="1" lang="en"/>
              <a:t>Y</a:t>
            </a:r>
            <a:endParaRPr/>
          </a:p>
          <a:p>
            <a:pPr indent="-304800" lvl="0" marL="457200" rtl="0" algn="l">
              <a:spcBef>
                <a:spcPts val="0"/>
              </a:spcBef>
              <a:spcAft>
                <a:spcPts val="0"/>
              </a:spcAft>
              <a:buSzPts val="1200"/>
              <a:buChar char="●"/>
            </a:pPr>
            <a:r>
              <a:rPr lang="en"/>
              <a:t>(5) optimizes prediction error and distribution error</a:t>
            </a:r>
            <a:endParaRPr/>
          </a:p>
          <a:p>
            <a:pPr indent="-304800" lvl="0" marL="457200" rtl="0" algn="l">
              <a:spcBef>
                <a:spcPts val="0"/>
              </a:spcBef>
              <a:spcAft>
                <a:spcPts val="0"/>
              </a:spcAft>
              <a:buSzPts val="1200"/>
              <a:buChar char="●"/>
            </a:pPr>
            <a:r>
              <a:rPr lang="en"/>
              <a:t>the </a:t>
            </a:r>
            <a:r>
              <a:rPr b="1" lang="en"/>
              <a:t>propensity scores</a:t>
            </a:r>
            <a:r>
              <a:rPr lang="en"/>
              <a:t> can also be used to enable </a:t>
            </a:r>
            <a:br>
              <a:rPr lang="en"/>
            </a:br>
            <a:r>
              <a:rPr lang="en"/>
              <a:t>the representation network to learn balanced feat-</a:t>
            </a:r>
            <a:endParaRPr/>
          </a:p>
        </p:txBody>
      </p:sp>
      <p:sp>
        <p:nvSpPr>
          <p:cNvPr id="501" name="Google Shape;501;p62"/>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Regularization Adjustment for Covariate Balance</a:t>
            </a:r>
            <a:endParaRPr sz="2100"/>
          </a:p>
        </p:txBody>
      </p:sp>
      <p:sp>
        <p:nvSpPr>
          <p:cNvPr id="502" name="Google Shape;502;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03" name="Google Shape;503;p62"/>
          <p:cNvPicPr preferRelativeResize="0"/>
          <p:nvPr/>
        </p:nvPicPr>
        <p:blipFill>
          <a:blip r:embed="rId3">
            <a:alphaModFix/>
          </a:blip>
          <a:stretch>
            <a:fillRect/>
          </a:stretch>
        </p:blipFill>
        <p:spPr>
          <a:xfrm>
            <a:off x="4770250" y="2370225"/>
            <a:ext cx="4411425" cy="24519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3"/>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solidFill>
                  <a:schemeClr val="accent6"/>
                </a:solidFill>
              </a:rPr>
              <a:t>Dargon</a:t>
            </a:r>
            <a:r>
              <a:rPr lang="en"/>
              <a:t>: in which the standard feedforward neural network is used to </a:t>
            </a:r>
            <a:r>
              <a:rPr b="1" lang="en"/>
              <a:t>predict the probability of each sample receiving treatment</a:t>
            </a:r>
            <a:r>
              <a:rPr lang="en"/>
              <a:t> and the </a:t>
            </a:r>
            <a:r>
              <a:rPr b="1" lang="en"/>
              <a:t>representation is obtained from the hidden layer.</a:t>
            </a:r>
            <a:r>
              <a:rPr lang="en"/>
              <a:t> Such representations do not contain treatment-independent variables and can be used to predict outcomes.</a:t>
            </a:r>
            <a:endParaRPr/>
          </a:p>
          <a:p>
            <a:pPr indent="-304800" lvl="0" marL="457200" rtl="0" algn="l">
              <a:spcBef>
                <a:spcPts val="0"/>
              </a:spcBef>
              <a:spcAft>
                <a:spcPts val="0"/>
              </a:spcAft>
              <a:buSzPts val="1200"/>
              <a:buChar char="●"/>
            </a:pPr>
            <a:r>
              <a:rPr lang="en"/>
              <a:t>However, the balance of covariates helps to eliminate selection bias, but paying too much attention to the balance will </a:t>
            </a:r>
            <a:r>
              <a:rPr lang="en" u="sng"/>
              <a:t>affect the counterfactual prediction performance.</a:t>
            </a:r>
            <a:r>
              <a:rPr lang="en"/>
              <a:t> While maintaining global balance</a:t>
            </a:r>
            <a:endParaRPr/>
          </a:p>
          <a:p>
            <a:pPr indent="-304800" lvl="0" marL="457200" rtl="0" algn="l">
              <a:spcBef>
                <a:spcPts val="0"/>
              </a:spcBef>
              <a:spcAft>
                <a:spcPts val="0"/>
              </a:spcAft>
              <a:buSzPts val="1200"/>
              <a:buChar char="●"/>
            </a:pPr>
            <a:r>
              <a:rPr b="1" lang="en">
                <a:solidFill>
                  <a:schemeClr val="accent6"/>
                </a:solidFill>
              </a:rPr>
              <a:t>SITE</a:t>
            </a:r>
            <a:r>
              <a:rPr lang="en"/>
              <a:t>: maintaining </a:t>
            </a:r>
            <a:r>
              <a:rPr b="1" lang="en"/>
              <a:t>local similarity</a:t>
            </a:r>
            <a:r>
              <a:rPr lang="en"/>
              <a:t> can help improve prediction accuracy. This method achieves global balance and local similarity and maintains certain predictive abilities while reducing selection bias. </a:t>
            </a:r>
            <a:endParaRPr/>
          </a:p>
          <a:p>
            <a:pPr indent="0" lvl="0" marL="0" rtl="0" algn="l">
              <a:spcBef>
                <a:spcPts val="1600"/>
              </a:spcBef>
              <a:spcAft>
                <a:spcPts val="1600"/>
              </a:spcAft>
              <a:buNone/>
            </a:pPr>
            <a:r>
              <a:t/>
            </a:r>
            <a:endParaRPr/>
          </a:p>
        </p:txBody>
      </p:sp>
      <p:sp>
        <p:nvSpPr>
          <p:cNvPr id="509" name="Google Shape;509;p63"/>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Regularization Adjustment for Covariate Balance</a:t>
            </a:r>
            <a:endParaRPr/>
          </a:p>
        </p:txBody>
      </p:sp>
      <p:sp>
        <p:nvSpPr>
          <p:cNvPr id="510" name="Google Shape;510;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4"/>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Implicit generation models do not directly model the probability density and likelihood functions [82]. Instead, they interact with training data to make the distribution of the data generated by the model close to the true distribution.</a:t>
            </a:r>
            <a:endParaRPr/>
          </a:p>
          <a:p>
            <a:pPr indent="-304800" lvl="0" marL="457200" rtl="0" algn="l">
              <a:spcBef>
                <a:spcPts val="0"/>
              </a:spcBef>
              <a:spcAft>
                <a:spcPts val="0"/>
              </a:spcAft>
              <a:buSzPts val="1200"/>
              <a:buChar char="●"/>
            </a:pPr>
            <a:r>
              <a:rPr lang="en"/>
              <a:t>原因: 當 covariates 較多且關係特別複雜時，基於 weighting 或 balance 的方法往往效果不佳(由於</a:t>
            </a:r>
            <a:r>
              <a:rPr lang="en"/>
              <a:t>covariates </a:t>
            </a:r>
            <a:r>
              <a:rPr lang="en"/>
              <a:t>之間的關係複雜，樣本數量有限，神經網絡得到的特徵表示不合理) 因此 implicit generation 以解決這個問題</a:t>
            </a:r>
            <a:endParaRPr/>
          </a:p>
          <a:p>
            <a:pPr indent="-304800" lvl="0" marL="457200" rtl="0" algn="l">
              <a:spcBef>
                <a:spcPts val="0"/>
              </a:spcBef>
              <a:spcAft>
                <a:spcPts val="0"/>
              </a:spcAft>
              <a:buSzPts val="1200"/>
              <a:buChar char="●"/>
            </a:pPr>
            <a:r>
              <a:rPr lang="en"/>
              <a:t>和 regularization 不同的是， implicit generation 可以  </a:t>
            </a:r>
            <a:r>
              <a:rPr b="1" lang="en"/>
              <a:t>it minimizes imbalance metrics</a:t>
            </a:r>
            <a:r>
              <a:rPr lang="en"/>
              <a:t>。 基於 </a:t>
            </a:r>
            <a:r>
              <a:rPr lang="en"/>
              <a:t>implicit generation </a:t>
            </a:r>
            <a:r>
              <a:rPr lang="en"/>
              <a:t>的 representation learning 消除了 selected bias，並且直接生成反事實數據，因為 dioscriminator 無法將接收到的樣本與處理組（T = 1）或控制組（T = 0）區分開來</a:t>
            </a:r>
            <a:endParaRPr/>
          </a:p>
          <a:p>
            <a:pPr indent="-304800" lvl="0" marL="457200" rtl="0" algn="l">
              <a:spcBef>
                <a:spcPts val="0"/>
              </a:spcBef>
              <a:spcAft>
                <a:spcPts val="0"/>
              </a:spcAft>
              <a:buSzPts val="1200"/>
              <a:buChar char="●"/>
            </a:pPr>
            <a:r>
              <a:rPr b="1" lang="en">
                <a:solidFill>
                  <a:schemeClr val="accent6"/>
                </a:solidFill>
              </a:rPr>
              <a:t>GAN</a:t>
            </a:r>
            <a:r>
              <a:rPr lang="en"/>
              <a:t>: </a:t>
            </a:r>
            <a:endParaRPr/>
          </a:p>
          <a:p>
            <a:pPr indent="-304800" lvl="1" marL="914400" rtl="0" algn="l">
              <a:spcBef>
                <a:spcPts val="0"/>
              </a:spcBef>
              <a:spcAft>
                <a:spcPts val="0"/>
              </a:spcAft>
              <a:buSzPts val="1200"/>
              <a:buChar char="○"/>
            </a:pPr>
            <a:r>
              <a:rPr lang="en"/>
              <a:t>generator- sample from the noise directly,discriminator-learn the distance between the generated data distribution and real data distribution.</a:t>
            </a:r>
            <a:endParaRPr/>
          </a:p>
          <a:p>
            <a:pPr indent="-304800" lvl="1" marL="914400" rtl="0" algn="l">
              <a:spcBef>
                <a:spcPts val="0"/>
              </a:spcBef>
              <a:spcAft>
                <a:spcPts val="0"/>
              </a:spcAft>
              <a:buSzPts val="1200"/>
              <a:buChar char="○"/>
            </a:pPr>
            <a:r>
              <a:t/>
            </a:r>
            <a:endParaRPr/>
          </a:p>
        </p:txBody>
      </p:sp>
      <p:sp>
        <p:nvSpPr>
          <p:cNvPr id="516" name="Google Shape;516;p6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Implicit Generation of Counterfactual Data</a:t>
            </a:r>
            <a:endParaRPr sz="2100"/>
          </a:p>
        </p:txBody>
      </p:sp>
      <p:sp>
        <p:nvSpPr>
          <p:cNvPr id="517" name="Google Shape;517;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18" name="Google Shape;518;p64"/>
          <p:cNvPicPr preferRelativeResize="0"/>
          <p:nvPr/>
        </p:nvPicPr>
        <p:blipFill>
          <a:blip r:embed="rId3">
            <a:alphaModFix/>
          </a:blip>
          <a:stretch>
            <a:fillRect/>
          </a:stretch>
        </p:blipFill>
        <p:spPr>
          <a:xfrm>
            <a:off x="2162875" y="3791275"/>
            <a:ext cx="3660700" cy="1016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5"/>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solidFill>
                  <a:schemeClr val="accent6"/>
                </a:solidFill>
              </a:rPr>
              <a:t>GAN</a:t>
            </a:r>
            <a:r>
              <a:rPr b="1" lang="en"/>
              <a:t>:</a:t>
            </a:r>
            <a:endParaRPr b="1"/>
          </a:p>
          <a:p>
            <a:pPr indent="-304800" lvl="1" marL="914400" rtl="0" algn="l">
              <a:spcBef>
                <a:spcPts val="0"/>
              </a:spcBef>
              <a:spcAft>
                <a:spcPts val="0"/>
              </a:spcAft>
              <a:buSzPts val="1200"/>
              <a:buChar char="○"/>
            </a:pPr>
            <a:r>
              <a:rPr i="1" lang="en"/>
              <a:t>G</a:t>
            </a:r>
            <a:r>
              <a:rPr lang="en"/>
              <a:t>: potential outcome generation, </a:t>
            </a:r>
            <a:r>
              <a:rPr i="1" lang="en"/>
              <a:t>D</a:t>
            </a:r>
            <a:r>
              <a:rPr lang="en"/>
              <a:t>: potential outcome discriminator.</a:t>
            </a:r>
            <a:endParaRPr/>
          </a:p>
          <a:p>
            <a:pPr indent="-304800" lvl="1" marL="914400" rtl="0" algn="l">
              <a:spcBef>
                <a:spcPts val="0"/>
              </a:spcBef>
              <a:spcAft>
                <a:spcPts val="0"/>
              </a:spcAft>
              <a:buSzPts val="1200"/>
              <a:buChar char="○"/>
            </a:pPr>
            <a:r>
              <a:rPr i="1" lang="en"/>
              <a:t>G</a:t>
            </a:r>
            <a:r>
              <a:rPr lang="en"/>
              <a:t> generates potential outcomes </a:t>
            </a:r>
            <a:r>
              <a:rPr i="1" lang="en"/>
              <a:t>Y_hat </a:t>
            </a:r>
            <a:r>
              <a:rPr lang="en"/>
              <a:t>based on covariates </a:t>
            </a:r>
            <a:r>
              <a:rPr i="1" lang="en"/>
              <a:t>X</a:t>
            </a:r>
            <a:r>
              <a:rPr lang="en"/>
              <a:t>, treatments </a:t>
            </a:r>
            <a:r>
              <a:rPr i="1" lang="en"/>
              <a:t>Y</a:t>
            </a:r>
            <a:r>
              <a:rPr lang="en"/>
              <a:t> and exogenous noise </a:t>
            </a:r>
            <a:r>
              <a:rPr i="1" lang="en"/>
              <a:t>u</a:t>
            </a:r>
            <a:endParaRPr/>
          </a:p>
          <a:p>
            <a:pPr indent="-304800" lvl="1" marL="914400" rtl="0" algn="l">
              <a:spcBef>
                <a:spcPts val="0"/>
              </a:spcBef>
              <a:spcAft>
                <a:spcPts val="0"/>
              </a:spcAft>
              <a:buSzPts val="1200"/>
              <a:buChar char="○"/>
            </a:pPr>
            <a:r>
              <a:rPr lang="en"/>
              <a:t>Improve the accuracy of subsequent causal effect estimation. 提高後續因果效應估計的準確性。</a:t>
            </a:r>
            <a:endParaRPr/>
          </a:p>
          <a:p>
            <a:pPr indent="-304800" lvl="1" marL="914400" rtl="0" algn="l">
              <a:spcBef>
                <a:spcPts val="0"/>
              </a:spcBef>
              <a:spcAft>
                <a:spcPts val="0"/>
              </a:spcAft>
              <a:buSzPts val="1200"/>
              <a:buChar char="○"/>
            </a:pPr>
            <a:r>
              <a:rPr lang="en"/>
              <a:t>The adversarial learning architecture can be used to</a:t>
            </a:r>
            <a:r>
              <a:rPr lang="en">
                <a:solidFill>
                  <a:schemeClr val="accent5"/>
                </a:solidFill>
              </a:rPr>
              <a:t> </a:t>
            </a:r>
            <a:r>
              <a:rPr b="1" lang="en">
                <a:solidFill>
                  <a:schemeClr val="accent5"/>
                </a:solidFill>
              </a:rPr>
              <a:t>control for confounders in the latent space</a:t>
            </a:r>
            <a:r>
              <a:rPr lang="en">
                <a:solidFill>
                  <a:schemeClr val="accent5"/>
                </a:solidFill>
              </a:rPr>
              <a:t>:</a:t>
            </a:r>
            <a:endParaRPr>
              <a:solidFill>
                <a:schemeClr val="accent5"/>
              </a:solidFill>
            </a:endParaRPr>
          </a:p>
          <a:p>
            <a:pPr indent="-304800" lvl="2" marL="1371600" rtl="0" algn="l">
              <a:spcBef>
                <a:spcPts val="0"/>
              </a:spcBef>
              <a:spcAft>
                <a:spcPts val="0"/>
              </a:spcAft>
              <a:buSzPts val="1200"/>
              <a:buChar char="■"/>
            </a:pPr>
            <a:r>
              <a:rPr lang="en"/>
              <a:t>因為 G 生成的 data, D 分不出來。</a:t>
            </a:r>
            <a:endParaRPr/>
          </a:p>
          <a:p>
            <a:pPr indent="-304800" lvl="1" marL="914400" rtl="0" algn="l">
              <a:spcBef>
                <a:spcPts val="0"/>
              </a:spcBef>
              <a:spcAft>
                <a:spcPts val="0"/>
              </a:spcAft>
              <a:buSzPts val="1200"/>
              <a:buChar char="○"/>
            </a:pPr>
            <a:r>
              <a:rPr lang="en"/>
              <a:t>multivariate treatment variables, continuous data, and time series</a:t>
            </a:r>
            <a:endParaRPr/>
          </a:p>
          <a:p>
            <a:pPr indent="0" lvl="0" marL="914400" rtl="0" algn="l">
              <a:spcBef>
                <a:spcPts val="1600"/>
              </a:spcBef>
              <a:spcAft>
                <a:spcPts val="1600"/>
              </a:spcAft>
              <a:buNone/>
            </a:pPr>
            <a:r>
              <a:t/>
            </a:r>
            <a:endParaRPr/>
          </a:p>
        </p:txBody>
      </p:sp>
      <p:sp>
        <p:nvSpPr>
          <p:cNvPr id="524" name="Google Shape;524;p6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Implicit Generation of Counterfactual Data</a:t>
            </a:r>
            <a:endParaRPr/>
          </a:p>
        </p:txBody>
      </p:sp>
      <p:sp>
        <p:nvSpPr>
          <p:cNvPr id="525" name="Google Shape;525;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6"/>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在 </a:t>
            </a:r>
            <a:r>
              <a:rPr lang="en"/>
              <a:t>explicit generation </a:t>
            </a:r>
            <a:r>
              <a:rPr lang="en"/>
              <a:t>的表徵學習中，每個 </a:t>
            </a:r>
            <a:r>
              <a:rPr lang="en"/>
              <a:t>variable</a:t>
            </a:r>
            <a:r>
              <a:rPr b="1" lang="en"/>
              <a:t> </a:t>
            </a:r>
            <a:r>
              <a:rPr lang="en"/>
              <a:t>都被認為是一種解開的因果機制以獲得更穩定的表徵</a:t>
            </a:r>
            <a:endParaRPr/>
          </a:p>
          <a:p>
            <a:pPr indent="-304800" lvl="0" marL="457200" rtl="0" algn="l">
              <a:spcBef>
                <a:spcPts val="0"/>
              </a:spcBef>
              <a:spcAft>
                <a:spcPts val="0"/>
              </a:spcAft>
              <a:buSzPts val="1200"/>
              <a:buChar char="●"/>
            </a:pPr>
            <a:r>
              <a:rPr lang="en"/>
              <a:t>It assumes that a data generation mechanism can be decomposed into </a:t>
            </a:r>
            <a:r>
              <a:rPr b="1" lang="en"/>
              <a:t>multiple </a:t>
            </a:r>
            <a:r>
              <a:rPr b="1" lang="en">
                <a:solidFill>
                  <a:schemeClr val="accent5"/>
                </a:solidFill>
              </a:rPr>
              <a:t>independent</a:t>
            </a:r>
            <a:r>
              <a:rPr b="1" lang="en"/>
              <a:t> causal mechanisms</a:t>
            </a:r>
            <a:r>
              <a:rPr lang="en"/>
              <a:t> that are </a:t>
            </a:r>
            <a:r>
              <a:rPr b="1" lang="en"/>
              <a:t>unrelated to each other and do not affect each other</a:t>
            </a:r>
            <a:endParaRPr b="1"/>
          </a:p>
          <a:p>
            <a:pPr indent="-304800" lvl="1" marL="914400" rtl="0" algn="l">
              <a:spcBef>
                <a:spcPts val="0"/>
              </a:spcBef>
              <a:spcAft>
                <a:spcPts val="0"/>
              </a:spcAft>
              <a:buSzPts val="1200"/>
              <a:buChar char="○"/>
            </a:pPr>
            <a:r>
              <a:rPr lang="en"/>
              <a:t>one mechanism does not contain any information about the other</a:t>
            </a:r>
            <a:endParaRPr/>
          </a:p>
          <a:p>
            <a:pPr indent="-304800" lvl="1" marL="914400" rtl="0" algn="l">
              <a:spcBef>
                <a:spcPts val="0"/>
              </a:spcBef>
              <a:spcAft>
                <a:spcPts val="0"/>
              </a:spcAft>
              <a:buSzPts val="1200"/>
              <a:buChar char="○"/>
            </a:pPr>
            <a:r>
              <a:rPr lang="en"/>
              <a:t>changes to one mechanic do not affect the other</a:t>
            </a:r>
            <a:endParaRPr/>
          </a:p>
          <a:p>
            <a:pPr indent="-304800" lvl="0" marL="457200" rtl="0" algn="l">
              <a:spcBef>
                <a:spcPts val="0"/>
              </a:spcBef>
              <a:spcAft>
                <a:spcPts val="0"/>
              </a:spcAft>
              <a:buClr>
                <a:schemeClr val="accent6"/>
              </a:buClr>
              <a:buSzPts val="1200"/>
              <a:buChar char="●"/>
            </a:pPr>
            <a:r>
              <a:rPr b="1" lang="en">
                <a:solidFill>
                  <a:schemeClr val="accent6"/>
                </a:solidFill>
              </a:rPr>
              <a:t>VAE</a:t>
            </a:r>
            <a:endParaRPr b="1">
              <a:solidFill>
                <a:schemeClr val="accent6"/>
              </a:solidFill>
            </a:endParaRPr>
          </a:p>
          <a:p>
            <a:pPr indent="-304800" lvl="1" marL="914400" rtl="0" algn="l">
              <a:spcBef>
                <a:spcPts val="0"/>
              </a:spcBef>
              <a:spcAft>
                <a:spcPts val="0"/>
              </a:spcAft>
              <a:buSzPts val="1200"/>
              <a:buChar char="○"/>
            </a:pPr>
            <a:r>
              <a:rPr i="1" lang="en"/>
              <a:t>X</a:t>
            </a:r>
            <a:r>
              <a:rPr lang="en"/>
              <a:t>  is the observed variable</a:t>
            </a:r>
            <a:endParaRPr/>
          </a:p>
          <a:p>
            <a:pPr indent="-304800" lvl="1" marL="914400" rtl="0" algn="l">
              <a:spcBef>
                <a:spcPts val="0"/>
              </a:spcBef>
              <a:spcAft>
                <a:spcPts val="0"/>
              </a:spcAft>
              <a:buSzPts val="1200"/>
              <a:buChar char="○"/>
            </a:pPr>
            <a:r>
              <a:rPr i="1" lang="en"/>
              <a:t>G </a:t>
            </a:r>
            <a:r>
              <a:rPr lang="en"/>
              <a:t>real mechanics generate factors</a:t>
            </a:r>
            <a:endParaRPr/>
          </a:p>
          <a:p>
            <a:pPr indent="-304800" lvl="1" marL="914400" rtl="0" algn="l">
              <a:spcBef>
                <a:spcPts val="0"/>
              </a:spcBef>
              <a:spcAft>
                <a:spcPts val="0"/>
              </a:spcAft>
              <a:buSzPts val="1200"/>
              <a:buChar char="○"/>
            </a:pPr>
            <a:r>
              <a:rPr i="1" lang="en"/>
              <a:t>Z </a:t>
            </a:r>
            <a:r>
              <a:rPr lang="en"/>
              <a:t>learned latent representation</a:t>
            </a:r>
            <a:endParaRPr/>
          </a:p>
          <a:p>
            <a:pPr indent="-304800" lvl="0" marL="457200" rtl="0" algn="l">
              <a:spcBef>
                <a:spcPts val="0"/>
              </a:spcBef>
              <a:spcAft>
                <a:spcPts val="0"/>
              </a:spcAft>
              <a:buSzPts val="1200"/>
              <a:buChar char="●"/>
            </a:pPr>
            <a:r>
              <a:rPr b="1" lang="en">
                <a:solidFill>
                  <a:schemeClr val="accent5"/>
                </a:solidFill>
              </a:rPr>
              <a:t>IRS</a:t>
            </a:r>
            <a:r>
              <a:rPr lang="en"/>
              <a:t>:proposes a new metric to measure the robustness of repr-</a:t>
            </a:r>
            <a:endParaRPr/>
          </a:p>
          <a:p>
            <a:pPr indent="-304800" lvl="0" marL="457200" rtl="0" algn="l">
              <a:spcBef>
                <a:spcPts val="0"/>
              </a:spcBef>
              <a:spcAft>
                <a:spcPts val="0"/>
              </a:spcAft>
              <a:buSzPts val="1200"/>
              <a:buChar char="●"/>
            </a:pPr>
            <a:r>
              <a:rPr b="1" lang="en">
                <a:solidFill>
                  <a:schemeClr val="accent5"/>
                </a:solidFill>
              </a:rPr>
              <a:t>IM:</a:t>
            </a:r>
            <a:r>
              <a:rPr b="1" lang="en"/>
              <a:t> </a:t>
            </a:r>
            <a:r>
              <a:rPr lang="en"/>
              <a:t>automatically identify a set of independent mechanisms </a:t>
            </a:r>
            <a:br>
              <a:rPr lang="en"/>
            </a:br>
            <a:r>
              <a:rPr lang="en"/>
              <a:t>from the mixture of shifted data without labels</a:t>
            </a:r>
            <a:endParaRPr/>
          </a:p>
          <a:p>
            <a:pPr indent="-304800" lvl="0" marL="457200" rtl="0" algn="l">
              <a:spcBef>
                <a:spcPts val="0"/>
              </a:spcBef>
              <a:spcAft>
                <a:spcPts val="0"/>
              </a:spcAft>
              <a:buClr>
                <a:schemeClr val="accent5"/>
              </a:buClr>
              <a:buSzPts val="1200"/>
              <a:buChar char="●"/>
            </a:pPr>
            <a:r>
              <a:rPr b="1" lang="en">
                <a:solidFill>
                  <a:schemeClr val="accent5"/>
                </a:solidFill>
              </a:rPr>
              <a:t>CFL: </a:t>
            </a:r>
            <a:r>
              <a:rPr lang="en"/>
              <a:t>use of low-level data to discover high-level causal </a:t>
            </a:r>
            <a:br>
              <a:rPr lang="en"/>
            </a:br>
            <a:r>
              <a:rPr lang="en"/>
              <a:t>relations is proposed</a:t>
            </a:r>
            <a:endParaRPr/>
          </a:p>
        </p:txBody>
      </p:sp>
      <p:sp>
        <p:nvSpPr>
          <p:cNvPr id="531" name="Google Shape;531;p6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Explicit Generation for Disentangled Causal Mechanisms</a:t>
            </a:r>
            <a:endParaRPr sz="1900"/>
          </a:p>
        </p:txBody>
      </p:sp>
      <p:sp>
        <p:nvSpPr>
          <p:cNvPr id="532" name="Google Shape;532;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33" name="Google Shape;533;p66"/>
          <p:cNvPicPr preferRelativeResize="0"/>
          <p:nvPr/>
        </p:nvPicPr>
        <p:blipFill>
          <a:blip r:embed="rId3">
            <a:alphaModFix/>
          </a:blip>
          <a:stretch>
            <a:fillRect/>
          </a:stretch>
        </p:blipFill>
        <p:spPr>
          <a:xfrm>
            <a:off x="5475249" y="2164125"/>
            <a:ext cx="3668750" cy="25857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7"/>
          <p:cNvSpPr txBox="1"/>
          <p:nvPr>
            <p:ph type="title"/>
          </p:nvPr>
        </p:nvSpPr>
        <p:spPr>
          <a:xfrm>
            <a:off x="713375" y="2227050"/>
            <a:ext cx="44625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DEEP CAUSAL DISCOVERY</a:t>
            </a:r>
            <a:endParaRPr sz="2700"/>
          </a:p>
        </p:txBody>
      </p:sp>
      <p:sp>
        <p:nvSpPr>
          <p:cNvPr id="539" name="Google Shape;539;p67"/>
          <p:cNvSpPr txBox="1"/>
          <p:nvPr>
            <p:ph idx="2" type="title"/>
          </p:nvPr>
        </p:nvSpPr>
        <p:spPr>
          <a:xfrm>
            <a:off x="713300" y="1186125"/>
            <a:ext cx="4462500" cy="11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6D9EEB"/>
                </a:solidFill>
              </a:rPr>
              <a:t>04</a:t>
            </a:r>
            <a:endParaRPr>
              <a:solidFill>
                <a:srgbClr val="6D9EEB"/>
              </a:solidFill>
            </a:endParaRPr>
          </a:p>
        </p:txBody>
      </p:sp>
      <p:sp>
        <p:nvSpPr>
          <p:cNvPr id="540" name="Google Shape;540;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8"/>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Observation Data-driven Causal Discovery </a:t>
            </a:r>
            <a:endParaRPr sz="2400"/>
          </a:p>
        </p:txBody>
      </p:sp>
      <p:sp>
        <p:nvSpPr>
          <p:cNvPr id="546" name="Google Shape;546;p68"/>
          <p:cNvSpPr txBox="1"/>
          <p:nvPr>
            <p:ph idx="1" type="body"/>
          </p:nvPr>
        </p:nvSpPr>
        <p:spPr>
          <a:xfrm>
            <a:off x="713225" y="10000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convert the constraints of acyclicity into constraints on the trace of the adjacency matrix</a:t>
            </a:r>
            <a:endParaRPr/>
          </a:p>
          <a:p>
            <a:pPr indent="-304800" lvl="0" marL="457200" rtl="0" algn="l">
              <a:spcBef>
                <a:spcPts val="0"/>
              </a:spcBef>
              <a:spcAft>
                <a:spcPts val="0"/>
              </a:spcAft>
              <a:buSzPts val="1200"/>
              <a:buChar char="●"/>
            </a:pPr>
            <a:r>
              <a:rPr lang="en"/>
              <a:t>原因: 以前的 CD 都需要建立 DAG, 但因為資料量增加，所以變得太複雜。 </a:t>
            </a:r>
            <a:endParaRPr/>
          </a:p>
          <a:p>
            <a:pPr indent="-304800" lvl="1" marL="914400" rtl="0" algn="l">
              <a:spcBef>
                <a:spcPts val="0"/>
              </a:spcBef>
              <a:spcAft>
                <a:spcPts val="0"/>
              </a:spcAft>
              <a:buSzPts val="1200"/>
              <a:buChar char="○"/>
            </a:pPr>
            <a:r>
              <a:rPr i="1" lang="en"/>
              <a:t>A</a:t>
            </a:r>
            <a:r>
              <a:rPr lang="en"/>
              <a:t>: the adjacency matrix of the causal graph</a:t>
            </a:r>
            <a:endParaRPr/>
          </a:p>
          <a:p>
            <a:pPr indent="-304800" lvl="1" marL="914400" rtl="0" algn="l">
              <a:spcBef>
                <a:spcPts val="0"/>
              </a:spcBef>
              <a:spcAft>
                <a:spcPts val="0"/>
              </a:spcAft>
              <a:buSzPts val="1200"/>
              <a:buChar char="○"/>
            </a:pPr>
            <a:r>
              <a:rPr i="1" lang="en"/>
              <a:t>d </a:t>
            </a:r>
            <a:r>
              <a:rPr lang="en"/>
              <a:t>: the number of nodes</a:t>
            </a:r>
            <a:endParaRPr/>
          </a:p>
          <a:p>
            <a:pPr indent="-304800" lvl="1" marL="914400" rtl="0" algn="l">
              <a:spcBef>
                <a:spcPts val="0"/>
              </a:spcBef>
              <a:spcAft>
                <a:spcPts val="0"/>
              </a:spcAft>
              <a:buSzPts val="1200"/>
              <a:buChar char="○"/>
            </a:pPr>
            <a:r>
              <a:rPr lang="en"/>
              <a:t>ℎ(∙) : is a smooth function over real matrices</a:t>
            </a:r>
            <a:br>
              <a:rPr lang="en"/>
            </a:br>
            <a:endParaRPr b="1">
              <a:solidFill>
                <a:schemeClr val="accent6"/>
              </a:solidFill>
            </a:endParaRPr>
          </a:p>
          <a:p>
            <a:pPr indent="-304800" lvl="0" marL="457200" rtl="0" algn="l">
              <a:spcBef>
                <a:spcPts val="0"/>
              </a:spcBef>
              <a:spcAft>
                <a:spcPts val="0"/>
              </a:spcAft>
              <a:buClr>
                <a:schemeClr val="accent6"/>
              </a:buClr>
              <a:buSzPts val="1200"/>
              <a:buChar char="●"/>
            </a:pPr>
            <a:r>
              <a:rPr b="1" lang="en">
                <a:solidFill>
                  <a:schemeClr val="accent6"/>
                </a:solidFill>
              </a:rPr>
              <a:t>DAG-GAN</a:t>
            </a:r>
            <a:r>
              <a:rPr b="1" lang="en"/>
              <a:t>:  </a:t>
            </a:r>
            <a:r>
              <a:rPr lang="en"/>
              <a:t>nonlinearities and encoder-decoder </a:t>
            </a:r>
            <a:r>
              <a:rPr lang="en"/>
              <a:t>architecture,the adjacency matrix is obtained during the network training process to complete the structure selection</a:t>
            </a:r>
            <a:endParaRPr/>
          </a:p>
          <a:p>
            <a:pPr indent="-304800" lvl="0" marL="457200" rtl="0" algn="l">
              <a:spcBef>
                <a:spcPts val="0"/>
              </a:spcBef>
              <a:spcAft>
                <a:spcPts val="0"/>
              </a:spcAft>
              <a:buSzPts val="1200"/>
              <a:buChar char="●"/>
            </a:pPr>
            <a:r>
              <a:rPr b="1" lang="en">
                <a:solidFill>
                  <a:schemeClr val="accent6"/>
                </a:solidFill>
              </a:rPr>
              <a:t>GAE</a:t>
            </a:r>
            <a:r>
              <a:rPr lang="en"/>
              <a:t> utilizes the idea of </a:t>
            </a:r>
            <a:r>
              <a:rPr b="1" lang="en"/>
              <a:t>graph self-encoder</a:t>
            </a:r>
            <a:r>
              <a:rPr lang="en"/>
              <a:t> to better utilize graph structure information for causal graph structure discovery.</a:t>
            </a:r>
            <a:endParaRPr/>
          </a:p>
          <a:p>
            <a:pPr indent="-304800" lvl="0" marL="457200" rtl="0" algn="l">
              <a:spcBef>
                <a:spcPts val="0"/>
              </a:spcBef>
              <a:spcAft>
                <a:spcPts val="0"/>
              </a:spcAft>
              <a:buClr>
                <a:schemeClr val="accent6"/>
              </a:buClr>
              <a:buSzPts val="1200"/>
              <a:buChar char="●"/>
            </a:pPr>
            <a:r>
              <a:rPr b="1" lang="en">
                <a:solidFill>
                  <a:schemeClr val="accent6"/>
                </a:solidFill>
              </a:rPr>
              <a:t>GraN-DAG</a:t>
            </a:r>
            <a:r>
              <a:rPr b="1" lang="en"/>
              <a:t>: </a:t>
            </a:r>
            <a:r>
              <a:rPr lang="en"/>
              <a:t>handle the parameter families of various conditional probability distributions</a:t>
            </a:r>
            <a:endParaRPr/>
          </a:p>
          <a:p>
            <a:pPr indent="-304800" lvl="0" marL="457200" rtl="0" algn="l">
              <a:spcBef>
                <a:spcPts val="0"/>
              </a:spcBef>
              <a:spcAft>
                <a:spcPts val="0"/>
              </a:spcAft>
              <a:buClr>
                <a:schemeClr val="accent6"/>
              </a:buClr>
              <a:buSzPts val="1200"/>
              <a:buChar char="●"/>
            </a:pPr>
            <a:r>
              <a:rPr b="1" lang="en">
                <a:solidFill>
                  <a:schemeClr val="accent6"/>
                </a:solidFill>
              </a:rPr>
              <a:t>AEQ, CASTLE</a:t>
            </a:r>
            <a:endParaRPr/>
          </a:p>
        </p:txBody>
      </p:sp>
      <p:sp>
        <p:nvSpPr>
          <p:cNvPr id="547" name="Google Shape;547;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434343"/>
                </a:solidFill>
                <a:latin typeface="Arial"/>
                <a:ea typeface="Arial"/>
                <a:cs typeface="Arial"/>
                <a:sym typeface="Arial"/>
              </a:rPr>
              <a:t>‹#›</a:t>
            </a:fld>
            <a:endParaRPr>
              <a:solidFill>
                <a:srgbClr val="434343"/>
              </a:solidFill>
              <a:latin typeface="Arial"/>
              <a:ea typeface="Arial"/>
              <a:cs typeface="Arial"/>
              <a:sym typeface="Arial"/>
            </a:endParaRPr>
          </a:p>
        </p:txBody>
      </p:sp>
      <p:pic>
        <p:nvPicPr>
          <p:cNvPr id="548" name="Google Shape;548;p68"/>
          <p:cNvPicPr preferRelativeResize="0"/>
          <p:nvPr/>
        </p:nvPicPr>
        <p:blipFill rotWithShape="1">
          <a:blip r:embed="rId3">
            <a:alphaModFix/>
          </a:blip>
          <a:srcRect b="13614" l="0" r="65431" t="0"/>
          <a:stretch/>
        </p:blipFill>
        <p:spPr>
          <a:xfrm>
            <a:off x="6418575" y="1318125"/>
            <a:ext cx="1616651" cy="955150"/>
          </a:xfrm>
          <a:prstGeom prst="rect">
            <a:avLst/>
          </a:prstGeom>
          <a:noFill/>
          <a:ln>
            <a:noFill/>
          </a:ln>
        </p:spPr>
      </p:pic>
      <p:pic>
        <p:nvPicPr>
          <p:cNvPr id="549" name="Google Shape;549;p68"/>
          <p:cNvPicPr preferRelativeResize="0"/>
          <p:nvPr/>
        </p:nvPicPr>
        <p:blipFill>
          <a:blip r:embed="rId4">
            <a:alphaModFix/>
          </a:blip>
          <a:stretch>
            <a:fillRect/>
          </a:stretch>
        </p:blipFill>
        <p:spPr>
          <a:xfrm>
            <a:off x="1395888" y="2104850"/>
            <a:ext cx="2797566" cy="241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9"/>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Causal discovery in </a:t>
            </a:r>
            <a:r>
              <a:rPr b="1" lang="en">
                <a:solidFill>
                  <a:schemeClr val="accent6"/>
                </a:solidFill>
              </a:rPr>
              <a:t>time series</a:t>
            </a:r>
            <a:r>
              <a:rPr b="1" lang="en"/>
              <a:t>: </a:t>
            </a:r>
            <a:endParaRPr b="1"/>
          </a:p>
          <a:p>
            <a:pPr indent="-304800" lvl="1" marL="914400" rtl="0" algn="l">
              <a:spcBef>
                <a:spcPts val="0"/>
              </a:spcBef>
              <a:spcAft>
                <a:spcPts val="0"/>
              </a:spcAft>
              <a:buSzPts val="1200"/>
              <a:buChar char="○"/>
            </a:pPr>
            <a:r>
              <a:rPr lang="en"/>
              <a:t>應用在 non-time series 的 CD 方法沒辦法用在 time-series 上，有幾個因訴必須考慮 ex: sampling frequency and unobserved confounders，並且需要有 necessary assumptions. Ex: cause must occur before the effect, there is no instantaneous causal effect.</a:t>
            </a:r>
            <a:endParaRPr/>
          </a:p>
          <a:p>
            <a:pPr indent="-304800" lvl="1" marL="914400" rtl="0" algn="l">
              <a:spcBef>
                <a:spcPts val="0"/>
              </a:spcBef>
              <a:spcAft>
                <a:spcPts val="0"/>
              </a:spcAft>
              <a:buSzPts val="1200"/>
              <a:buChar char="○"/>
            </a:pPr>
            <a:r>
              <a:rPr lang="en"/>
              <a:t>Causal Graph:</a:t>
            </a:r>
            <a:endParaRPr/>
          </a:p>
          <a:p>
            <a:pPr indent="-304800" lvl="2" marL="1371600" rtl="0" algn="l">
              <a:spcBef>
                <a:spcPts val="0"/>
              </a:spcBef>
              <a:spcAft>
                <a:spcPts val="0"/>
              </a:spcAft>
              <a:buSzPts val="1200"/>
              <a:buChar char="■"/>
            </a:pPr>
            <a:r>
              <a:rPr b="1" lang="en"/>
              <a:t>full-time graphs: </a:t>
            </a:r>
            <a:r>
              <a:rPr lang="en"/>
              <a:t>causal relationship between variables at each moment,</a:t>
            </a:r>
            <a:endParaRPr/>
          </a:p>
          <a:p>
            <a:pPr indent="-304800" lvl="2" marL="1371600" rtl="0" algn="l">
              <a:spcBef>
                <a:spcPts val="0"/>
              </a:spcBef>
              <a:spcAft>
                <a:spcPts val="0"/>
              </a:spcAft>
              <a:buSzPts val="1200"/>
              <a:buChar char="■"/>
            </a:pPr>
            <a:r>
              <a:rPr b="1" lang="en"/>
              <a:t>summary graphs: </a:t>
            </a:r>
            <a:r>
              <a:rPr lang="en"/>
              <a:t>causal relationship during this time</a:t>
            </a:r>
            <a:endParaRPr/>
          </a:p>
          <a:p>
            <a:pPr indent="-304800" lvl="1" marL="914400" rtl="0" algn="l">
              <a:spcBef>
                <a:spcPts val="0"/>
              </a:spcBef>
              <a:spcAft>
                <a:spcPts val="0"/>
              </a:spcAft>
              <a:buSzPts val="1200"/>
              <a:buChar char="○"/>
            </a:pPr>
            <a:r>
              <a:rPr lang="en"/>
              <a:t>Causal graph obtained from the time series is likely to have cycles, which does not satisfy the DAG condition.</a:t>
            </a:r>
            <a:endParaRPr/>
          </a:p>
          <a:p>
            <a:pPr indent="-304800" lvl="1" marL="914400" rtl="0" algn="l">
              <a:spcBef>
                <a:spcPts val="0"/>
              </a:spcBef>
              <a:spcAft>
                <a:spcPts val="0"/>
              </a:spcAft>
              <a:buClr>
                <a:schemeClr val="accent6"/>
              </a:buClr>
              <a:buSzPts val="1200"/>
              <a:buChar char="○"/>
            </a:pPr>
            <a:r>
              <a:rPr b="1" lang="en">
                <a:solidFill>
                  <a:schemeClr val="accent6"/>
                </a:solidFill>
              </a:rPr>
              <a:t>Granger causal (GC) </a:t>
            </a:r>
            <a:r>
              <a:rPr b="1" lang="en"/>
              <a:t>: </a:t>
            </a:r>
            <a:r>
              <a:rPr lang="en"/>
              <a:t>雖然GC在線性假設下可以達到常識性的結果，但是GC在非線性場景下的結果往往不盡如人意，因此發展出 GC-based 解決 non-linear 的方法</a:t>
            </a:r>
            <a:endParaRPr/>
          </a:p>
          <a:p>
            <a:pPr indent="-304800" lvl="1" marL="914400" rtl="0" algn="l">
              <a:spcBef>
                <a:spcPts val="0"/>
              </a:spcBef>
              <a:spcAft>
                <a:spcPts val="0"/>
              </a:spcAft>
              <a:buSzPts val="1200"/>
              <a:buChar char="○"/>
            </a:pPr>
            <a:r>
              <a:rPr b="1" lang="en">
                <a:solidFill>
                  <a:schemeClr val="accent6"/>
                </a:solidFill>
              </a:rPr>
              <a:t>NGC</a:t>
            </a:r>
            <a:r>
              <a:rPr b="1" lang="en"/>
              <a:t>:</a:t>
            </a:r>
            <a:r>
              <a:rPr lang="en"/>
              <a:t> 將各個變量的函數表示分開，在一定程度上實現了因果的有效區分。</a:t>
            </a:r>
            <a:endParaRPr/>
          </a:p>
          <a:p>
            <a:pPr indent="-304800" lvl="1" marL="914400" rtl="0" algn="l">
              <a:spcBef>
                <a:spcPts val="0"/>
              </a:spcBef>
              <a:spcAft>
                <a:spcPts val="0"/>
              </a:spcAft>
              <a:buClr>
                <a:schemeClr val="accent6"/>
              </a:buClr>
              <a:buSzPts val="1200"/>
              <a:buChar char="○"/>
            </a:pPr>
            <a:r>
              <a:rPr b="1" lang="en">
                <a:solidFill>
                  <a:schemeClr val="accent5"/>
                </a:solidFill>
              </a:rPr>
              <a:t>VCC</a:t>
            </a:r>
            <a:r>
              <a:rPr b="1" lang="en"/>
              <a:t>: </a:t>
            </a:r>
            <a:r>
              <a:rPr lang="en"/>
              <a:t>learns causality from sequential images combined with context</a:t>
            </a:r>
            <a:endParaRPr/>
          </a:p>
          <a:p>
            <a:pPr indent="-304800" lvl="1" marL="914400" rtl="0" algn="l">
              <a:spcBef>
                <a:spcPts val="0"/>
              </a:spcBef>
              <a:spcAft>
                <a:spcPts val="0"/>
              </a:spcAft>
              <a:buClr>
                <a:schemeClr val="accent6"/>
              </a:buClr>
              <a:buSzPts val="1200"/>
              <a:buChar char="○"/>
            </a:pPr>
            <a:r>
              <a:rPr b="1" lang="en">
                <a:solidFill>
                  <a:schemeClr val="accent6"/>
                </a:solidFill>
              </a:rPr>
              <a:t>CCM:  </a:t>
            </a:r>
            <a:r>
              <a:rPr lang="en"/>
              <a:t>find causal relationships between time series variables in dynamical systems. It is especially suitable for nonlinear weakly coupled dynamical systems.</a:t>
            </a:r>
            <a:endParaRPr/>
          </a:p>
          <a:p>
            <a:pPr indent="-304800" lvl="1" marL="914400" rtl="0" algn="l">
              <a:spcBef>
                <a:spcPts val="0"/>
              </a:spcBef>
              <a:spcAft>
                <a:spcPts val="0"/>
              </a:spcAft>
              <a:buClr>
                <a:schemeClr val="accent5"/>
              </a:buClr>
              <a:buSzPts val="1200"/>
              <a:buChar char="○"/>
            </a:pPr>
            <a:r>
              <a:rPr b="1" lang="en">
                <a:solidFill>
                  <a:schemeClr val="accent5"/>
                </a:solidFill>
              </a:rPr>
              <a:t>NSM</a:t>
            </a:r>
            <a:r>
              <a:rPr b="1" lang="en"/>
              <a:t>: </a:t>
            </a:r>
            <a:endParaRPr b="1"/>
          </a:p>
        </p:txBody>
      </p:sp>
      <p:sp>
        <p:nvSpPr>
          <p:cNvPr id="555" name="Google Shape;555;p69"/>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Observation Data-driven Causal Discovery </a:t>
            </a:r>
            <a:endParaRPr/>
          </a:p>
        </p:txBody>
      </p:sp>
      <p:sp>
        <p:nvSpPr>
          <p:cNvPr id="556" name="Google Shape;556;p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0"/>
          <p:cNvSpPr txBox="1"/>
          <p:nvPr>
            <p:ph idx="1" type="body"/>
          </p:nvPr>
        </p:nvSpPr>
        <p:spPr>
          <a:xfrm>
            <a:off x="713225" y="1152475"/>
            <a:ext cx="81771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以前的大多數 CD 算法都已應用於 observed data； 將以前的方法直接應用於 </a:t>
            </a:r>
            <a:br>
              <a:rPr lang="en"/>
            </a:br>
            <a:r>
              <a:rPr lang="en"/>
              <a:t>intervention data 可能存在許多問題。 </a:t>
            </a:r>
            <a:r>
              <a:rPr lang="en"/>
              <a:t>intervention data  </a:t>
            </a:r>
            <a:r>
              <a:rPr lang="en"/>
              <a:t>揭示了有關數據生成</a:t>
            </a:r>
            <a:br>
              <a:rPr lang="en"/>
            </a:br>
            <a:r>
              <a:rPr lang="en"/>
              <a:t>機制的更多信息，並使我們能夠獲得更準確的因果圖。</a:t>
            </a:r>
            <a:endParaRPr/>
          </a:p>
          <a:p>
            <a:pPr indent="-304800" lvl="1" marL="914400" rtl="0" algn="l">
              <a:spcBef>
                <a:spcPts val="0"/>
              </a:spcBef>
              <a:spcAft>
                <a:spcPts val="0"/>
              </a:spcAft>
              <a:buClr>
                <a:schemeClr val="accent5"/>
              </a:buClr>
              <a:buSzPts val="1200"/>
              <a:buChar char="○"/>
            </a:pPr>
            <a:r>
              <a:rPr b="1" lang="en">
                <a:solidFill>
                  <a:schemeClr val="accent5"/>
                </a:solidFill>
              </a:rPr>
              <a:t>known intervention data</a:t>
            </a:r>
            <a:endParaRPr b="1">
              <a:solidFill>
                <a:schemeClr val="accent5"/>
              </a:solidFill>
            </a:endParaRPr>
          </a:p>
          <a:p>
            <a:pPr indent="-304800" lvl="2" marL="1371600" rtl="0" algn="l">
              <a:spcBef>
                <a:spcPts val="0"/>
              </a:spcBef>
              <a:spcAft>
                <a:spcPts val="0"/>
              </a:spcAft>
              <a:buSzPts val="1200"/>
              <a:buChar char="■"/>
            </a:pPr>
            <a:r>
              <a:rPr b="1" lang="en"/>
              <a:t>MTCD: </a:t>
            </a:r>
            <a:r>
              <a:rPr lang="en"/>
              <a:t>meta-learning objective to measure the speed of adaptation</a:t>
            </a:r>
            <a:endParaRPr/>
          </a:p>
          <a:p>
            <a:pPr indent="-304800" lvl="2" marL="1371600" rtl="0" algn="l">
              <a:spcBef>
                <a:spcPts val="0"/>
              </a:spcBef>
              <a:spcAft>
                <a:spcPts val="0"/>
              </a:spcAft>
              <a:buSzPts val="1200"/>
              <a:buChar char="■"/>
            </a:pPr>
            <a:r>
              <a:rPr b="1" lang="en"/>
              <a:t>CBCD: </a:t>
            </a:r>
            <a:r>
              <a:rPr lang="en"/>
              <a:t>utilizes VAE to extract binary conceptual causal variables from unstructured data that can explain the classifier</a:t>
            </a:r>
            <a:endParaRPr/>
          </a:p>
          <a:p>
            <a:pPr indent="-304800" lvl="1" marL="914400" rtl="0" algn="l">
              <a:spcBef>
                <a:spcPts val="0"/>
              </a:spcBef>
              <a:spcAft>
                <a:spcPts val="0"/>
              </a:spcAft>
              <a:buClr>
                <a:schemeClr val="accent5"/>
              </a:buClr>
              <a:buSzPts val="1200"/>
              <a:buChar char="○"/>
            </a:pPr>
            <a:r>
              <a:rPr b="1" lang="en">
                <a:solidFill>
                  <a:schemeClr val="accent5"/>
                </a:solidFill>
              </a:rPr>
              <a:t>unknown intervention data</a:t>
            </a:r>
            <a:endParaRPr b="1">
              <a:solidFill>
                <a:schemeClr val="accent5"/>
              </a:solidFill>
            </a:endParaRPr>
          </a:p>
          <a:p>
            <a:pPr indent="-304800" lvl="2" marL="1371600" rtl="0" algn="l">
              <a:spcBef>
                <a:spcPts val="0"/>
              </a:spcBef>
              <a:spcAft>
                <a:spcPts val="0"/>
              </a:spcAft>
              <a:buSzPts val="1200"/>
              <a:buChar char="■"/>
            </a:pPr>
            <a:r>
              <a:rPr b="1" lang="en"/>
              <a:t>SDI: </a:t>
            </a:r>
            <a:r>
              <a:rPr lang="en"/>
              <a:t> enables the simultaneous discovery of causal diagrams and structural equations in the presence of unknown interventions.</a:t>
            </a:r>
            <a:endParaRPr/>
          </a:p>
          <a:p>
            <a:pPr indent="-304800" lvl="3" marL="1828800" rtl="0" algn="l">
              <a:spcBef>
                <a:spcPts val="0"/>
              </a:spcBef>
              <a:spcAft>
                <a:spcPts val="0"/>
              </a:spcAft>
              <a:buSzPts val="1200"/>
              <a:buChar char="●"/>
            </a:pPr>
            <a:r>
              <a:rPr lang="en"/>
              <a:t>structural parameters, function parameters</a:t>
            </a:r>
            <a:endParaRPr/>
          </a:p>
          <a:p>
            <a:pPr indent="-304800" lvl="2" marL="1371600" rtl="0" algn="l">
              <a:spcBef>
                <a:spcPts val="0"/>
              </a:spcBef>
              <a:spcAft>
                <a:spcPts val="0"/>
              </a:spcAft>
              <a:buSzPts val="1200"/>
              <a:buChar char="■"/>
            </a:pPr>
            <a:r>
              <a:rPr b="1" lang="en"/>
              <a:t>CRN</a:t>
            </a:r>
            <a:r>
              <a:rPr lang="en"/>
              <a:t>:(dynamic system): trains a learner to sample from different causal mechanisms each time. </a:t>
            </a:r>
            <a:r>
              <a:rPr lang="en"/>
              <a:t>a</a:t>
            </a:r>
            <a:r>
              <a:rPr lang="en"/>
              <a:t>chieve domain adaptation to a certain extent and can also accumulate prior knowledge for subsequent structural learning.</a:t>
            </a:r>
            <a:endParaRPr/>
          </a:p>
        </p:txBody>
      </p:sp>
      <p:sp>
        <p:nvSpPr>
          <p:cNvPr id="562" name="Google Shape;562;p70"/>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Intervention Data-driven Causal Discovery</a:t>
            </a:r>
            <a:endParaRPr sz="2600"/>
          </a:p>
        </p:txBody>
      </p:sp>
      <p:sp>
        <p:nvSpPr>
          <p:cNvPr id="563" name="Google Shape;563;p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64" name="Google Shape;564;p70"/>
          <p:cNvPicPr preferRelativeResize="0"/>
          <p:nvPr/>
        </p:nvPicPr>
        <p:blipFill rotWithShape="1">
          <a:blip r:embed="rId3">
            <a:alphaModFix/>
          </a:blip>
          <a:srcRect b="12111" l="35317" r="28540" t="0"/>
          <a:stretch/>
        </p:blipFill>
        <p:spPr>
          <a:xfrm>
            <a:off x="6665450" y="1035875"/>
            <a:ext cx="1826549" cy="105025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1"/>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原因</a:t>
            </a:r>
            <a:r>
              <a:rPr lang="en"/>
              <a:t>: T</a:t>
            </a:r>
            <a:r>
              <a:rPr lang="en"/>
              <a:t>he unobserved confounders can lead to an observed association between two </a:t>
            </a:r>
            <a:br>
              <a:rPr lang="en"/>
            </a:br>
            <a:r>
              <a:rPr lang="en"/>
              <a:t>variables that do not have a causal relationship between them</a:t>
            </a:r>
            <a:endParaRPr/>
          </a:p>
          <a:p>
            <a:pPr indent="-304800" lvl="0" marL="457200" rtl="0" algn="l">
              <a:spcBef>
                <a:spcPts val="0"/>
              </a:spcBef>
              <a:spcAft>
                <a:spcPts val="0"/>
              </a:spcAft>
              <a:buClr>
                <a:schemeClr val="accent6"/>
              </a:buClr>
              <a:buSzPts val="1200"/>
              <a:buChar char="●"/>
            </a:pPr>
            <a:r>
              <a:rPr b="1" lang="en">
                <a:solidFill>
                  <a:schemeClr val="accent6"/>
                </a:solidFill>
              </a:rPr>
              <a:t>CGNN</a:t>
            </a:r>
            <a:r>
              <a:rPr b="1" lang="en"/>
              <a:t>: T</a:t>
            </a:r>
            <a:r>
              <a:rPr lang="en"/>
              <a:t>he most important contribution of this method is the formal definition of a </a:t>
            </a:r>
            <a:br>
              <a:rPr lang="en"/>
            </a:br>
            <a:r>
              <a:rPr lang="en"/>
              <a:t>functional causal model (FCM) with latent variables</a:t>
            </a:r>
            <a:endParaRPr/>
          </a:p>
          <a:p>
            <a:pPr indent="-304800" lvl="0" marL="457200" rtl="0" algn="l">
              <a:spcBef>
                <a:spcPts val="0"/>
              </a:spcBef>
              <a:spcAft>
                <a:spcPts val="0"/>
              </a:spcAft>
              <a:buClr>
                <a:schemeClr val="accent6"/>
              </a:buClr>
              <a:buSzPts val="1200"/>
              <a:buChar char="●"/>
            </a:pPr>
            <a:r>
              <a:rPr b="1" lang="en">
                <a:solidFill>
                  <a:schemeClr val="accent6"/>
                </a:solidFill>
              </a:rPr>
              <a:t>SAM</a:t>
            </a:r>
            <a:r>
              <a:rPr b="1" lang="en"/>
              <a:t>: </a:t>
            </a:r>
            <a:r>
              <a:rPr lang="en"/>
              <a:t>It incorporates all variables other than itself into the equation</a:t>
            </a:r>
            <a:endParaRPr/>
          </a:p>
          <a:p>
            <a:pPr indent="-304800" lvl="0" marL="457200" rtl="0" algn="l">
              <a:spcBef>
                <a:spcPts val="0"/>
              </a:spcBef>
              <a:spcAft>
                <a:spcPts val="0"/>
              </a:spcAft>
              <a:buSzPts val="1200"/>
              <a:buChar char="●"/>
            </a:pPr>
            <a:r>
              <a:rPr b="1" lang="en"/>
              <a:t>Instability:</a:t>
            </a:r>
            <a:r>
              <a:rPr lang="en"/>
              <a:t> the </a:t>
            </a:r>
            <a:r>
              <a:rPr b="1" lang="en"/>
              <a:t>randomness of the learning process </a:t>
            </a:r>
            <a:r>
              <a:rPr lang="en"/>
              <a:t>or </a:t>
            </a:r>
            <a:r>
              <a:rPr b="1" lang="en"/>
              <a:t>neural network initialization</a:t>
            </a:r>
            <a:r>
              <a:rPr lang="en"/>
              <a:t> can influence their final performance and predictions even with the same data and parameters.</a:t>
            </a:r>
            <a:endParaRPr/>
          </a:p>
          <a:p>
            <a:pPr indent="-304800" lvl="0" marL="457200" rtl="0" algn="l">
              <a:spcBef>
                <a:spcPts val="0"/>
              </a:spcBef>
              <a:spcAft>
                <a:spcPts val="0"/>
              </a:spcAft>
              <a:buSzPts val="1200"/>
              <a:buChar char="●"/>
            </a:pPr>
            <a:r>
              <a:t/>
            </a:r>
            <a:endParaRPr/>
          </a:p>
        </p:txBody>
      </p:sp>
      <p:sp>
        <p:nvSpPr>
          <p:cNvPr id="570" name="Google Shape;570;p71"/>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Unobserved Confounders Data-driven Causal Discovery</a:t>
            </a:r>
            <a:endParaRPr sz="2000"/>
          </a:p>
        </p:txBody>
      </p:sp>
      <p:sp>
        <p:nvSpPr>
          <p:cNvPr id="571" name="Google Shape;571;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2" name="Google Shape;572;p71"/>
          <p:cNvPicPr preferRelativeResize="0"/>
          <p:nvPr/>
        </p:nvPicPr>
        <p:blipFill rotWithShape="1">
          <a:blip r:embed="rId3">
            <a:alphaModFix/>
          </a:blip>
          <a:srcRect b="12111" l="72571" r="0" t="0"/>
          <a:stretch/>
        </p:blipFill>
        <p:spPr>
          <a:xfrm>
            <a:off x="7170600" y="956750"/>
            <a:ext cx="1386174" cy="10502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2"/>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dealing with </a:t>
            </a:r>
            <a:r>
              <a:rPr b="1" lang="en">
                <a:solidFill>
                  <a:schemeClr val="accent6"/>
                </a:solidFill>
              </a:rPr>
              <a:t>time series</a:t>
            </a:r>
            <a:r>
              <a:rPr lang="en"/>
              <a:t>:</a:t>
            </a:r>
            <a:endParaRPr/>
          </a:p>
          <a:p>
            <a:pPr indent="-304800" lvl="1" marL="914400" rtl="0" algn="l">
              <a:spcBef>
                <a:spcPts val="0"/>
              </a:spcBef>
              <a:spcAft>
                <a:spcPts val="0"/>
              </a:spcAft>
              <a:buSzPts val="1200"/>
              <a:buChar char="○"/>
            </a:pPr>
            <a:r>
              <a:rPr b="1" lang="en">
                <a:solidFill>
                  <a:schemeClr val="accent5"/>
                </a:solidFill>
              </a:rPr>
              <a:t>V-CDN</a:t>
            </a:r>
            <a:r>
              <a:rPr b="1" lang="en"/>
              <a:t>: </a:t>
            </a:r>
            <a:r>
              <a:rPr lang="en"/>
              <a:t>discover causal relations from video </a:t>
            </a:r>
            <a:br>
              <a:rPr lang="en"/>
            </a:br>
            <a:r>
              <a:rPr lang="en"/>
              <a:t>without ground truth by extracting key points from </a:t>
            </a:r>
            <a:br>
              <a:rPr lang="en"/>
            </a:br>
            <a:r>
              <a:rPr lang="en"/>
              <a:t>videos</a:t>
            </a:r>
            <a:endParaRPr/>
          </a:p>
        </p:txBody>
      </p:sp>
      <p:sp>
        <p:nvSpPr>
          <p:cNvPr id="578" name="Google Shape;578;p72"/>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Unobserved Confounders Data-driven Causal Discovery</a:t>
            </a:r>
            <a:endParaRPr sz="2000"/>
          </a:p>
          <a:p>
            <a:pPr indent="0" lvl="0" marL="0" rtl="0" algn="l">
              <a:spcBef>
                <a:spcPts val="0"/>
              </a:spcBef>
              <a:spcAft>
                <a:spcPts val="0"/>
              </a:spcAft>
              <a:buNone/>
            </a:pPr>
            <a:r>
              <a:t/>
            </a:r>
            <a:endParaRPr/>
          </a:p>
        </p:txBody>
      </p:sp>
      <p:sp>
        <p:nvSpPr>
          <p:cNvPr id="579" name="Google Shape;579;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80" name="Google Shape;580;p72"/>
          <p:cNvPicPr preferRelativeResize="0"/>
          <p:nvPr/>
        </p:nvPicPr>
        <p:blipFill>
          <a:blip r:embed="rId3">
            <a:alphaModFix/>
          </a:blip>
          <a:stretch>
            <a:fillRect/>
          </a:stretch>
        </p:blipFill>
        <p:spPr>
          <a:xfrm>
            <a:off x="5300194" y="788963"/>
            <a:ext cx="3745054" cy="39910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3"/>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800"/>
              <a:t>DEEP CAUSAL INFERENCE</a:t>
            </a:r>
            <a:endParaRPr sz="1800"/>
          </a:p>
        </p:txBody>
      </p:sp>
      <p:sp>
        <p:nvSpPr>
          <p:cNvPr id="586" name="Google Shape;586;p73"/>
          <p:cNvSpPr txBox="1"/>
          <p:nvPr>
            <p:ph idx="2" type="title"/>
          </p:nvPr>
        </p:nvSpPr>
        <p:spPr>
          <a:xfrm>
            <a:off x="3968350" y="1262325"/>
            <a:ext cx="4462500" cy="11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7000">
                <a:solidFill>
                  <a:srgbClr val="6D9EEB"/>
                </a:solidFill>
              </a:rPr>
              <a:t>05</a:t>
            </a:r>
            <a:endParaRPr/>
          </a:p>
        </p:txBody>
      </p:sp>
      <p:sp>
        <p:nvSpPr>
          <p:cNvPr id="587" name="Google Shape;587;p7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4"/>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Core problem:</a:t>
            </a:r>
            <a:endParaRPr/>
          </a:p>
          <a:p>
            <a:pPr indent="-304800" lvl="1" marL="914400" rtl="0" algn="l">
              <a:spcBef>
                <a:spcPts val="0"/>
              </a:spcBef>
              <a:spcAft>
                <a:spcPts val="0"/>
              </a:spcAft>
              <a:buSzPts val="1200"/>
              <a:buChar char="○"/>
            </a:pPr>
            <a:r>
              <a:rPr lang="en"/>
              <a:t>(1) </a:t>
            </a:r>
            <a:r>
              <a:rPr lang="en"/>
              <a:t>missing counterfactual data</a:t>
            </a:r>
            <a:endParaRPr/>
          </a:p>
          <a:p>
            <a:pPr indent="-304800" lvl="1" marL="914400" rtl="0" algn="l">
              <a:spcBef>
                <a:spcPts val="0"/>
              </a:spcBef>
              <a:spcAft>
                <a:spcPts val="0"/>
              </a:spcAft>
              <a:buSzPts val="1200"/>
              <a:buChar char="○"/>
            </a:pPr>
            <a:r>
              <a:rPr lang="en"/>
              <a:t>(2)selection bias</a:t>
            </a:r>
            <a:endParaRPr/>
          </a:p>
          <a:p>
            <a:pPr indent="-304800" lvl="0" marL="457200" rtl="0" algn="l">
              <a:spcBef>
                <a:spcPts val="0"/>
              </a:spcBef>
              <a:spcAft>
                <a:spcPts val="0"/>
              </a:spcAft>
              <a:buSzPts val="1200"/>
              <a:buChar char="●"/>
            </a:pPr>
            <a:r>
              <a:rPr lang="en"/>
              <a:t>CI </a:t>
            </a:r>
            <a:r>
              <a:rPr lang="en"/>
              <a:t>method</a:t>
            </a:r>
            <a:r>
              <a:rPr lang="en"/>
              <a:t>:</a:t>
            </a:r>
            <a:endParaRPr/>
          </a:p>
          <a:p>
            <a:pPr indent="-304800" lvl="1" marL="914400" rtl="0" algn="l">
              <a:spcBef>
                <a:spcPts val="0"/>
              </a:spcBef>
              <a:spcAft>
                <a:spcPts val="0"/>
              </a:spcAft>
              <a:buSzPts val="1200"/>
              <a:buChar char="○"/>
            </a:pPr>
            <a:r>
              <a:rPr lang="en"/>
              <a:t>selection bias-oriented</a:t>
            </a:r>
            <a:endParaRPr/>
          </a:p>
          <a:p>
            <a:pPr indent="-304800" lvl="1" marL="914400" rtl="0" algn="l">
              <a:spcBef>
                <a:spcPts val="0"/>
              </a:spcBef>
              <a:spcAft>
                <a:spcPts val="0"/>
              </a:spcAft>
              <a:buSzPts val="1200"/>
              <a:buChar char="○"/>
            </a:pPr>
            <a:r>
              <a:rPr lang="en"/>
              <a:t>Counterfactual data-oriented methods</a:t>
            </a:r>
            <a:endParaRPr/>
          </a:p>
          <a:p>
            <a:pPr indent="-304800" lvl="0" marL="457200" rtl="0" algn="l">
              <a:spcBef>
                <a:spcPts val="0"/>
              </a:spcBef>
              <a:spcAft>
                <a:spcPts val="0"/>
              </a:spcAft>
              <a:buSzPts val="1200"/>
              <a:buChar char="●"/>
            </a:pPr>
            <a:r>
              <a:rPr lang="en"/>
              <a:t>Deep CI method to solve fundamental problem (1):</a:t>
            </a:r>
            <a:endParaRPr/>
          </a:p>
          <a:p>
            <a:pPr indent="-304800" lvl="1" marL="914400" rtl="0" algn="l">
              <a:spcBef>
                <a:spcPts val="0"/>
              </a:spcBef>
              <a:spcAft>
                <a:spcPts val="0"/>
              </a:spcAft>
              <a:buSzPts val="1200"/>
              <a:buChar char="○"/>
            </a:pPr>
            <a:r>
              <a:rPr b="1" lang="en">
                <a:solidFill>
                  <a:schemeClr val="accent6"/>
                </a:solidFill>
              </a:rPr>
              <a:t>covariate balance-based</a:t>
            </a:r>
            <a:r>
              <a:rPr lang="en"/>
              <a:t> methods: 調整 covariates 以平衡不同 treatment groups 中</a:t>
            </a:r>
            <a:r>
              <a:rPr lang="en"/>
              <a:t>covariates </a:t>
            </a:r>
            <a:r>
              <a:rPr lang="en"/>
              <a:t>的分佈，從而消除選擇偏差(selection bias-oriented)</a:t>
            </a:r>
            <a:endParaRPr/>
          </a:p>
          <a:p>
            <a:pPr indent="-304800" lvl="1" marL="914400" rtl="0" algn="l">
              <a:spcBef>
                <a:spcPts val="0"/>
              </a:spcBef>
              <a:spcAft>
                <a:spcPts val="0"/>
              </a:spcAft>
              <a:buSzPts val="1200"/>
              <a:buChar char="○"/>
            </a:pPr>
            <a:r>
              <a:rPr b="1" lang="en">
                <a:solidFill>
                  <a:schemeClr val="accent6"/>
                </a:solidFill>
              </a:rPr>
              <a:t>adversarial training-based</a:t>
            </a:r>
            <a:r>
              <a:rPr lang="en"/>
              <a:t> methods: 利用對抗訓練使判別器無法區分真實數據和生成器生成的數據，從而實現隱式反事實數據的生成</a:t>
            </a:r>
            <a:endParaRPr/>
          </a:p>
          <a:p>
            <a:pPr indent="-304800" lvl="1" marL="914400" rtl="0" algn="l">
              <a:spcBef>
                <a:spcPts val="0"/>
              </a:spcBef>
              <a:spcAft>
                <a:spcPts val="0"/>
              </a:spcAft>
              <a:buSzPts val="1200"/>
              <a:buChar char="○"/>
            </a:pPr>
            <a:r>
              <a:rPr b="1" lang="en">
                <a:solidFill>
                  <a:schemeClr val="accent6"/>
                </a:solidFill>
              </a:rPr>
              <a:t>proxy variable-based</a:t>
            </a:r>
            <a:r>
              <a:rPr lang="en"/>
              <a:t> methods: 將數據生成機制建模為多個潛在變量之間的聯合作用，以實現</a:t>
            </a:r>
            <a:r>
              <a:rPr lang="en"/>
              <a:t>顯式反事實生成</a:t>
            </a:r>
            <a:endParaRPr/>
          </a:p>
          <a:p>
            <a:pPr indent="-304800" lvl="1" marL="914400" rtl="0" algn="l">
              <a:spcBef>
                <a:spcPts val="0"/>
              </a:spcBef>
              <a:spcAft>
                <a:spcPts val="0"/>
              </a:spcAft>
              <a:buSzPts val="1200"/>
              <a:buChar char="○"/>
            </a:pPr>
            <a:r>
              <a:rPr b="1" lang="en">
                <a:solidFill>
                  <a:schemeClr val="accent6"/>
                </a:solidFill>
              </a:rPr>
              <a:t>deep structural causal model </a:t>
            </a:r>
            <a:r>
              <a:rPr lang="en"/>
              <a:t>methods: 通常將SCM和NN結合，利用SCM的結構信息和神NN的擬合能力對數據生成機制進行建模，實現反事實生成。</a:t>
            </a:r>
            <a:endParaRPr/>
          </a:p>
        </p:txBody>
      </p:sp>
      <p:sp>
        <p:nvSpPr>
          <p:cNvPr id="593" name="Google Shape;593;p7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594" name="Google Shape;594;p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95" name="Google Shape;595;p74"/>
          <p:cNvPicPr preferRelativeResize="0"/>
          <p:nvPr/>
        </p:nvPicPr>
        <p:blipFill>
          <a:blip r:embed="rId3">
            <a:alphaModFix/>
          </a:blip>
          <a:stretch>
            <a:fillRect/>
          </a:stretch>
        </p:blipFill>
        <p:spPr>
          <a:xfrm>
            <a:off x="4446474" y="306025"/>
            <a:ext cx="4542049" cy="2203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5"/>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因為 NN 的高fit</a:t>
            </a:r>
            <a:r>
              <a:rPr lang="en"/>
              <a:t>能力，所以可以找到 T(treatment)和Y 之間的關係還有用 </a:t>
            </a:r>
            <a:r>
              <a:rPr lang="en"/>
              <a:t>regular terms to balance the covariates X when used to estimate causal effects</a:t>
            </a:r>
            <a:endParaRPr/>
          </a:p>
          <a:p>
            <a:pPr indent="-304800" lvl="0" marL="457200" rtl="0" algn="l">
              <a:spcBef>
                <a:spcPts val="0"/>
              </a:spcBef>
              <a:spcAft>
                <a:spcPts val="0"/>
              </a:spcAft>
              <a:buSzPts val="1200"/>
              <a:buChar char="●"/>
            </a:pPr>
            <a:r>
              <a:rPr lang="en"/>
              <a:t>NN: obtain the representations of covariates or the propensity scores(傾向得分) and then </a:t>
            </a:r>
            <a:r>
              <a:rPr b="1" lang="en"/>
              <a:t>train estimators by minimizing the differences in representations between treatment and control groups; </a:t>
            </a:r>
            <a:r>
              <a:rPr lang="en"/>
              <a:t>Loss fn: achieved through </a:t>
            </a:r>
            <a:r>
              <a:rPr b="1" lang="en"/>
              <a:t>regularization terms</a:t>
            </a:r>
            <a:r>
              <a:rPr lang="en"/>
              <a:t>;  NN flexibly use </a:t>
            </a:r>
            <a:r>
              <a:rPr b="1" lang="en"/>
              <a:t>various forms</a:t>
            </a:r>
            <a:r>
              <a:rPr lang="en"/>
              <a:t> of regularization to balance the distribution of covariates to </a:t>
            </a:r>
            <a:r>
              <a:rPr lang="en">
                <a:solidFill>
                  <a:schemeClr val="accent5"/>
                </a:solidFill>
              </a:rPr>
              <a:t>eliminate the influence of confounders. </a:t>
            </a:r>
            <a:r>
              <a:rPr lang="en"/>
              <a:t>At the same time, it has a strong estimation ability and high accuracy.</a:t>
            </a:r>
            <a:endParaRPr/>
          </a:p>
          <a:p>
            <a:pPr indent="-304800" lvl="0" marL="457200" rtl="0" algn="l">
              <a:spcBef>
                <a:spcPts val="0"/>
              </a:spcBef>
              <a:spcAft>
                <a:spcPts val="0"/>
              </a:spcAft>
              <a:buSzPts val="1200"/>
              <a:buChar char="●"/>
            </a:pPr>
            <a:r>
              <a:rPr b="1" lang="en">
                <a:solidFill>
                  <a:schemeClr val="accent6"/>
                </a:solidFill>
              </a:rPr>
              <a:t>BNN</a:t>
            </a:r>
            <a:r>
              <a:rPr lang="en"/>
              <a:t>: achieve counterfactual predictions. 從領域適應的角度考慮反事實推理的問題。</a:t>
            </a:r>
            <a:endParaRPr/>
          </a:p>
          <a:p>
            <a:pPr indent="-304800" lvl="0" marL="457200" rtl="0" algn="l">
              <a:spcBef>
                <a:spcPts val="0"/>
              </a:spcBef>
              <a:spcAft>
                <a:spcPts val="0"/>
              </a:spcAft>
              <a:buClr>
                <a:schemeClr val="accent6"/>
              </a:buClr>
              <a:buSzPts val="1200"/>
              <a:buChar char="●"/>
            </a:pPr>
            <a:r>
              <a:rPr b="1" lang="en">
                <a:solidFill>
                  <a:schemeClr val="accent6"/>
                </a:solidFill>
              </a:rPr>
              <a:t>CFR</a:t>
            </a:r>
            <a:r>
              <a:rPr lang="en"/>
              <a:t>: </a:t>
            </a:r>
            <a:r>
              <a:rPr b="1" lang="en"/>
              <a:t>two separate heads</a:t>
            </a:r>
            <a:r>
              <a:rPr lang="en"/>
              <a:t> representing the control group and the treatment group, which share a representation network</a:t>
            </a:r>
            <a:endParaRPr/>
          </a:p>
          <a:p>
            <a:pPr indent="-304800" lvl="0" marL="457200" rtl="0" algn="l">
              <a:spcBef>
                <a:spcPts val="0"/>
              </a:spcBef>
              <a:spcAft>
                <a:spcPts val="0"/>
              </a:spcAft>
              <a:buSzPts val="1200"/>
              <a:buChar char="●"/>
            </a:pPr>
            <a:r>
              <a:rPr b="1" lang="en">
                <a:solidFill>
                  <a:schemeClr val="accent6"/>
                </a:solidFill>
              </a:rPr>
              <a:t>PRG</a:t>
            </a:r>
            <a:r>
              <a:rPr lang="en"/>
              <a:t>: was introduced to</a:t>
            </a:r>
            <a:r>
              <a:rPr b="1" lang="en"/>
              <a:t> assess differences between the treatment and control groups.</a:t>
            </a:r>
            <a:endParaRPr b="1"/>
          </a:p>
          <a:p>
            <a:pPr indent="-304800" lvl="0" marL="457200" rtl="0" algn="l">
              <a:spcBef>
                <a:spcPts val="0"/>
              </a:spcBef>
              <a:spcAft>
                <a:spcPts val="0"/>
              </a:spcAft>
              <a:buSzPts val="1200"/>
              <a:buChar char="●"/>
            </a:pPr>
            <a:r>
              <a:rPr b="1" lang="en">
                <a:solidFill>
                  <a:schemeClr val="accent6"/>
                </a:solidFill>
              </a:rPr>
              <a:t>PM</a:t>
            </a:r>
            <a:r>
              <a:rPr lang="en"/>
              <a:t>: extends the approach to</a:t>
            </a:r>
            <a:r>
              <a:rPr b="1" lang="en"/>
              <a:t> multiple treatment settings </a:t>
            </a:r>
            <a:r>
              <a:rPr lang="en"/>
              <a:t>by using the balanced propensity score to make the match and estimating the counterfactual outcomes using the nearest neighbor</a:t>
            </a:r>
            <a:endParaRPr/>
          </a:p>
          <a:p>
            <a:pPr indent="-304800" lvl="0" marL="457200" rtl="0" algn="l">
              <a:spcBef>
                <a:spcPts val="0"/>
              </a:spcBef>
              <a:spcAft>
                <a:spcPts val="0"/>
              </a:spcAft>
              <a:buSzPts val="1200"/>
              <a:buChar char="●"/>
            </a:pPr>
            <a:r>
              <a:rPr b="1" lang="en">
                <a:solidFill>
                  <a:schemeClr val="accent6"/>
                </a:solidFill>
              </a:rPr>
              <a:t>BWCRF</a:t>
            </a:r>
            <a:r>
              <a:rPr b="1" lang="en"/>
              <a:t>: </a:t>
            </a:r>
            <a:r>
              <a:rPr lang="en"/>
              <a:t>make a trade-off between balance and predictability. It is not a</a:t>
            </a:r>
            <a:r>
              <a:rPr b="1" lang="en"/>
              <a:t> direct balance between groups,</a:t>
            </a:r>
            <a:r>
              <a:rPr lang="en"/>
              <a:t> instead a weighted balance of representations.</a:t>
            </a:r>
            <a:endParaRPr/>
          </a:p>
        </p:txBody>
      </p:sp>
      <p:sp>
        <p:nvSpPr>
          <p:cNvPr id="601" name="Google Shape;601;p7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Causal Inference Through Covariate Balancing for (1) </a:t>
            </a:r>
            <a:endParaRPr sz="2100"/>
          </a:p>
        </p:txBody>
      </p:sp>
      <p:sp>
        <p:nvSpPr>
          <p:cNvPr id="602" name="Google Shape;602;p7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6"/>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a:t>
            </a:r>
            <a:r>
              <a:rPr lang="en"/>
              <a:t>ransforming the counterfactual problem into a domain </a:t>
            </a:r>
            <a:br>
              <a:rPr lang="en"/>
            </a:br>
            <a:r>
              <a:rPr lang="en"/>
              <a:t>adaptation problem 將反事實問題轉化為領域適應問題。</a:t>
            </a:r>
            <a:endParaRPr/>
          </a:p>
          <a:p>
            <a:pPr indent="-304800" lvl="0" marL="457200" rtl="0" algn="l">
              <a:spcBef>
                <a:spcPts val="0"/>
              </a:spcBef>
              <a:spcAft>
                <a:spcPts val="0"/>
              </a:spcAft>
              <a:buSzPts val="1200"/>
              <a:buChar char="●"/>
            </a:pPr>
            <a:r>
              <a:rPr b="1" lang="en">
                <a:solidFill>
                  <a:schemeClr val="accent6"/>
                </a:solidFill>
              </a:rPr>
              <a:t>CARW</a:t>
            </a:r>
            <a:r>
              <a:rPr lang="en"/>
              <a:t>: </a:t>
            </a:r>
            <a:r>
              <a:rPr b="1" lang="en"/>
              <a:t>context-aware weighting scheme</a:t>
            </a:r>
            <a:r>
              <a:rPr lang="en"/>
              <a:t> that leverages </a:t>
            </a:r>
            <a:br>
              <a:rPr lang="en"/>
            </a:br>
            <a:r>
              <a:rPr lang="en"/>
              <a:t>the importance sampling technique based on [75] to better </a:t>
            </a:r>
            <a:br>
              <a:rPr lang="en"/>
            </a:br>
            <a:r>
              <a:rPr lang="en"/>
              <a:t>solve the selection bias is integrated.</a:t>
            </a:r>
            <a:endParaRPr/>
          </a:p>
          <a:p>
            <a:pPr indent="-304800" lvl="0" marL="457200" rtl="0" algn="l">
              <a:spcBef>
                <a:spcPts val="0"/>
              </a:spcBef>
              <a:spcAft>
                <a:spcPts val="0"/>
              </a:spcAft>
              <a:buClr>
                <a:schemeClr val="accent6"/>
              </a:buClr>
              <a:buSzPts val="1200"/>
              <a:buChar char="●"/>
            </a:pPr>
            <a:r>
              <a:rPr b="1" lang="en">
                <a:solidFill>
                  <a:schemeClr val="accent6"/>
                </a:solidFill>
              </a:rPr>
              <a:t>SITE</a:t>
            </a:r>
            <a:r>
              <a:rPr b="1" lang="en"/>
              <a:t>: balanced representation learning method</a:t>
            </a:r>
            <a:r>
              <a:rPr lang="en"/>
              <a:t> that </a:t>
            </a:r>
            <a:br>
              <a:rPr lang="en"/>
            </a:br>
            <a:r>
              <a:rPr lang="en"/>
              <a:t>preserves local similarity.</a:t>
            </a:r>
            <a:endParaRPr/>
          </a:p>
          <a:p>
            <a:pPr indent="-304800" lvl="0" marL="457200" rtl="0" algn="l">
              <a:spcBef>
                <a:spcPts val="0"/>
              </a:spcBef>
              <a:spcAft>
                <a:spcPts val="0"/>
              </a:spcAft>
              <a:buSzPts val="1200"/>
              <a:buChar char="●"/>
            </a:pPr>
            <a:r>
              <a:rPr lang="en"/>
              <a:t>Covariates:</a:t>
            </a:r>
            <a:endParaRPr/>
          </a:p>
          <a:p>
            <a:pPr indent="-304800" lvl="1" marL="914400" rtl="0" algn="l">
              <a:spcBef>
                <a:spcPts val="0"/>
              </a:spcBef>
              <a:spcAft>
                <a:spcPts val="0"/>
              </a:spcAft>
              <a:buSzPts val="1200"/>
              <a:buChar char="○"/>
            </a:pPr>
            <a:r>
              <a:rPr lang="en"/>
              <a:t>instrumental variables </a:t>
            </a:r>
            <a:endParaRPr/>
          </a:p>
          <a:p>
            <a:pPr indent="-304800" lvl="1" marL="914400" rtl="0" algn="l">
              <a:spcBef>
                <a:spcPts val="0"/>
              </a:spcBef>
              <a:spcAft>
                <a:spcPts val="0"/>
              </a:spcAft>
              <a:buSzPts val="1200"/>
              <a:buChar char="○"/>
            </a:pPr>
            <a:r>
              <a:rPr lang="en"/>
              <a:t>adjustment variables</a:t>
            </a:r>
            <a:endParaRPr/>
          </a:p>
          <a:p>
            <a:pPr indent="-304800" lvl="1" marL="914400" rtl="0" algn="l">
              <a:spcBef>
                <a:spcPts val="0"/>
              </a:spcBef>
              <a:spcAft>
                <a:spcPts val="0"/>
              </a:spcAft>
              <a:buSzPts val="1200"/>
              <a:buChar char="○"/>
            </a:pPr>
            <a:r>
              <a:rPr lang="en"/>
              <a:t>irrelevant variables</a:t>
            </a:r>
            <a:endParaRPr/>
          </a:p>
          <a:p>
            <a:pPr indent="-304800" lvl="1" marL="914400" rtl="0" algn="l">
              <a:spcBef>
                <a:spcPts val="0"/>
              </a:spcBef>
              <a:spcAft>
                <a:spcPts val="0"/>
              </a:spcAft>
              <a:buSzPts val="1200"/>
              <a:buChar char="○"/>
            </a:pPr>
            <a:r>
              <a:rPr lang="en"/>
              <a:t>confounders</a:t>
            </a:r>
            <a:endParaRPr/>
          </a:p>
        </p:txBody>
      </p:sp>
      <p:sp>
        <p:nvSpPr>
          <p:cNvPr id="608" name="Google Shape;608;p76"/>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100"/>
              <a:t>Causal Inference Through Covariate Balancing for (2) </a:t>
            </a:r>
            <a:endParaRPr sz="3000"/>
          </a:p>
        </p:txBody>
      </p:sp>
      <p:sp>
        <p:nvSpPr>
          <p:cNvPr id="609" name="Google Shape;609;p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10" name="Google Shape;610;p76"/>
          <p:cNvPicPr preferRelativeResize="0"/>
          <p:nvPr/>
        </p:nvPicPr>
        <p:blipFill>
          <a:blip r:embed="rId3">
            <a:alphaModFix/>
          </a:blip>
          <a:stretch>
            <a:fillRect/>
          </a:stretch>
        </p:blipFill>
        <p:spPr>
          <a:xfrm>
            <a:off x="5284590" y="1054613"/>
            <a:ext cx="3820885" cy="35973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7"/>
          <p:cNvSpPr txBox="1"/>
          <p:nvPr>
            <p:ph idx="1" type="body"/>
          </p:nvPr>
        </p:nvSpPr>
        <p:spPr>
          <a:xfrm>
            <a:off x="713225" y="1152475"/>
            <a:ext cx="46902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GANITE:</a:t>
            </a:r>
            <a:r>
              <a:rPr lang="en"/>
              <a:t> generate the counterfactual outcomes for a given set of covariates. It can deal with multiple treatment situations, At the same time, although there are multiple treatment variables to choose from, only one of them can be selected to match the actual situation.</a:t>
            </a:r>
            <a:endParaRPr/>
          </a:p>
          <a:p>
            <a:pPr indent="-304800" lvl="0" marL="457200" rtl="0" algn="l">
              <a:spcBef>
                <a:spcPts val="0"/>
              </a:spcBef>
              <a:spcAft>
                <a:spcPts val="0"/>
              </a:spcAft>
              <a:buSzPts val="1200"/>
              <a:buChar char="●"/>
            </a:pPr>
            <a:r>
              <a:rPr b="1" lang="en"/>
              <a:t>SCIGAN: </a:t>
            </a:r>
            <a:r>
              <a:rPr lang="en"/>
              <a:t>provides a theoretical verification of causal estimation under the GAN framework</a:t>
            </a:r>
            <a:endParaRPr/>
          </a:p>
          <a:p>
            <a:pPr indent="0" lvl="0" marL="0" rtl="0" algn="l">
              <a:spcBef>
                <a:spcPts val="1600"/>
              </a:spcBef>
              <a:spcAft>
                <a:spcPts val="1600"/>
              </a:spcAft>
              <a:buNone/>
            </a:pPr>
            <a:r>
              <a:t/>
            </a:r>
            <a:endParaRPr b="1"/>
          </a:p>
        </p:txBody>
      </p:sp>
      <p:sp>
        <p:nvSpPr>
          <p:cNvPr id="616" name="Google Shape;616;p77"/>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Adversarial Training for Causal Inference</a:t>
            </a:r>
            <a:endParaRPr sz="2600"/>
          </a:p>
        </p:txBody>
      </p:sp>
      <p:sp>
        <p:nvSpPr>
          <p:cNvPr id="617" name="Google Shape;617;p7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18" name="Google Shape;618;p77"/>
          <p:cNvPicPr preferRelativeResize="0"/>
          <p:nvPr/>
        </p:nvPicPr>
        <p:blipFill>
          <a:blip r:embed="rId3">
            <a:alphaModFix/>
          </a:blip>
          <a:stretch>
            <a:fillRect/>
          </a:stretch>
        </p:blipFill>
        <p:spPr>
          <a:xfrm>
            <a:off x="5025950" y="2157925"/>
            <a:ext cx="4079524" cy="2681724"/>
          </a:xfrm>
          <a:prstGeom prst="rect">
            <a:avLst/>
          </a:prstGeom>
          <a:noFill/>
          <a:ln>
            <a:noFill/>
          </a:ln>
        </p:spPr>
      </p:pic>
      <p:pic>
        <p:nvPicPr>
          <p:cNvPr id="619" name="Google Shape;619;p77"/>
          <p:cNvPicPr preferRelativeResize="0"/>
          <p:nvPr/>
        </p:nvPicPr>
        <p:blipFill>
          <a:blip r:embed="rId4">
            <a:alphaModFix/>
          </a:blip>
          <a:stretch>
            <a:fillRect/>
          </a:stretch>
        </p:blipFill>
        <p:spPr>
          <a:xfrm>
            <a:off x="1119425" y="3450377"/>
            <a:ext cx="3687649" cy="13892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8"/>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utilize </a:t>
            </a:r>
            <a:r>
              <a:rPr b="1" lang="en">
                <a:solidFill>
                  <a:schemeClr val="accent5"/>
                </a:solidFill>
              </a:rPr>
              <a:t>proxy variables</a:t>
            </a:r>
            <a:r>
              <a:rPr lang="en"/>
              <a:t> to separate different types of variables using disentangle representations.</a:t>
            </a:r>
            <a:endParaRPr/>
          </a:p>
          <a:p>
            <a:pPr indent="-304800" lvl="0" marL="457200" rtl="0" algn="l">
              <a:spcBef>
                <a:spcPts val="0"/>
              </a:spcBef>
              <a:spcAft>
                <a:spcPts val="0"/>
              </a:spcAft>
              <a:buSzPts val="1200"/>
              <a:buChar char="●"/>
            </a:pPr>
            <a:r>
              <a:rPr lang="en"/>
              <a:t>how these proxy variables are used depends on their relationship to the unobserved confounders, treatments, and outcomes</a:t>
            </a:r>
            <a:endParaRPr/>
          </a:p>
          <a:p>
            <a:pPr indent="-304800" lvl="0" marL="457200" rtl="0" algn="l">
              <a:spcBef>
                <a:spcPts val="0"/>
              </a:spcBef>
              <a:spcAft>
                <a:spcPts val="0"/>
              </a:spcAft>
              <a:buClr>
                <a:schemeClr val="accent6"/>
              </a:buClr>
              <a:buSzPts val="1200"/>
              <a:buChar char="●"/>
            </a:pPr>
            <a:r>
              <a:rPr b="1" lang="en">
                <a:solidFill>
                  <a:schemeClr val="accent6"/>
                </a:solidFill>
              </a:rPr>
              <a:t>CEVAE:</a:t>
            </a:r>
            <a:r>
              <a:rPr lang="en">
                <a:solidFill>
                  <a:schemeClr val="accent6"/>
                </a:solidFill>
              </a:rPr>
              <a:t> </a:t>
            </a:r>
            <a:r>
              <a:rPr lang="en"/>
              <a:t>uses latent variable generative models to discover unobserved confounders from the perspective of maximum likelihood.</a:t>
            </a:r>
            <a:endParaRPr/>
          </a:p>
          <a:p>
            <a:pPr indent="-304800" lvl="1" marL="914400" rtl="0" algn="l">
              <a:spcBef>
                <a:spcPts val="0"/>
              </a:spcBef>
              <a:spcAft>
                <a:spcPts val="0"/>
              </a:spcAft>
              <a:buSzPts val="1200"/>
              <a:buChar char="○"/>
            </a:pPr>
            <a:r>
              <a:rPr lang="en"/>
              <a:t>The nonlinearity of the neural network is used to detect the nonlinearity of </a:t>
            </a:r>
            <a:br>
              <a:rPr lang="en"/>
            </a:br>
            <a:r>
              <a:rPr lang="en"/>
              <a:t>causal effects; that is, the neural network is used to fit the causal relationship </a:t>
            </a:r>
            <a:br>
              <a:rPr lang="en"/>
            </a:br>
            <a:r>
              <a:rPr lang="en"/>
              <a:t>between the variables </a:t>
            </a:r>
            <a:endParaRPr/>
          </a:p>
          <a:p>
            <a:pPr indent="-304800" lvl="1" marL="914400" rtl="0" algn="l">
              <a:spcBef>
                <a:spcPts val="0"/>
              </a:spcBef>
              <a:spcAft>
                <a:spcPts val="0"/>
              </a:spcAft>
              <a:buSzPts val="1200"/>
              <a:buChar char="○"/>
            </a:pPr>
            <a:r>
              <a:rPr lang="en"/>
              <a:t> </a:t>
            </a:r>
            <a:r>
              <a:rPr b="1" lang="en"/>
              <a:t>variational inference</a:t>
            </a:r>
            <a:r>
              <a:rPr lang="en"/>
              <a:t> to obtain the probability distribution needed to estimate </a:t>
            </a:r>
            <a:br>
              <a:rPr lang="en"/>
            </a:br>
            <a:r>
              <a:rPr lang="en"/>
              <a:t>causal effects</a:t>
            </a:r>
            <a:endParaRPr/>
          </a:p>
          <a:p>
            <a:pPr indent="-304800" lvl="1" marL="914400" rtl="0" algn="l">
              <a:spcBef>
                <a:spcPts val="0"/>
              </a:spcBef>
              <a:spcAft>
                <a:spcPts val="0"/>
              </a:spcAft>
              <a:buSzPts val="1200"/>
              <a:buChar char="○"/>
            </a:pPr>
            <a:r>
              <a:rPr lang="en"/>
              <a:t>it can </a:t>
            </a:r>
            <a:r>
              <a:rPr b="1" lang="en"/>
              <a:t>cope well with the presence of unobserved confounders</a:t>
            </a:r>
            <a:r>
              <a:rPr lang="en"/>
              <a:t>, but the disadvantage is the lack of theoretical guarantees</a:t>
            </a:r>
            <a:endParaRPr/>
          </a:p>
          <a:p>
            <a:pPr indent="-304800" lvl="0" marL="457200" rtl="0" algn="l">
              <a:spcBef>
                <a:spcPts val="0"/>
              </a:spcBef>
              <a:spcAft>
                <a:spcPts val="0"/>
              </a:spcAft>
              <a:buClr>
                <a:schemeClr val="accent6"/>
              </a:buClr>
              <a:buSzPts val="1200"/>
              <a:buChar char="●"/>
            </a:pPr>
            <a:r>
              <a:rPr b="1" lang="en">
                <a:solidFill>
                  <a:schemeClr val="accent6"/>
                </a:solidFill>
              </a:rPr>
              <a:t>TEDVAE</a:t>
            </a:r>
            <a:r>
              <a:rPr b="1" lang="en">
                <a:solidFill>
                  <a:srgbClr val="666666"/>
                </a:solidFill>
              </a:rPr>
              <a:t>: </a:t>
            </a:r>
            <a:r>
              <a:rPr lang="en">
                <a:solidFill>
                  <a:srgbClr val="666666"/>
                </a:solidFill>
              </a:rPr>
              <a:t>use variational inference to infer latent variables from observed data and decouples them into these three types of variables</a:t>
            </a:r>
            <a:endParaRPr>
              <a:solidFill>
                <a:srgbClr val="666666"/>
              </a:solidFill>
            </a:endParaRPr>
          </a:p>
          <a:p>
            <a:pPr indent="-304800" lvl="1" marL="914400" rtl="0" algn="l">
              <a:spcBef>
                <a:spcPts val="0"/>
              </a:spcBef>
              <a:spcAft>
                <a:spcPts val="0"/>
              </a:spcAft>
              <a:buClr>
                <a:srgbClr val="666666"/>
              </a:buClr>
              <a:buSzPts val="1200"/>
              <a:buChar char="○"/>
            </a:pPr>
            <a:r>
              <a:rPr lang="en">
                <a:solidFill>
                  <a:srgbClr val="666666"/>
                </a:solidFill>
              </a:rPr>
              <a:t>can also be used for </a:t>
            </a:r>
            <a:r>
              <a:rPr b="1" lang="en">
                <a:solidFill>
                  <a:schemeClr val="accent6"/>
                </a:solidFill>
              </a:rPr>
              <a:t>continuous </a:t>
            </a:r>
            <a:r>
              <a:rPr lang="en">
                <a:solidFill>
                  <a:srgbClr val="666666"/>
                </a:solidFill>
              </a:rPr>
              <a:t>treatment variables.</a:t>
            </a:r>
            <a:endParaRPr>
              <a:solidFill>
                <a:srgbClr val="666666"/>
              </a:solidFill>
            </a:endParaRPr>
          </a:p>
        </p:txBody>
      </p:sp>
      <p:sp>
        <p:nvSpPr>
          <p:cNvPr id="625" name="Google Shape;625;p78"/>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 Proxy Variable-based Causal Inference</a:t>
            </a:r>
            <a:endParaRPr sz="2600"/>
          </a:p>
        </p:txBody>
      </p:sp>
      <p:sp>
        <p:nvSpPr>
          <p:cNvPr id="626" name="Google Shape;626;p7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27" name="Google Shape;627;p78"/>
          <p:cNvPicPr preferRelativeResize="0"/>
          <p:nvPr/>
        </p:nvPicPr>
        <p:blipFill>
          <a:blip r:embed="rId3">
            <a:alphaModFix/>
          </a:blip>
          <a:stretch>
            <a:fillRect/>
          </a:stretch>
        </p:blipFill>
        <p:spPr>
          <a:xfrm>
            <a:off x="7426093" y="2121113"/>
            <a:ext cx="1384425" cy="14643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9"/>
          <p:cNvSpPr txBox="1"/>
          <p:nvPr>
            <p:ph idx="1" type="body"/>
          </p:nvPr>
        </p:nvSpPr>
        <p:spPr>
          <a:xfrm>
            <a:off x="713225" y="1152475"/>
            <a:ext cx="30381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timeline of the main deep causal inference methods according to </a:t>
            </a:r>
            <a:r>
              <a:rPr b="1" lang="en"/>
              <a:t>covariate balance-based</a:t>
            </a:r>
            <a:r>
              <a:rPr lang="en"/>
              <a:t>, </a:t>
            </a:r>
            <a:r>
              <a:rPr b="1" lang="en"/>
              <a:t>adversarial training-based</a:t>
            </a:r>
            <a:r>
              <a:rPr lang="en"/>
              <a:t> and </a:t>
            </a:r>
            <a:r>
              <a:rPr b="1" lang="en"/>
              <a:t>proxy variable-based</a:t>
            </a:r>
            <a:r>
              <a:rPr lang="en"/>
              <a:t> methods.</a:t>
            </a:r>
            <a:endParaRPr/>
          </a:p>
          <a:p>
            <a:pPr indent="-304800" lvl="0" marL="457200" rtl="0" algn="l">
              <a:spcBef>
                <a:spcPts val="0"/>
              </a:spcBef>
              <a:spcAft>
                <a:spcPts val="0"/>
              </a:spcAft>
              <a:buSzPts val="1200"/>
              <a:buChar char="●"/>
            </a:pPr>
            <a:r>
              <a:rPr b="1" lang="en"/>
              <a:t>covariate balance-based methods are the core of deep causal inference methods</a:t>
            </a:r>
            <a:r>
              <a:rPr lang="en"/>
              <a:t>; adversarial training-based and proxy variable-based methods have received increasing attention in recent years.</a:t>
            </a:r>
            <a:endParaRPr/>
          </a:p>
        </p:txBody>
      </p:sp>
      <p:sp>
        <p:nvSpPr>
          <p:cNvPr id="633" name="Google Shape;633;p79"/>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5" name="Google Shape;635;p79"/>
          <p:cNvPicPr preferRelativeResize="0"/>
          <p:nvPr/>
        </p:nvPicPr>
        <p:blipFill>
          <a:blip r:embed="rId3">
            <a:alphaModFix/>
          </a:blip>
          <a:stretch>
            <a:fillRect/>
          </a:stretch>
        </p:blipFill>
        <p:spPr>
          <a:xfrm>
            <a:off x="3751250" y="1563400"/>
            <a:ext cx="5392749" cy="318645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0"/>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deep fusion of neural networks and structural causal models resulted in a new model called the deep structural causal model.</a:t>
            </a:r>
            <a:endParaRPr/>
          </a:p>
          <a:p>
            <a:pPr indent="-304800" lvl="0" marL="457200" rtl="0" algn="l">
              <a:spcBef>
                <a:spcPts val="0"/>
              </a:spcBef>
              <a:spcAft>
                <a:spcPts val="0"/>
              </a:spcAft>
              <a:buSzPts val="1200"/>
              <a:buChar char="●"/>
            </a:pPr>
            <a:r>
              <a:rPr lang="en"/>
              <a:t>They usually include a</a:t>
            </a:r>
            <a:r>
              <a:rPr b="1" lang="en"/>
              <a:t> general approximation</a:t>
            </a:r>
            <a:r>
              <a:rPr lang="en"/>
              <a:t> of neural networks and can model </a:t>
            </a:r>
            <a:r>
              <a:rPr b="1" lang="en"/>
              <a:t>intervention distributions </a:t>
            </a:r>
            <a:r>
              <a:rPr lang="en"/>
              <a:t>and </a:t>
            </a:r>
            <a:r>
              <a:rPr b="1" lang="en"/>
              <a:t>counterfactual distributions</a:t>
            </a:r>
            <a:r>
              <a:rPr lang="en"/>
              <a:t>.</a:t>
            </a:r>
            <a:endParaRPr/>
          </a:p>
          <a:p>
            <a:pPr indent="-304800" lvl="0" marL="457200" rtl="0" algn="l">
              <a:spcBef>
                <a:spcPts val="0"/>
              </a:spcBef>
              <a:spcAft>
                <a:spcPts val="0"/>
              </a:spcAft>
              <a:buClr>
                <a:schemeClr val="accent6"/>
              </a:buClr>
              <a:buSzPts val="1200"/>
              <a:buChar char="●"/>
            </a:pPr>
            <a:r>
              <a:rPr b="1" lang="en">
                <a:solidFill>
                  <a:schemeClr val="accent6"/>
                </a:solidFill>
              </a:rPr>
              <a:t>GNN-SCM</a:t>
            </a:r>
            <a:r>
              <a:rPr b="1" lang="en"/>
              <a:t>:</a:t>
            </a:r>
            <a:endParaRPr b="1"/>
          </a:p>
          <a:p>
            <a:pPr indent="-304800" lvl="1" marL="914400" rtl="0" algn="l">
              <a:spcBef>
                <a:spcPts val="0"/>
              </a:spcBef>
              <a:spcAft>
                <a:spcPts val="0"/>
              </a:spcAft>
              <a:buSzPts val="1200"/>
              <a:buChar char="○"/>
            </a:pPr>
            <a:r>
              <a:rPr b="1" lang="en"/>
              <a:t>GNN: </a:t>
            </a:r>
            <a:r>
              <a:rPr lang="en"/>
              <a:t>nonparametric function approximators for structural information.</a:t>
            </a:r>
            <a:endParaRPr/>
          </a:p>
          <a:p>
            <a:pPr indent="-304800" lvl="1" marL="914400" rtl="0" algn="l">
              <a:spcBef>
                <a:spcPts val="0"/>
              </a:spcBef>
              <a:spcAft>
                <a:spcPts val="0"/>
              </a:spcAft>
              <a:buSzPts val="1200"/>
              <a:buChar char="○"/>
            </a:pPr>
            <a:r>
              <a:rPr b="1" lang="en"/>
              <a:t>SCM:</a:t>
            </a:r>
            <a:r>
              <a:rPr lang="en"/>
              <a:t> realistic model for data generation</a:t>
            </a:r>
            <a:endParaRPr/>
          </a:p>
          <a:p>
            <a:pPr indent="-304800" lvl="0" marL="457200" rtl="0" algn="l">
              <a:spcBef>
                <a:spcPts val="0"/>
              </a:spcBef>
              <a:spcAft>
                <a:spcPts val="0"/>
              </a:spcAft>
              <a:buSzPts val="1200"/>
              <a:buChar char="●"/>
            </a:pPr>
            <a:r>
              <a:rPr lang="en"/>
              <a:t>intervention is not necessary to identify causal effects</a:t>
            </a:r>
            <a:endParaRPr/>
          </a:p>
          <a:p>
            <a:pPr indent="-304800" lvl="0" marL="457200" rtl="0" algn="l">
              <a:spcBef>
                <a:spcPts val="0"/>
              </a:spcBef>
              <a:spcAft>
                <a:spcPts val="0"/>
              </a:spcAft>
              <a:buSzPts val="1200"/>
              <a:buChar char="●"/>
            </a:pPr>
            <a:r>
              <a:rPr lang="en"/>
              <a:t>To build a deep structural causal model, the ability to model a distribution with three levels is required: association, intervention, and counterfactual</a:t>
            </a:r>
            <a:endParaRPr/>
          </a:p>
          <a:p>
            <a:pPr indent="-304800" lvl="0" marL="457200" rtl="0" algn="l">
              <a:spcBef>
                <a:spcPts val="0"/>
              </a:spcBef>
              <a:spcAft>
                <a:spcPts val="0"/>
              </a:spcAft>
              <a:buSzPts val="1200"/>
              <a:buChar char="●"/>
            </a:pPr>
            <a:r>
              <a:rPr lang="en"/>
              <a:t>Three types of deep mechanisms combined with SCM have been discussed: explicit likelihood, amortized explicit likelihood, and amortized implicit likelihood.</a:t>
            </a:r>
            <a:endParaRPr/>
          </a:p>
        </p:txBody>
      </p:sp>
      <p:sp>
        <p:nvSpPr>
          <p:cNvPr id="641" name="Google Shape;641;p80"/>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Structural Causal Model</a:t>
            </a:r>
            <a:endParaRPr/>
          </a:p>
        </p:txBody>
      </p:sp>
      <p:sp>
        <p:nvSpPr>
          <p:cNvPr id="642" name="Google Shape;642;p8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1"/>
          <p:cNvSpPr txBox="1"/>
          <p:nvPr>
            <p:ph type="title"/>
          </p:nvPr>
        </p:nvSpPr>
        <p:spPr>
          <a:xfrm>
            <a:off x="713225" y="1170000"/>
            <a:ext cx="5533200" cy="280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400"/>
              <a:t>End</a:t>
            </a:r>
            <a:endParaRPr sz="4400"/>
          </a:p>
        </p:txBody>
      </p:sp>
      <p:sp>
        <p:nvSpPr>
          <p:cNvPr id="648" name="Google Shape;648;p8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nagement Consulting Toolkit by Slidesgo">
  <a:themeElements>
    <a:clrScheme name="Simple Light">
      <a:dk1>
        <a:srgbClr val="000000"/>
      </a:dk1>
      <a:lt1>
        <a:srgbClr val="FFFFFF"/>
      </a:lt1>
      <a:dk2>
        <a:srgbClr val="F5BEBE"/>
      </a:dk2>
      <a:lt2>
        <a:srgbClr val="EFEFEF"/>
      </a:lt2>
      <a:accent1>
        <a:srgbClr val="C2BCBC"/>
      </a:accent1>
      <a:accent2>
        <a:srgbClr val="000000"/>
      </a:accent2>
      <a:accent3>
        <a:srgbClr val="F1BEBC"/>
      </a:accent3>
      <a:accent4>
        <a:srgbClr val="EFEFEF"/>
      </a:accent4>
      <a:accent5>
        <a:srgbClr val="3C78D8"/>
      </a:accent5>
      <a:accent6>
        <a:srgbClr val="E06666"/>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