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E59A0D-9DF7-454B-B2D8-89578B664C26}">
  <a:tblStyle styleId="{60E59A0D-9DF7-454B-B2D8-89578B664C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a97ba48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a97ba48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a97ba48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2a97ba48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2a97ba48cc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2a97ba48cc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c6b0afd4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c6b0afd4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a97ba48c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a97ba48c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a97ba48c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a97ba48c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cc755ff2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cc755ff2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cc755ff2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cc755ff2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cc755ff2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3cc755ff2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cc755ff2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3cc755ff2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a97ba48c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2a97ba48c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ce0cdca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ce0cdca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ce0cdcaf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ce0cdca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3ce0cdcaf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3ce0cdcaf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ce0cdcaf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3ce0cdcaf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3ce0cdcaf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3ce0cdcaf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ce0cdcaf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3ce0cdcaf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3ce0cdcaf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3ce0cdcaf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3ce0cdcaf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3ce0cdcaf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3ce0cdcaf9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3ce0cdcaf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3ce0cdcaf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3ce0cdcaf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3ce0cdcaf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3ce0cdcaf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ce0cdcaf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3ce0cdcaf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3ce0cdcaf9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3ce0cdcaf9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ce0cdcaf9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ce0cdcaf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ce0cdcaf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3ce0cdcaf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3ce0cdcaf9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3ce0cdcaf9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3ce0cdcaf9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3ce0cdcaf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3ce0cdcaf9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3ce0cdcaf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ce0cdcaf9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ce0cdcaf9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3ce0cdcaf9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3ce0cdcaf9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57199" y="324017"/>
            <a:ext cx="82295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1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113259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100"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1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7071122" y="4970151"/>
            <a:ext cx="1028700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2431256" y="4972467"/>
            <a:ext cx="4281488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58200" y="4967835"/>
            <a:ext cx="685800" cy="17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2022 JDP –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AI Detection and Causality Inferences for Fab Operations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727950" y="3205450"/>
            <a:ext cx="76881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Advisor: Wen-Chih Peng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Student: Zheng-Ming (Paul) Lin, Ching (Jason) Chang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Date: 2022/07/14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LotAction - TSMC’s solutions and pain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Open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Log parser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Anomaly Detection/Localization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Root Cause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Surveyed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Uniparser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WWW 2022</a:t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Review - </a:t>
            </a:r>
            <a:r>
              <a:rPr lang="zh-TW"/>
              <a:t>張敬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Done in the past two weeks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Collect open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Graph-based root cause analysis for service-oriented and microservice architectures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JSS 2020 (Q1 journal), #citations = 38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To 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Reproduce the results in DeepTraLog</a:t>
            </a:r>
            <a:endParaRPr/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Done in the past two weeks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Survey the method of the log clustering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UniParser: A Unified Log Parser for Heterogeneous Log Data</a:t>
            </a:r>
            <a:endParaRPr sz="18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WWW, 2022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SwissLog: Robust Anomaly Detection and Localization for Interleaved Unstructured Logs</a:t>
            </a:r>
            <a:endParaRPr sz="18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IEEE Transactions on Dependable and Secure Computing, 2022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To do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Review the paper that we have surveyed and try to reproduce the result</a:t>
            </a:r>
            <a:endParaRPr sz="1800"/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Review - </a:t>
            </a:r>
            <a:r>
              <a:rPr lang="zh-TW"/>
              <a:t>正明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Internship plan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11月底前完成演算法設計與程式開發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12月底前完成報告撰寫 (論文明年2月底前完成即可)</a:t>
            </a:r>
            <a:endParaRPr/>
          </a:p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8146"/>
            <a:ext cx="9144000" cy="2807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{60E59A0D-9DF7-454B-B2D8-89578B664C26}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Unsupervised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Offline or Online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Online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type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Metric + Log + Trace + Changelog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/>
                        <a:t>System log (kubernetes-related)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Application 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Multiple sources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time mismatch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log sparsity issue (error message)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Log parsing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Causality/Interpretability/Explainability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21"/>
          <p:cNvSpPr txBox="1"/>
          <p:nvPr/>
        </p:nvSpPr>
        <p:spPr>
          <a:xfrm>
            <a:off x="562450" y="4659925"/>
            <a:ext cx="79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Keywords: micro services, causal graph, root cause analysis, causal inference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LotAction - TSMC’s solutions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Metric跟Log分開分析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Metric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單變量 (why?)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預測模型 + 卡threshold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單變量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使用Drain來parse log，轉成time series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與Metric相同的模型 (預測模型 + 卡threshold)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Not ready</a:t>
            </a:r>
            <a:endParaRPr/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LotAction - TSMC’s solutions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Changelog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大部分的anomaly其實都來自於change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根據changelog產生”change”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Ex: DB要change，2022/07/03 00:00 ~ 2022/07/04 00:00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跟time series計算相似度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change非常多，加入filter來決定要比對的change</a:t>
            </a:r>
            <a:endParaRPr/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001" y="2381325"/>
            <a:ext cx="4398026" cy="14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LotAction - TSMC’s pain points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Log Parser - Drain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Parse到後面會有大量wildcard的問題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同樣屬性的log會對應到不同的template (?)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Combine multiple data sources (Anomaly Detection)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同時使用多個data source的"raw"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Changelog其實佔大宗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Causal Relations (Root Cause Analysis)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嘗試演算法：BBN、TCDF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問題：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zh-TW"/>
              <a:t>超參數微調會有完全不同的結果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zh-TW"/>
              <a:t>執行時間過久</a:t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Open Dataset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Log parser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Anomaly Detection/Localization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Root Cause Analysis</a:t>
            </a:r>
            <a:endParaRPr/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~~~~~~~~~~~~~~~~~~~~~~~~~~~~~~~</a:t>
            </a:r>
            <a:endParaRPr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ctrTitle"/>
          </p:nvPr>
        </p:nvSpPr>
        <p:spPr>
          <a:xfrm>
            <a:off x="311700" y="1101050"/>
            <a:ext cx="8520600" cy="183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33">
                <a:latin typeface="Calibri"/>
                <a:ea typeface="Calibri"/>
                <a:cs typeface="Calibri"/>
                <a:sym typeface="Calibri"/>
              </a:rPr>
              <a:t>UniParser: A Unified Log Parser for Heterogeneous Log Data</a:t>
            </a:r>
            <a:endParaRPr sz="48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7"/>
          <p:cNvSpPr txBox="1"/>
          <p:nvPr>
            <p:ph idx="1" type="subTitle"/>
          </p:nvPr>
        </p:nvSpPr>
        <p:spPr>
          <a:xfrm>
            <a:off x="727950" y="3011350"/>
            <a:ext cx="76881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Yudong Liu, Xu Zhang, Shilin He, Hongyu Zhang, Liqun Li, Yu Kang, Yong Xu, Minghua Ma, Qingwei Lin, Yingnong Dang, Saravan Rajmohan, Dongmei Zhang</a:t>
            </a:r>
            <a:endParaRPr sz="1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WWW 2022</a:t>
            </a:r>
            <a:endParaRPr sz="1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2000">
                <a:latin typeface="Calibri"/>
                <a:ea typeface="Calibri"/>
                <a:cs typeface="Calibri"/>
                <a:sym typeface="Calibri"/>
              </a:rPr>
              <a:t>Speaker: Zheng-Ming Lin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2000">
                <a:latin typeface="Calibri"/>
                <a:ea typeface="Calibri"/>
                <a:cs typeface="Calibri"/>
                <a:sym typeface="Calibri"/>
              </a:rPr>
              <a:t>Date: 2022/7/11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Drain: An Online Log Parsing Approach with Fixed Depth Tree (ICWS 2017)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new raw log message arrives, Drain will preprocess it by simple regular expressions based on domain knowledge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we search a log group (i.e., leaf node of the tree) by following the specially-designed rules encoded in the internal nodes of the tree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suitable log group is found, the log message will be matched with the log event stored in that log group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a new log group will be created based on the log message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311700" y="1152475"/>
            <a:ext cx="46320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zh-TW" sz="1600">
                <a:solidFill>
                  <a:srgbClr val="FF0000"/>
                </a:solidFill>
              </a:rPr>
              <a:t>Internal nodes</a:t>
            </a:r>
            <a:r>
              <a:rPr lang="zh-TW" sz="1600">
                <a:solidFill>
                  <a:srgbClr val="595959"/>
                </a:solidFill>
              </a:rPr>
              <a:t> </a:t>
            </a:r>
            <a:r>
              <a:rPr lang="zh-TW" sz="1600"/>
              <a:t>encode specially-designed rules to guide the search process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zh-TW" sz="1600"/>
              <a:t>Each path in the parse tree ends with a</a:t>
            </a:r>
            <a:r>
              <a:rPr lang="zh-TW" sz="1600">
                <a:solidFill>
                  <a:srgbClr val="595959"/>
                </a:solidFill>
              </a:rPr>
              <a:t> </a:t>
            </a:r>
            <a:r>
              <a:rPr lang="zh-TW" sz="1600">
                <a:solidFill>
                  <a:srgbClr val="FF0000"/>
                </a:solidFill>
              </a:rPr>
              <a:t>leaf node</a:t>
            </a:r>
            <a:r>
              <a:rPr lang="zh-TW" sz="1600">
                <a:solidFill>
                  <a:srgbClr val="595959"/>
                </a:solidFill>
              </a:rPr>
              <a:t>, </a:t>
            </a:r>
            <a:r>
              <a:rPr lang="zh-TW" sz="1600"/>
              <a:t>which stores </a:t>
            </a:r>
            <a:r>
              <a:rPr b="1" i="1" lang="zh-TW" sz="1600" u="sng"/>
              <a:t>a list of log groups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zh-TW" sz="1600"/>
              <a:t>Each log group has two parts: </a:t>
            </a:r>
            <a:r>
              <a:rPr lang="zh-TW" sz="1600" u="sng"/>
              <a:t>log event</a:t>
            </a:r>
            <a:r>
              <a:rPr lang="zh-TW" sz="1600"/>
              <a:t> and </a:t>
            </a:r>
            <a:r>
              <a:rPr lang="zh-TW" sz="1600" u="sng"/>
              <a:t>log IDs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zh-TW" u="sng"/>
              <a:t>Log event</a:t>
            </a:r>
            <a:r>
              <a:rPr lang="zh-TW"/>
              <a:t> is the template that best describes the log messages in this group, which consists of the constant part of a log message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zh-TW" u="sng"/>
              <a:t>Log IDs</a:t>
            </a:r>
            <a:r>
              <a:rPr lang="zh-TW"/>
              <a:t> records the IDs of log messages in this group</a:t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7425" y="1295900"/>
            <a:ext cx="3838500" cy="3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5" name="Google Shape;175;p30"/>
          <p:cNvSpPr txBox="1"/>
          <p:nvPr/>
        </p:nvSpPr>
        <p:spPr>
          <a:xfrm>
            <a:off x="311700" y="1152475"/>
            <a:ext cx="46320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zh-TW" sz="1800"/>
              <a:t>The depth of all leaf nodes are the same and are fixed by a predefined parameter</a:t>
            </a:r>
            <a:r>
              <a:rPr lang="zh-TW" sz="1800">
                <a:solidFill>
                  <a:srgbClr val="595959"/>
                </a:solidFill>
              </a:rPr>
              <a:t> </a:t>
            </a:r>
            <a:r>
              <a:rPr i="1" lang="zh-TW" sz="1800">
                <a:solidFill>
                  <a:srgbClr val="FF0000"/>
                </a:solidFill>
              </a:rPr>
              <a:t>depth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zh-TW"/>
              <a:t>This parameter bounds the number of nodes Drain visits during the search process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zh-TW" sz="1800"/>
              <a:t>To avoid tree branch explosion, we employ a parameter </a:t>
            </a:r>
            <a:r>
              <a:rPr i="1" lang="zh-TW" sz="1800">
                <a:solidFill>
                  <a:srgbClr val="FF0000"/>
                </a:solidFill>
              </a:rPr>
              <a:t>maxChild</a:t>
            </a:r>
            <a:r>
              <a:rPr lang="zh-TW" sz="1800"/>
              <a:t>, which restricts the maximum number of children of a node</a:t>
            </a:r>
            <a:endParaRPr sz="1800"/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7425" y="1295900"/>
            <a:ext cx="3838500" cy="3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00" y="1152325"/>
            <a:ext cx="4362549" cy="35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8600" y="1486525"/>
            <a:ext cx="4362550" cy="284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/>
          <p:nvPr/>
        </p:nvSpPr>
        <p:spPr>
          <a:xfrm>
            <a:off x="534800" y="1793150"/>
            <a:ext cx="3649200" cy="3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1"/>
          <p:cNvSpPr/>
          <p:nvPr/>
        </p:nvSpPr>
        <p:spPr>
          <a:xfrm>
            <a:off x="199575" y="2374950"/>
            <a:ext cx="4110300" cy="3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0025" y="3"/>
            <a:ext cx="5518050" cy="106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/>
          <p:nvPr/>
        </p:nvSpPr>
        <p:spPr>
          <a:xfrm>
            <a:off x="534800" y="2956750"/>
            <a:ext cx="3927600" cy="111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Problem 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Ignoring semantic meaning of log tokens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Barrier among different log sources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contents from different systems or services are characterized by their high diversity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Improper evaluation metrics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763" y="2154499"/>
            <a:ext cx="6458474" cy="25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raw log message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zh-TW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zh-TW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tokens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[t</a:t>
            </a:r>
            <a:r>
              <a:rPr baseline="-25000"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t</a:t>
            </a:r>
            <a:r>
              <a:rPr baseline="-25000"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…, t</a:t>
            </a:r>
            <a:r>
              <a:rPr baseline="-25000"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whether each log token 𝑡</a:t>
            </a:r>
            <a:r>
              <a:rPr baseline="-25000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 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belongs to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template part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(𝑦</a:t>
            </a:r>
            <a:r>
              <a:rPr baseline="-25000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0) or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parameter part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(𝑦</a:t>
            </a:r>
            <a:r>
              <a:rPr baseline="-25000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4" name="Google Shape;204;p33"/>
          <p:cNvSpPr txBox="1"/>
          <p:nvPr/>
        </p:nvSpPr>
        <p:spPr>
          <a:xfrm>
            <a:off x="850800" y="4490575"/>
            <a:ext cx="744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During the training phase, we take labeled log data from multiple sources as a training dataset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UniParser Framework 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7400"/>
            <a:ext cx="8839199" cy="2806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7" name="Google Shape;21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Token Encoder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7400"/>
            <a:ext cx="8839199" cy="280660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5"/>
          <p:cNvSpPr/>
          <p:nvPr/>
        </p:nvSpPr>
        <p:spPr>
          <a:xfrm>
            <a:off x="7817500" y="2060525"/>
            <a:ext cx="1101000" cy="1022400"/>
          </a:xfrm>
          <a:prstGeom prst="roundRect">
            <a:avLst>
              <a:gd fmla="val 16667" name="adj"/>
            </a:avLst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Token Encoder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raw log message, conduct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word splitting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spaces, tabs, special characters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Encoder module encodes each split log token into a high-dimensional embedding vector as the model input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Diverse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dynamic log words pose a barrier in embedding matrix construction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endless unseen log tokens would incur the </a:t>
            </a: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out-of-vocabulary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problem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deal with this problem, utilize the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char-level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embedding[1] to encode log tokens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up an embedding layer to encode each character (1-of-m encoding)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up all char-level embedding vectors together within in a log token as its encoding vector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311725" y="431792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Xiang Zhang and Yann LeCun. 2015. Text understanding from scratch. arXiv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preprint arXiv:1502.01710 (2015)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3" name="Google Shape;2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Context Encoder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7400"/>
            <a:ext cx="8839199" cy="280660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7"/>
          <p:cNvSpPr/>
          <p:nvPr/>
        </p:nvSpPr>
        <p:spPr>
          <a:xfrm>
            <a:off x="4199750" y="2060550"/>
            <a:ext cx="3586200" cy="1934700"/>
          </a:xfrm>
          <a:prstGeom prst="roundRect">
            <a:avLst>
              <a:gd fmla="val 16667" name="adj"/>
            </a:avLst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Context Encoder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category (template or parameter) of a target log token is related to itself and its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neighboring tokens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 tend to emerge conjointly with some special characters or symbols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"30546173" is on the heels of an equal sign "="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are not so confident in determining the class of log token "/etc/data/" only depending on itself, its context "from" is conducive to classifying it as a parameter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825" y="3522825"/>
            <a:ext cx="6610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Context Encoder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every log token within a log message should be treated as the context of the target log token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Those log tokens far from the target one tend to be useless for classification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Regard the range from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left 𝑘 to right 𝑘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tokens around the target token as its context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noted that the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masked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during this process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purpose is expected to independently capture the patterns reflected by context tokens without the aid of the target log token itself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6" name="Google Shape;25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Context Similarity Encoder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7400"/>
            <a:ext cx="8839199" cy="280660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0"/>
          <p:cNvSpPr/>
          <p:nvPr/>
        </p:nvSpPr>
        <p:spPr>
          <a:xfrm>
            <a:off x="235950" y="2076275"/>
            <a:ext cx="3948300" cy="1856100"/>
          </a:xfrm>
          <a:prstGeom prst="roundRect">
            <a:avLst>
              <a:gd fmla="val 16667" name="adj"/>
            </a:avLst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Context Similarity Encoder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Char-level embedding is content-aware and will lead to dispersive encoding vectors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when we target to predict the class of token "initialized", its context "by OSAgent" in line 1 and "by perfCounter" in line 2 are very different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mitigate the effect of the content diversity,  guide Context Encoder module through the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contrast learning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the similar or dissimilar log messages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learning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Maximize the representation similarity of the positive pair, while minimize the negatives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363" y="2451050"/>
            <a:ext cx="4407274" cy="2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Context Similarity Encoder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obtain </a:t>
            </a:r>
            <a:r>
              <a:rPr lang="zh-TW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similar log messages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first cluster the training log data from heterogeneous log sources into several groups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log messages in each group are identical in </a:t>
            </a: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token length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as well as on the </a:t>
            </a: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 token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(as same as Drain)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clustering, utilize contrastive learning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assist the training of Context Encoder module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Randomly select one similar log messages and |𝑉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𝑑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dissimilar 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distance between two encoding vectors from similar contexts should be closer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dissimilar ones, their distances should be far apart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Loss Function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Token-level classification loss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Concatenate the encoding vectors generated from Token Encoder module and Context Encoder module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the classification layer on top of it to make predictions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872" y="2571738"/>
            <a:ext cx="4782025" cy="6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Loss Function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Context-level contrastive loss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𝑣: Represent encoding vector for target log context produced by the Context Encoder module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𝑣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𝑠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Denote the similar log vector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𝑣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𝑑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Denote the log vector from the dissimilar set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total loss is the weighted sum of the two losses, which can be formulated 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825" y="1609713"/>
            <a:ext cx="42100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750" y="4199175"/>
            <a:ext cx="384524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Metrics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7" name="Google Shape;297;p45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Accuracy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the corresponding set of log messages belonging to the same true log template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Group Accuracy prefers properly grouping logs under the same templates together, while the log templates and parameters may not be correctly identified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675" y="2980650"/>
            <a:ext cx="3927625" cy="187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311700" y="3181825"/>
            <a:ext cx="4593000" cy="18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Message-Level Accuracy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log message is considered correctly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parsed if and only if every token of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message is correctly identified as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or parameter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6" name="Google Shape;306;p46"/>
          <p:cNvSpPr txBox="1"/>
          <p:nvPr>
            <p:ph idx="1" type="body"/>
          </p:nvPr>
        </p:nvSpPr>
        <p:spPr>
          <a:xfrm>
            <a:off x="311700" y="1152475"/>
            <a:ext cx="8709600" cy="3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Ignoring semantic meaning of log tokens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Barrier among different log sources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Improper evaluation metrics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Utilize Token Encoder module and Context Encoder module to capture the patterns of templates and parameters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Similarity module is designed to focus on the commonalities of patterns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new metrics Message-level Accuracy to evaluate the model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