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  <p:sldMasterId id="2147483710" r:id="rId2"/>
  </p:sldMasterIdLst>
  <p:notesMasterIdLst>
    <p:notesMasterId r:id="rId26"/>
  </p:notesMasterIdLst>
  <p:sldIdLst>
    <p:sldId id="256" r:id="rId3"/>
    <p:sldId id="503" r:id="rId4"/>
    <p:sldId id="506" r:id="rId5"/>
    <p:sldId id="514" r:id="rId6"/>
    <p:sldId id="513" r:id="rId7"/>
    <p:sldId id="259" r:id="rId8"/>
    <p:sldId id="515" r:id="rId9"/>
    <p:sldId id="516" r:id="rId10"/>
    <p:sldId id="517" r:id="rId11"/>
    <p:sldId id="518" r:id="rId12"/>
    <p:sldId id="519" r:id="rId13"/>
    <p:sldId id="520" r:id="rId14"/>
    <p:sldId id="531" r:id="rId15"/>
    <p:sldId id="528" r:id="rId16"/>
    <p:sldId id="524" r:id="rId17"/>
    <p:sldId id="529" r:id="rId18"/>
    <p:sldId id="526" r:id="rId19"/>
    <p:sldId id="522" r:id="rId20"/>
    <p:sldId id="523" r:id="rId21"/>
    <p:sldId id="525" r:id="rId22"/>
    <p:sldId id="532" r:id="rId23"/>
    <p:sldId id="530" r:id="rId24"/>
    <p:sldId id="50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967" autoAdjust="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D951F-97AB-48E1-90C3-BD54255F4450}" type="datetimeFigureOut">
              <a:rPr lang="en-US" smtClean="0"/>
              <a:t>7/27/2022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D1B33-F6DD-4F70-8246-9B15CB533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02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2a97ba48c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2a97ba48cc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gradFill>
          <a:gsLst>
            <a:gs pos="84000">
              <a:srgbClr val="FAEEB4"/>
            </a:gs>
            <a:gs pos="18000">
              <a:schemeClr val="bg1"/>
            </a:gs>
            <a:gs pos="100000">
              <a:srgbClr val="F5DE6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CEE45-97DF-439C-8FFF-565455D93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60320"/>
            <a:ext cx="9144000" cy="1385455"/>
          </a:xfrm>
        </p:spPr>
        <p:txBody>
          <a:bodyPr anchor="b">
            <a:normAutofit/>
          </a:bodyPr>
          <a:lstStyle>
            <a:lvl1pPr algn="ctr"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A883BE-CA7C-45D2-BC37-350206E1B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4800"/>
            <a:ext cx="9144000" cy="120072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E46B8-EC14-49C1-9AB6-82521D2B4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4B8B0-B844-4F2E-A1B2-D3B455C1AA17}" type="datetime1">
              <a:rPr lang="zh-TW" altLang="en-US" smtClean="0"/>
              <a:t>2022/7/27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46258-89C7-438C-810B-D1AA3D33C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1B67D-F28A-4F40-ACCA-6CDBC85A7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F0CF-DC0C-4F64-9754-1865282951B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678DC0-839B-4D25-A589-BC16AAB49C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654" y="914400"/>
            <a:ext cx="2828691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46D2AE-BAC1-4D2F-B4E3-6C063E8D04F8}"/>
              </a:ext>
            </a:extLst>
          </p:cNvPr>
          <p:cNvSpPr txBox="1"/>
          <p:nvPr/>
        </p:nvSpPr>
        <p:spPr>
          <a:xfrm>
            <a:off x="0" y="6630552"/>
            <a:ext cx="251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2022 GoEdge.ai.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0793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9B669-A4D2-4DA9-A1E5-D076D4B96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26403-9865-480D-B1A8-E6F3B4A10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7EF67-181D-4228-8CEB-BBA9D5BD8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2022/7/27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EB6F8-E0D0-440C-AA0E-BA0B583E4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B612C-4F10-42EA-BAE4-C22FD4A20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733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gradFill>
          <a:gsLst>
            <a:gs pos="84000">
              <a:srgbClr val="FAEEB4"/>
            </a:gs>
            <a:gs pos="18000">
              <a:schemeClr val="bg1"/>
            </a:gs>
            <a:gs pos="100000">
              <a:srgbClr val="F5DE6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BC695-54BF-4413-AB9E-7A4089638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568774"/>
            <a:ext cx="10058400" cy="1828800"/>
          </a:xfrm>
        </p:spPr>
        <p:txBody>
          <a:bodyPr anchor="b">
            <a:normAutofit/>
          </a:bodyPr>
          <a:lstStyle>
            <a:lvl1pPr>
              <a:defRPr sz="44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DA2F2-7809-4EF9-B3E9-83D37A963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398168"/>
            <a:ext cx="10058400" cy="146304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21ED6-6E64-415A-8F52-61E0087BE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3E4FF-CC00-4A24-906E-177AC3021EBF}" type="datetime1">
              <a:rPr lang="zh-TW" altLang="en-US" smtClean="0"/>
              <a:t>2022/7/27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AE8A7-50CA-40E3-822B-E4D6F54CD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6B132-189C-42CB-97BE-495BF29F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57D877-6CBC-411E-8F20-8E0427C55816}"/>
              </a:ext>
            </a:extLst>
          </p:cNvPr>
          <p:cNvSpPr txBox="1"/>
          <p:nvPr/>
        </p:nvSpPr>
        <p:spPr>
          <a:xfrm>
            <a:off x="0" y="6630552"/>
            <a:ext cx="251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2022 GoEdge.ai.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94626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B4FC8-6BF7-49F4-8FD5-4D4E1FC25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6368E-0B06-464E-AD5A-E1CFA9FF4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514763"/>
            <a:ext cx="5394960" cy="475488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DD4E6-B627-4FF1-B692-D1609D45F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7442" y="1514763"/>
            <a:ext cx="5394960" cy="475488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738B3-32FE-48C7-809C-40BFC9E7B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9E2A2-2987-42AF-92D3-2FA6BC181833}" type="datetime1">
              <a:rPr lang="zh-TW" altLang="en-US" smtClean="0"/>
              <a:t>2022/7/27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B126B-07D6-4293-847D-E00DEDA90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9F974-27AB-471F-9EB9-491E1E17F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86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B4FC8-6BF7-49F4-8FD5-4D4E1FC25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6368E-0B06-464E-AD5A-E1CFA9FF4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7" y="2061816"/>
            <a:ext cx="5394960" cy="420624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DD4E6-B627-4FF1-B692-D1609D45F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7443" y="2061816"/>
            <a:ext cx="5394960" cy="420624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738B3-32FE-48C7-809C-40BFC9E7B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104EC-CFA6-436E-A8A4-3DEC3343A0CA}" type="datetime1">
              <a:rPr lang="zh-TW" altLang="en-US" smtClean="0"/>
              <a:t>2022/7/27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B126B-07D6-4293-847D-E00DEDA90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9F974-27AB-471F-9EB9-491E1E17F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A3EDF15-FE3B-43E2-8D11-03C70E15091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09599" y="1468727"/>
            <a:ext cx="5394960" cy="54864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CF3DFCC-A3E1-482F-8FEC-80B67B900AB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187444" y="1468727"/>
            <a:ext cx="5394960" cy="54864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59720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ipt &amp; Outp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5561C-D91C-4A85-BB7A-1A720551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25584A-9A91-486A-846A-60FB2B41C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61BF-AEC5-4B92-8696-2DD20AEC2BC3}" type="datetime1">
              <a:rPr lang="zh-TW" altLang="en-US" smtClean="0"/>
              <a:t>2022/7/27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FF1CC7-CF6A-4C50-9FEE-10EAA68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13CE6-8771-4BB3-9735-495F7767E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5568B8-DFA2-4EFB-B977-42D205F3C5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510120"/>
            <a:ext cx="5394960" cy="4754880"/>
          </a:xfrm>
          <a:solidFill>
            <a:schemeClr val="tx2"/>
          </a:solidFill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accent5"/>
                </a:solidFill>
                <a:latin typeface="Lucida Console" panose="020B0609040504020204" pitchFamily="49" charset="0"/>
              </a:defRPr>
            </a:lvl1pPr>
          </a:lstStyle>
          <a:p>
            <a:pPr lvl="0"/>
            <a:r>
              <a:rPr lang="en-US" dirty="0"/>
              <a:t>Source code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F091CED-3D60-4D1A-90A6-0D095A67A77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7440" y="1510120"/>
            <a:ext cx="5394960" cy="4754880"/>
          </a:xfrm>
          <a:solidFill>
            <a:schemeClr val="tx2"/>
          </a:solidFill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2"/>
                </a:solidFill>
                <a:latin typeface="Lucida Console" panose="020B0609040504020204" pitchFamily="49" charset="0"/>
              </a:defRPr>
            </a:lvl1pPr>
          </a:lstStyle>
          <a:p>
            <a:pPr lvl="0"/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512122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ipt &amp;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5561C-D91C-4A85-BB7A-1A720551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25584A-9A91-486A-846A-60FB2B41C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29C-0448-43D8-9C0A-6A89D8282BCD}" type="datetime1">
              <a:rPr lang="zh-TW" altLang="en-US" smtClean="0"/>
              <a:t>2022/7/27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FF1CC7-CF6A-4C50-9FEE-10EAA68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13CE6-8771-4BB3-9735-495F7767E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5568B8-DFA2-4EFB-B977-42D205F3C5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510120"/>
            <a:ext cx="5394960" cy="4754880"/>
          </a:xfrm>
          <a:solidFill>
            <a:schemeClr val="tx2"/>
          </a:solidFill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accent5"/>
                </a:solidFill>
                <a:latin typeface="Lucida Console" panose="020B0609040504020204" pitchFamily="49" charset="0"/>
              </a:defRPr>
            </a:lvl1pPr>
          </a:lstStyle>
          <a:p>
            <a:pPr lvl="0"/>
            <a:r>
              <a:rPr lang="en-US" dirty="0"/>
              <a:t>Source code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F091CED-3D60-4D1A-90A6-0D095A67A77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7440" y="1510120"/>
            <a:ext cx="5394960" cy="4754880"/>
          </a:xfrm>
          <a:noFill/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Lucida Console" panose="020B0609040504020204" pitchFamily="49" charset="0"/>
              </a:defRPr>
            </a:lvl1pPr>
          </a:lstStyle>
          <a:p>
            <a:pPr lvl="0"/>
            <a:r>
              <a:rPr lang="en-US" dirty="0"/>
              <a:t>Figure</a:t>
            </a:r>
          </a:p>
        </p:txBody>
      </p:sp>
    </p:spTree>
    <p:extLst>
      <p:ext uri="{BB962C8B-B14F-4D97-AF65-F5344CB8AC3E}">
        <p14:creationId xmlns:p14="http://schemas.microsoft.com/office/powerpoint/2010/main" val="417748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i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486D5-9DDC-46E5-82F2-0F841DDF7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AFE9FE-010E-4A53-81F0-87F19A29B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DBC22-ED8C-42D6-9A8E-B00C7F872ACD}" type="datetime1">
              <a:rPr lang="zh-TW" altLang="en-US" smtClean="0"/>
              <a:t>2022/7/27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2F2EF4-CC30-4650-91C5-2C5FF3CF3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33BB6-E0CE-4FD6-A1F7-978CEDEA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28F60C-DEDC-4FC2-A891-FF7576C982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510120"/>
            <a:ext cx="10972800" cy="4754880"/>
          </a:xfrm>
          <a:solidFill>
            <a:schemeClr val="tx2"/>
          </a:solidFill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accent5"/>
                </a:solidFill>
                <a:latin typeface="Lucida Console" panose="020B0609040504020204" pitchFamily="49" charset="0"/>
              </a:defRPr>
            </a:lvl1pPr>
          </a:lstStyle>
          <a:p>
            <a:pPr lvl="0"/>
            <a:r>
              <a:rPr lang="en-US" dirty="0"/>
              <a:t>Source code</a:t>
            </a:r>
          </a:p>
        </p:txBody>
      </p:sp>
    </p:spTree>
    <p:extLst>
      <p:ext uri="{BB962C8B-B14F-4D97-AF65-F5344CB8AC3E}">
        <p14:creationId xmlns:p14="http://schemas.microsoft.com/office/powerpoint/2010/main" val="20916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B394C-941B-4F43-9930-01B066515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CA2552-1BD2-4A3A-AEE8-98D54FB91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4B117-0709-49E0-91BB-83EA02627623}" type="datetime1">
              <a:rPr lang="zh-TW" altLang="en-US" smtClean="0"/>
              <a:t>2022/7/27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DEC2B2-0D80-4345-9CAA-1E8945F2F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651E1-355C-4018-9FE3-0146B6D5A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38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7D5EAD-4CB7-498C-ACC0-2140E6CA1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53C10-48BC-4C42-9F9B-1348F81119B0}" type="datetime1">
              <a:rPr lang="zh-TW" altLang="en-US" smtClean="0"/>
              <a:t>2022/7/27</a:t>
            </a:fld>
            <a:endParaRPr lang="zh-CN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CB4E4-F530-42F5-8BE5-0E1D4568D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33C54-1D74-4E0F-8147-14517CB17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623780"/>
            <a:ext cx="914400" cy="231131"/>
          </a:xfrm>
        </p:spPr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137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095558-3BBC-4A89-B5C4-B029CFDADD58}"/>
              </a:ext>
            </a:extLst>
          </p:cNvPr>
          <p:cNvSpPr/>
          <p:nvPr/>
        </p:nvSpPr>
        <p:spPr>
          <a:xfrm>
            <a:off x="0" y="6630403"/>
            <a:ext cx="12192000" cy="231131"/>
          </a:xfrm>
          <a:prstGeom prst="rect">
            <a:avLst/>
          </a:prstGeom>
          <a:solidFill>
            <a:srgbClr val="F5DE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endParaRPr lang="en-US" sz="1100" i="0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3E11E-2E8B-4EBC-8647-E8727B510DED}"/>
              </a:ext>
            </a:extLst>
          </p:cNvPr>
          <p:cNvSpPr txBox="1"/>
          <p:nvPr/>
        </p:nvSpPr>
        <p:spPr>
          <a:xfrm>
            <a:off x="0" y="6630552"/>
            <a:ext cx="251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2022 GoEdge.ai.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CAB5A-5622-4CCF-A838-A4BE4FB6A81C}"/>
              </a:ext>
            </a:extLst>
          </p:cNvPr>
          <p:cNvSpPr txBox="1"/>
          <p:nvPr/>
        </p:nvSpPr>
        <p:spPr>
          <a:xfrm rot="19740037">
            <a:off x="1650581" y="2914052"/>
            <a:ext cx="9144000" cy="731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TW" altLang="en-US" sz="2400" dirty="0">
                <a:solidFill>
                  <a:schemeClr val="bg1">
                    <a:lumMod val="65000"/>
                    <a:alpha val="40000"/>
                  </a:schemeClr>
                </a:solidFill>
              </a:rPr>
              <a:t>優智能保密資料</a:t>
            </a:r>
            <a:r>
              <a:rPr lang="en-US" altLang="zh-TW" sz="2400" dirty="0">
                <a:solidFill>
                  <a:schemeClr val="bg1">
                    <a:lumMod val="65000"/>
                    <a:alpha val="40000"/>
                  </a:schemeClr>
                </a:solidFill>
              </a:rPr>
              <a:t>	GoEdge.ai confidential information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7D5EAD-4CB7-498C-ACC0-2140E6CA1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23E2F-C932-4F38-A323-8D950942DCA1}" type="datetime1">
              <a:rPr lang="zh-TW" altLang="en-US" smtClean="0"/>
              <a:t>2022/7/27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CB4E4-F530-42F5-8BE5-0E1D4568D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33C54-1D74-4E0F-8147-14517CB17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038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D7CD1-2EA9-4D59-9B5E-403F61BA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96241"/>
            <a:ext cx="4297680" cy="1005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41C8D-C135-4BCC-99C3-AE58CD8D3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396241"/>
            <a:ext cx="6400800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0B9E3-E10A-4166-895D-E10363A12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584961"/>
            <a:ext cx="4297680" cy="4663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DC257-FC67-4E49-A736-CB50F9CC3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75BE1-EA35-4F32-B93C-75AC87520246}" type="datetime1">
              <a:rPr lang="zh-TW" altLang="en-US" smtClean="0"/>
              <a:t>2022/7/27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C2F8B-DC53-4A9F-A382-674B8E90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98B34-078B-44A5-B7AC-E73F0A76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964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DC257-FC67-4E49-A736-CB50F9CC3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2108-28B3-439F-BF05-F512DFDF6850}" type="datetime1">
              <a:rPr lang="zh-TW" altLang="en-US" smtClean="0"/>
              <a:t>2022/7/27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C2F8B-DC53-4A9F-A382-674B8E90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98B34-078B-44A5-B7AC-E73F0A76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D6CFFAD-18C0-4E43-8A0F-9EB758640405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181600" y="396241"/>
            <a:ext cx="6400800" cy="58521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EC0453A-206F-43EC-94D0-D80A18BD0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584961"/>
            <a:ext cx="4297680" cy="4663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8928591-B881-4769-8B95-46290D273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96241"/>
            <a:ext cx="4297680" cy="1005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91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6131A-2C48-4CE3-A01F-E78429314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12B671-D19E-411C-8EA3-5B6525565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10A1C-A7EB-4C52-AC92-76A7EE87C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C8317-B67B-4843-AA99-F6DA7CE5FE34}" type="datetime1">
              <a:rPr lang="zh-TW" altLang="en-US" smtClean="0"/>
              <a:t>2022/7/27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1F97E-913B-4624-A829-7FF9F213D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EE246-0432-4B25-BE1F-2BA3699DE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188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574019-CA95-4206-A210-DC1CA3874A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9200" y="428008"/>
            <a:ext cx="2743200" cy="585216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FDB4C8-A8B9-421B-BA8A-EA3978B16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428008"/>
            <a:ext cx="7972827" cy="585216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DE7FB-9B58-4ABF-844F-14918C01D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7EEC-9B42-4C40-A2A0-EB837242742C}" type="datetime1">
              <a:rPr lang="zh-TW" altLang="en-US" smtClean="0"/>
              <a:t>2022/7/27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DD276-87E5-47D8-8E61-D4878FC86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088FB-FCA6-46DC-9A1B-F73E9AD2F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4580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8734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D7CD1-2EA9-4D59-9B5E-403F61BA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96241"/>
            <a:ext cx="4389120" cy="1005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DC257-FC67-4E49-A736-CB50F9CC3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C84F1-8412-48A3-977F-1E08B81C99E1}" type="datetime1">
              <a:rPr lang="zh-TW" altLang="en-US" smtClean="0"/>
              <a:t>2022/7/27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C2F8B-DC53-4A9F-A382-674B8E90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98B34-078B-44A5-B7AC-E73F0A76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9A0A849-CF00-48D3-B281-32F03B7A4C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599" y="1584961"/>
            <a:ext cx="4389120" cy="46634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19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B0A659-6B84-49CC-BA61-BD3A4ACCE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432022"/>
            <a:ext cx="10972799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9A542-BB73-4698-A308-422341E1A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10120"/>
            <a:ext cx="10972800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02273E-8B27-4287-8CE7-FEB28C62B5E6}"/>
              </a:ext>
            </a:extLst>
          </p:cNvPr>
          <p:cNvSpPr/>
          <p:nvPr/>
        </p:nvSpPr>
        <p:spPr>
          <a:xfrm>
            <a:off x="0" y="6630403"/>
            <a:ext cx="12192000" cy="231131"/>
          </a:xfrm>
          <a:prstGeom prst="rect">
            <a:avLst/>
          </a:prstGeom>
          <a:solidFill>
            <a:srgbClr val="F5DE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endParaRPr lang="en-US" sz="1100" i="0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9C5950-DAC1-4A7A-8AAB-6572C8230595}"/>
              </a:ext>
            </a:extLst>
          </p:cNvPr>
          <p:cNvSpPr txBox="1"/>
          <p:nvPr/>
        </p:nvSpPr>
        <p:spPr>
          <a:xfrm>
            <a:off x="0" y="6630552"/>
            <a:ext cx="251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2022 GoEdge.ai. All Rights Reserved.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87F79-7F4B-4A86-BBD1-B7E913305B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28162" y="6626868"/>
            <a:ext cx="1371600" cy="2280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83211-73E2-4455-80EF-ED4F70303EBF}" type="datetime1">
              <a:rPr lang="zh-TW" altLang="en-US" smtClean="0"/>
              <a:t>2022/7/27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F57A3-F42B-4BE3-BC2F-CBC49FAC6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1675" y="6629956"/>
            <a:ext cx="5708650" cy="2280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FC18B-5F88-4664-B161-58D78EE56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623780"/>
            <a:ext cx="914400" cy="2311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58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12" r:id="rId1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1">
            <a:extLst>
              <a:ext uri="{FF2B5EF4-FFF2-40B4-BE49-F238E27FC236}">
                <a16:creationId xmlns:a16="http://schemas.microsoft.com/office/drawing/2014/main" id="{F96F71CA-FB41-47F9-A276-AEC1BA5443F4}"/>
              </a:ext>
            </a:extLst>
          </p:cNvPr>
          <p:cNvSpPr/>
          <p:nvPr/>
        </p:nvSpPr>
        <p:spPr>
          <a:xfrm>
            <a:off x="0" y="0"/>
            <a:ext cx="5275847" cy="6858000"/>
          </a:xfrm>
          <a:prstGeom prst="rect">
            <a:avLst/>
          </a:prstGeom>
          <a:solidFill>
            <a:srgbClr val="FFF2CC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B0A659-6B84-49CC-BA61-BD3A4ACCE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432022"/>
            <a:ext cx="10972799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9A542-BB73-4698-A308-422341E1A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10120"/>
            <a:ext cx="10972800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02273E-8B27-4287-8CE7-FEB28C62B5E6}"/>
              </a:ext>
            </a:extLst>
          </p:cNvPr>
          <p:cNvSpPr/>
          <p:nvPr/>
        </p:nvSpPr>
        <p:spPr>
          <a:xfrm>
            <a:off x="0" y="6630403"/>
            <a:ext cx="12192000" cy="231131"/>
          </a:xfrm>
          <a:prstGeom prst="rect">
            <a:avLst/>
          </a:prstGeom>
          <a:solidFill>
            <a:srgbClr val="F5DE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endParaRPr lang="en-US" sz="1100" i="0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9C5950-DAC1-4A7A-8AAB-6572C8230595}"/>
              </a:ext>
            </a:extLst>
          </p:cNvPr>
          <p:cNvSpPr txBox="1"/>
          <p:nvPr/>
        </p:nvSpPr>
        <p:spPr>
          <a:xfrm>
            <a:off x="0" y="6630552"/>
            <a:ext cx="251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2022 GoEdge.ai. All Rights Reserved.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87F79-7F4B-4A86-BBD1-B7E913305B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28162" y="6626868"/>
            <a:ext cx="1371600" cy="2280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34D4C-0BA9-4A7B-9C35-DB5E40C139D2}" type="datetime1">
              <a:rPr lang="zh-TW" altLang="en-US" smtClean="0"/>
              <a:t>2022/7/27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F57A3-F42B-4BE3-BC2F-CBC49FAC6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1675" y="6629956"/>
            <a:ext cx="5708650" cy="2280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FC18B-5F88-4664-B161-58D78EE56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623780"/>
            <a:ext cx="914400" cy="2311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046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A2AA45-F261-4917-9C52-FD0FA67877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Individual Meeting</a:t>
            </a:r>
            <a:endParaRPr 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4E266A7-7CE7-43B8-B0D9-4E3B61E06D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dirty="0"/>
              <a:t>Jason Chang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B98B04-4BE2-4280-9C77-00F992BEE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69706-F9EE-46CA-B331-35A3436158CE}" type="datetime1">
              <a:rPr lang="zh-TW" altLang="en-US" smtClean="0"/>
              <a:t>2022/7/27</a:t>
            </a:fld>
            <a:endParaRPr 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9DAF046-0255-4D2A-948B-BB4EF975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F0CF-DC0C-4F64-9754-1865282951B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872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1972F5-615D-4809-9716-364897B33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What’ve I done in the past two weeks?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CDA527-1B87-411E-9937-1A8684A41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TSMC JDP Project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Kubernetes, Helm, Istio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Train Ticket with k8s +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istio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(using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minikube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to create k8s cluster)</a:t>
            </a:r>
          </a:p>
          <a:p>
            <a:pPr lvl="1"/>
            <a:r>
              <a:rPr lang="en-US" dirty="0">
                <a:effectLst/>
              </a:rPr>
              <a:t>On Automatic Parsing of Log Records</a:t>
            </a:r>
            <a:endParaRPr lang="en-US" dirty="0"/>
          </a:p>
          <a:p>
            <a:pPr lvl="2"/>
            <a:r>
              <a:rPr lang="en-US" dirty="0"/>
              <a:t>ICSE 2021 </a:t>
            </a:r>
            <a:r>
              <a:rPr lang="fr-FR" altLang="zh-TW" sz="2000" dirty="0"/>
              <a:t>(#15 conference), #citations = 2</a:t>
            </a:r>
            <a:endParaRPr lang="fr-FR" dirty="0"/>
          </a:p>
          <a:p>
            <a:r>
              <a:rPr lang="en-US" dirty="0"/>
              <a:t>GoEdge.ai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General Framework for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FactoryAI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and its implementation with Darts</a:t>
            </a:r>
          </a:p>
          <a:p>
            <a:r>
              <a:rPr lang="en-US" dirty="0"/>
              <a:t>Myself</a:t>
            </a:r>
          </a:p>
          <a:p>
            <a:pPr lvl="1"/>
            <a:r>
              <a:rPr lang="en-US" dirty="0"/>
              <a:t>TIST 2022</a:t>
            </a:r>
          </a:p>
          <a:p>
            <a:pPr lvl="2"/>
            <a:r>
              <a:rPr lang="en-US" dirty="0"/>
              <a:t>2 major revision + 1 reject with strong encouragement for resubmission  = reject?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8F12C3-151E-4E6D-8795-0BB50B679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B1D0A-6236-4C77-9F75-1E4BE95BE4D8}" type="datetime1">
              <a:rPr lang="zh-TW" altLang="en-US" smtClean="0"/>
              <a:t>2022/7/27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3448DD1-1169-4715-8A05-6E5873FF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536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7277C4-D032-E60D-EF68-F070AE814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TSMC JDP meeting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95C797-89A0-5C48-53AC-85F90F6BF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台積電這周的</a:t>
            </a:r>
            <a:r>
              <a:rPr lang="en-US" altLang="zh-TW" dirty="0"/>
              <a:t>JDP</a:t>
            </a:r>
            <a:r>
              <a:rPr lang="zh-TW" altLang="en-US" dirty="0"/>
              <a:t>開會：</a:t>
            </a:r>
            <a:r>
              <a:rPr lang="zh-TW" altLang="en-US" dirty="0">
                <a:solidFill>
                  <a:srgbClr val="FF0000"/>
                </a:solidFill>
              </a:rPr>
              <a:t>周四上午</a:t>
            </a:r>
            <a:r>
              <a:rPr lang="en-US" altLang="zh-TW" dirty="0">
                <a:solidFill>
                  <a:srgbClr val="FF0000"/>
                </a:solidFill>
              </a:rPr>
              <a:t>11</a:t>
            </a:r>
            <a:r>
              <a:rPr lang="zh-TW" altLang="en-US" dirty="0">
                <a:solidFill>
                  <a:srgbClr val="FF0000"/>
                </a:solidFill>
              </a:rPr>
              <a:t>點</a:t>
            </a:r>
            <a:r>
              <a:rPr lang="en-US" altLang="zh-TW" dirty="0">
                <a:solidFill>
                  <a:srgbClr val="FF0000"/>
                </a:solidFill>
              </a:rPr>
              <a:t>~12</a:t>
            </a:r>
            <a:r>
              <a:rPr lang="zh-TW" altLang="en-US" dirty="0">
                <a:solidFill>
                  <a:srgbClr val="FF0000"/>
                </a:solidFill>
              </a:rPr>
              <a:t>點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r>
              <a:rPr lang="zh-TW" altLang="en-US" sz="2800" dirty="0"/>
              <a:t>老師剛好這週有事情，先</a:t>
            </a:r>
            <a:r>
              <a:rPr lang="en-US" altLang="zh-TW" sz="2800" dirty="0"/>
              <a:t>skip</a:t>
            </a:r>
            <a:r>
              <a:rPr lang="zh-TW" altLang="en-US" sz="2800" dirty="0"/>
              <a:t>這次會議</a:t>
            </a:r>
            <a:endParaRPr lang="en-US" altLang="zh-TW" sz="28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B902DE-BA89-CC64-B68D-4A4B1085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2022/7/27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C65A453-E838-B46F-6FC5-507B7D7B9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300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ECDB60-BFE8-364F-61C0-824016C44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/>
              <a:t>Internship</a:t>
            </a:r>
            <a:r>
              <a:rPr lang="zh-TW" altLang="en-US" dirty="0"/>
              <a:t> </a:t>
            </a:r>
            <a:r>
              <a:rPr lang="en-US" altLang="zh-TW" dirty="0"/>
              <a:t>plan (from TSMC)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83699A-8353-B92A-9B7B-77776B39E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845860"/>
            <a:ext cx="10972800" cy="285324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7</a:t>
            </a:r>
            <a:r>
              <a:rPr lang="zh-TW" altLang="en-US" dirty="0"/>
              <a:t>月完成台積資料</a:t>
            </a:r>
            <a:r>
              <a:rPr lang="en-US" altLang="zh-TW" dirty="0"/>
              <a:t>parsing</a:t>
            </a:r>
          </a:p>
          <a:p>
            <a:r>
              <a:rPr lang="en-US" dirty="0"/>
              <a:t>8</a:t>
            </a:r>
            <a:r>
              <a:rPr lang="en-US" altLang="zh-TW" dirty="0"/>
              <a:t>~9</a:t>
            </a:r>
            <a:r>
              <a:rPr lang="zh-TW" altLang="en-US" dirty="0"/>
              <a:t>月完成</a:t>
            </a:r>
            <a:r>
              <a:rPr lang="en-US" altLang="zh-TW" dirty="0"/>
              <a:t>surveyed paper implementation</a:t>
            </a:r>
          </a:p>
          <a:p>
            <a:r>
              <a:rPr lang="en-US" dirty="0"/>
              <a:t>10</a:t>
            </a:r>
            <a:r>
              <a:rPr lang="zh-TW" altLang="en-US" dirty="0"/>
              <a:t>月完成</a:t>
            </a:r>
            <a:r>
              <a:rPr lang="en-US" altLang="zh-TW" dirty="0"/>
              <a:t>causal inference</a:t>
            </a:r>
            <a:endParaRPr lang="en-US" dirty="0"/>
          </a:p>
          <a:p>
            <a:r>
              <a:rPr lang="en-US" dirty="0"/>
              <a:t>11</a:t>
            </a:r>
            <a:r>
              <a:rPr lang="zh-TW" altLang="en-US" dirty="0"/>
              <a:t>月完成</a:t>
            </a:r>
            <a:r>
              <a:rPr lang="en-US" altLang="zh-TW" dirty="0"/>
              <a:t>framework</a:t>
            </a:r>
            <a:r>
              <a:rPr lang="zh-TW" altLang="en-US" dirty="0"/>
              <a:t>以及與台積</a:t>
            </a:r>
            <a:r>
              <a:rPr lang="en-US" altLang="zh-TW" dirty="0"/>
              <a:t>IT</a:t>
            </a:r>
            <a:r>
              <a:rPr lang="zh-TW" altLang="en-US" dirty="0"/>
              <a:t>系統整合</a:t>
            </a:r>
            <a:endParaRPr lang="en-US" altLang="zh-TW" dirty="0"/>
          </a:p>
          <a:p>
            <a:r>
              <a:rPr lang="en-US" dirty="0"/>
              <a:t>12</a:t>
            </a:r>
            <a:r>
              <a:rPr lang="zh-TW" altLang="en-US" dirty="0"/>
              <a:t>月底前完成報告撰寫 </a:t>
            </a:r>
            <a:r>
              <a:rPr lang="en-US" altLang="zh-TW" dirty="0"/>
              <a:t>(</a:t>
            </a:r>
            <a:r>
              <a:rPr lang="zh-TW" altLang="en-US" dirty="0"/>
              <a:t>論文明年</a:t>
            </a:r>
            <a:r>
              <a:rPr lang="en-US" altLang="zh-TW" dirty="0"/>
              <a:t>2</a:t>
            </a:r>
            <a:r>
              <a:rPr lang="zh-TW" altLang="en-US" dirty="0"/>
              <a:t>月底前完成即可</a:t>
            </a:r>
            <a:r>
              <a:rPr lang="en-US" altLang="zh-TW" dirty="0"/>
              <a:t>)</a:t>
            </a:r>
            <a:endParaRPr 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3E24A7-F85C-C034-C1B6-A9E6D263B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2022/7/27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FA834FC-80A9-078B-0A82-F20F72751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32AD62D-222E-FA87-5D01-566444222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8" y="1074617"/>
            <a:ext cx="9000565" cy="276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68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673623-9A1E-DF72-DD5A-56C419190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/>
              <a:t>Internship</a:t>
            </a:r>
            <a:r>
              <a:rPr lang="zh-TW" altLang="en-US" dirty="0"/>
              <a:t> </a:t>
            </a:r>
            <a:r>
              <a:rPr lang="en-US" altLang="zh-TW" dirty="0"/>
              <a:t>plan (from NYCU)</a:t>
            </a:r>
            <a:endParaRPr 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CE27D8-1139-27F5-79A9-5ACF1E42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2022/7/27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0D8DA33-E7B5-FD88-5B09-831F4E9E4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766DF35-CA49-4435-A856-A99711884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8" y="2081171"/>
            <a:ext cx="12098323" cy="309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645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zh-TW" dirty="0"/>
              <a:t>Problem Settings</a:t>
            </a:r>
            <a:endParaRPr dirty="0"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-US" altLang="zh-TW"/>
              <a:pPr/>
              <a:t>6</a:t>
            </a:fld>
            <a:endParaRPr/>
          </a:p>
        </p:txBody>
      </p:sp>
      <p:graphicFrame>
        <p:nvGraphicFramePr>
          <p:cNvPr id="95" name="Google Shape;95;p19"/>
          <p:cNvGraphicFramePr/>
          <p:nvPr>
            <p:extLst>
              <p:ext uri="{D42A27DB-BD31-4B8C-83A1-F6EECF244321}">
                <p14:modId xmlns:p14="http://schemas.microsoft.com/office/powerpoint/2010/main" val="1008020143"/>
              </p:ext>
            </p:extLst>
          </p:nvPr>
        </p:nvGraphicFramePr>
        <p:xfrm>
          <a:off x="1023016" y="1289083"/>
          <a:ext cx="10384117" cy="499203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30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26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 dirty="0"/>
                        <a:t>Supervised or Unsupervised</a:t>
                      </a:r>
                      <a:endParaRPr sz="2400" dirty="0"/>
                    </a:p>
                  </a:txBody>
                  <a:tcPr marL="121900" marR="121900" marT="121900" marB="1219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 b="1" dirty="0">
                          <a:solidFill>
                            <a:srgbClr val="00B050"/>
                          </a:solidFill>
                        </a:rPr>
                        <a:t>Unsupervised</a:t>
                      </a:r>
                      <a:endParaRPr sz="2400" b="1" dirty="0">
                        <a:solidFill>
                          <a:srgbClr val="00B050"/>
                        </a:solidFill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Offline or Online</a:t>
                      </a:r>
                      <a:endParaRPr sz="2400"/>
                    </a:p>
                  </a:txBody>
                  <a:tcPr marL="121900" marR="121900" marT="121900" marB="1219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Online</a:t>
                      </a:r>
                      <a:endParaRPr sz="24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 dirty="0"/>
                        <a:t>Data type</a:t>
                      </a:r>
                      <a:endParaRPr sz="2400" dirty="0"/>
                    </a:p>
                  </a:txBody>
                  <a:tcPr marL="121900" marR="121900" marT="121900" marB="1219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 dirty="0"/>
                        <a:t>Metric + Log +</a:t>
                      </a:r>
                      <a:r>
                        <a:rPr lang="en-US" altLang="zh-TW" sz="2400" dirty="0"/>
                        <a:t> Trace</a:t>
                      </a:r>
                      <a:r>
                        <a:rPr lang="zh-TW" sz="2400" dirty="0"/>
                        <a:t> </a:t>
                      </a:r>
                      <a:r>
                        <a:rPr lang="en-US" altLang="zh-TW" sz="2400" dirty="0"/>
                        <a:t>+ </a:t>
                      </a:r>
                      <a:r>
                        <a:rPr lang="zh-TW" sz="2400" dirty="0"/>
                        <a:t>Changelog</a:t>
                      </a:r>
                      <a:endParaRPr sz="24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53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Data source</a:t>
                      </a:r>
                      <a:endParaRPr sz="2400"/>
                    </a:p>
                  </a:txBody>
                  <a:tcPr marL="121900" marR="121900" marT="121900" marB="1219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400" dirty="0"/>
                        <a:t>System log (kubernetes-related)</a:t>
                      </a:r>
                      <a:endParaRPr sz="2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 dirty="0"/>
                        <a:t>Application log</a:t>
                      </a:r>
                      <a:endParaRPr sz="24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23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Others</a:t>
                      </a:r>
                      <a:endParaRPr sz="2400"/>
                    </a:p>
                  </a:txBody>
                  <a:tcPr marL="121900" marR="121900" marT="121900" marB="1219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AutoNum type="arabicPeriod"/>
                      </a:pPr>
                      <a:r>
                        <a:rPr lang="zh-TW" sz="2400" dirty="0">
                          <a:solidFill>
                            <a:srgbClr val="FF0000"/>
                          </a:solidFill>
                        </a:rPr>
                        <a:t>Multiple sources</a:t>
                      </a:r>
                      <a:endParaRPr sz="2400" dirty="0">
                        <a:solidFill>
                          <a:srgbClr val="FF0000"/>
                        </a:solidFill>
                      </a:endParaRPr>
                    </a:p>
                    <a:p>
                      <a:pPr marL="914400" lvl="1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lphaLcPeriod"/>
                      </a:pPr>
                      <a:r>
                        <a:rPr lang="zh-TW" sz="2400" dirty="0">
                          <a:solidFill>
                            <a:schemeClr val="dk1"/>
                          </a:solidFill>
                        </a:rPr>
                        <a:t>time mismatch</a:t>
                      </a:r>
                      <a:endParaRPr sz="2400" dirty="0">
                        <a:solidFill>
                          <a:schemeClr val="dk1"/>
                        </a:solidFill>
                      </a:endParaRPr>
                    </a:p>
                    <a:p>
                      <a:pPr marL="914400" lvl="1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lphaLcPeriod"/>
                      </a:pPr>
                      <a:r>
                        <a:rPr lang="zh-TW" sz="2400" dirty="0">
                          <a:solidFill>
                            <a:schemeClr val="dk1"/>
                          </a:solidFill>
                        </a:rPr>
                        <a:t>log sparsity issue (error message)</a:t>
                      </a:r>
                      <a:endParaRPr sz="240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zh-TW" sz="2400" b="1" dirty="0">
                          <a:solidFill>
                            <a:srgbClr val="00B050"/>
                          </a:solidFill>
                        </a:rPr>
                        <a:t>Log parsing</a:t>
                      </a:r>
                      <a:endParaRPr sz="2400" b="1" dirty="0">
                        <a:solidFill>
                          <a:srgbClr val="00B050"/>
                        </a:solidFill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AutoNum type="arabicPeriod"/>
                      </a:pPr>
                      <a:r>
                        <a:rPr lang="zh-TW" sz="2400" dirty="0">
                          <a:solidFill>
                            <a:srgbClr val="FF0000"/>
                          </a:solidFill>
                        </a:rPr>
                        <a:t>Causality/Interpretability/Explainability</a:t>
                      </a:r>
                      <a:endParaRPr sz="2400" dirty="0">
                        <a:solidFill>
                          <a:srgbClr val="FF0000"/>
                        </a:solidFill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6" name="Google Shape;96;p19"/>
          <p:cNvSpPr txBox="1"/>
          <p:nvPr/>
        </p:nvSpPr>
        <p:spPr>
          <a:xfrm>
            <a:off x="886474" y="6192817"/>
            <a:ext cx="106572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altLang="zh-TW" sz="2133" b="1" dirty="0"/>
              <a:t>Keywords: micro services, causal graph, root cause analysis, causal inference</a:t>
            </a:r>
            <a:endParaRPr sz="2133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87EFEBE-DD1B-FE8C-ECEA-DF73DF1FE974}"/>
              </a:ext>
            </a:extLst>
          </p:cNvPr>
          <p:cNvSpPr txBox="1"/>
          <p:nvPr/>
        </p:nvSpPr>
        <p:spPr>
          <a:xfrm>
            <a:off x="4993341" y="0"/>
            <a:ext cx="33055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Metric: ready</a:t>
            </a:r>
          </a:p>
          <a:p>
            <a:r>
              <a:rPr lang="en-US" dirty="0"/>
              <a:t>Log: ready</a:t>
            </a:r>
          </a:p>
          <a:p>
            <a:r>
              <a:rPr lang="en-US" dirty="0"/>
              <a:t>Trace: not ready</a:t>
            </a:r>
          </a:p>
          <a:p>
            <a:r>
              <a:rPr lang="en-US" dirty="0"/>
              <a:t>Changelog: ready, </a:t>
            </a:r>
            <a:r>
              <a:rPr lang="en-US" dirty="0">
                <a:solidFill>
                  <a:srgbClr val="FF0000"/>
                </a:solidFill>
              </a:rPr>
              <a:t>very important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5AFAAC-7A79-60B2-D928-3813CB6B7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main problem settings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04D613F-6F55-79CD-9ACD-1693B44464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7</a:t>
            </a:fld>
            <a:endParaRPr lang="zh-TW" altLang="en-US"/>
          </a:p>
        </p:txBody>
      </p:sp>
      <p:graphicFrame>
        <p:nvGraphicFramePr>
          <p:cNvPr id="7" name="Google Shape;95;p19">
            <a:extLst>
              <a:ext uri="{FF2B5EF4-FFF2-40B4-BE49-F238E27FC236}">
                <a16:creationId xmlns:a16="http://schemas.microsoft.com/office/drawing/2014/main" id="{EDEF013A-8D21-6ADC-9E07-90512B2E57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0508335"/>
              </p:ext>
            </p:extLst>
          </p:nvPr>
        </p:nvGraphicFramePr>
        <p:xfrm>
          <a:off x="322729" y="1356967"/>
          <a:ext cx="11705482" cy="50223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60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5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9811">
                  <a:extLst>
                    <a:ext uri="{9D8B030D-6E8A-4147-A177-3AD203B41FA5}">
                      <a16:colId xmlns:a16="http://schemas.microsoft.com/office/drawing/2014/main" val="881337913"/>
                    </a:ext>
                  </a:extLst>
                </a:gridCol>
              </a:tblGrid>
              <a:tr h="492475">
                <a:tc>
                  <a:txBody>
                    <a:bodyPr/>
                    <a:lstStyle/>
                    <a:p>
                      <a:r>
                        <a:rPr lang="en-US" sz="2400" dirty="0"/>
                        <a:t>Problem setting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Log Parsing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RCA with microservices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676">
                <a:tc>
                  <a:txBody>
                    <a:bodyPr/>
                    <a:lstStyle/>
                    <a:p>
                      <a:r>
                        <a:rPr lang="en-US" sz="2400" dirty="0"/>
                        <a:t>Supervised or Unsupervised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Unsupervised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Unsupervised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906">
                <a:tc>
                  <a:txBody>
                    <a:bodyPr/>
                    <a:lstStyle/>
                    <a:p>
                      <a:r>
                        <a:rPr lang="en-US" sz="2400" dirty="0"/>
                        <a:t>Offline or Online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Online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669">
                <a:tc>
                  <a:txBody>
                    <a:bodyPr/>
                    <a:lstStyle/>
                    <a:p>
                      <a:r>
                        <a:rPr lang="en-US" sz="2400" dirty="0"/>
                        <a:t>Data source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Metric</a:t>
                      </a:r>
                      <a:r>
                        <a:rPr lang="zh-TW" altLang="en-US" sz="2400" dirty="0"/>
                        <a:t> </a:t>
                      </a:r>
                      <a:r>
                        <a:rPr lang="en-US" altLang="zh-TW" sz="2400" dirty="0"/>
                        <a:t>+</a:t>
                      </a:r>
                      <a:r>
                        <a:rPr lang="zh-TW" altLang="en-US" sz="2400" dirty="0"/>
                        <a:t> </a:t>
                      </a:r>
                      <a:r>
                        <a:rPr lang="en-US" altLang="zh-TW" sz="2400" dirty="0"/>
                        <a:t>Log + Trace + Changelog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641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 dirty="0"/>
                        <a:t>Others</a:t>
                      </a:r>
                      <a:endParaRPr sz="2400" dirty="0"/>
                    </a:p>
                  </a:txBody>
                  <a:tcPr marL="121900" marR="121900" marT="121900" marB="1219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AutoNum type="arabicPeriod"/>
                      </a:pPr>
                      <a:r>
                        <a:rPr lang="zh-TW" sz="2400" dirty="0">
                          <a:solidFill>
                            <a:srgbClr val="FF0000"/>
                          </a:solidFill>
                        </a:rPr>
                        <a:t>Multiple sources</a:t>
                      </a:r>
                      <a:endParaRPr lang="en-US" altLang="zh-TW" sz="2400" dirty="0">
                        <a:solidFill>
                          <a:srgbClr val="FF0000"/>
                        </a:solidFill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AutoNum type="arabicPeriod"/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Log type</a:t>
                      </a:r>
                    </a:p>
                    <a:p>
                      <a:pPr marL="939800" lvl="1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System log   (k8s-related)</a:t>
                      </a:r>
                    </a:p>
                    <a:p>
                      <a:pPr marL="939800" lvl="1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Application log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AutoNum type="arabicPeriod"/>
                      </a:pPr>
                      <a:endParaRPr sz="2400" dirty="0">
                        <a:solidFill>
                          <a:srgbClr val="FF0000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AutoNum type="arabicPeriod"/>
                      </a:pPr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Multiple sources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AutoNum type="arabicPeriod"/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Log type (same as log parsing)</a:t>
                      </a:r>
                    </a:p>
                    <a:p>
                      <a:pPr marL="914400" lvl="1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lphaLcPeriod"/>
                      </a:pPr>
                      <a:r>
                        <a:rPr lang="en-US" altLang="zh-TW" sz="2400" dirty="0">
                          <a:solidFill>
                            <a:schemeClr val="dk1"/>
                          </a:solidFill>
                        </a:rPr>
                        <a:t>time mismatch</a:t>
                      </a:r>
                      <a:endParaRPr lang="en-US" sz="2400" dirty="0">
                        <a:solidFill>
                          <a:schemeClr val="dk1"/>
                        </a:solidFill>
                      </a:endParaRPr>
                    </a:p>
                    <a:p>
                      <a:pPr marL="914400" lvl="1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lphaLcPeriod"/>
                      </a:pPr>
                      <a:r>
                        <a:rPr lang="en-US" altLang="zh-TW" sz="2400" dirty="0">
                          <a:solidFill>
                            <a:schemeClr val="dk1"/>
                          </a:solidFill>
                        </a:rPr>
                        <a:t>log sparsity issue (error message)</a:t>
                      </a:r>
                      <a:endParaRPr lang="en-US" sz="2400" b="1" dirty="0">
                        <a:solidFill>
                          <a:srgbClr val="00B050"/>
                        </a:solidFill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AutoNum type="arabicPeriod"/>
                      </a:pPr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Causality/Interpretability/</a:t>
                      </a:r>
                      <a:r>
                        <a:rPr lang="en-US" altLang="zh-TW" sz="2400" dirty="0" err="1">
                          <a:solidFill>
                            <a:srgbClr val="FF0000"/>
                          </a:solidFill>
                        </a:rPr>
                        <a:t>Explainability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401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0C7999D-5618-27B5-8204-F3F452A53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Automatic Parsing of Log Records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1688E725-844A-6073-C566-910521476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ICSE 2021 (#15 conference), #citations = 2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905C29-373C-EDC5-AC8D-F33C9CAE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8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1320D27-78F7-BDF9-A4F3-D7E6DFD47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030" y="322378"/>
            <a:ext cx="2076740" cy="5029902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90FB66E5-DC96-1B15-55EF-14B038237CE5}"/>
              </a:ext>
            </a:extLst>
          </p:cNvPr>
          <p:cNvSpPr/>
          <p:nvPr/>
        </p:nvSpPr>
        <p:spPr>
          <a:xfrm>
            <a:off x="9782030" y="1084729"/>
            <a:ext cx="2076740" cy="43030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92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4BD8D5-2D72-C104-DC55-5A06C876A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D125557-B718-C886-BCA7-E703AF103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explore the possibility of automating the parsing task by employing </a:t>
            </a:r>
            <a:r>
              <a:rPr lang="en-US" dirty="0">
                <a:solidFill>
                  <a:srgbClr val="FF0000"/>
                </a:solidFill>
              </a:rPr>
              <a:t>machine translation</a:t>
            </a:r>
            <a:r>
              <a:rPr lang="en-US" dirty="0"/>
              <a:t> (MT). </a:t>
            </a:r>
          </a:p>
          <a:p>
            <a:r>
              <a:rPr lang="en-US" dirty="0"/>
              <a:t>They create a tool that generates </a:t>
            </a:r>
            <a:r>
              <a:rPr lang="en-US" dirty="0">
                <a:solidFill>
                  <a:srgbClr val="FF0000"/>
                </a:solidFill>
              </a:rPr>
              <a:t>synthetic</a:t>
            </a:r>
            <a:r>
              <a:rPr lang="en-US" dirty="0"/>
              <a:t> Apache log records which we used to train </a:t>
            </a:r>
            <a:r>
              <a:rPr lang="en-US" u="sng" dirty="0"/>
              <a:t>recurrent-neural-network-based</a:t>
            </a:r>
            <a:r>
              <a:rPr lang="en-US" dirty="0"/>
              <a:t> MT models.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9179E2-292E-8AB0-A2ED-BF79BC7182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032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D0F87E-CD55-1773-1231-24619402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Settings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CD5259-F144-E4F4-4344-71CCBEC22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  <a:p>
            <a:pPr lvl="1"/>
            <a:r>
              <a:rPr lang="en-US" dirty="0"/>
              <a:t>An input string of the raw log</a:t>
            </a:r>
          </a:p>
          <a:p>
            <a:r>
              <a:rPr lang="en-US" dirty="0"/>
              <a:t>Output</a:t>
            </a:r>
          </a:p>
          <a:p>
            <a:pPr lvl="1"/>
            <a:r>
              <a:rPr lang="en-US" dirty="0"/>
              <a:t>The field type that a given input character is mapped to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E384D50-B5B2-5A5C-EE8D-8DDAAAA24B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10</a:t>
            </a:fld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63F0399-05AD-340F-8FA2-B1510F7DA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743" y="3679172"/>
            <a:ext cx="8218094" cy="1170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84BED6F-CE9F-DE83-7B9F-7AE62A931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743" y="5083573"/>
            <a:ext cx="9488224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69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871222-FF39-3325-DAC0-2330FAA9E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7B43F4C8-DEF3-955C-FB8E-7D5E1B68699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They focused on LSTM-based translators and converged on three architectures.</a:t>
                </a:r>
              </a:p>
              <a:p>
                <a:pPr marL="1253047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 is based on the classic neural MT architecture akin to with LSTM-based encoder and decoder layers.</a:t>
                </a:r>
              </a:p>
              <a:p>
                <a:pPr lvl="2"/>
                <a:r>
                  <a:rPr lang="en-US" dirty="0"/>
                  <a:t>Seq2seq</a:t>
                </a:r>
              </a:p>
              <a:p>
                <a:pPr marL="1253047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is similar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 but added the attention layer</a:t>
                </a:r>
              </a:p>
              <a:p>
                <a:pPr marL="1253047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, is based on the seq2seq architecture with the LSTM layers and attention mechanism</a:t>
                </a:r>
              </a:p>
            </p:txBody>
          </p:sp>
        </mc:Choice>
        <mc:Fallback xmlns="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7B43F4C8-DEF3-955C-FB8E-7D5E1B6869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67E817-8260-9D63-E0F7-84A66BC70B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3838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C8A6A7-7B25-7A00-A15B-144D13712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logs’ generator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9E9431A-C90C-0CC6-13F2-4CB090494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focus on log formats of the Apache HTTP server</a:t>
            </a:r>
          </a:p>
          <a:p>
            <a:endParaRPr lang="en-US" dirty="0"/>
          </a:p>
          <a:p>
            <a:r>
              <a:rPr lang="en-US" dirty="0"/>
              <a:t>“For the training of the DNNs, we need not only the raw log strings, which will serve as input to a DNN, but also the information about the log strings' format that will be used as output from the model.”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F619C0-EC1B-94B7-BACA-D5CE4A7D61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12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DA9FA9F-6E5D-D51C-2CD7-7C2C572BFDF5}"/>
              </a:ext>
            </a:extLst>
          </p:cNvPr>
          <p:cNvSpPr txBox="1"/>
          <p:nvPr/>
        </p:nvSpPr>
        <p:spPr>
          <a:xfrm>
            <a:off x="1981200" y="4798147"/>
            <a:ext cx="36157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Supervised learning!</a:t>
            </a:r>
          </a:p>
          <a:p>
            <a:r>
              <a:rPr lang="en-US" sz="2800" dirty="0"/>
              <a:t>Not suitable in our case</a:t>
            </a:r>
          </a:p>
        </p:txBody>
      </p:sp>
    </p:spTree>
    <p:extLst>
      <p:ext uri="{BB962C8B-B14F-4D97-AF65-F5344CB8AC3E}">
        <p14:creationId xmlns:p14="http://schemas.microsoft.com/office/powerpoint/2010/main" val="2859264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381CBE-AA92-AFE1-05D9-46088650C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352785-E0CB-EEB5-A619-09632C566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work is of interest to researchers as it provides </a:t>
            </a:r>
            <a:r>
              <a:rPr lang="en-US" dirty="0">
                <a:solidFill>
                  <a:srgbClr val="FF0000"/>
                </a:solidFill>
              </a:rPr>
              <a:t>novel insights</a:t>
            </a:r>
            <a:r>
              <a:rPr lang="en-US" dirty="0"/>
              <a:t> into the log parsing field.</a:t>
            </a:r>
          </a:p>
          <a:p>
            <a:r>
              <a:rPr lang="en-US" dirty="0"/>
              <a:t>The quality of our models' translation is </a:t>
            </a:r>
            <a:r>
              <a:rPr lang="en-US" dirty="0">
                <a:solidFill>
                  <a:srgbClr val="FF0000"/>
                </a:solidFill>
                <a:effectLst/>
              </a:rPr>
              <a:t>not adequate</a:t>
            </a:r>
            <a:r>
              <a:rPr lang="en-US" dirty="0"/>
              <a:t> for the practitioner at this stage, but we hope that this work will inspire others to explore various MT approaches and improve upon our results.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15EADC-9125-20C5-70D4-C02FEA1335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9161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F892B3-B040-029C-0E8F-01E077FC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with </a:t>
            </a:r>
            <a:r>
              <a:rPr lang="en-US" dirty="0" err="1"/>
              <a:t>UniParser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F03951B-A3FC-4D88-6D95-817E4704B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2"/>
            <a:ext cx="11360800" cy="5088285"/>
          </a:xfrm>
        </p:spPr>
        <p:txBody>
          <a:bodyPr>
            <a:normAutofit/>
          </a:bodyPr>
          <a:lstStyle/>
          <a:p>
            <a:r>
              <a:rPr lang="en-US" dirty="0"/>
              <a:t>In this work, they formulate log parsing as MT problem; in </a:t>
            </a:r>
            <a:r>
              <a:rPr lang="en-US" dirty="0" err="1"/>
              <a:t>UniParser</a:t>
            </a:r>
            <a:r>
              <a:rPr lang="en-US" dirty="0"/>
              <a:t>, the </a:t>
            </a:r>
            <a:r>
              <a:rPr lang="en-US" dirty="0" err="1"/>
              <a:t>forlumate</a:t>
            </a:r>
            <a:r>
              <a:rPr lang="en-US" dirty="0"/>
              <a:t> log parsing as classification problem</a:t>
            </a:r>
          </a:p>
          <a:p>
            <a:pPr lvl="1"/>
            <a:r>
              <a:rPr lang="en-US" i="1" dirty="0"/>
              <a:t>Is the </a:t>
            </a:r>
            <a:r>
              <a:rPr lang="en-US" i="1" u="sng" dirty="0"/>
              <a:t>machine translation</a:t>
            </a:r>
            <a:r>
              <a:rPr lang="en-US" i="1" dirty="0"/>
              <a:t> technique appropriate here?</a:t>
            </a:r>
          </a:p>
          <a:p>
            <a:pPr lvl="1"/>
            <a:r>
              <a:rPr lang="en-US" altLang="zh-TW" dirty="0"/>
              <a:t>Both are </a:t>
            </a:r>
            <a:r>
              <a:rPr lang="en-US" altLang="zh-TW" dirty="0">
                <a:solidFill>
                  <a:srgbClr val="FF0000"/>
                </a:solidFill>
              </a:rPr>
              <a:t>supervised</a:t>
            </a:r>
            <a:r>
              <a:rPr lang="en-US" altLang="zh-TW" dirty="0"/>
              <a:t> learning (do we have to use labeled data to train NLP-related NN?)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Learn from context</a:t>
            </a:r>
          </a:p>
          <a:p>
            <a:pPr lvl="1"/>
            <a:endParaRPr lang="en-US" altLang="zh-TW" dirty="0"/>
          </a:p>
          <a:p>
            <a:r>
              <a:rPr lang="en-US" dirty="0"/>
              <a:t>Problem with </a:t>
            </a:r>
            <a:r>
              <a:rPr lang="en-US" dirty="0" err="1"/>
              <a:t>UniParser</a:t>
            </a:r>
            <a:endParaRPr lang="en-US" dirty="0"/>
          </a:p>
          <a:p>
            <a:pPr lvl="1"/>
            <a:r>
              <a:rPr lang="en-US" dirty="0"/>
              <a:t>Supervised learning</a:t>
            </a:r>
          </a:p>
          <a:p>
            <a:pPr lvl="1"/>
            <a:r>
              <a:rPr lang="en-US" dirty="0"/>
              <a:t>Self-supervised</a:t>
            </a:r>
          </a:p>
          <a:p>
            <a:pPr lvl="2"/>
            <a:r>
              <a:rPr lang="en-US" dirty="0"/>
              <a:t>Use Drain’s rule to define positive pairs and negative pairs</a:t>
            </a:r>
            <a:endParaRPr lang="en-US" altLang="zh-TW" dirty="0"/>
          </a:p>
          <a:p>
            <a:pPr lvl="1"/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75EAB7-DE92-705F-4852-F3C40E2B3E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14</a:t>
            </a:fld>
            <a:endParaRPr lang="zh-TW" altLang="en-US"/>
          </a:p>
        </p:txBody>
      </p:sp>
      <p:pic>
        <p:nvPicPr>
          <p:cNvPr id="2050" name="Picture 2" descr="790,756 張Thumbs up 圖片、庫存照片和向量圖| Shutterstock">
            <a:extLst>
              <a:ext uri="{FF2B5EF4-FFF2-40B4-BE49-F238E27FC236}">
                <a16:creationId xmlns:a16="http://schemas.microsoft.com/office/drawing/2014/main" id="{95A4185B-82D1-C13F-981E-0552DA4DE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790" r="2845" b="12521"/>
          <a:stretch/>
        </p:blipFill>
        <p:spPr bwMode="auto">
          <a:xfrm>
            <a:off x="851646" y="3093861"/>
            <a:ext cx="412378" cy="415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790,756 張Thumbs up 圖片、庫存照片和向量圖| Shutterstock">
            <a:extLst>
              <a:ext uri="{FF2B5EF4-FFF2-40B4-BE49-F238E27FC236}">
                <a16:creationId xmlns:a16="http://schemas.microsoft.com/office/drawing/2014/main" id="{780ACC4E-9F40-AD50-E6C6-E20EAD067B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3" t="8348" r="50282" b="14915"/>
          <a:stretch/>
        </p:blipFill>
        <p:spPr bwMode="auto">
          <a:xfrm>
            <a:off x="851647" y="3916544"/>
            <a:ext cx="412378" cy="385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790,756 張Thumbs up 圖片、庫存照片和向量圖| Shutterstock">
            <a:extLst>
              <a:ext uri="{FF2B5EF4-FFF2-40B4-BE49-F238E27FC236}">
                <a16:creationId xmlns:a16="http://schemas.microsoft.com/office/drawing/2014/main" id="{74C54232-CED5-5883-A047-C4B9D3E990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790" r="2845" b="12521"/>
          <a:stretch/>
        </p:blipFill>
        <p:spPr bwMode="auto">
          <a:xfrm>
            <a:off x="851646" y="5200566"/>
            <a:ext cx="412378" cy="415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790,756 張Thumbs up 圖片、庫存照片和向量圖| Shutterstock">
            <a:extLst>
              <a:ext uri="{FF2B5EF4-FFF2-40B4-BE49-F238E27FC236}">
                <a16:creationId xmlns:a16="http://schemas.microsoft.com/office/drawing/2014/main" id="{81AB1303-AD1B-27B5-68C1-6A6087D0E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3" t="8348" r="50282" b="14915"/>
          <a:stretch/>
        </p:blipFill>
        <p:spPr bwMode="auto">
          <a:xfrm>
            <a:off x="851646" y="5641583"/>
            <a:ext cx="412378" cy="385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790,756 張Thumbs up 圖片、庫存照片和向量圖| Shutterstock">
            <a:extLst>
              <a:ext uri="{FF2B5EF4-FFF2-40B4-BE49-F238E27FC236}">
                <a16:creationId xmlns:a16="http://schemas.microsoft.com/office/drawing/2014/main" id="{FED9DC50-226C-13DB-CAC4-147CFFA378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790" r="2845" b="12521"/>
          <a:stretch/>
        </p:blipFill>
        <p:spPr bwMode="auto">
          <a:xfrm>
            <a:off x="1416424" y="5973886"/>
            <a:ext cx="412378" cy="415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60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D5A2A7-B24F-8F27-08B1-0ADB8A2BD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= Learning from </a:t>
            </a:r>
            <a:r>
              <a:rPr lang="en-US" dirty="0">
                <a:solidFill>
                  <a:srgbClr val="FF0000"/>
                </a:solidFill>
              </a:rPr>
              <a:t>Unpaired Data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EEAA16-3D4C-1C88-13F1-FE82FE0E21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15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D8E3BF2-EA65-B3D7-33C7-44DC6E10B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44" y="4253085"/>
            <a:ext cx="11791894" cy="226726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A028ECC-2088-6E4B-E3B5-693614EC3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59" y="1699585"/>
            <a:ext cx="3243650" cy="163719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1164954-B51B-7FD6-D54A-D956D14C2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4888" y="1448744"/>
            <a:ext cx="3658714" cy="194465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BB63D2D-EA28-709D-D8D5-6FDF9AEB9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0303" y="1564039"/>
            <a:ext cx="3781697" cy="182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81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D5A2A7-B24F-8F27-08B1-0ADB8A2BD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Can we use unsupervised seq2seq to tackle this problem?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EEAA16-3D4C-1C88-13F1-FE82FE0E21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16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6D70EFE-4421-FAD0-0AB3-FE493E64A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447" y="1484093"/>
            <a:ext cx="8662412" cy="478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775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2021DE-C7B6-7B9B-F863-95970A5CC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Translation?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F8529B-7CDD-A451-39E1-DD28725A24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17</a:t>
            </a:fld>
            <a:endParaRPr lang="zh-TW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3DF9F8D-5D4F-C952-126C-909B2B230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8237" y="397629"/>
            <a:ext cx="6734174" cy="95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80457C5C-9D45-3F89-F930-9E974825D913}"/>
              </a:ext>
            </a:extLst>
          </p:cNvPr>
          <p:cNvGrpSpPr/>
          <p:nvPr/>
        </p:nvGrpSpPr>
        <p:grpSpPr>
          <a:xfrm>
            <a:off x="1920128" y="1536633"/>
            <a:ext cx="6533590" cy="5077860"/>
            <a:chOff x="1920128" y="1536633"/>
            <a:chExt cx="6533590" cy="5077860"/>
          </a:xfrm>
        </p:grpSpPr>
        <p:pic>
          <p:nvPicPr>
            <p:cNvPr id="2050" name="Picture 2" descr="preview">
              <a:extLst>
                <a:ext uri="{FF2B5EF4-FFF2-40B4-BE49-F238E27FC236}">
                  <a16:creationId xmlns:a16="http://schemas.microsoft.com/office/drawing/2014/main" id="{C6CFB715-BDFD-9BC0-0075-B8F7644C8C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128" y="1536633"/>
              <a:ext cx="6533590" cy="5077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18BEE281-E232-B1CE-9817-642E5F34CD1E}"/>
                </a:ext>
              </a:extLst>
            </p:cNvPr>
            <p:cNvSpPr/>
            <p:nvPr/>
          </p:nvSpPr>
          <p:spPr>
            <a:xfrm>
              <a:off x="4464424" y="5208494"/>
              <a:ext cx="860611" cy="215153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605C79D4-8128-5849-ADA9-5C84D774DADA}"/>
                </a:ext>
              </a:extLst>
            </p:cNvPr>
            <p:cNvSpPr/>
            <p:nvPr/>
          </p:nvSpPr>
          <p:spPr>
            <a:xfrm>
              <a:off x="4150659" y="3321423"/>
              <a:ext cx="1515035" cy="387421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乘號 6">
              <a:extLst>
                <a:ext uri="{FF2B5EF4-FFF2-40B4-BE49-F238E27FC236}">
                  <a16:creationId xmlns:a16="http://schemas.microsoft.com/office/drawing/2014/main" id="{43B6EC76-8F67-816B-7E3F-EBB7EDCEEF6B}"/>
                </a:ext>
              </a:extLst>
            </p:cNvPr>
            <p:cNvSpPr/>
            <p:nvPr/>
          </p:nvSpPr>
          <p:spPr>
            <a:xfrm>
              <a:off x="4050107" y="5122359"/>
              <a:ext cx="387421" cy="387421"/>
            </a:xfrm>
            <a:prstGeom prst="mathMultiply">
              <a:avLst>
                <a:gd name="adj1" fmla="val 1102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2041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8FDCD2-F6BC-473F-AAC5-62D6ACEEC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</a:t>
            </a:r>
            <a:r>
              <a:rPr lang="zh-TW" altLang="en-US" dirty="0"/>
              <a:t> </a:t>
            </a:r>
            <a:r>
              <a:rPr lang="en-US" altLang="zh-TW" dirty="0"/>
              <a:t>tagging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50EA8A-3303-8761-6A4F-B518DAD695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18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8782FC2-D57E-2AC9-8525-8AA5B72187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601"/>
          <a:stretch/>
        </p:blipFill>
        <p:spPr>
          <a:xfrm>
            <a:off x="1680546" y="1356967"/>
            <a:ext cx="8830907" cy="514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627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C36E7EF0-3FAF-68C0-43DA-BADF524A8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901" y="0"/>
            <a:ext cx="8964276" cy="663032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1F85111D-68B6-B861-23A3-480AED07E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Segmentation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8C9844-3446-023A-19D0-0C6BA10CC2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511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46C234-9534-1D54-F250-114102C97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directions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AC87177-9631-6E2B-8D3B-030C62A5B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2"/>
            <a:ext cx="11360800" cy="4962779"/>
          </a:xfrm>
        </p:spPr>
        <p:txBody>
          <a:bodyPr/>
          <a:lstStyle/>
          <a:p>
            <a:r>
              <a:rPr lang="en-US" b="1" dirty="0"/>
              <a:t>Log parsing with </a:t>
            </a:r>
            <a:r>
              <a:rPr lang="en-US" altLang="zh-TW" b="1" dirty="0"/>
              <a:t>NN</a:t>
            </a:r>
            <a:r>
              <a:rPr lang="zh-TW" altLang="en-US" b="1" dirty="0"/>
              <a:t> </a:t>
            </a:r>
            <a:r>
              <a:rPr lang="en-US" altLang="zh-TW" b="1" dirty="0"/>
              <a:t>(NLP-related)</a:t>
            </a:r>
            <a:endParaRPr lang="en-US" b="1" dirty="0"/>
          </a:p>
          <a:p>
            <a:pPr lvl="1"/>
            <a:r>
              <a:rPr lang="en-US" dirty="0"/>
              <a:t>…</a:t>
            </a:r>
          </a:p>
          <a:p>
            <a:r>
              <a:rPr lang="en-US" b="1" dirty="0"/>
              <a:t>Unsupervised POS tagging</a:t>
            </a:r>
          </a:p>
          <a:p>
            <a:pPr lvl="1"/>
            <a:r>
              <a:rPr lang="en-US" dirty="0"/>
              <a:t>A Grounded Unsupervised Universal Part-of-Speech Tagger for Low-Resource Languages</a:t>
            </a:r>
          </a:p>
          <a:p>
            <a:pPr lvl="2"/>
            <a:r>
              <a:rPr lang="en-US" dirty="0"/>
              <a:t>NAACL-HLT 2019</a:t>
            </a:r>
            <a:r>
              <a:rPr lang="zh-TW" altLang="en-US" dirty="0"/>
              <a:t> </a:t>
            </a:r>
            <a:r>
              <a:rPr lang="en-US" altLang="zh-TW" dirty="0"/>
              <a:t>(#45 conference), #citations = 8</a:t>
            </a:r>
            <a:endParaRPr lang="en-US" dirty="0"/>
          </a:p>
          <a:p>
            <a:r>
              <a:rPr lang="en-US" b="1" dirty="0"/>
              <a:t>Unsupervised word segmentation</a:t>
            </a:r>
          </a:p>
          <a:p>
            <a:pPr lvl="1"/>
            <a:r>
              <a:rPr lang="en-US" dirty="0"/>
              <a:t>Unsupervised Word Segmentation with Bi-directional Neural Language Model</a:t>
            </a:r>
          </a:p>
          <a:p>
            <a:pPr lvl="2"/>
            <a:r>
              <a:rPr lang="en-US" dirty="0"/>
              <a:t>TALLIP 2021 (Q2 journal), #citations = 6</a:t>
            </a:r>
          </a:p>
          <a:p>
            <a:pPr lvl="1"/>
            <a:r>
              <a:rPr lang="en-US" dirty="0"/>
              <a:t>Unsupervised Word Segmentation using K Nearest Neighbors</a:t>
            </a:r>
          </a:p>
          <a:p>
            <a:pPr lvl="2"/>
            <a:r>
              <a:rPr lang="en-US" dirty="0"/>
              <a:t>Submitted to </a:t>
            </a:r>
            <a:r>
              <a:rPr lang="en-US" dirty="0" err="1"/>
              <a:t>Interspeech</a:t>
            </a:r>
            <a:r>
              <a:rPr lang="en-US" dirty="0"/>
              <a:t> 2022 (written in 2022/04), #citations = 0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95BF1B-31A8-5412-D617-E317003353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5200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C94A69-6FDB-746C-4C1D-DC1BBDEAB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paper for log parsing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49D7E72-7083-1A46-0625-6B8CC1A7A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Tools and Benchmarks for Automated Log Parsing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Same authors as the CSUR paper</a:t>
            </a:r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below</a:t>
            </a:r>
          </a:p>
          <a:p>
            <a:r>
              <a:rPr lang="en-US" dirty="0"/>
              <a:t>A Survey on Automated Log Analysis for Reliability Engineering</a:t>
            </a:r>
          </a:p>
          <a:p>
            <a:pPr lvl="1"/>
            <a:r>
              <a:rPr lang="en-US" dirty="0"/>
              <a:t>CSUR 2021 </a:t>
            </a:r>
            <a:r>
              <a:rPr lang="fr-FR" altLang="zh-TW" dirty="0"/>
              <a:t>(Q1 journal), #citations = 34</a:t>
            </a:r>
          </a:p>
          <a:p>
            <a:pPr lvl="1"/>
            <a:r>
              <a:rPr lang="fr-FR" altLang="zh-TW" dirty="0"/>
              <a:t>Authors for logpai, loghub, drain, ...</a:t>
            </a:r>
          </a:p>
          <a:p>
            <a:pPr lvl="1"/>
            <a:endParaRPr lang="fr-FR" altLang="zh-TW" dirty="0"/>
          </a:p>
          <a:p>
            <a:pPr lvl="1"/>
            <a:r>
              <a:rPr lang="en-US" altLang="zh-TW" dirty="0"/>
              <a:t>The extended version of Drain was based on a </a:t>
            </a:r>
            <a:r>
              <a:rPr lang="en-US" altLang="zh-TW" u="sng" dirty="0"/>
              <a:t>directed acyclic graph</a:t>
            </a:r>
            <a:r>
              <a:rPr lang="en-US" altLang="zh-TW" dirty="0"/>
              <a:t> that </a:t>
            </a:r>
            <a:r>
              <a:rPr lang="en-US" altLang="zh-TW" dirty="0">
                <a:solidFill>
                  <a:srgbClr val="FF0000"/>
                </a:solidFill>
              </a:rPr>
              <a:t>allowed log group online merging</a:t>
            </a:r>
            <a:r>
              <a:rPr lang="en-US" altLang="zh-TW" dirty="0"/>
              <a:t>. In addition, it provided the first automated parameter tuning mechanism for log parsing. </a:t>
            </a:r>
          </a:p>
          <a:p>
            <a:pPr lvl="1"/>
            <a:r>
              <a:rPr lang="en-US" altLang="zh-TW" dirty="0" err="1"/>
              <a:t>Logram</a:t>
            </a:r>
            <a:r>
              <a:rPr lang="en-US" altLang="zh-TW" dirty="0"/>
              <a:t> is the current SOTA parser.</a:t>
            </a:r>
            <a:endParaRPr lang="fr-FR" altLang="zh-TW" dirty="0"/>
          </a:p>
          <a:p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5C0179-D76F-1073-9407-4860A49AB7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7773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13E877-F459-9431-0373-E31FF9EAC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CC1BD7B-D550-EE6E-23E6-DDC79A9B4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using </a:t>
            </a:r>
            <a:r>
              <a:rPr lang="en-US" u="sng" dirty="0"/>
              <a:t>Drain</a:t>
            </a:r>
            <a:r>
              <a:rPr lang="en-US" dirty="0"/>
              <a:t>, we want to develop a method that consist of these properties:</a:t>
            </a:r>
          </a:p>
          <a:p>
            <a:pPr marL="1253047" lvl="1" indent="-457200">
              <a:buFont typeface="+mj-lt"/>
              <a:buAutoNum type="arabicPeriod"/>
            </a:pPr>
            <a:r>
              <a:rPr lang="en-US" dirty="0"/>
              <a:t>Unsupervised learning</a:t>
            </a:r>
          </a:p>
          <a:p>
            <a:pPr marL="1253047" lvl="1" indent="-457200">
              <a:buFont typeface="+mj-lt"/>
              <a:buAutoNum type="arabicPeriod"/>
            </a:pPr>
            <a:r>
              <a:rPr lang="en-US" dirty="0"/>
              <a:t>Learn from context</a:t>
            </a:r>
          </a:p>
          <a:p>
            <a:pPr lvl="2"/>
            <a:r>
              <a:rPr lang="en-US" dirty="0"/>
              <a:t>NLP-related task, like MT, POS tagging, word segmentation</a:t>
            </a:r>
          </a:p>
          <a:p>
            <a:pPr marL="1253047" lvl="1" indent="-457200">
              <a:buFont typeface="+mj-lt"/>
              <a:buAutoNum type="arabicPeriod"/>
            </a:pPr>
            <a:r>
              <a:rPr lang="en-US" dirty="0"/>
              <a:t>(Optional) Self-supervised learning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4A94ED-F44A-A307-697F-1D7B7E3C78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8139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>
            <a:extLst>
              <a:ext uri="{FF2B5EF4-FFF2-40B4-BE49-F238E27FC236}">
                <a16:creationId xmlns:a16="http://schemas.microsoft.com/office/drawing/2014/main" id="{7A95D878-9D85-4067-B8C6-5FCF82236C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 for your attention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82EEE6-463A-463A-8410-A75AC2130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8DEA8-0E5E-4D32-8AAB-570D36B55623}" type="datetime1">
              <a:rPr lang="zh-TW" altLang="en-US" smtClean="0"/>
              <a:t>2022/7/27</a:t>
            </a:fld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D20A06F-98C6-40FC-85D2-8C7EA633E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3045F-0760-4258-B787-3B0074266243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313260"/>
      </p:ext>
    </p:extLst>
  </p:cSld>
  <p:clrMapOvr>
    <a:masterClrMapping/>
  </p:clrMapOvr>
</p:sld>
</file>

<file path=ppt/theme/theme1.xml><?xml version="1.0" encoding="utf-8"?>
<a:theme xmlns:a="http://schemas.openxmlformats.org/drawingml/2006/main" name="goedge">
  <a:themeElements>
    <a:clrScheme name="GoEdge">
      <a:dk1>
        <a:srgbClr val="006E85"/>
      </a:dk1>
      <a:lt1>
        <a:srgbClr val="FFFFFF"/>
      </a:lt1>
      <a:dk2>
        <a:srgbClr val="3C3744"/>
      </a:dk2>
      <a:lt2>
        <a:srgbClr val="F5F3D2"/>
      </a:lt2>
      <a:accent1>
        <a:srgbClr val="00B1C4"/>
      </a:accent1>
      <a:accent2>
        <a:srgbClr val="F5DE6F"/>
      </a:accent2>
      <a:accent3>
        <a:srgbClr val="BB7E5D"/>
      </a:accent3>
      <a:accent4>
        <a:srgbClr val="678D58"/>
      </a:accent4>
      <a:accent5>
        <a:srgbClr val="CBC5EA"/>
      </a:accent5>
      <a:accent6>
        <a:srgbClr val="F45B69"/>
      </a:accent6>
      <a:hlink>
        <a:srgbClr val="F60000"/>
      </a:hlink>
      <a:folHlink>
        <a:srgbClr val="05ACFF"/>
      </a:folHlink>
    </a:clrScheme>
    <a:fontScheme name="GoEdge">
      <a:majorFont>
        <a:latin typeface="jf-openhuninn-1.1"/>
        <a:ea typeface="jf-openhuninn-1.1"/>
        <a:cs typeface=""/>
      </a:majorFont>
      <a:minorFont>
        <a:latin typeface="jf-openhuninn-1.1"/>
        <a:ea typeface="jf-openhuninn-1.1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oedge" id="{ADA0E8DD-524B-4C56-BA55-8BC9FFE32824}" vid="{909F2F81-55A3-4C95-A056-46232502AB36}"/>
    </a:ext>
  </a:extLst>
</a:theme>
</file>

<file path=ppt/theme/theme2.xml><?xml version="1.0" encoding="utf-8"?>
<a:theme xmlns:a="http://schemas.openxmlformats.org/drawingml/2006/main" name="1_goedge">
  <a:themeElements>
    <a:clrScheme name="GoEdge">
      <a:dk1>
        <a:srgbClr val="006E85"/>
      </a:dk1>
      <a:lt1>
        <a:srgbClr val="FFFFFF"/>
      </a:lt1>
      <a:dk2>
        <a:srgbClr val="3C3744"/>
      </a:dk2>
      <a:lt2>
        <a:srgbClr val="F5F3D2"/>
      </a:lt2>
      <a:accent1>
        <a:srgbClr val="00B1C4"/>
      </a:accent1>
      <a:accent2>
        <a:srgbClr val="F5DE6F"/>
      </a:accent2>
      <a:accent3>
        <a:srgbClr val="BB7E5D"/>
      </a:accent3>
      <a:accent4>
        <a:srgbClr val="678D58"/>
      </a:accent4>
      <a:accent5>
        <a:srgbClr val="CBC5EA"/>
      </a:accent5>
      <a:accent6>
        <a:srgbClr val="F45B69"/>
      </a:accent6>
      <a:hlink>
        <a:srgbClr val="F60000"/>
      </a:hlink>
      <a:folHlink>
        <a:srgbClr val="05ACFF"/>
      </a:folHlink>
    </a:clrScheme>
    <a:fontScheme name="GoEdge">
      <a:majorFont>
        <a:latin typeface="jf-openhuninn-1.1"/>
        <a:ea typeface="jf-openhuninn-1.1"/>
        <a:cs typeface=""/>
      </a:majorFont>
      <a:minorFont>
        <a:latin typeface="jf-openhuninn-1.1"/>
        <a:ea typeface="jf-openhuninn-1.1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oedge" id="{7B0884B2-9721-430C-BFC2-E9AED1C0932D}" vid="{81BF0D47-5590-4B07-B1EB-DF48AA4601F4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goedge</Template>
  <TotalTime>6892</TotalTime>
  <Words>932</Words>
  <Application>Microsoft Office PowerPoint</Application>
  <PresentationFormat>寬螢幕</PresentationFormat>
  <Paragraphs>163</Paragraphs>
  <Slides>23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23</vt:i4>
      </vt:variant>
    </vt:vector>
  </HeadingPairs>
  <TitlesOfParts>
    <vt:vector size="30" baseType="lpstr">
      <vt:lpstr>jf-openhuninn-1.1</vt:lpstr>
      <vt:lpstr>Arial</vt:lpstr>
      <vt:lpstr>Calibri</vt:lpstr>
      <vt:lpstr>Cambria Math</vt:lpstr>
      <vt:lpstr>Lucida Console</vt:lpstr>
      <vt:lpstr>goedge</vt:lpstr>
      <vt:lpstr>1_goedge</vt:lpstr>
      <vt:lpstr>Individual Meeting</vt:lpstr>
      <vt:lpstr>What’ve I done in the past two weeks?</vt:lpstr>
      <vt:lpstr>TSMC JDP meeting</vt:lpstr>
      <vt:lpstr>Internship plan (from TSMC)</vt:lpstr>
      <vt:lpstr>Internship plan (from NYCU)</vt:lpstr>
      <vt:lpstr>Problem Settings</vt:lpstr>
      <vt:lpstr>2 main problem settings</vt:lpstr>
      <vt:lpstr>On Automatic Parsing of Log Records</vt:lpstr>
      <vt:lpstr>Introduction</vt:lpstr>
      <vt:lpstr>Problem Settings</vt:lpstr>
      <vt:lpstr>Models</vt:lpstr>
      <vt:lpstr>Synthetic logs’ generator</vt:lpstr>
      <vt:lpstr>Summary</vt:lpstr>
      <vt:lpstr>Connection with UniParser</vt:lpstr>
      <vt:lpstr>Unsupervised = Learning from Unpaired Data</vt:lpstr>
      <vt:lpstr>Can we use unsupervised seq2seq to tackle this problem?</vt:lpstr>
      <vt:lpstr>Machine Translation?</vt:lpstr>
      <vt:lpstr>POS tagging</vt:lpstr>
      <vt:lpstr>Word Segmentation</vt:lpstr>
      <vt:lpstr>Research directions</vt:lpstr>
      <vt:lpstr>Survey paper for log parsing</vt:lpstr>
      <vt:lpstr>Conclusion</vt:lpstr>
      <vt:lpstr>Thanks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123</dc:title>
  <dc:creator>張敬</dc:creator>
  <cp:lastModifiedBy>張敬</cp:lastModifiedBy>
  <cp:revision>63</cp:revision>
  <dcterms:created xsi:type="dcterms:W3CDTF">2022-02-11T04:06:07Z</dcterms:created>
  <dcterms:modified xsi:type="dcterms:W3CDTF">2022-07-27T10:07:08Z</dcterms:modified>
</cp:coreProperties>
</file>