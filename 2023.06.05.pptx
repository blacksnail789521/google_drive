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32DD55-F58C-4E76-B93F-580D8438E63E}">
  <a:tblStyle styleId="{2A32DD55-F58C-4E76-B93F-580D8438E6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1d6cd004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1d6cd004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1d6cd0043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1d6cd0043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d6cd0043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1d6cd0043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1d6cd0043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1d6cd0043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241b1a22d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241b1a22d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241b1a22d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241b1a22d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241b1a22d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241b1a22d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241b1a22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241b1a22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1d6cd0043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1d6cd0043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40691a1de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40691a1de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1d6cd0043b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1d6cd0043b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1d6cd0043b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1d6cd0043b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1d6cd0043b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1d6cd0043b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40691a1dea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40691a1de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40548a8e3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40548a8e3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40548a8e3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40548a8e3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40548a8e34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40548a8e34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1d6cd0043b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21d6cd0043b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21d6cd0043b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21d6cd0043b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240548a8e3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240548a8e3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40548a8e34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40548a8e34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zh-TW"/>
              <a:t>2023 JDP 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AI Causality Inferences for TSMC Operations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Advisor: Wen-Chih Peng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Student: Zheng-Ming Lin, Ching Chang, Ting-Yun Ou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Date: 2023/06/05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Problem Definition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RCA vs. Causal Learning</a:t>
            </a:r>
            <a:endParaRPr strike="sng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Definition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Settings</a:t>
            </a:r>
            <a:endParaRPr/>
          </a:p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{2A32DD55-F58C-4E76-B93F-580D8438E63E}</a:tableStyleId>
              </a:tblPr>
              <a:tblGrid>
                <a:gridCol w="2687000"/>
                <a:gridCol w="455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Supervised or Unsupervised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Unsupervised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AD or RCA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RCA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9E9E9E"/>
                          </a:solidFill>
                        </a:rPr>
                        <a:t>Offline or Online</a:t>
                      </a:r>
                      <a:endParaRPr>
                        <a:solidFill>
                          <a:srgbClr val="9E9E9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9E9E9E"/>
                          </a:solidFill>
                        </a:rPr>
                        <a:t>Online</a:t>
                      </a:r>
                      <a:endParaRPr>
                        <a:solidFill>
                          <a:srgbClr val="9E9E9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Format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Tabular Data</a:t>
                      </a:r>
                      <a:endParaRPr b="1" strike="sng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Others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Causal Graph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Edge Existence Constraints (should or should not exist)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Self-supervised Learning, GNN, Deep Causal Learning, …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Definition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Input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Output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do we evaluate the results?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Baseline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Causal Discovery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Score-based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NOTEARS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DAGMA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Constraint-based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PC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FCI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Functional-based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Causal Inference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Root Cause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paper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Datasets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Synthetic Datasets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Real-world Datasets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/>
          <p:nvPr/>
        </p:nvSpPr>
        <p:spPr>
          <a:xfrm>
            <a:off x="1626250" y="2690914"/>
            <a:ext cx="514500" cy="942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/>
          <p:nvPr/>
        </p:nvSpPr>
        <p:spPr>
          <a:xfrm>
            <a:off x="1626250" y="1155250"/>
            <a:ext cx="514500" cy="1468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Input Format with Provided Dataset</a:t>
            </a:r>
            <a:endParaRPr/>
          </a:p>
        </p:txBody>
      </p:sp>
      <p:sp>
        <p:nvSpPr>
          <p:cNvPr id="105" name="Google Shape;105;p21"/>
          <p:cNvSpPr/>
          <p:nvPr/>
        </p:nvSpPr>
        <p:spPr>
          <a:xfrm>
            <a:off x="1732150" y="17481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1"/>
          <p:cNvSpPr/>
          <p:nvPr/>
        </p:nvSpPr>
        <p:spPr>
          <a:xfrm>
            <a:off x="1732150" y="2744923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/>
          <p:nvPr/>
        </p:nvSpPr>
        <p:spPr>
          <a:xfrm>
            <a:off x="1732150" y="383659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/>
          <p:nvPr/>
        </p:nvSpPr>
        <p:spPr>
          <a:xfrm>
            <a:off x="1732150" y="3291026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/>
          <p:nvPr/>
        </p:nvSpPr>
        <p:spPr>
          <a:xfrm>
            <a:off x="1732150" y="4347841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/>
          <p:nvPr/>
        </p:nvSpPr>
        <p:spPr>
          <a:xfrm>
            <a:off x="1732150" y="2265487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111;p21"/>
          <p:cNvCxnSpPr>
            <a:stCxn id="105" idx="4"/>
            <a:endCxn id="110" idx="0"/>
          </p:cNvCxnSpPr>
          <p:nvPr/>
        </p:nvCxnSpPr>
        <p:spPr>
          <a:xfrm>
            <a:off x="1882450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21"/>
          <p:cNvCxnSpPr>
            <a:stCxn id="110" idx="4"/>
            <a:endCxn id="106" idx="0"/>
          </p:cNvCxnSpPr>
          <p:nvPr/>
        </p:nvCxnSpPr>
        <p:spPr>
          <a:xfrm>
            <a:off x="1882450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21"/>
          <p:cNvSpPr txBox="1"/>
          <p:nvPr/>
        </p:nvSpPr>
        <p:spPr>
          <a:xfrm>
            <a:off x="234475" y="2071525"/>
            <a:ext cx="141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measurement step</a:t>
            </a:r>
            <a:endParaRPr/>
          </a:p>
        </p:txBody>
      </p:sp>
      <p:cxnSp>
        <p:nvCxnSpPr>
          <p:cNvPr id="114" name="Google Shape;114;p21"/>
          <p:cNvCxnSpPr>
            <a:stCxn id="106" idx="4"/>
            <a:endCxn id="108" idx="0"/>
          </p:cNvCxnSpPr>
          <p:nvPr/>
        </p:nvCxnSpPr>
        <p:spPr>
          <a:xfrm>
            <a:off x="1882450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21"/>
          <p:cNvCxnSpPr>
            <a:stCxn id="108" idx="4"/>
            <a:endCxn id="107" idx="0"/>
          </p:cNvCxnSpPr>
          <p:nvPr/>
        </p:nvCxnSpPr>
        <p:spPr>
          <a:xfrm>
            <a:off x="1882450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21"/>
          <p:cNvCxnSpPr>
            <a:stCxn id="107" idx="4"/>
            <a:endCxn id="109" idx="0"/>
          </p:cNvCxnSpPr>
          <p:nvPr/>
        </p:nvCxnSpPr>
        <p:spPr>
          <a:xfrm>
            <a:off x="1882450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21"/>
          <p:cNvSpPr txBox="1"/>
          <p:nvPr/>
        </p:nvSpPr>
        <p:spPr>
          <a:xfrm>
            <a:off x="234475" y="1321575"/>
            <a:ext cx="141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manufacturing step</a:t>
            </a:r>
            <a:endParaRPr/>
          </a:p>
        </p:txBody>
      </p:sp>
      <p:sp>
        <p:nvSpPr>
          <p:cNvPr id="118" name="Google Shape;118;p21"/>
          <p:cNvSpPr/>
          <p:nvPr/>
        </p:nvSpPr>
        <p:spPr>
          <a:xfrm>
            <a:off x="1626250" y="3784236"/>
            <a:ext cx="514500" cy="909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057950" y="164737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stage 1</a:t>
            </a:r>
            <a:endParaRPr/>
          </a:p>
        </p:txBody>
      </p:sp>
      <p:sp>
        <p:nvSpPr>
          <p:cNvPr id="120" name="Google Shape;120;p21"/>
          <p:cNvSpPr txBox="1"/>
          <p:nvPr/>
        </p:nvSpPr>
        <p:spPr>
          <a:xfrm>
            <a:off x="2057950" y="2975411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stage 2</a:t>
            </a:r>
            <a:endParaRPr/>
          </a:p>
        </p:txBody>
      </p:sp>
      <p:sp>
        <p:nvSpPr>
          <p:cNvPr id="121" name="Google Shape;121;p21"/>
          <p:cNvSpPr txBox="1"/>
          <p:nvPr/>
        </p:nvSpPr>
        <p:spPr>
          <a:xfrm>
            <a:off x="2057950" y="4042400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stage 3</a:t>
            </a:r>
            <a:endParaRPr/>
          </a:p>
        </p:txBody>
      </p:sp>
      <p:sp>
        <p:nvSpPr>
          <p:cNvPr id="122" name="Google Shape;122;p21"/>
          <p:cNvSpPr/>
          <p:nvPr/>
        </p:nvSpPr>
        <p:spPr>
          <a:xfrm>
            <a:off x="1732150" y="12306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123;p21"/>
          <p:cNvCxnSpPr>
            <a:stCxn id="122" idx="4"/>
          </p:cNvCxnSpPr>
          <p:nvPr/>
        </p:nvCxnSpPr>
        <p:spPr>
          <a:xfrm>
            <a:off x="1882450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21"/>
          <p:cNvSpPr/>
          <p:nvPr/>
        </p:nvSpPr>
        <p:spPr>
          <a:xfrm>
            <a:off x="5921850" y="103150"/>
            <a:ext cx="514500" cy="742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6027750" y="1785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5872800" y="445800"/>
            <a:ext cx="6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step</a:t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6409200" y="274450"/>
            <a:ext cx="76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stage</a:t>
            </a:r>
            <a:endParaRPr/>
          </a:p>
        </p:txBody>
      </p:sp>
      <p:sp>
        <p:nvSpPr>
          <p:cNvPr id="128" name="Google Shape;128;p21"/>
          <p:cNvSpPr txBox="1"/>
          <p:nvPr/>
        </p:nvSpPr>
        <p:spPr>
          <a:xfrm>
            <a:off x="3504625" y="781267"/>
            <a:ext cx="5488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 format: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For each stage, mutiple steps can be involved.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Two categories of steps exist: </a:t>
            </a:r>
            <a:r>
              <a:rPr b="1" i="1" lang="zh-TW" u="sng"/>
              <a:t>manufacturing</a:t>
            </a:r>
            <a:r>
              <a:rPr lang="zh-TW"/>
              <a:t> and </a:t>
            </a:r>
            <a:r>
              <a:rPr b="1" i="1" lang="zh-TW" u="sng"/>
              <a:t>measurements</a:t>
            </a:r>
            <a:r>
              <a:rPr lang="zh-TW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For each step, we only have one record.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</a:rPr>
              <a:t>Measurement steps are not always required in a stage.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We utilize wafers present in both steps to create edges between these two steps.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FFFF00"/>
                </a:highlight>
              </a:rPr>
              <a:t>Certain features are shared across all steps.</a:t>
            </a:r>
            <a:endParaRPr>
              <a:highlight>
                <a:srgbClr val="FF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Each step has a clear sequential relationship (a distinct linear progression).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The wafer manufacturing process does not change over time.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Measurement steps consistently act as outcomes, rather than contributing factors.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Input Format with Provided Dataset</a:t>
            </a:r>
            <a:endParaRPr/>
          </a:p>
        </p:txBody>
      </p:sp>
      <p:sp>
        <p:nvSpPr>
          <p:cNvPr id="134" name="Google Shape;134;p22"/>
          <p:cNvSpPr txBox="1"/>
          <p:nvPr/>
        </p:nvSpPr>
        <p:spPr>
          <a:xfrm>
            <a:off x="3504625" y="781267"/>
            <a:ext cx="5488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 format: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For each stage, mutiple steps can be involved.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Two categories of steps exist: </a:t>
            </a:r>
            <a:r>
              <a:rPr b="1" i="1" lang="zh-TW" u="sng"/>
              <a:t>manufacturing</a:t>
            </a:r>
            <a:r>
              <a:rPr lang="zh-TW"/>
              <a:t> and </a:t>
            </a:r>
            <a:r>
              <a:rPr b="1" i="1" lang="zh-TW" u="sng"/>
              <a:t>measurements</a:t>
            </a:r>
            <a:r>
              <a:rPr lang="zh-TW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For each step, we only have one record.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</a:rPr>
              <a:t>Measurement steps are not always required in a stage.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We utilize wafers present in both steps to create edges between these two steps.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  <a:highlight>
                  <a:srgbClr val="FFF2CC"/>
                </a:highlight>
              </a:rPr>
              <a:t>Certain features are shared across all steps.</a:t>
            </a:r>
            <a:endParaRPr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  <a:highlight>
                  <a:srgbClr val="FFF2CC"/>
                </a:highlight>
              </a:rPr>
              <a:t>Each step has a clear sequential relationship (a distinct linear progression).</a:t>
            </a:r>
            <a:endParaRPr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F4CCCC"/>
                </a:highlight>
              </a:rPr>
              <a:t>The wafer manufacturing process does not change over time.</a:t>
            </a:r>
            <a:endParaRPr>
              <a:highlight>
                <a:srgbClr val="F4CC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D9EAD3"/>
                </a:highlight>
              </a:rPr>
              <a:t>Measurement steps consistently act as outcomes, rather than contributing factors.</a:t>
            </a:r>
            <a:endParaRPr>
              <a:highlight>
                <a:srgbClr val="D9EAD3"/>
              </a:highlight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3504625" y="3878380"/>
            <a:ext cx="5269500" cy="1262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Assumptions for the </a:t>
            </a:r>
            <a:r>
              <a:rPr b="1" lang="zh-TW" u="sng"/>
              <a:t>causal graph</a:t>
            </a:r>
            <a:r>
              <a:rPr lang="zh-TW"/>
              <a:t> based on the data format: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FFF2CC"/>
                </a:highlight>
              </a:rPr>
              <a:t>No edge is allowed to point back to a previous step</a:t>
            </a:r>
            <a:endParaRPr>
              <a:highlight>
                <a:srgbClr val="FFF2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  <a:highlight>
                  <a:srgbClr val="F4CCCC"/>
                </a:highlight>
              </a:rPr>
              <a:t>The causal graph remains unchanged over time</a:t>
            </a:r>
            <a:endParaRPr>
              <a:highlight>
                <a:srgbClr val="F4CC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  <a:highlight>
                  <a:srgbClr val="D9EAD3"/>
                </a:highlight>
              </a:rPr>
              <a:t>No edge is allowed to point back to a measurement step, as measurement steps are not considered causal factors.</a:t>
            </a:r>
            <a:endParaRPr>
              <a:highlight>
                <a:srgbClr val="D9EAD3"/>
              </a:highlight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1414475" y="1013575"/>
            <a:ext cx="19761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576425" y="17481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/>
          <p:nvPr/>
        </p:nvSpPr>
        <p:spPr>
          <a:xfrm>
            <a:off x="576425" y="2744923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576425" y="383659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2"/>
          <p:cNvSpPr/>
          <p:nvPr/>
        </p:nvSpPr>
        <p:spPr>
          <a:xfrm>
            <a:off x="576425" y="3291026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576425" y="4347841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576425" y="2265487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" name="Google Shape;143;p22"/>
          <p:cNvCxnSpPr>
            <a:stCxn id="137" idx="4"/>
            <a:endCxn id="142" idx="0"/>
          </p:cNvCxnSpPr>
          <p:nvPr/>
        </p:nvCxnSpPr>
        <p:spPr>
          <a:xfrm>
            <a:off x="726725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2"/>
          <p:cNvCxnSpPr>
            <a:stCxn id="142" idx="4"/>
            <a:endCxn id="138" idx="0"/>
          </p:cNvCxnSpPr>
          <p:nvPr/>
        </p:nvCxnSpPr>
        <p:spPr>
          <a:xfrm>
            <a:off x="726725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22"/>
          <p:cNvCxnSpPr>
            <a:stCxn id="138" idx="4"/>
            <a:endCxn id="140" idx="0"/>
          </p:cNvCxnSpPr>
          <p:nvPr/>
        </p:nvCxnSpPr>
        <p:spPr>
          <a:xfrm>
            <a:off x="726725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2"/>
          <p:cNvCxnSpPr>
            <a:stCxn id="140" idx="4"/>
            <a:endCxn id="139" idx="0"/>
          </p:cNvCxnSpPr>
          <p:nvPr/>
        </p:nvCxnSpPr>
        <p:spPr>
          <a:xfrm>
            <a:off x="726725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2"/>
          <p:cNvCxnSpPr>
            <a:stCxn id="139" idx="4"/>
            <a:endCxn id="141" idx="0"/>
          </p:cNvCxnSpPr>
          <p:nvPr/>
        </p:nvCxnSpPr>
        <p:spPr>
          <a:xfrm>
            <a:off x="726725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22"/>
          <p:cNvSpPr/>
          <p:nvPr/>
        </p:nvSpPr>
        <p:spPr>
          <a:xfrm>
            <a:off x="576425" y="12306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22"/>
          <p:cNvCxnSpPr>
            <a:stCxn id="148" idx="4"/>
          </p:cNvCxnSpPr>
          <p:nvPr/>
        </p:nvCxnSpPr>
        <p:spPr>
          <a:xfrm>
            <a:off x="726725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22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sp>
        <p:nvSpPr>
          <p:cNvPr id="153" name="Google Shape;153;p22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154" name="Google Shape;154;p22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sp>
        <p:nvSpPr>
          <p:cNvPr id="157" name="Google Shape;157;p22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158" name="Google Shape;158;p22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2721445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2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22"/>
          <p:cNvCxnSpPr>
            <a:stCxn id="150" idx="2"/>
            <a:endCxn id="158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22"/>
          <p:cNvCxnSpPr>
            <a:stCxn id="150" idx="4"/>
            <a:endCxn id="160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22"/>
          <p:cNvCxnSpPr>
            <a:stCxn id="159" idx="2"/>
            <a:endCxn id="160" idx="6"/>
          </p:cNvCxnSpPr>
          <p:nvPr/>
        </p:nvCxnSpPr>
        <p:spPr>
          <a:xfrm flipH="1">
            <a:off x="2567545" y="1326862"/>
            <a:ext cx="1539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22"/>
          <p:cNvCxnSpPr>
            <a:stCxn id="150" idx="3"/>
            <a:endCxn id="161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22"/>
          <p:cNvCxnSpPr>
            <a:stCxn id="160" idx="4"/>
            <a:endCxn id="162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2"/>
          <p:cNvCxnSpPr>
            <a:stCxn id="162" idx="4"/>
            <a:endCxn id="165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2"/>
          <p:cNvCxnSpPr>
            <a:stCxn id="161" idx="4"/>
            <a:endCxn id="163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2"/>
          <p:cNvCxnSpPr>
            <a:stCxn id="165" idx="2"/>
            <a:endCxn id="163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22"/>
          <p:cNvCxnSpPr>
            <a:stCxn id="165" idx="4"/>
            <a:endCxn id="168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2"/>
          <p:cNvCxnSpPr>
            <a:stCxn id="158" idx="3"/>
            <a:endCxn id="167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2"/>
          <p:cNvCxnSpPr>
            <a:stCxn id="162" idx="6"/>
            <a:endCxn id="168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p22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4" name="Google Shape;184;p22"/>
          <p:cNvCxnSpPr>
            <a:stCxn id="168" idx="4"/>
            <a:endCxn id="183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" name="Google Shape;185;p22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" name="Google Shape;186;p22"/>
          <p:cNvCxnSpPr>
            <a:stCxn id="167" idx="4"/>
            <a:endCxn id="185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22"/>
          <p:cNvCxnSpPr>
            <a:stCxn id="162" idx="6"/>
            <a:endCxn id="182" idx="6"/>
          </p:cNvCxnSpPr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36725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22"/>
          <p:cNvCxnSpPr>
            <a:stCxn id="163" idx="2"/>
            <a:endCxn id="181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22"/>
          <p:cNvCxnSpPr>
            <a:stCxn id="181" idx="4"/>
            <a:endCxn id="164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2"/>
          <p:cNvCxnSpPr>
            <a:stCxn id="182" idx="4"/>
            <a:endCxn id="166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22"/>
          <p:cNvSpPr txBox="1"/>
          <p:nvPr/>
        </p:nvSpPr>
        <p:spPr>
          <a:xfrm>
            <a:off x="15967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192" name="Google Shape;192;p22"/>
          <p:cNvCxnSpPr/>
          <p:nvPr/>
        </p:nvCxnSpPr>
        <p:spPr>
          <a:xfrm>
            <a:off x="311700" y="163597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2"/>
          <p:cNvCxnSpPr/>
          <p:nvPr/>
        </p:nvCxnSpPr>
        <p:spPr>
          <a:xfrm>
            <a:off x="311700" y="2124792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2"/>
          <p:cNvCxnSpPr/>
          <p:nvPr/>
        </p:nvCxnSpPr>
        <p:spPr>
          <a:xfrm>
            <a:off x="311700" y="2624610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2"/>
          <p:cNvCxnSpPr/>
          <p:nvPr/>
        </p:nvCxnSpPr>
        <p:spPr>
          <a:xfrm>
            <a:off x="311700" y="315613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2"/>
          <p:cNvCxnSpPr/>
          <p:nvPr/>
        </p:nvCxnSpPr>
        <p:spPr>
          <a:xfrm>
            <a:off x="311700" y="3701256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2"/>
          <p:cNvCxnSpPr/>
          <p:nvPr/>
        </p:nvCxnSpPr>
        <p:spPr>
          <a:xfrm>
            <a:off x="311700" y="4221875"/>
            <a:ext cx="258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98" name="Google Shape;198;p22"/>
          <p:cNvSpPr/>
          <p:nvPr/>
        </p:nvSpPr>
        <p:spPr>
          <a:xfrm>
            <a:off x="3094907" y="1915625"/>
            <a:ext cx="178800" cy="1788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3194695" y="2414375"/>
            <a:ext cx="178800" cy="1788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3147020" y="2913125"/>
            <a:ext cx="178800" cy="1788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22"/>
          <p:cNvCxnSpPr>
            <a:stCxn id="159" idx="5"/>
            <a:endCxn id="198" idx="0"/>
          </p:cNvCxnSpPr>
          <p:nvPr/>
        </p:nvCxnSpPr>
        <p:spPr>
          <a:xfrm>
            <a:off x="2874060" y="1390077"/>
            <a:ext cx="310200" cy="5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2"/>
          <p:cNvCxnSpPr>
            <a:stCxn id="198" idx="3"/>
            <a:endCxn id="165" idx="7"/>
          </p:cNvCxnSpPr>
          <p:nvPr/>
        </p:nvCxnSpPr>
        <p:spPr>
          <a:xfrm flipH="1">
            <a:off x="2741592" y="2068240"/>
            <a:ext cx="379500" cy="2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22"/>
          <p:cNvCxnSpPr>
            <a:stCxn id="180" idx="7"/>
            <a:endCxn id="200" idx="3"/>
          </p:cNvCxnSpPr>
          <p:nvPr/>
        </p:nvCxnSpPr>
        <p:spPr>
          <a:xfrm flipH="1" rot="10800000">
            <a:off x="2773385" y="3065859"/>
            <a:ext cx="399900" cy="2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Wafer POV</a:t>
            </a:r>
            <a:endParaRPr/>
          </a:p>
        </p:txBody>
      </p:sp>
      <p:cxnSp>
        <p:nvCxnSpPr>
          <p:cNvPr id="209" name="Google Shape;209;p23"/>
          <p:cNvCxnSpPr/>
          <p:nvPr/>
        </p:nvCxnSpPr>
        <p:spPr>
          <a:xfrm rot="10800000">
            <a:off x="4103713" y="1127149"/>
            <a:ext cx="0" cy="344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10" name="Google Shape;210;p23"/>
          <p:cNvSpPr txBox="1"/>
          <p:nvPr/>
        </p:nvSpPr>
        <p:spPr>
          <a:xfrm>
            <a:off x="3165125" y="2409175"/>
            <a:ext cx="1033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time/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step id</a:t>
            </a:r>
            <a:endParaRPr sz="2000"/>
          </a:p>
        </p:txBody>
      </p:sp>
      <p:cxnSp>
        <p:nvCxnSpPr>
          <p:cNvPr id="211" name="Google Shape;211;p23"/>
          <p:cNvCxnSpPr/>
          <p:nvPr/>
        </p:nvCxnSpPr>
        <p:spPr>
          <a:xfrm>
            <a:off x="4220700" y="4722275"/>
            <a:ext cx="398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" name="Google Shape;212;p23"/>
          <p:cNvSpPr txBox="1"/>
          <p:nvPr/>
        </p:nvSpPr>
        <p:spPr>
          <a:xfrm>
            <a:off x="5887062" y="4750031"/>
            <a:ext cx="26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f</a:t>
            </a:r>
            <a:endParaRPr sz="2000"/>
          </a:p>
        </p:txBody>
      </p:sp>
      <p:sp>
        <p:nvSpPr>
          <p:cNvPr id="213" name="Google Shape;213;p23"/>
          <p:cNvSpPr/>
          <p:nvPr/>
        </p:nvSpPr>
        <p:spPr>
          <a:xfrm>
            <a:off x="4278874" y="1165050"/>
            <a:ext cx="15075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5949325" y="1057350"/>
            <a:ext cx="138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Single record for each step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4175676" y="2176725"/>
            <a:ext cx="15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Single feature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4216100" y="303475"/>
            <a:ext cx="225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Varying multiple features for </a:t>
            </a:r>
            <a:r>
              <a:rPr b="1" i="1" lang="zh-TW" u="sng">
                <a:solidFill>
                  <a:schemeClr val="accent1"/>
                </a:solidFill>
              </a:rPr>
              <a:t>manufacturing</a:t>
            </a:r>
            <a:r>
              <a:rPr lang="zh-TW">
                <a:solidFill>
                  <a:schemeClr val="accent1"/>
                </a:solidFill>
              </a:rPr>
              <a:t> steps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7" name="Google Shape;217;p23"/>
          <p:cNvSpPr/>
          <p:nvPr/>
        </p:nvSpPr>
        <p:spPr>
          <a:xfrm rot="10800000">
            <a:off x="5887250" y="1167825"/>
            <a:ext cx="125700" cy="395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 rot="5400000">
            <a:off x="5397150" y="-218725"/>
            <a:ext cx="125700" cy="2347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"/>
          <p:cNvSpPr/>
          <p:nvPr/>
        </p:nvSpPr>
        <p:spPr>
          <a:xfrm rot="-5400000">
            <a:off x="4841825" y="1992525"/>
            <a:ext cx="71100" cy="3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1414475" y="1013575"/>
            <a:ext cx="17169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576425" y="17481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576425" y="2744923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576425" y="383659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576425" y="3291026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576425" y="4347841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576425" y="2265487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23"/>
          <p:cNvCxnSpPr>
            <a:stCxn id="221" idx="4"/>
            <a:endCxn id="226" idx="0"/>
          </p:cNvCxnSpPr>
          <p:nvPr/>
        </p:nvCxnSpPr>
        <p:spPr>
          <a:xfrm>
            <a:off x="726725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23"/>
          <p:cNvCxnSpPr>
            <a:stCxn id="226" idx="4"/>
            <a:endCxn id="222" idx="0"/>
          </p:cNvCxnSpPr>
          <p:nvPr/>
        </p:nvCxnSpPr>
        <p:spPr>
          <a:xfrm>
            <a:off x="726725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23"/>
          <p:cNvCxnSpPr>
            <a:stCxn id="222" idx="4"/>
            <a:endCxn id="224" idx="0"/>
          </p:cNvCxnSpPr>
          <p:nvPr/>
        </p:nvCxnSpPr>
        <p:spPr>
          <a:xfrm>
            <a:off x="726725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3"/>
          <p:cNvCxnSpPr>
            <a:stCxn id="224" idx="4"/>
            <a:endCxn id="223" idx="0"/>
          </p:cNvCxnSpPr>
          <p:nvPr/>
        </p:nvCxnSpPr>
        <p:spPr>
          <a:xfrm>
            <a:off x="726725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23"/>
          <p:cNvCxnSpPr>
            <a:stCxn id="223" idx="4"/>
            <a:endCxn id="225" idx="0"/>
          </p:cNvCxnSpPr>
          <p:nvPr/>
        </p:nvCxnSpPr>
        <p:spPr>
          <a:xfrm>
            <a:off x="726725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23"/>
          <p:cNvSpPr/>
          <p:nvPr/>
        </p:nvSpPr>
        <p:spPr>
          <a:xfrm>
            <a:off x="576425" y="12306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" name="Google Shape;233;p23"/>
          <p:cNvCxnSpPr>
            <a:stCxn id="232" idx="4"/>
          </p:cNvCxnSpPr>
          <p:nvPr/>
        </p:nvCxnSpPr>
        <p:spPr>
          <a:xfrm>
            <a:off x="726725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4" name="Google Shape;234;p23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grpSp>
        <p:nvGrpSpPr>
          <p:cNvPr id="241" name="Google Shape;241;p23"/>
          <p:cNvGrpSpPr/>
          <p:nvPr/>
        </p:nvGrpSpPr>
        <p:grpSpPr>
          <a:xfrm>
            <a:off x="311691" y="1635975"/>
            <a:ext cx="8016142" cy="2585900"/>
            <a:chOff x="311700" y="1635975"/>
            <a:chExt cx="2906400" cy="2585900"/>
          </a:xfrm>
        </p:grpSpPr>
        <p:cxnSp>
          <p:nvCxnSpPr>
            <p:cNvPr id="242" name="Google Shape;242;p23"/>
            <p:cNvCxnSpPr/>
            <p:nvPr/>
          </p:nvCxnSpPr>
          <p:spPr>
            <a:xfrm>
              <a:off x="311700" y="16359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23"/>
            <p:cNvCxnSpPr/>
            <p:nvPr/>
          </p:nvCxnSpPr>
          <p:spPr>
            <a:xfrm>
              <a:off x="311700" y="2124792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3"/>
            <p:cNvCxnSpPr/>
            <p:nvPr/>
          </p:nvCxnSpPr>
          <p:spPr>
            <a:xfrm>
              <a:off x="311700" y="2624610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23"/>
            <p:cNvCxnSpPr/>
            <p:nvPr/>
          </p:nvCxnSpPr>
          <p:spPr>
            <a:xfrm>
              <a:off x="311700" y="315613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23"/>
            <p:cNvCxnSpPr/>
            <p:nvPr/>
          </p:nvCxnSpPr>
          <p:spPr>
            <a:xfrm>
              <a:off x="311700" y="3701256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23"/>
            <p:cNvCxnSpPr/>
            <p:nvPr/>
          </p:nvCxnSpPr>
          <p:spPr>
            <a:xfrm>
              <a:off x="311700" y="42218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248" name="Google Shape;248;p23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2721445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23"/>
          <p:cNvCxnSpPr>
            <a:stCxn id="234" idx="2"/>
            <a:endCxn id="249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23"/>
          <p:cNvCxnSpPr>
            <a:stCxn id="234" idx="4"/>
            <a:endCxn id="251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23"/>
          <p:cNvCxnSpPr>
            <a:stCxn id="250" idx="2"/>
            <a:endCxn id="251" idx="6"/>
          </p:cNvCxnSpPr>
          <p:nvPr/>
        </p:nvCxnSpPr>
        <p:spPr>
          <a:xfrm flipH="1">
            <a:off x="2567545" y="1326862"/>
            <a:ext cx="1539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23"/>
          <p:cNvCxnSpPr>
            <a:stCxn id="234" idx="3"/>
            <a:endCxn id="252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23"/>
          <p:cNvCxnSpPr>
            <a:stCxn id="251" idx="4"/>
            <a:endCxn id="253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23"/>
          <p:cNvCxnSpPr>
            <a:stCxn id="253" idx="4"/>
            <a:endCxn id="256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23"/>
          <p:cNvCxnSpPr>
            <a:stCxn id="252" idx="4"/>
            <a:endCxn id="254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23"/>
          <p:cNvCxnSpPr>
            <a:stCxn id="256" idx="2"/>
            <a:endCxn id="254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23"/>
          <p:cNvCxnSpPr>
            <a:stCxn id="256" idx="4"/>
            <a:endCxn id="259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p23"/>
          <p:cNvCxnSpPr>
            <a:stCxn id="249" idx="3"/>
            <a:endCxn id="258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23"/>
          <p:cNvCxnSpPr>
            <a:stCxn id="253" idx="6"/>
            <a:endCxn id="259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1" name="Google Shape;271;p23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23"/>
          <p:cNvCxnSpPr>
            <a:stCxn id="259" idx="4"/>
            <a:endCxn id="274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" name="Google Shape;276;p23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7" name="Google Shape;277;p23"/>
          <p:cNvCxnSpPr>
            <a:stCxn id="258" idx="4"/>
            <a:endCxn id="276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" name="Google Shape;278;p23"/>
          <p:cNvCxnSpPr>
            <a:stCxn id="253" idx="6"/>
            <a:endCxn id="273" idx="6"/>
          </p:cNvCxnSpPr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36725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23"/>
          <p:cNvCxnSpPr>
            <a:stCxn id="254" idx="2"/>
            <a:endCxn id="272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80" name="Google Shape;280;p23"/>
          <p:cNvCxnSpPr>
            <a:stCxn id="272" idx="4"/>
            <a:endCxn id="255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" name="Google Shape;281;p23"/>
          <p:cNvSpPr/>
          <p:nvPr/>
        </p:nvSpPr>
        <p:spPr>
          <a:xfrm>
            <a:off x="4278874" y="1677759"/>
            <a:ext cx="15075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23"/>
          <p:cNvCxnSpPr>
            <a:stCxn id="273" idx="4"/>
            <a:endCxn id="257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" name="Google Shape;283;p23"/>
          <p:cNvSpPr txBox="1"/>
          <p:nvPr/>
        </p:nvSpPr>
        <p:spPr>
          <a:xfrm>
            <a:off x="15967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6637025" y="2176725"/>
            <a:ext cx="1076400" cy="400200"/>
          </a:xfrm>
          <a:prstGeom prst="rect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5120774" y="2700165"/>
            <a:ext cx="15075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5120774" y="3761457"/>
            <a:ext cx="15075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7117700" y="4271975"/>
            <a:ext cx="975900" cy="400200"/>
          </a:xfrm>
          <a:prstGeom prst="rect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"/>
          <p:cNvSpPr/>
          <p:nvPr/>
        </p:nvSpPr>
        <p:spPr>
          <a:xfrm>
            <a:off x="7502900" y="4271975"/>
            <a:ext cx="370800" cy="4002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7845600" y="4271975"/>
            <a:ext cx="114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9900"/>
                </a:solidFill>
              </a:rPr>
              <a:t>trigger point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4693625" y="1677750"/>
            <a:ext cx="370800" cy="4002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5105800" y="1683197"/>
            <a:ext cx="114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root cause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6467925" y="303475"/>
            <a:ext cx="225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AA84F"/>
                </a:solidFill>
              </a:rPr>
              <a:t>Varying multiple features for </a:t>
            </a:r>
            <a:r>
              <a:rPr b="1" i="1" lang="zh-TW" u="sng">
                <a:solidFill>
                  <a:srgbClr val="6AA84F"/>
                </a:solidFill>
              </a:rPr>
              <a:t>measurements</a:t>
            </a:r>
            <a:r>
              <a:rPr lang="zh-TW">
                <a:solidFill>
                  <a:srgbClr val="6AA84F"/>
                </a:solidFill>
              </a:rPr>
              <a:t> steps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293" name="Google Shape;293;p23"/>
          <p:cNvSpPr/>
          <p:nvPr/>
        </p:nvSpPr>
        <p:spPr>
          <a:xfrm rot="5400000">
            <a:off x="7259050" y="266525"/>
            <a:ext cx="125700" cy="1376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95000" y="58325"/>
            <a:ext cx="240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rgbClr val="FF0000"/>
                </a:solidFill>
                <a:highlight>
                  <a:srgbClr val="FFFF00"/>
                </a:highlight>
              </a:rPr>
              <a:t>Same wafer id</a:t>
            </a:r>
            <a:endParaRPr b="1" sz="24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5120774" y="3230802"/>
            <a:ext cx="15075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Received CSV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3856509" y="-32145"/>
            <a:ext cx="27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u="sng">
                <a:solidFill>
                  <a:schemeClr val="accent1"/>
                </a:solidFill>
              </a:rPr>
              <a:t>manufacturing</a:t>
            </a:r>
            <a:r>
              <a:rPr lang="zh-TW">
                <a:solidFill>
                  <a:schemeClr val="accent1"/>
                </a:solidFill>
              </a:rPr>
              <a:t> steps’ features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02" name="Google Shape;302;p24"/>
          <p:cNvSpPr/>
          <p:nvPr/>
        </p:nvSpPr>
        <p:spPr>
          <a:xfrm rot="5400000">
            <a:off x="6016750" y="-579375"/>
            <a:ext cx="125700" cy="190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4"/>
          <p:cNvSpPr/>
          <p:nvPr/>
        </p:nvSpPr>
        <p:spPr>
          <a:xfrm>
            <a:off x="1414475" y="1013575"/>
            <a:ext cx="17169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576425" y="17481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4"/>
          <p:cNvSpPr/>
          <p:nvPr/>
        </p:nvSpPr>
        <p:spPr>
          <a:xfrm>
            <a:off x="576425" y="2744923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4"/>
          <p:cNvSpPr/>
          <p:nvPr/>
        </p:nvSpPr>
        <p:spPr>
          <a:xfrm>
            <a:off x="576425" y="383659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4"/>
          <p:cNvSpPr/>
          <p:nvPr/>
        </p:nvSpPr>
        <p:spPr>
          <a:xfrm>
            <a:off x="576425" y="3291026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4"/>
          <p:cNvSpPr/>
          <p:nvPr/>
        </p:nvSpPr>
        <p:spPr>
          <a:xfrm>
            <a:off x="576425" y="4347841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4"/>
          <p:cNvSpPr/>
          <p:nvPr/>
        </p:nvSpPr>
        <p:spPr>
          <a:xfrm>
            <a:off x="576425" y="2265487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0" name="Google Shape;310;p24"/>
          <p:cNvCxnSpPr>
            <a:stCxn id="304" idx="4"/>
            <a:endCxn id="309" idx="0"/>
          </p:cNvCxnSpPr>
          <p:nvPr/>
        </p:nvCxnSpPr>
        <p:spPr>
          <a:xfrm>
            <a:off x="726725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" name="Google Shape;311;p24"/>
          <p:cNvCxnSpPr>
            <a:stCxn id="309" idx="4"/>
            <a:endCxn id="305" idx="0"/>
          </p:cNvCxnSpPr>
          <p:nvPr/>
        </p:nvCxnSpPr>
        <p:spPr>
          <a:xfrm>
            <a:off x="726725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24"/>
          <p:cNvCxnSpPr>
            <a:stCxn id="305" idx="4"/>
            <a:endCxn id="307" idx="0"/>
          </p:cNvCxnSpPr>
          <p:nvPr/>
        </p:nvCxnSpPr>
        <p:spPr>
          <a:xfrm>
            <a:off x="726725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24"/>
          <p:cNvCxnSpPr>
            <a:stCxn id="307" idx="4"/>
            <a:endCxn id="306" idx="0"/>
          </p:cNvCxnSpPr>
          <p:nvPr/>
        </p:nvCxnSpPr>
        <p:spPr>
          <a:xfrm>
            <a:off x="726725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24"/>
          <p:cNvCxnSpPr>
            <a:stCxn id="306" idx="4"/>
            <a:endCxn id="308" idx="0"/>
          </p:cNvCxnSpPr>
          <p:nvPr/>
        </p:nvCxnSpPr>
        <p:spPr>
          <a:xfrm>
            <a:off x="726725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p24"/>
          <p:cNvSpPr/>
          <p:nvPr/>
        </p:nvSpPr>
        <p:spPr>
          <a:xfrm>
            <a:off x="576425" y="12306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6" name="Google Shape;316;p24"/>
          <p:cNvCxnSpPr>
            <a:stCxn id="315" idx="4"/>
          </p:cNvCxnSpPr>
          <p:nvPr/>
        </p:nvCxnSpPr>
        <p:spPr>
          <a:xfrm>
            <a:off x="726725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24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grpSp>
        <p:nvGrpSpPr>
          <p:cNvPr id="324" name="Google Shape;324;p24"/>
          <p:cNvGrpSpPr/>
          <p:nvPr/>
        </p:nvGrpSpPr>
        <p:grpSpPr>
          <a:xfrm>
            <a:off x="311698" y="1635975"/>
            <a:ext cx="2930232" cy="2585900"/>
            <a:chOff x="311700" y="1635975"/>
            <a:chExt cx="2906400" cy="2585900"/>
          </a:xfrm>
        </p:grpSpPr>
        <p:cxnSp>
          <p:nvCxnSpPr>
            <p:cNvPr id="325" name="Google Shape;325;p24"/>
            <p:cNvCxnSpPr/>
            <p:nvPr/>
          </p:nvCxnSpPr>
          <p:spPr>
            <a:xfrm>
              <a:off x="311700" y="16359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24"/>
            <p:cNvCxnSpPr/>
            <p:nvPr/>
          </p:nvCxnSpPr>
          <p:spPr>
            <a:xfrm>
              <a:off x="311700" y="2124792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24"/>
            <p:cNvCxnSpPr/>
            <p:nvPr/>
          </p:nvCxnSpPr>
          <p:spPr>
            <a:xfrm>
              <a:off x="311700" y="2624610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24"/>
            <p:cNvCxnSpPr/>
            <p:nvPr/>
          </p:nvCxnSpPr>
          <p:spPr>
            <a:xfrm>
              <a:off x="311700" y="315613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24"/>
            <p:cNvCxnSpPr/>
            <p:nvPr/>
          </p:nvCxnSpPr>
          <p:spPr>
            <a:xfrm>
              <a:off x="311700" y="3701256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24"/>
            <p:cNvCxnSpPr/>
            <p:nvPr/>
          </p:nvCxnSpPr>
          <p:spPr>
            <a:xfrm>
              <a:off x="311700" y="42218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331" name="Google Shape;331;p24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332" name="Google Shape;332;p24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2721445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4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4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4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4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4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4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3" name="Google Shape;343;p24"/>
          <p:cNvCxnSpPr>
            <a:stCxn id="317" idx="2"/>
            <a:endCxn id="332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24"/>
          <p:cNvCxnSpPr>
            <a:stCxn id="317" idx="4"/>
            <a:endCxn id="334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24"/>
          <p:cNvCxnSpPr>
            <a:stCxn id="333" idx="2"/>
            <a:endCxn id="334" idx="6"/>
          </p:cNvCxnSpPr>
          <p:nvPr/>
        </p:nvCxnSpPr>
        <p:spPr>
          <a:xfrm flipH="1">
            <a:off x="2567545" y="1326862"/>
            <a:ext cx="1539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24"/>
          <p:cNvCxnSpPr>
            <a:stCxn id="317" idx="3"/>
            <a:endCxn id="335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p24"/>
          <p:cNvCxnSpPr>
            <a:stCxn id="334" idx="4"/>
            <a:endCxn id="336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24"/>
          <p:cNvCxnSpPr>
            <a:stCxn id="336" idx="4"/>
            <a:endCxn id="339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p24"/>
          <p:cNvCxnSpPr>
            <a:stCxn id="335" idx="4"/>
            <a:endCxn id="337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" name="Google Shape;350;p24"/>
          <p:cNvCxnSpPr>
            <a:stCxn id="339" idx="2"/>
            <a:endCxn id="337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51" name="Google Shape;351;p24"/>
          <p:cNvCxnSpPr>
            <a:stCxn id="339" idx="4"/>
            <a:endCxn id="342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52" name="Google Shape;352;p24"/>
          <p:cNvCxnSpPr>
            <a:stCxn id="332" idx="3"/>
            <a:endCxn id="341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" name="Google Shape;353;p24"/>
          <p:cNvCxnSpPr>
            <a:stCxn id="336" idx="6"/>
            <a:endCxn id="342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4" name="Google Shape;354;p24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4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4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4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8" name="Google Shape;358;p24"/>
          <p:cNvCxnSpPr>
            <a:stCxn id="342" idx="4"/>
            <a:endCxn id="357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9" name="Google Shape;359;p24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0" name="Google Shape;360;p24"/>
          <p:cNvCxnSpPr>
            <a:stCxn id="341" idx="4"/>
            <a:endCxn id="359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" name="Google Shape;361;p24"/>
          <p:cNvCxnSpPr>
            <a:stCxn id="336" idx="6"/>
            <a:endCxn id="356" idx="6"/>
          </p:cNvCxnSpPr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24266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24"/>
          <p:cNvCxnSpPr>
            <a:stCxn id="337" idx="2"/>
            <a:endCxn id="355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24"/>
          <p:cNvCxnSpPr>
            <a:stCxn id="355" idx="4"/>
            <a:endCxn id="338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24"/>
          <p:cNvCxnSpPr>
            <a:stCxn id="356" idx="4"/>
            <a:endCxn id="340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" name="Google Shape;365;p24"/>
          <p:cNvSpPr txBox="1"/>
          <p:nvPr/>
        </p:nvSpPr>
        <p:spPr>
          <a:xfrm>
            <a:off x="15967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66" name="Google Shape;366;p24"/>
          <p:cNvSpPr txBox="1"/>
          <p:nvPr/>
        </p:nvSpPr>
        <p:spPr>
          <a:xfrm>
            <a:off x="6398346" y="-32145"/>
            <a:ext cx="293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u="sng">
                <a:solidFill>
                  <a:srgbClr val="6AA84F"/>
                </a:solidFill>
              </a:rPr>
              <a:t>measurements</a:t>
            </a:r>
            <a:r>
              <a:rPr lang="zh-TW">
                <a:solidFill>
                  <a:srgbClr val="6AA84F"/>
                </a:solidFill>
              </a:rPr>
              <a:t> </a:t>
            </a:r>
            <a:r>
              <a:rPr lang="zh-TW">
                <a:solidFill>
                  <a:srgbClr val="6AA84F"/>
                </a:solidFill>
              </a:rPr>
              <a:t>steps’ features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67" name="Google Shape;367;p24"/>
          <p:cNvSpPr/>
          <p:nvPr/>
        </p:nvSpPr>
        <p:spPr>
          <a:xfrm rot="5400000">
            <a:off x="7928500" y="-566175"/>
            <a:ext cx="125700" cy="1883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4"/>
          <p:cNvSpPr txBox="1"/>
          <p:nvPr/>
        </p:nvSpPr>
        <p:spPr>
          <a:xfrm>
            <a:off x="95000" y="58325"/>
            <a:ext cx="240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rgbClr val="FF0000"/>
                </a:solidFill>
                <a:highlight>
                  <a:srgbClr val="FFFF00"/>
                </a:highlight>
              </a:rPr>
              <a:t>Same wafer id</a:t>
            </a:r>
            <a:endParaRPr b="1" sz="24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369" name="Google Shape;369;p24"/>
          <p:cNvGraphicFramePr/>
          <p:nvPr/>
        </p:nvGraphicFramePr>
        <p:xfrm>
          <a:off x="3241888" y="482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{2A32DD55-F58C-4E76-B93F-580D8438E63E}</a:tableStyleId>
              </a:tblPr>
              <a:tblGrid>
                <a:gridCol w="634900"/>
                <a:gridCol w="634900"/>
                <a:gridCol w="634900"/>
                <a:gridCol w="634900"/>
                <a:gridCol w="634900"/>
                <a:gridCol w="634900"/>
                <a:gridCol w="634900"/>
                <a:gridCol w="634900"/>
                <a:gridCol w="634900"/>
              </a:tblGrid>
              <a:tr h="59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time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wafer id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step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M_f3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Q_f3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10:00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M1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/>
                        <a:t>TOOL1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-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10:05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M2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>
                          <a:solidFill>
                            <a:srgbClr val="FF0000"/>
                          </a:solidFill>
                        </a:rPr>
                        <a:t>TOOL1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-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10:10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Q3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-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10:15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M4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-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3.4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10:20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M5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-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2.5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10:25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M6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-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1.9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2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10:30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Q7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9900"/>
                          </a:solidFill>
                        </a:rPr>
                        <a:t>81</a:t>
                      </a:r>
                      <a:endParaRPr sz="1300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-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Organized</a:t>
            </a:r>
            <a:r>
              <a:rPr lang="zh-TW"/>
              <a:t> CSV</a:t>
            </a:r>
            <a:endParaRPr/>
          </a:p>
        </p:txBody>
      </p:sp>
      <p:sp>
        <p:nvSpPr>
          <p:cNvPr id="375" name="Google Shape;375;p25"/>
          <p:cNvSpPr/>
          <p:nvPr/>
        </p:nvSpPr>
        <p:spPr>
          <a:xfrm>
            <a:off x="1414475" y="1013575"/>
            <a:ext cx="17169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6" name="Google Shape;376;p25"/>
          <p:cNvGrpSpPr/>
          <p:nvPr/>
        </p:nvGrpSpPr>
        <p:grpSpPr>
          <a:xfrm>
            <a:off x="576425" y="1230624"/>
            <a:ext cx="300600" cy="3417817"/>
            <a:chOff x="576425" y="1230624"/>
            <a:chExt cx="300600" cy="3417817"/>
          </a:xfrm>
        </p:grpSpPr>
        <p:sp>
          <p:nvSpPr>
            <p:cNvPr id="377" name="Google Shape;377;p25"/>
            <p:cNvSpPr/>
            <p:nvPr/>
          </p:nvSpPr>
          <p:spPr>
            <a:xfrm>
              <a:off x="576425" y="174812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5"/>
            <p:cNvSpPr/>
            <p:nvPr/>
          </p:nvSpPr>
          <p:spPr>
            <a:xfrm>
              <a:off x="576425" y="2744923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5"/>
            <p:cNvSpPr/>
            <p:nvPr/>
          </p:nvSpPr>
          <p:spPr>
            <a:xfrm>
              <a:off x="576425" y="383659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5"/>
            <p:cNvSpPr/>
            <p:nvPr/>
          </p:nvSpPr>
          <p:spPr>
            <a:xfrm>
              <a:off x="576425" y="3291026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5"/>
            <p:cNvSpPr/>
            <p:nvPr/>
          </p:nvSpPr>
          <p:spPr>
            <a:xfrm>
              <a:off x="576425" y="4347841"/>
              <a:ext cx="300600" cy="300600"/>
            </a:xfrm>
            <a:prstGeom prst="ellipse">
              <a:avLst/>
            </a:prstGeom>
            <a:solidFill>
              <a:srgbClr val="9E9E9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5"/>
            <p:cNvSpPr/>
            <p:nvPr/>
          </p:nvSpPr>
          <p:spPr>
            <a:xfrm>
              <a:off x="576425" y="2265487"/>
              <a:ext cx="300600" cy="300600"/>
            </a:xfrm>
            <a:prstGeom prst="ellipse">
              <a:avLst/>
            </a:prstGeom>
            <a:solidFill>
              <a:srgbClr val="9E9E9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3" name="Google Shape;383;p25"/>
            <p:cNvCxnSpPr>
              <a:stCxn id="377" idx="4"/>
              <a:endCxn id="382" idx="0"/>
            </p:cNvCxnSpPr>
            <p:nvPr/>
          </p:nvCxnSpPr>
          <p:spPr>
            <a:xfrm>
              <a:off x="726725" y="2048724"/>
              <a:ext cx="0" cy="21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4" name="Google Shape;384;p25"/>
            <p:cNvCxnSpPr>
              <a:stCxn id="382" idx="4"/>
              <a:endCxn id="378" idx="0"/>
            </p:cNvCxnSpPr>
            <p:nvPr/>
          </p:nvCxnSpPr>
          <p:spPr>
            <a:xfrm>
              <a:off x="726725" y="2566087"/>
              <a:ext cx="0" cy="17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5" name="Google Shape;385;p25"/>
            <p:cNvCxnSpPr>
              <a:stCxn id="378" idx="4"/>
              <a:endCxn id="380" idx="0"/>
            </p:cNvCxnSpPr>
            <p:nvPr/>
          </p:nvCxnSpPr>
          <p:spPr>
            <a:xfrm>
              <a:off x="726725" y="3045523"/>
              <a:ext cx="0" cy="24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6" name="Google Shape;386;p25"/>
            <p:cNvCxnSpPr>
              <a:stCxn id="380" idx="4"/>
              <a:endCxn id="379" idx="0"/>
            </p:cNvCxnSpPr>
            <p:nvPr/>
          </p:nvCxnSpPr>
          <p:spPr>
            <a:xfrm>
              <a:off x="726725" y="3591626"/>
              <a:ext cx="0" cy="24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7" name="Google Shape;387;p25"/>
            <p:cNvCxnSpPr>
              <a:stCxn id="379" idx="4"/>
              <a:endCxn id="381" idx="0"/>
            </p:cNvCxnSpPr>
            <p:nvPr/>
          </p:nvCxnSpPr>
          <p:spPr>
            <a:xfrm>
              <a:off x="726725" y="4137194"/>
              <a:ext cx="0" cy="210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88" name="Google Shape;388;p25"/>
            <p:cNvSpPr/>
            <p:nvPr/>
          </p:nvSpPr>
          <p:spPr>
            <a:xfrm>
              <a:off x="576425" y="123062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9" name="Google Shape;389;p25"/>
            <p:cNvCxnSpPr>
              <a:stCxn id="388" idx="4"/>
            </p:cNvCxnSpPr>
            <p:nvPr/>
          </p:nvCxnSpPr>
          <p:spPr>
            <a:xfrm>
              <a:off x="726725" y="1531224"/>
              <a:ext cx="0" cy="21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90" name="Google Shape;390;p25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5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sp>
        <p:nvSpPr>
          <p:cNvPr id="392" name="Google Shape;392;p25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sp>
        <p:nvSpPr>
          <p:cNvPr id="393" name="Google Shape;393;p25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394" name="Google Shape;394;p25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sp>
        <p:nvSpPr>
          <p:cNvPr id="395" name="Google Shape;395;p25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sp>
        <p:nvSpPr>
          <p:cNvPr id="396" name="Google Shape;396;p25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grpSp>
        <p:nvGrpSpPr>
          <p:cNvPr id="397" name="Google Shape;397;p25"/>
          <p:cNvGrpSpPr/>
          <p:nvPr/>
        </p:nvGrpSpPr>
        <p:grpSpPr>
          <a:xfrm>
            <a:off x="311698" y="1635975"/>
            <a:ext cx="2930232" cy="2585900"/>
            <a:chOff x="311700" y="1635975"/>
            <a:chExt cx="2906400" cy="2585900"/>
          </a:xfrm>
        </p:grpSpPr>
        <p:cxnSp>
          <p:nvCxnSpPr>
            <p:cNvPr id="398" name="Google Shape;398;p25"/>
            <p:cNvCxnSpPr/>
            <p:nvPr/>
          </p:nvCxnSpPr>
          <p:spPr>
            <a:xfrm>
              <a:off x="311700" y="16359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25"/>
            <p:cNvCxnSpPr/>
            <p:nvPr/>
          </p:nvCxnSpPr>
          <p:spPr>
            <a:xfrm>
              <a:off x="311700" y="2124792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25"/>
            <p:cNvCxnSpPr/>
            <p:nvPr/>
          </p:nvCxnSpPr>
          <p:spPr>
            <a:xfrm>
              <a:off x="311700" y="2624610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25"/>
            <p:cNvCxnSpPr/>
            <p:nvPr/>
          </p:nvCxnSpPr>
          <p:spPr>
            <a:xfrm>
              <a:off x="311700" y="315613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02" name="Google Shape;402;p25"/>
            <p:cNvCxnSpPr/>
            <p:nvPr/>
          </p:nvCxnSpPr>
          <p:spPr>
            <a:xfrm>
              <a:off x="311700" y="3701256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03" name="Google Shape;403;p25"/>
            <p:cNvCxnSpPr/>
            <p:nvPr/>
          </p:nvCxnSpPr>
          <p:spPr>
            <a:xfrm>
              <a:off x="311700" y="42218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404" name="Google Shape;404;p25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405" name="Google Shape;405;p25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5"/>
          <p:cNvSpPr/>
          <p:nvPr/>
        </p:nvSpPr>
        <p:spPr>
          <a:xfrm>
            <a:off x="2721445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5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5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5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5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5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5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5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5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5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6" name="Google Shape;416;p25"/>
          <p:cNvCxnSpPr>
            <a:stCxn id="390" idx="2"/>
            <a:endCxn id="405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p25"/>
          <p:cNvCxnSpPr>
            <a:stCxn id="390" idx="4"/>
            <a:endCxn id="407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p25"/>
          <p:cNvCxnSpPr>
            <a:stCxn id="406" idx="2"/>
            <a:endCxn id="407" idx="6"/>
          </p:cNvCxnSpPr>
          <p:nvPr/>
        </p:nvCxnSpPr>
        <p:spPr>
          <a:xfrm flipH="1">
            <a:off x="2567545" y="1326862"/>
            <a:ext cx="1539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p25"/>
          <p:cNvCxnSpPr>
            <a:stCxn id="390" idx="3"/>
            <a:endCxn id="408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" name="Google Shape;420;p25"/>
          <p:cNvCxnSpPr>
            <a:stCxn id="407" idx="4"/>
            <a:endCxn id="409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25"/>
          <p:cNvCxnSpPr>
            <a:stCxn id="409" idx="4"/>
            <a:endCxn id="412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2" name="Google Shape;422;p25"/>
          <p:cNvCxnSpPr>
            <a:stCxn id="408" idx="4"/>
            <a:endCxn id="410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" name="Google Shape;423;p25"/>
          <p:cNvCxnSpPr>
            <a:stCxn id="412" idx="2"/>
            <a:endCxn id="410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24" name="Google Shape;424;p25"/>
          <p:cNvCxnSpPr>
            <a:stCxn id="412" idx="4"/>
            <a:endCxn id="415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25" name="Google Shape;425;p25"/>
          <p:cNvCxnSpPr>
            <a:stCxn id="405" idx="3"/>
            <a:endCxn id="414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" name="Google Shape;426;p25"/>
          <p:cNvCxnSpPr>
            <a:stCxn id="409" idx="6"/>
            <a:endCxn id="415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7" name="Google Shape;427;p25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5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5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5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1" name="Google Shape;431;p25"/>
          <p:cNvCxnSpPr>
            <a:stCxn id="415" idx="4"/>
            <a:endCxn id="430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" name="Google Shape;432;p25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3" name="Google Shape;433;p25"/>
          <p:cNvCxnSpPr>
            <a:stCxn id="414" idx="4"/>
            <a:endCxn id="432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" name="Google Shape;434;p25"/>
          <p:cNvCxnSpPr>
            <a:stCxn id="409" idx="6"/>
            <a:endCxn id="429" idx="6"/>
          </p:cNvCxnSpPr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24266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" name="Google Shape;435;p25"/>
          <p:cNvCxnSpPr>
            <a:stCxn id="410" idx="2"/>
            <a:endCxn id="428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36" name="Google Shape;436;p25"/>
          <p:cNvCxnSpPr>
            <a:stCxn id="428" idx="4"/>
            <a:endCxn id="411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7" name="Google Shape;437;p25"/>
          <p:cNvCxnSpPr>
            <a:stCxn id="429" idx="4"/>
            <a:endCxn id="413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8" name="Google Shape;438;p25"/>
          <p:cNvSpPr txBox="1"/>
          <p:nvPr/>
        </p:nvSpPr>
        <p:spPr>
          <a:xfrm>
            <a:off x="15967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graphicFrame>
        <p:nvGraphicFramePr>
          <p:cNvPr id="439" name="Google Shape;439;p25"/>
          <p:cNvGraphicFramePr/>
          <p:nvPr/>
        </p:nvGraphicFramePr>
        <p:xfrm>
          <a:off x="3241888" y="15678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{2A32DD55-F58C-4E76-B93F-580D8438E63E}</a:tableStyleId>
              </a:tblPr>
              <a:tblGrid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</a:tblGrid>
              <a:tr h="25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wafer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 id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M1_f1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M2_f1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M2_f2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Q3</a:t>
                      </a: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Q3_f2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…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Q7_f1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TOOL</a:t>
                      </a:r>
                      <a:r>
                        <a:rPr lang="zh-TW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7.3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45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0.9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W97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3.7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23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W98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45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67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W99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64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83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W100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3.5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80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40" name="Google Shape;440;p25"/>
          <p:cNvGrpSpPr/>
          <p:nvPr/>
        </p:nvGrpSpPr>
        <p:grpSpPr>
          <a:xfrm>
            <a:off x="4299453" y="612425"/>
            <a:ext cx="3610886" cy="688620"/>
            <a:chOff x="4239615" y="0"/>
            <a:chExt cx="3610886" cy="688620"/>
          </a:xfrm>
        </p:grpSpPr>
        <p:grpSp>
          <p:nvGrpSpPr>
            <p:cNvPr id="441" name="Google Shape;441;p25"/>
            <p:cNvGrpSpPr/>
            <p:nvPr/>
          </p:nvGrpSpPr>
          <p:grpSpPr>
            <a:xfrm rot="-5400000">
              <a:off x="5893250" y="-1170588"/>
              <a:ext cx="300600" cy="3417817"/>
              <a:chOff x="576425" y="1230624"/>
              <a:chExt cx="300600" cy="3417817"/>
            </a:xfrm>
          </p:grpSpPr>
          <p:sp>
            <p:nvSpPr>
              <p:cNvPr id="442" name="Google Shape;442;p25"/>
              <p:cNvSpPr/>
              <p:nvPr/>
            </p:nvSpPr>
            <p:spPr>
              <a:xfrm>
                <a:off x="576425" y="174812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5"/>
              <p:cNvSpPr/>
              <p:nvPr/>
            </p:nvSpPr>
            <p:spPr>
              <a:xfrm>
                <a:off x="576425" y="2744923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5"/>
              <p:cNvSpPr/>
              <p:nvPr/>
            </p:nvSpPr>
            <p:spPr>
              <a:xfrm>
                <a:off x="576425" y="383659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5"/>
              <p:cNvSpPr/>
              <p:nvPr/>
            </p:nvSpPr>
            <p:spPr>
              <a:xfrm>
                <a:off x="576425" y="3291026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5"/>
              <p:cNvSpPr/>
              <p:nvPr/>
            </p:nvSpPr>
            <p:spPr>
              <a:xfrm>
                <a:off x="576425" y="4347841"/>
                <a:ext cx="300600" cy="300600"/>
              </a:xfrm>
              <a:prstGeom prst="ellipse">
                <a:avLst/>
              </a:prstGeom>
              <a:solidFill>
                <a:srgbClr val="9E9E9E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5"/>
              <p:cNvSpPr/>
              <p:nvPr/>
            </p:nvSpPr>
            <p:spPr>
              <a:xfrm>
                <a:off x="576425" y="2265487"/>
                <a:ext cx="300600" cy="300600"/>
              </a:xfrm>
              <a:prstGeom prst="ellipse">
                <a:avLst/>
              </a:prstGeom>
              <a:solidFill>
                <a:srgbClr val="9E9E9E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48" name="Google Shape;448;p25"/>
              <p:cNvCxnSpPr>
                <a:stCxn id="442" idx="4"/>
                <a:endCxn id="447" idx="0"/>
              </p:cNvCxnSpPr>
              <p:nvPr/>
            </p:nvCxnSpPr>
            <p:spPr>
              <a:xfrm rot="5400000">
                <a:off x="618275" y="21571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49" name="Google Shape;449;p25"/>
              <p:cNvCxnSpPr>
                <a:stCxn id="447" idx="4"/>
                <a:endCxn id="443" idx="0"/>
              </p:cNvCxnSpPr>
              <p:nvPr/>
            </p:nvCxnSpPr>
            <p:spPr>
              <a:xfrm rot="5400000">
                <a:off x="637325" y="2655487"/>
                <a:ext cx="178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50" name="Google Shape;450;p25"/>
              <p:cNvCxnSpPr>
                <a:stCxn id="443" idx="4"/>
                <a:endCxn id="445" idx="0"/>
              </p:cNvCxnSpPr>
              <p:nvPr/>
            </p:nvCxnSpPr>
            <p:spPr>
              <a:xfrm rot="5400000">
                <a:off x="604025" y="3168223"/>
                <a:ext cx="245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51" name="Google Shape;451;p25"/>
              <p:cNvCxnSpPr>
                <a:stCxn id="445" idx="4"/>
                <a:endCxn id="444" idx="0"/>
              </p:cNvCxnSpPr>
              <p:nvPr/>
            </p:nvCxnSpPr>
            <p:spPr>
              <a:xfrm rot="5400000">
                <a:off x="604175" y="3714176"/>
                <a:ext cx="24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52" name="Google Shape;452;p25"/>
              <p:cNvCxnSpPr>
                <a:stCxn id="444" idx="4"/>
                <a:endCxn id="446" idx="0"/>
              </p:cNvCxnSpPr>
              <p:nvPr/>
            </p:nvCxnSpPr>
            <p:spPr>
              <a:xfrm rot="5400000">
                <a:off x="621425" y="4242494"/>
                <a:ext cx="210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453" name="Google Shape;453;p25"/>
              <p:cNvSpPr/>
              <p:nvPr/>
            </p:nvSpPr>
            <p:spPr>
              <a:xfrm>
                <a:off x="576425" y="123062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54" name="Google Shape;454;p25"/>
              <p:cNvCxnSpPr>
                <a:stCxn id="453" idx="4"/>
              </p:cNvCxnSpPr>
              <p:nvPr/>
            </p:nvCxnSpPr>
            <p:spPr>
              <a:xfrm rot="5400000">
                <a:off x="618275" y="16396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455" name="Google Shape;455;p25"/>
            <p:cNvSpPr txBox="1"/>
            <p:nvPr/>
          </p:nvSpPr>
          <p:spPr>
            <a:xfrm>
              <a:off x="4239615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M1</a:t>
              </a:r>
              <a:endParaRPr/>
            </a:p>
          </p:txBody>
        </p:sp>
        <p:sp>
          <p:nvSpPr>
            <p:cNvPr id="456" name="Google Shape;456;p25"/>
            <p:cNvSpPr txBox="1"/>
            <p:nvPr/>
          </p:nvSpPr>
          <p:spPr>
            <a:xfrm>
              <a:off x="475394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M2</a:t>
              </a:r>
              <a:endParaRPr/>
            </a:p>
          </p:txBody>
        </p:sp>
        <p:sp>
          <p:nvSpPr>
            <p:cNvPr id="457" name="Google Shape;457;p25"/>
            <p:cNvSpPr txBox="1"/>
            <p:nvPr/>
          </p:nvSpPr>
          <p:spPr>
            <a:xfrm>
              <a:off x="5268876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Q3</a:t>
              </a:r>
              <a:endParaRPr/>
            </a:p>
          </p:txBody>
        </p:sp>
        <p:sp>
          <p:nvSpPr>
            <p:cNvPr id="458" name="Google Shape;458;p25"/>
            <p:cNvSpPr txBox="1"/>
            <p:nvPr/>
          </p:nvSpPr>
          <p:spPr>
            <a:xfrm>
              <a:off x="5742360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M4</a:t>
              </a:r>
              <a:endParaRPr/>
            </a:p>
          </p:txBody>
        </p:sp>
        <p:sp>
          <p:nvSpPr>
            <p:cNvPr id="459" name="Google Shape;459;p25"/>
            <p:cNvSpPr txBox="1"/>
            <p:nvPr/>
          </p:nvSpPr>
          <p:spPr>
            <a:xfrm>
              <a:off x="6298138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M5</a:t>
              </a:r>
              <a:endParaRPr/>
            </a:p>
          </p:txBody>
        </p:sp>
        <p:sp>
          <p:nvSpPr>
            <p:cNvPr id="460" name="Google Shape;460;p25"/>
            <p:cNvSpPr txBox="1"/>
            <p:nvPr/>
          </p:nvSpPr>
          <p:spPr>
            <a:xfrm>
              <a:off x="684332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M6</a:t>
              </a:r>
              <a:endParaRPr/>
            </a:p>
          </p:txBody>
        </p:sp>
        <p:sp>
          <p:nvSpPr>
            <p:cNvPr id="461" name="Google Shape;461;p25"/>
            <p:cNvSpPr txBox="1"/>
            <p:nvPr/>
          </p:nvSpPr>
          <p:spPr>
            <a:xfrm>
              <a:off x="7350701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Q7</a:t>
              </a:r>
              <a:endParaRPr/>
            </a:p>
          </p:txBody>
        </p:sp>
      </p:grpSp>
      <p:sp>
        <p:nvSpPr>
          <p:cNvPr id="462" name="Google Shape;462;p25"/>
          <p:cNvSpPr txBox="1"/>
          <p:nvPr/>
        </p:nvSpPr>
        <p:spPr>
          <a:xfrm>
            <a:off x="3131375" y="-53525"/>
            <a:ext cx="43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highlight>
                  <a:srgbClr val="FFFF00"/>
                </a:highlight>
              </a:rPr>
              <a:t>Removed aspects:</a:t>
            </a:r>
            <a:endParaRPr>
              <a:highlight>
                <a:srgbClr val="FF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FFFF00"/>
                </a:highlight>
              </a:rPr>
              <a:t>Some features are shared across steps</a:t>
            </a:r>
            <a:endParaRPr>
              <a:highlight>
                <a:srgbClr val="FF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FFFF00"/>
                </a:highlight>
              </a:rPr>
              <a:t>Time within one single wafer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8450"/>
            <a:ext cx="8735275" cy="49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Group POV</a:t>
            </a:r>
            <a:endParaRPr/>
          </a:p>
        </p:txBody>
      </p:sp>
      <p:sp>
        <p:nvSpPr>
          <p:cNvPr id="473" name="Google Shape;473;p27"/>
          <p:cNvSpPr/>
          <p:nvPr/>
        </p:nvSpPr>
        <p:spPr>
          <a:xfrm>
            <a:off x="1414475" y="1013575"/>
            <a:ext cx="17169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4" name="Google Shape;474;p27"/>
          <p:cNvGrpSpPr/>
          <p:nvPr/>
        </p:nvGrpSpPr>
        <p:grpSpPr>
          <a:xfrm>
            <a:off x="576425" y="1230624"/>
            <a:ext cx="300600" cy="3417817"/>
            <a:chOff x="576425" y="1230624"/>
            <a:chExt cx="300600" cy="3417817"/>
          </a:xfrm>
        </p:grpSpPr>
        <p:sp>
          <p:nvSpPr>
            <p:cNvPr id="475" name="Google Shape;475;p27"/>
            <p:cNvSpPr/>
            <p:nvPr/>
          </p:nvSpPr>
          <p:spPr>
            <a:xfrm>
              <a:off x="576425" y="174812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7"/>
            <p:cNvSpPr/>
            <p:nvPr/>
          </p:nvSpPr>
          <p:spPr>
            <a:xfrm>
              <a:off x="576425" y="2744923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7"/>
            <p:cNvSpPr/>
            <p:nvPr/>
          </p:nvSpPr>
          <p:spPr>
            <a:xfrm>
              <a:off x="576425" y="383659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7"/>
            <p:cNvSpPr/>
            <p:nvPr/>
          </p:nvSpPr>
          <p:spPr>
            <a:xfrm>
              <a:off x="576425" y="3291026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7"/>
            <p:cNvSpPr/>
            <p:nvPr/>
          </p:nvSpPr>
          <p:spPr>
            <a:xfrm>
              <a:off x="576425" y="4347841"/>
              <a:ext cx="300600" cy="300600"/>
            </a:xfrm>
            <a:prstGeom prst="ellipse">
              <a:avLst/>
            </a:prstGeom>
            <a:solidFill>
              <a:srgbClr val="9E9E9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7"/>
            <p:cNvSpPr/>
            <p:nvPr/>
          </p:nvSpPr>
          <p:spPr>
            <a:xfrm>
              <a:off x="576425" y="2265487"/>
              <a:ext cx="300600" cy="300600"/>
            </a:xfrm>
            <a:prstGeom prst="ellipse">
              <a:avLst/>
            </a:prstGeom>
            <a:solidFill>
              <a:srgbClr val="9E9E9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81" name="Google Shape;481;p27"/>
            <p:cNvCxnSpPr>
              <a:stCxn id="475" idx="4"/>
              <a:endCxn id="480" idx="0"/>
            </p:cNvCxnSpPr>
            <p:nvPr/>
          </p:nvCxnSpPr>
          <p:spPr>
            <a:xfrm>
              <a:off x="726725" y="2048724"/>
              <a:ext cx="0" cy="21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82" name="Google Shape;482;p27"/>
            <p:cNvCxnSpPr>
              <a:stCxn id="480" idx="4"/>
              <a:endCxn id="476" idx="0"/>
            </p:cNvCxnSpPr>
            <p:nvPr/>
          </p:nvCxnSpPr>
          <p:spPr>
            <a:xfrm>
              <a:off x="726725" y="2566087"/>
              <a:ext cx="0" cy="17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83" name="Google Shape;483;p27"/>
            <p:cNvCxnSpPr>
              <a:stCxn id="476" idx="4"/>
              <a:endCxn id="478" idx="0"/>
            </p:cNvCxnSpPr>
            <p:nvPr/>
          </p:nvCxnSpPr>
          <p:spPr>
            <a:xfrm>
              <a:off x="726725" y="3045523"/>
              <a:ext cx="0" cy="24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84" name="Google Shape;484;p27"/>
            <p:cNvCxnSpPr>
              <a:stCxn id="478" idx="4"/>
              <a:endCxn id="477" idx="0"/>
            </p:cNvCxnSpPr>
            <p:nvPr/>
          </p:nvCxnSpPr>
          <p:spPr>
            <a:xfrm>
              <a:off x="726725" y="3591626"/>
              <a:ext cx="0" cy="24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85" name="Google Shape;485;p27"/>
            <p:cNvCxnSpPr>
              <a:stCxn id="477" idx="4"/>
              <a:endCxn id="479" idx="0"/>
            </p:cNvCxnSpPr>
            <p:nvPr/>
          </p:nvCxnSpPr>
          <p:spPr>
            <a:xfrm>
              <a:off x="726725" y="4137194"/>
              <a:ext cx="0" cy="210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86" name="Google Shape;486;p27"/>
            <p:cNvSpPr/>
            <p:nvPr/>
          </p:nvSpPr>
          <p:spPr>
            <a:xfrm>
              <a:off x="576425" y="123062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87" name="Google Shape;487;p27"/>
            <p:cNvCxnSpPr>
              <a:stCxn id="486" idx="4"/>
            </p:cNvCxnSpPr>
            <p:nvPr/>
          </p:nvCxnSpPr>
          <p:spPr>
            <a:xfrm>
              <a:off x="726725" y="1531224"/>
              <a:ext cx="0" cy="21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88" name="Google Shape;488;p27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7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sp>
        <p:nvSpPr>
          <p:cNvPr id="490" name="Google Shape;490;p27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sp>
        <p:nvSpPr>
          <p:cNvPr id="491" name="Google Shape;491;p27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492" name="Google Shape;492;p27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sp>
        <p:nvSpPr>
          <p:cNvPr id="493" name="Google Shape;493;p27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sp>
        <p:nvSpPr>
          <p:cNvPr id="494" name="Google Shape;494;p27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grpSp>
        <p:nvGrpSpPr>
          <p:cNvPr id="495" name="Google Shape;495;p27"/>
          <p:cNvGrpSpPr/>
          <p:nvPr/>
        </p:nvGrpSpPr>
        <p:grpSpPr>
          <a:xfrm>
            <a:off x="311698" y="1635975"/>
            <a:ext cx="2930232" cy="2585900"/>
            <a:chOff x="311700" y="1635975"/>
            <a:chExt cx="2906400" cy="2585900"/>
          </a:xfrm>
        </p:grpSpPr>
        <p:cxnSp>
          <p:nvCxnSpPr>
            <p:cNvPr id="496" name="Google Shape;496;p27"/>
            <p:cNvCxnSpPr/>
            <p:nvPr/>
          </p:nvCxnSpPr>
          <p:spPr>
            <a:xfrm>
              <a:off x="311700" y="16359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97" name="Google Shape;497;p27"/>
            <p:cNvCxnSpPr/>
            <p:nvPr/>
          </p:nvCxnSpPr>
          <p:spPr>
            <a:xfrm>
              <a:off x="311700" y="2124792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98" name="Google Shape;498;p27"/>
            <p:cNvCxnSpPr/>
            <p:nvPr/>
          </p:nvCxnSpPr>
          <p:spPr>
            <a:xfrm>
              <a:off x="311700" y="2624610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99" name="Google Shape;499;p27"/>
            <p:cNvCxnSpPr/>
            <p:nvPr/>
          </p:nvCxnSpPr>
          <p:spPr>
            <a:xfrm>
              <a:off x="311700" y="315613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00" name="Google Shape;500;p27"/>
            <p:cNvCxnSpPr/>
            <p:nvPr/>
          </p:nvCxnSpPr>
          <p:spPr>
            <a:xfrm>
              <a:off x="311700" y="3701256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01" name="Google Shape;501;p27"/>
            <p:cNvCxnSpPr/>
            <p:nvPr/>
          </p:nvCxnSpPr>
          <p:spPr>
            <a:xfrm>
              <a:off x="311700" y="42218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502" name="Google Shape;502;p27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503" name="Google Shape;503;p27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7"/>
          <p:cNvSpPr/>
          <p:nvPr/>
        </p:nvSpPr>
        <p:spPr>
          <a:xfrm>
            <a:off x="2721445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7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7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7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7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7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7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7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7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4" name="Google Shape;514;p27"/>
          <p:cNvCxnSpPr>
            <a:stCxn id="488" idx="2"/>
            <a:endCxn id="503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5" name="Google Shape;515;p27"/>
          <p:cNvCxnSpPr>
            <a:stCxn id="488" idx="4"/>
            <a:endCxn id="505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6" name="Google Shape;516;p27"/>
          <p:cNvCxnSpPr>
            <a:stCxn id="504" idx="2"/>
            <a:endCxn id="505" idx="6"/>
          </p:cNvCxnSpPr>
          <p:nvPr/>
        </p:nvCxnSpPr>
        <p:spPr>
          <a:xfrm flipH="1">
            <a:off x="2567545" y="1326862"/>
            <a:ext cx="1539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27"/>
          <p:cNvCxnSpPr>
            <a:stCxn id="488" idx="3"/>
            <a:endCxn id="506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" name="Google Shape;518;p27"/>
          <p:cNvCxnSpPr>
            <a:stCxn id="505" idx="4"/>
            <a:endCxn id="507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9" name="Google Shape;519;p27"/>
          <p:cNvCxnSpPr>
            <a:stCxn id="507" idx="4"/>
            <a:endCxn id="510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27"/>
          <p:cNvCxnSpPr>
            <a:stCxn id="506" idx="4"/>
            <a:endCxn id="508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1" name="Google Shape;521;p27"/>
          <p:cNvCxnSpPr>
            <a:stCxn id="510" idx="2"/>
            <a:endCxn id="508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22" name="Google Shape;522;p27"/>
          <p:cNvCxnSpPr>
            <a:stCxn id="510" idx="4"/>
            <a:endCxn id="513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23" name="Google Shape;523;p27"/>
          <p:cNvCxnSpPr>
            <a:stCxn id="503" idx="3"/>
            <a:endCxn id="512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4" name="Google Shape;524;p27"/>
          <p:cNvCxnSpPr>
            <a:stCxn id="507" idx="6"/>
            <a:endCxn id="513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5" name="Google Shape;525;p27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7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7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7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9" name="Google Shape;529;p27"/>
          <p:cNvCxnSpPr>
            <a:stCxn id="513" idx="4"/>
            <a:endCxn id="528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0" name="Google Shape;530;p27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1" name="Google Shape;531;p27"/>
          <p:cNvCxnSpPr>
            <a:stCxn id="512" idx="4"/>
            <a:endCxn id="530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2" name="Google Shape;532;p27"/>
          <p:cNvCxnSpPr>
            <a:stCxn id="507" idx="6"/>
            <a:endCxn id="527" idx="6"/>
          </p:cNvCxnSpPr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24266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3" name="Google Shape;533;p27"/>
          <p:cNvCxnSpPr>
            <a:stCxn id="508" idx="2"/>
            <a:endCxn id="526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34" name="Google Shape;534;p27"/>
          <p:cNvCxnSpPr>
            <a:stCxn id="526" idx="4"/>
            <a:endCxn id="509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5" name="Google Shape;535;p27"/>
          <p:cNvCxnSpPr>
            <a:stCxn id="527" idx="4"/>
            <a:endCxn id="511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6" name="Google Shape;536;p27"/>
          <p:cNvCxnSpPr>
            <a:stCxn id="513" idx="2"/>
            <a:endCxn id="527" idx="2"/>
          </p:cNvCxnSpPr>
          <p:nvPr/>
        </p:nvCxnSpPr>
        <p:spPr>
          <a:xfrm flipH="1">
            <a:off x="2437970" y="2913025"/>
            <a:ext cx="8700" cy="1176300"/>
          </a:xfrm>
          <a:prstGeom prst="curvedConnector3">
            <a:avLst>
              <a:gd fmla="val 28359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7" name="Google Shape;537;p27"/>
          <p:cNvSpPr txBox="1"/>
          <p:nvPr/>
        </p:nvSpPr>
        <p:spPr>
          <a:xfrm>
            <a:off x="15967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graphicFrame>
        <p:nvGraphicFramePr>
          <p:cNvPr id="538" name="Google Shape;538;p27"/>
          <p:cNvGraphicFramePr/>
          <p:nvPr/>
        </p:nvGraphicFramePr>
        <p:xfrm>
          <a:off x="3241888" y="15678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{2A32DD55-F58C-4E76-B93F-580D8438E63E}</a:tableStyleId>
              </a:tblPr>
              <a:tblGrid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</a:tblGrid>
              <a:tr h="25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wafer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 id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M1_f1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M2_f1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M2_f2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Q3_f1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Q3_f2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…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Q7_f1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TOOL1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7.3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45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0000"/>
                          </a:solidFill>
                        </a:rPr>
                        <a:t>0.9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36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0000"/>
                          </a:solidFill>
                        </a:rPr>
                        <a:t>…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W97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0000"/>
                          </a:solidFill>
                        </a:rPr>
                        <a:t>3.7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W98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0000"/>
                          </a:solidFill>
                        </a:rPr>
                        <a:t>1.6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45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9900"/>
                          </a:solidFill>
                        </a:rPr>
                        <a:t>67</a:t>
                      </a:r>
                      <a:endParaRPr sz="1300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W99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0000"/>
                          </a:solidFill>
                        </a:rPr>
                        <a:t>0.5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64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9900"/>
                          </a:solidFill>
                        </a:rPr>
                        <a:t>83</a:t>
                      </a:r>
                      <a:endParaRPr sz="1300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W100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0000"/>
                          </a:solidFill>
                        </a:rPr>
                        <a:t>3.5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9900"/>
                          </a:solidFill>
                        </a:rPr>
                        <a:t>80</a:t>
                      </a:r>
                      <a:endParaRPr sz="1300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39" name="Google Shape;539;p27"/>
          <p:cNvGrpSpPr/>
          <p:nvPr/>
        </p:nvGrpSpPr>
        <p:grpSpPr>
          <a:xfrm>
            <a:off x="4299453" y="612425"/>
            <a:ext cx="3610886" cy="688620"/>
            <a:chOff x="4239615" y="0"/>
            <a:chExt cx="3610886" cy="688620"/>
          </a:xfrm>
        </p:grpSpPr>
        <p:grpSp>
          <p:nvGrpSpPr>
            <p:cNvPr id="540" name="Google Shape;540;p27"/>
            <p:cNvGrpSpPr/>
            <p:nvPr/>
          </p:nvGrpSpPr>
          <p:grpSpPr>
            <a:xfrm rot="-5400000">
              <a:off x="5893250" y="-1170588"/>
              <a:ext cx="300600" cy="3417817"/>
              <a:chOff x="576425" y="1230624"/>
              <a:chExt cx="300600" cy="3417817"/>
            </a:xfrm>
          </p:grpSpPr>
          <p:sp>
            <p:nvSpPr>
              <p:cNvPr id="541" name="Google Shape;541;p27"/>
              <p:cNvSpPr/>
              <p:nvPr/>
            </p:nvSpPr>
            <p:spPr>
              <a:xfrm>
                <a:off x="576425" y="174812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27"/>
              <p:cNvSpPr/>
              <p:nvPr/>
            </p:nvSpPr>
            <p:spPr>
              <a:xfrm>
                <a:off x="576425" y="2744923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27"/>
              <p:cNvSpPr/>
              <p:nvPr/>
            </p:nvSpPr>
            <p:spPr>
              <a:xfrm>
                <a:off x="576425" y="383659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27"/>
              <p:cNvSpPr/>
              <p:nvPr/>
            </p:nvSpPr>
            <p:spPr>
              <a:xfrm>
                <a:off x="576425" y="3291026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27"/>
              <p:cNvSpPr/>
              <p:nvPr/>
            </p:nvSpPr>
            <p:spPr>
              <a:xfrm>
                <a:off x="576425" y="4347841"/>
                <a:ext cx="300600" cy="300600"/>
              </a:xfrm>
              <a:prstGeom prst="ellipse">
                <a:avLst/>
              </a:prstGeom>
              <a:solidFill>
                <a:srgbClr val="9E9E9E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27"/>
              <p:cNvSpPr/>
              <p:nvPr/>
            </p:nvSpPr>
            <p:spPr>
              <a:xfrm>
                <a:off x="576425" y="2265487"/>
                <a:ext cx="300600" cy="300600"/>
              </a:xfrm>
              <a:prstGeom prst="ellipse">
                <a:avLst/>
              </a:prstGeom>
              <a:solidFill>
                <a:srgbClr val="9E9E9E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47" name="Google Shape;547;p27"/>
              <p:cNvCxnSpPr>
                <a:stCxn id="541" idx="4"/>
                <a:endCxn id="546" idx="0"/>
              </p:cNvCxnSpPr>
              <p:nvPr/>
            </p:nvCxnSpPr>
            <p:spPr>
              <a:xfrm rot="5400000">
                <a:off x="618275" y="21571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48" name="Google Shape;548;p27"/>
              <p:cNvCxnSpPr>
                <a:stCxn id="546" idx="4"/>
                <a:endCxn id="542" idx="0"/>
              </p:cNvCxnSpPr>
              <p:nvPr/>
            </p:nvCxnSpPr>
            <p:spPr>
              <a:xfrm rot="5400000">
                <a:off x="637325" y="2655487"/>
                <a:ext cx="178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49" name="Google Shape;549;p27"/>
              <p:cNvCxnSpPr>
                <a:stCxn id="542" idx="4"/>
                <a:endCxn id="544" idx="0"/>
              </p:cNvCxnSpPr>
              <p:nvPr/>
            </p:nvCxnSpPr>
            <p:spPr>
              <a:xfrm rot="5400000">
                <a:off x="604025" y="3168223"/>
                <a:ext cx="245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50" name="Google Shape;550;p27"/>
              <p:cNvCxnSpPr>
                <a:stCxn id="544" idx="4"/>
                <a:endCxn id="543" idx="0"/>
              </p:cNvCxnSpPr>
              <p:nvPr/>
            </p:nvCxnSpPr>
            <p:spPr>
              <a:xfrm rot="5400000">
                <a:off x="604175" y="3714176"/>
                <a:ext cx="24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51" name="Google Shape;551;p27"/>
              <p:cNvCxnSpPr>
                <a:stCxn id="543" idx="4"/>
                <a:endCxn id="545" idx="0"/>
              </p:cNvCxnSpPr>
              <p:nvPr/>
            </p:nvCxnSpPr>
            <p:spPr>
              <a:xfrm rot="5400000">
                <a:off x="621425" y="4242494"/>
                <a:ext cx="210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52" name="Google Shape;552;p27"/>
              <p:cNvSpPr/>
              <p:nvPr/>
            </p:nvSpPr>
            <p:spPr>
              <a:xfrm>
                <a:off x="576425" y="123062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53" name="Google Shape;553;p27"/>
              <p:cNvCxnSpPr>
                <a:stCxn id="552" idx="4"/>
              </p:cNvCxnSpPr>
              <p:nvPr/>
            </p:nvCxnSpPr>
            <p:spPr>
              <a:xfrm rot="5400000">
                <a:off x="618275" y="16396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554" name="Google Shape;554;p27"/>
            <p:cNvSpPr txBox="1"/>
            <p:nvPr/>
          </p:nvSpPr>
          <p:spPr>
            <a:xfrm>
              <a:off x="4239615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M1</a:t>
              </a:r>
              <a:endParaRPr/>
            </a:p>
          </p:txBody>
        </p:sp>
        <p:sp>
          <p:nvSpPr>
            <p:cNvPr id="555" name="Google Shape;555;p27"/>
            <p:cNvSpPr txBox="1"/>
            <p:nvPr/>
          </p:nvSpPr>
          <p:spPr>
            <a:xfrm>
              <a:off x="475394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M2</a:t>
              </a:r>
              <a:endParaRPr/>
            </a:p>
          </p:txBody>
        </p:sp>
        <p:sp>
          <p:nvSpPr>
            <p:cNvPr id="556" name="Google Shape;556;p27"/>
            <p:cNvSpPr txBox="1"/>
            <p:nvPr/>
          </p:nvSpPr>
          <p:spPr>
            <a:xfrm>
              <a:off x="5268876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Q3</a:t>
              </a:r>
              <a:endParaRPr/>
            </a:p>
          </p:txBody>
        </p:sp>
        <p:sp>
          <p:nvSpPr>
            <p:cNvPr id="557" name="Google Shape;557;p27"/>
            <p:cNvSpPr txBox="1"/>
            <p:nvPr/>
          </p:nvSpPr>
          <p:spPr>
            <a:xfrm>
              <a:off x="5742360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M4</a:t>
              </a:r>
              <a:endParaRPr/>
            </a:p>
          </p:txBody>
        </p:sp>
        <p:sp>
          <p:nvSpPr>
            <p:cNvPr id="558" name="Google Shape;558;p27"/>
            <p:cNvSpPr txBox="1"/>
            <p:nvPr/>
          </p:nvSpPr>
          <p:spPr>
            <a:xfrm>
              <a:off x="6298138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M5</a:t>
              </a:r>
              <a:endParaRPr/>
            </a:p>
          </p:txBody>
        </p:sp>
        <p:sp>
          <p:nvSpPr>
            <p:cNvPr id="559" name="Google Shape;559;p27"/>
            <p:cNvSpPr txBox="1"/>
            <p:nvPr/>
          </p:nvSpPr>
          <p:spPr>
            <a:xfrm>
              <a:off x="684332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M6</a:t>
              </a:r>
              <a:endParaRPr/>
            </a:p>
          </p:txBody>
        </p:sp>
        <p:sp>
          <p:nvSpPr>
            <p:cNvPr id="560" name="Google Shape;560;p27"/>
            <p:cNvSpPr txBox="1"/>
            <p:nvPr/>
          </p:nvSpPr>
          <p:spPr>
            <a:xfrm>
              <a:off x="7350701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Q7</a:t>
              </a:r>
              <a:endParaRPr/>
            </a:p>
          </p:txBody>
        </p:sp>
      </p:grpSp>
      <p:sp>
        <p:nvSpPr>
          <p:cNvPr id="561" name="Google Shape;561;p27"/>
          <p:cNvSpPr/>
          <p:nvPr/>
        </p:nvSpPr>
        <p:spPr>
          <a:xfrm>
            <a:off x="3957650" y="3177438"/>
            <a:ext cx="5010300" cy="1694100"/>
          </a:xfrm>
          <a:prstGeom prst="roundRect">
            <a:avLst>
              <a:gd fmla="val 10709" name="adj"/>
            </a:avLst>
          </a:prstGeom>
          <a:noFill/>
          <a:ln cap="flat" cmpd="sng" w="76200">
            <a:solidFill>
              <a:srgbClr val="4A86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7"/>
          <p:cNvSpPr txBox="1"/>
          <p:nvPr/>
        </p:nvSpPr>
        <p:spPr>
          <a:xfrm>
            <a:off x="6902700" y="52975"/>
            <a:ext cx="224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sz="1800" u="sng">
                <a:highlight>
                  <a:srgbClr val="FFE599"/>
                </a:highlight>
              </a:rPr>
              <a:t>Time-Series Data</a:t>
            </a:r>
            <a:endParaRPr b="1" i="1" sz="1800" u="sng"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Individual POV</a:t>
            </a:r>
            <a:endParaRPr/>
          </a:p>
        </p:txBody>
      </p:sp>
      <p:sp>
        <p:nvSpPr>
          <p:cNvPr id="568" name="Google Shape;568;p28"/>
          <p:cNvSpPr/>
          <p:nvPr/>
        </p:nvSpPr>
        <p:spPr>
          <a:xfrm>
            <a:off x="1414475" y="1013575"/>
            <a:ext cx="17169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9" name="Google Shape;569;p28"/>
          <p:cNvGrpSpPr/>
          <p:nvPr/>
        </p:nvGrpSpPr>
        <p:grpSpPr>
          <a:xfrm>
            <a:off x="576425" y="1230624"/>
            <a:ext cx="300600" cy="3417817"/>
            <a:chOff x="576425" y="1230624"/>
            <a:chExt cx="300600" cy="3417817"/>
          </a:xfrm>
        </p:grpSpPr>
        <p:sp>
          <p:nvSpPr>
            <p:cNvPr id="570" name="Google Shape;570;p28"/>
            <p:cNvSpPr/>
            <p:nvPr/>
          </p:nvSpPr>
          <p:spPr>
            <a:xfrm>
              <a:off x="576425" y="174812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8"/>
            <p:cNvSpPr/>
            <p:nvPr/>
          </p:nvSpPr>
          <p:spPr>
            <a:xfrm>
              <a:off x="576425" y="2744923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8"/>
            <p:cNvSpPr/>
            <p:nvPr/>
          </p:nvSpPr>
          <p:spPr>
            <a:xfrm>
              <a:off x="576425" y="383659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8"/>
            <p:cNvSpPr/>
            <p:nvPr/>
          </p:nvSpPr>
          <p:spPr>
            <a:xfrm>
              <a:off x="576425" y="3291026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8"/>
            <p:cNvSpPr/>
            <p:nvPr/>
          </p:nvSpPr>
          <p:spPr>
            <a:xfrm>
              <a:off x="576425" y="4347841"/>
              <a:ext cx="300600" cy="300600"/>
            </a:xfrm>
            <a:prstGeom prst="ellipse">
              <a:avLst/>
            </a:prstGeom>
            <a:solidFill>
              <a:srgbClr val="9E9E9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8"/>
            <p:cNvSpPr/>
            <p:nvPr/>
          </p:nvSpPr>
          <p:spPr>
            <a:xfrm>
              <a:off x="576425" y="2265487"/>
              <a:ext cx="300600" cy="300600"/>
            </a:xfrm>
            <a:prstGeom prst="ellipse">
              <a:avLst/>
            </a:prstGeom>
            <a:solidFill>
              <a:srgbClr val="9E9E9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76" name="Google Shape;576;p28"/>
            <p:cNvCxnSpPr>
              <a:stCxn id="570" idx="4"/>
              <a:endCxn id="575" idx="0"/>
            </p:cNvCxnSpPr>
            <p:nvPr/>
          </p:nvCxnSpPr>
          <p:spPr>
            <a:xfrm>
              <a:off x="726725" y="2048724"/>
              <a:ext cx="0" cy="21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77" name="Google Shape;577;p28"/>
            <p:cNvCxnSpPr>
              <a:stCxn id="575" idx="4"/>
              <a:endCxn id="571" idx="0"/>
            </p:cNvCxnSpPr>
            <p:nvPr/>
          </p:nvCxnSpPr>
          <p:spPr>
            <a:xfrm>
              <a:off x="726725" y="2566087"/>
              <a:ext cx="0" cy="17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78" name="Google Shape;578;p28"/>
            <p:cNvCxnSpPr>
              <a:stCxn id="571" idx="4"/>
              <a:endCxn id="573" idx="0"/>
            </p:cNvCxnSpPr>
            <p:nvPr/>
          </p:nvCxnSpPr>
          <p:spPr>
            <a:xfrm>
              <a:off x="726725" y="3045523"/>
              <a:ext cx="0" cy="24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79" name="Google Shape;579;p28"/>
            <p:cNvCxnSpPr>
              <a:stCxn id="573" idx="4"/>
              <a:endCxn id="572" idx="0"/>
            </p:cNvCxnSpPr>
            <p:nvPr/>
          </p:nvCxnSpPr>
          <p:spPr>
            <a:xfrm>
              <a:off x="726725" y="3591626"/>
              <a:ext cx="0" cy="24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0" name="Google Shape;580;p28"/>
            <p:cNvCxnSpPr>
              <a:stCxn id="572" idx="4"/>
              <a:endCxn id="574" idx="0"/>
            </p:cNvCxnSpPr>
            <p:nvPr/>
          </p:nvCxnSpPr>
          <p:spPr>
            <a:xfrm>
              <a:off x="726725" y="4137194"/>
              <a:ext cx="0" cy="210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81" name="Google Shape;581;p28"/>
            <p:cNvSpPr/>
            <p:nvPr/>
          </p:nvSpPr>
          <p:spPr>
            <a:xfrm>
              <a:off x="576425" y="1230624"/>
              <a:ext cx="300600" cy="30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82" name="Google Shape;582;p28"/>
            <p:cNvCxnSpPr>
              <a:stCxn id="581" idx="4"/>
            </p:cNvCxnSpPr>
            <p:nvPr/>
          </p:nvCxnSpPr>
          <p:spPr>
            <a:xfrm>
              <a:off x="726725" y="1531224"/>
              <a:ext cx="0" cy="21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83" name="Google Shape;583;p28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8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sp>
        <p:nvSpPr>
          <p:cNvPr id="585" name="Google Shape;585;p28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sp>
        <p:nvSpPr>
          <p:cNvPr id="586" name="Google Shape;586;p28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sp>
        <p:nvSpPr>
          <p:cNvPr id="587" name="Google Shape;587;p28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sp>
        <p:nvSpPr>
          <p:cNvPr id="588" name="Google Shape;588;p28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sp>
        <p:nvSpPr>
          <p:cNvPr id="589" name="Google Shape;589;p28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grpSp>
        <p:nvGrpSpPr>
          <p:cNvPr id="590" name="Google Shape;590;p28"/>
          <p:cNvGrpSpPr/>
          <p:nvPr/>
        </p:nvGrpSpPr>
        <p:grpSpPr>
          <a:xfrm>
            <a:off x="311698" y="1635975"/>
            <a:ext cx="2930232" cy="2585900"/>
            <a:chOff x="311700" y="1635975"/>
            <a:chExt cx="2906400" cy="2585900"/>
          </a:xfrm>
        </p:grpSpPr>
        <p:cxnSp>
          <p:nvCxnSpPr>
            <p:cNvPr id="591" name="Google Shape;591;p28"/>
            <p:cNvCxnSpPr/>
            <p:nvPr/>
          </p:nvCxnSpPr>
          <p:spPr>
            <a:xfrm>
              <a:off x="311700" y="16359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28"/>
            <p:cNvCxnSpPr/>
            <p:nvPr/>
          </p:nvCxnSpPr>
          <p:spPr>
            <a:xfrm>
              <a:off x="311700" y="2124792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28"/>
            <p:cNvCxnSpPr/>
            <p:nvPr/>
          </p:nvCxnSpPr>
          <p:spPr>
            <a:xfrm>
              <a:off x="311700" y="2624610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28"/>
            <p:cNvCxnSpPr/>
            <p:nvPr/>
          </p:nvCxnSpPr>
          <p:spPr>
            <a:xfrm>
              <a:off x="311700" y="315613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95" name="Google Shape;595;p28"/>
            <p:cNvCxnSpPr/>
            <p:nvPr/>
          </p:nvCxnSpPr>
          <p:spPr>
            <a:xfrm>
              <a:off x="311700" y="3701256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96" name="Google Shape;596;p28"/>
            <p:cNvCxnSpPr/>
            <p:nvPr/>
          </p:nvCxnSpPr>
          <p:spPr>
            <a:xfrm>
              <a:off x="311700" y="4221875"/>
              <a:ext cx="2906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597" name="Google Shape;597;p28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598" name="Google Shape;598;p28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8"/>
          <p:cNvSpPr/>
          <p:nvPr/>
        </p:nvSpPr>
        <p:spPr>
          <a:xfrm>
            <a:off x="2721445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8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8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8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8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8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8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8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8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8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9" name="Google Shape;609;p28"/>
          <p:cNvCxnSpPr>
            <a:stCxn id="583" idx="2"/>
            <a:endCxn id="598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0" name="Google Shape;610;p28"/>
          <p:cNvCxnSpPr>
            <a:stCxn id="583" idx="4"/>
            <a:endCxn id="600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1" name="Google Shape;611;p28"/>
          <p:cNvCxnSpPr>
            <a:stCxn id="599" idx="2"/>
            <a:endCxn id="600" idx="6"/>
          </p:cNvCxnSpPr>
          <p:nvPr/>
        </p:nvCxnSpPr>
        <p:spPr>
          <a:xfrm flipH="1">
            <a:off x="2567545" y="1326862"/>
            <a:ext cx="1539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2" name="Google Shape;612;p28"/>
          <p:cNvCxnSpPr>
            <a:stCxn id="583" idx="3"/>
            <a:endCxn id="601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28"/>
          <p:cNvCxnSpPr>
            <a:stCxn id="600" idx="4"/>
            <a:endCxn id="602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4" name="Google Shape;614;p28"/>
          <p:cNvCxnSpPr>
            <a:stCxn id="602" idx="4"/>
            <a:endCxn id="605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5" name="Google Shape;615;p28"/>
          <p:cNvCxnSpPr>
            <a:stCxn id="601" idx="4"/>
            <a:endCxn id="603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6" name="Google Shape;616;p28"/>
          <p:cNvCxnSpPr>
            <a:stCxn id="605" idx="2"/>
            <a:endCxn id="603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17" name="Google Shape;617;p28"/>
          <p:cNvCxnSpPr>
            <a:stCxn id="605" idx="4"/>
            <a:endCxn id="608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18" name="Google Shape;618;p28"/>
          <p:cNvCxnSpPr>
            <a:stCxn id="598" idx="3"/>
            <a:endCxn id="607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9" name="Google Shape;619;p28"/>
          <p:cNvCxnSpPr>
            <a:stCxn id="602" idx="6"/>
            <a:endCxn id="608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0" name="Google Shape;620;p28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8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8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8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4" name="Google Shape;624;p28"/>
          <p:cNvCxnSpPr>
            <a:stCxn id="608" idx="4"/>
            <a:endCxn id="623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5" name="Google Shape;625;p28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6" name="Google Shape;626;p28"/>
          <p:cNvCxnSpPr>
            <a:stCxn id="607" idx="4"/>
            <a:endCxn id="625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7" name="Google Shape;627;p28"/>
          <p:cNvCxnSpPr>
            <a:stCxn id="602" idx="6"/>
            <a:endCxn id="622" idx="6"/>
          </p:cNvCxnSpPr>
          <p:nvPr/>
        </p:nvCxnSpPr>
        <p:spPr>
          <a:xfrm>
            <a:off x="2556345" y="1915625"/>
            <a:ext cx="60600" cy="2173800"/>
          </a:xfrm>
          <a:prstGeom prst="curvedConnector3">
            <a:avLst>
              <a:gd fmla="val 824266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8" name="Google Shape;628;p28"/>
          <p:cNvCxnSpPr>
            <a:stCxn id="603" idx="2"/>
            <a:endCxn id="621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D9D9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29" name="Google Shape;629;p28"/>
          <p:cNvCxnSpPr>
            <a:stCxn id="621" idx="4"/>
            <a:endCxn id="604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0" name="Google Shape;630;p28"/>
          <p:cNvCxnSpPr>
            <a:stCxn id="622" idx="4"/>
            <a:endCxn id="606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1" name="Google Shape;631;p28"/>
          <p:cNvCxnSpPr>
            <a:stCxn id="608" idx="2"/>
            <a:endCxn id="622" idx="2"/>
          </p:cNvCxnSpPr>
          <p:nvPr/>
        </p:nvCxnSpPr>
        <p:spPr>
          <a:xfrm flipH="1">
            <a:off x="2437970" y="2913025"/>
            <a:ext cx="8700" cy="1176300"/>
          </a:xfrm>
          <a:prstGeom prst="curvedConnector3">
            <a:avLst>
              <a:gd fmla="val 28359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2" name="Google Shape;632;p28"/>
          <p:cNvSpPr txBox="1"/>
          <p:nvPr/>
        </p:nvSpPr>
        <p:spPr>
          <a:xfrm>
            <a:off x="15967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graphicFrame>
        <p:nvGraphicFramePr>
          <p:cNvPr id="633" name="Google Shape;633;p28"/>
          <p:cNvGraphicFramePr/>
          <p:nvPr/>
        </p:nvGraphicFramePr>
        <p:xfrm>
          <a:off x="3241888" y="15678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{2A32DD55-F58C-4E76-B93F-580D8438E63E}</a:tableStyleId>
              </a:tblPr>
              <a:tblGrid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  <a:gridCol w="715750"/>
              </a:tblGrid>
              <a:tr h="25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wafer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 id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M1_f1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M2_f1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M2_f2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Q3_f1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Q3_f2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…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300">
                          <a:solidFill>
                            <a:schemeClr val="lt1"/>
                          </a:solidFill>
                        </a:rPr>
                        <a:t>Q7_f1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TOOL1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7.3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45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W3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0.2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24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0.9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36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34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…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W97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RCP1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3.7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23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W98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1.6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45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67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W99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0.5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64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83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W100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TOOL1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RCP2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0000"/>
                          </a:solidFill>
                        </a:rPr>
                        <a:t>3.5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XXX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12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solidFill>
                            <a:srgbClr val="FF9900"/>
                          </a:solidFill>
                        </a:rPr>
                        <a:t>80</a:t>
                      </a:r>
                      <a:endParaRPr sz="1300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634" name="Google Shape;634;p28"/>
          <p:cNvGrpSpPr/>
          <p:nvPr/>
        </p:nvGrpSpPr>
        <p:grpSpPr>
          <a:xfrm>
            <a:off x="4299453" y="612425"/>
            <a:ext cx="3610886" cy="688620"/>
            <a:chOff x="4239615" y="0"/>
            <a:chExt cx="3610886" cy="688620"/>
          </a:xfrm>
        </p:grpSpPr>
        <p:grpSp>
          <p:nvGrpSpPr>
            <p:cNvPr id="635" name="Google Shape;635;p28"/>
            <p:cNvGrpSpPr/>
            <p:nvPr/>
          </p:nvGrpSpPr>
          <p:grpSpPr>
            <a:xfrm rot="-5400000">
              <a:off x="5893250" y="-1170588"/>
              <a:ext cx="300600" cy="3417817"/>
              <a:chOff x="576425" y="1230624"/>
              <a:chExt cx="300600" cy="3417817"/>
            </a:xfrm>
          </p:grpSpPr>
          <p:sp>
            <p:nvSpPr>
              <p:cNvPr id="636" name="Google Shape;636;p28"/>
              <p:cNvSpPr/>
              <p:nvPr/>
            </p:nvSpPr>
            <p:spPr>
              <a:xfrm>
                <a:off x="576425" y="174812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28"/>
              <p:cNvSpPr/>
              <p:nvPr/>
            </p:nvSpPr>
            <p:spPr>
              <a:xfrm>
                <a:off x="576425" y="2744923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28"/>
              <p:cNvSpPr/>
              <p:nvPr/>
            </p:nvSpPr>
            <p:spPr>
              <a:xfrm>
                <a:off x="576425" y="383659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28"/>
              <p:cNvSpPr/>
              <p:nvPr/>
            </p:nvSpPr>
            <p:spPr>
              <a:xfrm>
                <a:off x="576425" y="3291026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28"/>
              <p:cNvSpPr/>
              <p:nvPr/>
            </p:nvSpPr>
            <p:spPr>
              <a:xfrm>
                <a:off x="576425" y="4347841"/>
                <a:ext cx="300600" cy="300600"/>
              </a:xfrm>
              <a:prstGeom prst="ellipse">
                <a:avLst/>
              </a:prstGeom>
              <a:solidFill>
                <a:srgbClr val="9E9E9E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28"/>
              <p:cNvSpPr/>
              <p:nvPr/>
            </p:nvSpPr>
            <p:spPr>
              <a:xfrm>
                <a:off x="576425" y="2265487"/>
                <a:ext cx="300600" cy="300600"/>
              </a:xfrm>
              <a:prstGeom prst="ellipse">
                <a:avLst/>
              </a:prstGeom>
              <a:solidFill>
                <a:srgbClr val="9E9E9E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42" name="Google Shape;642;p28"/>
              <p:cNvCxnSpPr>
                <a:stCxn id="636" idx="4"/>
                <a:endCxn id="641" idx="0"/>
              </p:cNvCxnSpPr>
              <p:nvPr/>
            </p:nvCxnSpPr>
            <p:spPr>
              <a:xfrm rot="5400000">
                <a:off x="618275" y="21571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43" name="Google Shape;643;p28"/>
              <p:cNvCxnSpPr>
                <a:stCxn id="641" idx="4"/>
                <a:endCxn id="637" idx="0"/>
              </p:cNvCxnSpPr>
              <p:nvPr/>
            </p:nvCxnSpPr>
            <p:spPr>
              <a:xfrm rot="5400000">
                <a:off x="637325" y="2655487"/>
                <a:ext cx="178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44" name="Google Shape;644;p28"/>
              <p:cNvCxnSpPr>
                <a:stCxn id="637" idx="4"/>
                <a:endCxn id="639" idx="0"/>
              </p:cNvCxnSpPr>
              <p:nvPr/>
            </p:nvCxnSpPr>
            <p:spPr>
              <a:xfrm rot="5400000">
                <a:off x="604025" y="3168223"/>
                <a:ext cx="245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45" name="Google Shape;645;p28"/>
              <p:cNvCxnSpPr>
                <a:stCxn id="639" idx="4"/>
                <a:endCxn id="638" idx="0"/>
              </p:cNvCxnSpPr>
              <p:nvPr/>
            </p:nvCxnSpPr>
            <p:spPr>
              <a:xfrm rot="5400000">
                <a:off x="604175" y="3714176"/>
                <a:ext cx="24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46" name="Google Shape;646;p28"/>
              <p:cNvCxnSpPr>
                <a:stCxn id="638" idx="4"/>
                <a:endCxn id="640" idx="0"/>
              </p:cNvCxnSpPr>
              <p:nvPr/>
            </p:nvCxnSpPr>
            <p:spPr>
              <a:xfrm rot="5400000">
                <a:off x="621425" y="4242494"/>
                <a:ext cx="210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647" name="Google Shape;647;p28"/>
              <p:cNvSpPr/>
              <p:nvPr/>
            </p:nvSpPr>
            <p:spPr>
              <a:xfrm>
                <a:off x="576425" y="1230624"/>
                <a:ext cx="300600" cy="300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48" name="Google Shape;648;p28"/>
              <p:cNvCxnSpPr>
                <a:stCxn id="647" idx="4"/>
              </p:cNvCxnSpPr>
              <p:nvPr/>
            </p:nvCxnSpPr>
            <p:spPr>
              <a:xfrm rot="5400000">
                <a:off x="618275" y="1639674"/>
                <a:ext cx="21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649" name="Google Shape;649;p28"/>
            <p:cNvSpPr txBox="1"/>
            <p:nvPr/>
          </p:nvSpPr>
          <p:spPr>
            <a:xfrm>
              <a:off x="4239615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M1</a:t>
              </a:r>
              <a:endParaRPr/>
            </a:p>
          </p:txBody>
        </p:sp>
        <p:sp>
          <p:nvSpPr>
            <p:cNvPr id="650" name="Google Shape;650;p28"/>
            <p:cNvSpPr txBox="1"/>
            <p:nvPr/>
          </p:nvSpPr>
          <p:spPr>
            <a:xfrm>
              <a:off x="475394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M2</a:t>
              </a:r>
              <a:endParaRPr/>
            </a:p>
          </p:txBody>
        </p:sp>
        <p:sp>
          <p:nvSpPr>
            <p:cNvPr id="651" name="Google Shape;651;p28"/>
            <p:cNvSpPr txBox="1"/>
            <p:nvPr/>
          </p:nvSpPr>
          <p:spPr>
            <a:xfrm>
              <a:off x="5268876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Q3</a:t>
              </a:r>
              <a:endParaRPr/>
            </a:p>
          </p:txBody>
        </p:sp>
        <p:sp>
          <p:nvSpPr>
            <p:cNvPr id="652" name="Google Shape;652;p28"/>
            <p:cNvSpPr txBox="1"/>
            <p:nvPr/>
          </p:nvSpPr>
          <p:spPr>
            <a:xfrm>
              <a:off x="5742360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M4</a:t>
              </a:r>
              <a:endParaRPr/>
            </a:p>
          </p:txBody>
        </p:sp>
        <p:sp>
          <p:nvSpPr>
            <p:cNvPr id="653" name="Google Shape;653;p28"/>
            <p:cNvSpPr txBox="1"/>
            <p:nvPr/>
          </p:nvSpPr>
          <p:spPr>
            <a:xfrm>
              <a:off x="6298138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M5</a:t>
              </a:r>
              <a:endParaRPr/>
            </a:p>
          </p:txBody>
        </p:sp>
        <p:sp>
          <p:nvSpPr>
            <p:cNvPr id="654" name="Google Shape;654;p28"/>
            <p:cNvSpPr txBox="1"/>
            <p:nvPr/>
          </p:nvSpPr>
          <p:spPr>
            <a:xfrm>
              <a:off x="6843329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M6</a:t>
              </a:r>
              <a:endParaRPr/>
            </a:p>
          </p:txBody>
        </p:sp>
        <p:sp>
          <p:nvSpPr>
            <p:cNvPr id="655" name="Google Shape;655;p28"/>
            <p:cNvSpPr txBox="1"/>
            <p:nvPr/>
          </p:nvSpPr>
          <p:spPr>
            <a:xfrm>
              <a:off x="7350701" y="0"/>
              <a:ext cx="49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Q7</a:t>
              </a:r>
              <a:endParaRPr/>
            </a:p>
          </p:txBody>
        </p:sp>
      </p:grpSp>
      <p:sp>
        <p:nvSpPr>
          <p:cNvPr id="656" name="Google Shape;656;p28"/>
          <p:cNvSpPr/>
          <p:nvPr/>
        </p:nvSpPr>
        <p:spPr>
          <a:xfrm>
            <a:off x="3957650" y="4591340"/>
            <a:ext cx="5010300" cy="280200"/>
          </a:xfrm>
          <a:prstGeom prst="roundRect">
            <a:avLst>
              <a:gd fmla="val 10709" name="adj"/>
            </a:avLst>
          </a:prstGeom>
          <a:noFill/>
          <a:ln cap="flat" cmpd="sng" w="76200">
            <a:solidFill>
              <a:srgbClr val="4A86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8"/>
          <p:cNvSpPr txBox="1"/>
          <p:nvPr/>
        </p:nvSpPr>
        <p:spPr>
          <a:xfrm>
            <a:off x="6902700" y="52975"/>
            <a:ext cx="224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sz="1800" u="sng">
                <a:highlight>
                  <a:srgbClr val="FFE599"/>
                </a:highlight>
              </a:rPr>
              <a:t>Tabular Data</a:t>
            </a:r>
            <a:endParaRPr b="1" i="1" sz="1800" u="sng"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Similarity between tabular-data-format and AISPC</a:t>
            </a:r>
            <a:endParaRPr/>
          </a:p>
        </p:txBody>
      </p:sp>
      <p:grpSp>
        <p:nvGrpSpPr>
          <p:cNvPr id="663" name="Google Shape;663;p29"/>
          <p:cNvGrpSpPr/>
          <p:nvPr/>
        </p:nvGrpSpPr>
        <p:grpSpPr>
          <a:xfrm>
            <a:off x="278200" y="975350"/>
            <a:ext cx="3142050" cy="1195500"/>
            <a:chOff x="278200" y="975350"/>
            <a:chExt cx="3142050" cy="1195500"/>
          </a:xfrm>
        </p:grpSpPr>
        <p:cxnSp>
          <p:nvCxnSpPr>
            <p:cNvPr id="664" name="Google Shape;664;p29"/>
            <p:cNvCxnSpPr/>
            <p:nvPr/>
          </p:nvCxnSpPr>
          <p:spPr>
            <a:xfrm rot="10800000">
              <a:off x="1075200" y="1323650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65" name="Google Shape;665;p29"/>
            <p:cNvCxnSpPr/>
            <p:nvPr/>
          </p:nvCxnSpPr>
          <p:spPr>
            <a:xfrm>
              <a:off x="1067650" y="2170850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66" name="Google Shape;666;p29"/>
            <p:cNvSpPr/>
            <p:nvPr/>
          </p:nvSpPr>
          <p:spPr>
            <a:xfrm>
              <a:off x="1203800" y="1352805"/>
              <a:ext cx="2072525" cy="759900"/>
            </a:xfrm>
            <a:custGeom>
              <a:rect b="b" l="l" r="r" t="t"/>
              <a:pathLst>
                <a:path extrusionOk="0" h="30396" w="82901">
                  <a:moveTo>
                    <a:pt x="0" y="25764"/>
                  </a:moveTo>
                  <a:cubicBezTo>
                    <a:pt x="807" y="26067"/>
                    <a:pt x="3278" y="27529"/>
                    <a:pt x="4841" y="27579"/>
                  </a:cubicBezTo>
                  <a:cubicBezTo>
                    <a:pt x="6404" y="27629"/>
                    <a:pt x="7765" y="25915"/>
                    <a:pt x="9379" y="26066"/>
                  </a:cubicBezTo>
                  <a:cubicBezTo>
                    <a:pt x="10993" y="26217"/>
                    <a:pt x="12809" y="28588"/>
                    <a:pt x="14523" y="28487"/>
                  </a:cubicBezTo>
                  <a:cubicBezTo>
                    <a:pt x="16238" y="28386"/>
                    <a:pt x="17851" y="25713"/>
                    <a:pt x="19666" y="25461"/>
                  </a:cubicBezTo>
                  <a:cubicBezTo>
                    <a:pt x="21481" y="25209"/>
                    <a:pt x="23701" y="26419"/>
                    <a:pt x="25415" y="26974"/>
                  </a:cubicBezTo>
                  <a:cubicBezTo>
                    <a:pt x="27130" y="27529"/>
                    <a:pt x="27835" y="28739"/>
                    <a:pt x="29953" y="28789"/>
                  </a:cubicBezTo>
                  <a:cubicBezTo>
                    <a:pt x="32071" y="28839"/>
                    <a:pt x="35197" y="27276"/>
                    <a:pt x="38122" y="27276"/>
                  </a:cubicBezTo>
                  <a:cubicBezTo>
                    <a:pt x="41047" y="27276"/>
                    <a:pt x="45181" y="33025"/>
                    <a:pt x="47501" y="28789"/>
                  </a:cubicBezTo>
                  <a:cubicBezTo>
                    <a:pt x="49821" y="24553"/>
                    <a:pt x="49519" y="6248"/>
                    <a:pt x="52040" y="1861"/>
                  </a:cubicBezTo>
                  <a:cubicBezTo>
                    <a:pt x="54561" y="-2526"/>
                    <a:pt x="60410" y="2669"/>
                    <a:pt x="62629" y="2467"/>
                  </a:cubicBezTo>
                  <a:cubicBezTo>
                    <a:pt x="64848" y="2265"/>
                    <a:pt x="63789" y="651"/>
                    <a:pt x="65352" y="651"/>
                  </a:cubicBezTo>
                  <a:cubicBezTo>
                    <a:pt x="66915" y="651"/>
                    <a:pt x="70143" y="2467"/>
                    <a:pt x="72009" y="2467"/>
                  </a:cubicBezTo>
                  <a:cubicBezTo>
                    <a:pt x="73875" y="2467"/>
                    <a:pt x="74732" y="651"/>
                    <a:pt x="76547" y="651"/>
                  </a:cubicBezTo>
                  <a:cubicBezTo>
                    <a:pt x="78362" y="651"/>
                    <a:pt x="81842" y="2164"/>
                    <a:pt x="82901" y="246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7" name="Google Shape;667;p29"/>
            <p:cNvSpPr/>
            <p:nvPr/>
          </p:nvSpPr>
          <p:spPr>
            <a:xfrm>
              <a:off x="1573875" y="193640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9"/>
            <p:cNvSpPr txBox="1"/>
            <p:nvPr/>
          </p:nvSpPr>
          <p:spPr>
            <a:xfrm>
              <a:off x="1487025" y="158495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69" name="Google Shape;669;p29"/>
            <p:cNvSpPr/>
            <p:nvPr/>
          </p:nvSpPr>
          <p:spPr>
            <a:xfrm>
              <a:off x="2088225" y="193640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9"/>
            <p:cNvSpPr txBox="1"/>
            <p:nvPr/>
          </p:nvSpPr>
          <p:spPr>
            <a:xfrm>
              <a:off x="2001375" y="158495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B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2876550" y="132680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9"/>
            <p:cNvSpPr txBox="1"/>
            <p:nvPr/>
          </p:nvSpPr>
          <p:spPr>
            <a:xfrm>
              <a:off x="2789700" y="97535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73" name="Google Shape;673;p29"/>
            <p:cNvSpPr txBox="1"/>
            <p:nvPr/>
          </p:nvSpPr>
          <p:spPr>
            <a:xfrm>
              <a:off x="278200" y="1584950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1</a:t>
              </a:r>
              <a:endParaRPr baseline="-25000" sz="2000"/>
            </a:p>
          </p:txBody>
        </p:sp>
        <p:sp>
          <p:nvSpPr>
            <p:cNvPr id="674" name="Google Shape;674;p29"/>
            <p:cNvSpPr txBox="1"/>
            <p:nvPr/>
          </p:nvSpPr>
          <p:spPr>
            <a:xfrm>
              <a:off x="549550" y="1191050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#req</a:t>
              </a:r>
              <a:endParaRPr/>
            </a:p>
          </p:txBody>
        </p:sp>
      </p:grpSp>
      <p:grpSp>
        <p:nvGrpSpPr>
          <p:cNvPr id="675" name="Google Shape;675;p29"/>
          <p:cNvGrpSpPr/>
          <p:nvPr/>
        </p:nvGrpSpPr>
        <p:grpSpPr>
          <a:xfrm>
            <a:off x="278200" y="2481125"/>
            <a:ext cx="3142050" cy="1119300"/>
            <a:chOff x="278200" y="2481125"/>
            <a:chExt cx="3142050" cy="1119300"/>
          </a:xfrm>
        </p:grpSpPr>
        <p:cxnSp>
          <p:nvCxnSpPr>
            <p:cNvPr id="676" name="Google Shape;676;p29"/>
            <p:cNvCxnSpPr/>
            <p:nvPr/>
          </p:nvCxnSpPr>
          <p:spPr>
            <a:xfrm rot="10800000">
              <a:off x="1075200" y="2753225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77" name="Google Shape;677;p29"/>
            <p:cNvCxnSpPr/>
            <p:nvPr/>
          </p:nvCxnSpPr>
          <p:spPr>
            <a:xfrm>
              <a:off x="1067650" y="3600425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78" name="Google Shape;678;p29"/>
            <p:cNvSpPr/>
            <p:nvPr/>
          </p:nvSpPr>
          <p:spPr>
            <a:xfrm>
              <a:off x="1203800" y="2904511"/>
              <a:ext cx="2045900" cy="634375"/>
            </a:xfrm>
            <a:custGeom>
              <a:rect b="b" l="l" r="r" t="t"/>
              <a:pathLst>
                <a:path extrusionOk="0" h="25375" w="81836">
                  <a:moveTo>
                    <a:pt x="0" y="20879"/>
                  </a:moveTo>
                  <a:cubicBezTo>
                    <a:pt x="807" y="21182"/>
                    <a:pt x="3278" y="22644"/>
                    <a:pt x="4841" y="22694"/>
                  </a:cubicBezTo>
                  <a:cubicBezTo>
                    <a:pt x="6404" y="22744"/>
                    <a:pt x="7765" y="21030"/>
                    <a:pt x="9379" y="21181"/>
                  </a:cubicBezTo>
                  <a:cubicBezTo>
                    <a:pt x="10993" y="21332"/>
                    <a:pt x="13036" y="27132"/>
                    <a:pt x="14523" y="23602"/>
                  </a:cubicBezTo>
                  <a:cubicBezTo>
                    <a:pt x="16010" y="20072"/>
                    <a:pt x="16484" y="255"/>
                    <a:pt x="18299" y="3"/>
                  </a:cubicBezTo>
                  <a:cubicBezTo>
                    <a:pt x="20114" y="-249"/>
                    <a:pt x="23473" y="18106"/>
                    <a:pt x="25415" y="22089"/>
                  </a:cubicBezTo>
                  <a:cubicBezTo>
                    <a:pt x="27357" y="26073"/>
                    <a:pt x="28063" y="26123"/>
                    <a:pt x="29953" y="23904"/>
                  </a:cubicBezTo>
                  <a:cubicBezTo>
                    <a:pt x="31843" y="21685"/>
                    <a:pt x="33830" y="8777"/>
                    <a:pt x="36755" y="8777"/>
                  </a:cubicBezTo>
                  <a:cubicBezTo>
                    <a:pt x="39680" y="8777"/>
                    <a:pt x="44828" y="21887"/>
                    <a:pt x="47501" y="23904"/>
                  </a:cubicBezTo>
                  <a:cubicBezTo>
                    <a:pt x="50174" y="25921"/>
                    <a:pt x="50800" y="21232"/>
                    <a:pt x="52791" y="20879"/>
                  </a:cubicBezTo>
                  <a:cubicBezTo>
                    <a:pt x="54782" y="20526"/>
                    <a:pt x="57481" y="21686"/>
                    <a:pt x="59447" y="21787"/>
                  </a:cubicBezTo>
                  <a:cubicBezTo>
                    <a:pt x="61414" y="21888"/>
                    <a:pt x="62775" y="21585"/>
                    <a:pt x="64590" y="21484"/>
                  </a:cubicBezTo>
                  <a:cubicBezTo>
                    <a:pt x="66405" y="21383"/>
                    <a:pt x="68524" y="21232"/>
                    <a:pt x="70339" y="21182"/>
                  </a:cubicBezTo>
                  <a:cubicBezTo>
                    <a:pt x="72155" y="21132"/>
                    <a:pt x="73567" y="21182"/>
                    <a:pt x="75483" y="21182"/>
                  </a:cubicBezTo>
                  <a:cubicBezTo>
                    <a:pt x="77399" y="21182"/>
                    <a:pt x="80777" y="21182"/>
                    <a:pt x="81836" y="2118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9" name="Google Shape;679;p29"/>
            <p:cNvSpPr/>
            <p:nvPr/>
          </p:nvSpPr>
          <p:spPr>
            <a:xfrm>
              <a:off x="1573875" y="2832575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9"/>
            <p:cNvSpPr txBox="1"/>
            <p:nvPr/>
          </p:nvSpPr>
          <p:spPr>
            <a:xfrm>
              <a:off x="1487025" y="2481125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81" name="Google Shape;681;p29"/>
            <p:cNvSpPr/>
            <p:nvPr/>
          </p:nvSpPr>
          <p:spPr>
            <a:xfrm>
              <a:off x="2088225" y="3053611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9"/>
            <p:cNvSpPr txBox="1"/>
            <p:nvPr/>
          </p:nvSpPr>
          <p:spPr>
            <a:xfrm>
              <a:off x="2001375" y="2702161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B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83" name="Google Shape;683;p29"/>
            <p:cNvSpPr/>
            <p:nvPr/>
          </p:nvSpPr>
          <p:spPr>
            <a:xfrm>
              <a:off x="2876550" y="3365975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9"/>
            <p:cNvSpPr txBox="1"/>
            <p:nvPr/>
          </p:nvSpPr>
          <p:spPr>
            <a:xfrm>
              <a:off x="2789700" y="3014525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85" name="Google Shape;685;p29"/>
            <p:cNvSpPr txBox="1"/>
            <p:nvPr/>
          </p:nvSpPr>
          <p:spPr>
            <a:xfrm>
              <a:off x="278200" y="3014525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2</a:t>
              </a:r>
              <a:endParaRPr baseline="-25000" sz="2000"/>
            </a:p>
          </p:txBody>
        </p:sp>
        <p:sp>
          <p:nvSpPr>
            <p:cNvPr id="686" name="Google Shape;686;p29"/>
            <p:cNvSpPr txBox="1"/>
            <p:nvPr/>
          </p:nvSpPr>
          <p:spPr>
            <a:xfrm>
              <a:off x="549550" y="2620625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#err</a:t>
              </a:r>
              <a:endParaRPr/>
            </a:p>
          </p:txBody>
        </p:sp>
      </p:grpSp>
      <p:grpSp>
        <p:nvGrpSpPr>
          <p:cNvPr id="687" name="Google Shape;687;p29"/>
          <p:cNvGrpSpPr/>
          <p:nvPr/>
        </p:nvGrpSpPr>
        <p:grpSpPr>
          <a:xfrm>
            <a:off x="278200" y="3834500"/>
            <a:ext cx="3142050" cy="1195500"/>
            <a:chOff x="278200" y="3834500"/>
            <a:chExt cx="3142050" cy="1195500"/>
          </a:xfrm>
        </p:grpSpPr>
        <p:cxnSp>
          <p:nvCxnSpPr>
            <p:cNvPr id="688" name="Google Shape;688;p29"/>
            <p:cNvCxnSpPr/>
            <p:nvPr/>
          </p:nvCxnSpPr>
          <p:spPr>
            <a:xfrm rot="10800000">
              <a:off x="1075200" y="4182800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89" name="Google Shape;689;p29"/>
            <p:cNvCxnSpPr/>
            <p:nvPr/>
          </p:nvCxnSpPr>
          <p:spPr>
            <a:xfrm>
              <a:off x="1067650" y="5030000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0" name="Google Shape;690;p29"/>
            <p:cNvSpPr/>
            <p:nvPr/>
          </p:nvSpPr>
          <p:spPr>
            <a:xfrm>
              <a:off x="1203800" y="4214333"/>
              <a:ext cx="2072525" cy="759725"/>
            </a:xfrm>
            <a:custGeom>
              <a:rect b="b" l="l" r="r" t="t"/>
              <a:pathLst>
                <a:path extrusionOk="0" h="30389" w="82901">
                  <a:moveTo>
                    <a:pt x="0" y="25669"/>
                  </a:moveTo>
                  <a:cubicBezTo>
                    <a:pt x="807" y="25972"/>
                    <a:pt x="3278" y="27434"/>
                    <a:pt x="4841" y="27484"/>
                  </a:cubicBezTo>
                  <a:cubicBezTo>
                    <a:pt x="6404" y="27534"/>
                    <a:pt x="7765" y="25820"/>
                    <a:pt x="9379" y="25971"/>
                  </a:cubicBezTo>
                  <a:cubicBezTo>
                    <a:pt x="10993" y="26122"/>
                    <a:pt x="13289" y="32426"/>
                    <a:pt x="14523" y="28392"/>
                  </a:cubicBezTo>
                  <a:cubicBezTo>
                    <a:pt x="15758" y="24358"/>
                    <a:pt x="14971" y="2020"/>
                    <a:pt x="16786" y="1768"/>
                  </a:cubicBezTo>
                  <a:cubicBezTo>
                    <a:pt x="18601" y="1516"/>
                    <a:pt x="23221" y="22391"/>
                    <a:pt x="25415" y="26879"/>
                  </a:cubicBezTo>
                  <a:cubicBezTo>
                    <a:pt x="27610" y="31367"/>
                    <a:pt x="27962" y="31064"/>
                    <a:pt x="29953" y="28694"/>
                  </a:cubicBezTo>
                  <a:cubicBezTo>
                    <a:pt x="31944" y="26324"/>
                    <a:pt x="34435" y="12660"/>
                    <a:pt x="37360" y="12660"/>
                  </a:cubicBezTo>
                  <a:cubicBezTo>
                    <a:pt x="40285" y="12660"/>
                    <a:pt x="45054" y="30510"/>
                    <a:pt x="47501" y="28694"/>
                  </a:cubicBezTo>
                  <a:cubicBezTo>
                    <a:pt x="49948" y="26878"/>
                    <a:pt x="49519" y="6153"/>
                    <a:pt x="52040" y="1766"/>
                  </a:cubicBezTo>
                  <a:cubicBezTo>
                    <a:pt x="54561" y="-2621"/>
                    <a:pt x="60410" y="2574"/>
                    <a:pt x="62629" y="2372"/>
                  </a:cubicBezTo>
                  <a:cubicBezTo>
                    <a:pt x="64848" y="2170"/>
                    <a:pt x="63789" y="556"/>
                    <a:pt x="65352" y="556"/>
                  </a:cubicBezTo>
                  <a:cubicBezTo>
                    <a:pt x="66915" y="556"/>
                    <a:pt x="70143" y="2372"/>
                    <a:pt x="72009" y="2372"/>
                  </a:cubicBezTo>
                  <a:cubicBezTo>
                    <a:pt x="73875" y="2372"/>
                    <a:pt x="74732" y="556"/>
                    <a:pt x="76547" y="556"/>
                  </a:cubicBezTo>
                  <a:cubicBezTo>
                    <a:pt x="78362" y="556"/>
                    <a:pt x="81842" y="2069"/>
                    <a:pt x="82901" y="237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91" name="Google Shape;691;p29"/>
            <p:cNvSpPr/>
            <p:nvPr/>
          </p:nvSpPr>
          <p:spPr>
            <a:xfrm>
              <a:off x="1573875" y="4231334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9"/>
            <p:cNvSpPr txBox="1"/>
            <p:nvPr/>
          </p:nvSpPr>
          <p:spPr>
            <a:xfrm>
              <a:off x="1487025" y="3879884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93" name="Google Shape;693;p29"/>
            <p:cNvSpPr/>
            <p:nvPr/>
          </p:nvSpPr>
          <p:spPr>
            <a:xfrm>
              <a:off x="2088225" y="4483186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9"/>
            <p:cNvSpPr txBox="1"/>
            <p:nvPr/>
          </p:nvSpPr>
          <p:spPr>
            <a:xfrm>
              <a:off x="2001375" y="4131736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B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95" name="Google Shape;695;p29"/>
            <p:cNvSpPr/>
            <p:nvPr/>
          </p:nvSpPr>
          <p:spPr>
            <a:xfrm>
              <a:off x="2876550" y="418595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9"/>
            <p:cNvSpPr txBox="1"/>
            <p:nvPr/>
          </p:nvSpPr>
          <p:spPr>
            <a:xfrm>
              <a:off x="2789700" y="383450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97" name="Google Shape;697;p29"/>
            <p:cNvSpPr txBox="1"/>
            <p:nvPr/>
          </p:nvSpPr>
          <p:spPr>
            <a:xfrm>
              <a:off x="278200" y="4444100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T</a:t>
              </a:r>
              <a:endParaRPr baseline="-25000" sz="2000"/>
            </a:p>
          </p:txBody>
        </p:sp>
        <p:sp>
          <p:nvSpPr>
            <p:cNvPr id="698" name="Google Shape;698;p29"/>
            <p:cNvSpPr txBox="1"/>
            <p:nvPr/>
          </p:nvSpPr>
          <p:spPr>
            <a:xfrm>
              <a:off x="549550" y="4050200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cpu</a:t>
              </a:r>
              <a:endParaRPr/>
            </a:p>
          </p:txBody>
        </p:sp>
      </p:grpSp>
      <p:grpSp>
        <p:nvGrpSpPr>
          <p:cNvPr id="699" name="Google Shape;699;p29"/>
          <p:cNvGrpSpPr/>
          <p:nvPr/>
        </p:nvGrpSpPr>
        <p:grpSpPr>
          <a:xfrm>
            <a:off x="5646675" y="975350"/>
            <a:ext cx="3142050" cy="1195500"/>
            <a:chOff x="5646675" y="975350"/>
            <a:chExt cx="3142050" cy="1195500"/>
          </a:xfrm>
        </p:grpSpPr>
        <p:cxnSp>
          <p:nvCxnSpPr>
            <p:cNvPr id="700" name="Google Shape;700;p29"/>
            <p:cNvCxnSpPr/>
            <p:nvPr/>
          </p:nvCxnSpPr>
          <p:spPr>
            <a:xfrm rot="10800000">
              <a:off x="6443675" y="1323650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01" name="Google Shape;701;p29"/>
            <p:cNvCxnSpPr/>
            <p:nvPr/>
          </p:nvCxnSpPr>
          <p:spPr>
            <a:xfrm>
              <a:off x="6436125" y="2170850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02" name="Google Shape;702;p29"/>
            <p:cNvSpPr/>
            <p:nvPr/>
          </p:nvSpPr>
          <p:spPr>
            <a:xfrm>
              <a:off x="6942350" y="193640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9"/>
            <p:cNvSpPr txBox="1"/>
            <p:nvPr/>
          </p:nvSpPr>
          <p:spPr>
            <a:xfrm>
              <a:off x="6855500" y="158495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8245025" y="132680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9"/>
            <p:cNvSpPr txBox="1"/>
            <p:nvPr/>
          </p:nvSpPr>
          <p:spPr>
            <a:xfrm>
              <a:off x="8158175" y="97535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706" name="Google Shape;706;p29"/>
            <p:cNvSpPr txBox="1"/>
            <p:nvPr/>
          </p:nvSpPr>
          <p:spPr>
            <a:xfrm>
              <a:off x="5646675" y="1584950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1</a:t>
              </a:r>
              <a:endParaRPr baseline="-25000" sz="2000"/>
            </a:p>
          </p:txBody>
        </p:sp>
        <p:sp>
          <p:nvSpPr>
            <p:cNvPr id="707" name="Google Shape;707;p29"/>
            <p:cNvSpPr txBox="1"/>
            <p:nvPr/>
          </p:nvSpPr>
          <p:spPr>
            <a:xfrm>
              <a:off x="5918025" y="1191050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#req</a:t>
              </a:r>
              <a:endParaRPr/>
            </a:p>
          </p:txBody>
        </p:sp>
      </p:grpSp>
      <p:grpSp>
        <p:nvGrpSpPr>
          <p:cNvPr id="708" name="Google Shape;708;p29"/>
          <p:cNvGrpSpPr/>
          <p:nvPr/>
        </p:nvGrpSpPr>
        <p:grpSpPr>
          <a:xfrm>
            <a:off x="5646675" y="2481125"/>
            <a:ext cx="3142050" cy="1119300"/>
            <a:chOff x="5646675" y="2481125"/>
            <a:chExt cx="3142050" cy="1119300"/>
          </a:xfrm>
        </p:grpSpPr>
        <p:cxnSp>
          <p:nvCxnSpPr>
            <p:cNvPr id="709" name="Google Shape;709;p29"/>
            <p:cNvCxnSpPr/>
            <p:nvPr/>
          </p:nvCxnSpPr>
          <p:spPr>
            <a:xfrm rot="10800000">
              <a:off x="6443675" y="2753225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10" name="Google Shape;710;p29"/>
            <p:cNvCxnSpPr/>
            <p:nvPr/>
          </p:nvCxnSpPr>
          <p:spPr>
            <a:xfrm>
              <a:off x="6436125" y="3600425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11" name="Google Shape;711;p29"/>
            <p:cNvSpPr/>
            <p:nvPr/>
          </p:nvSpPr>
          <p:spPr>
            <a:xfrm>
              <a:off x="6942350" y="2832575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9"/>
            <p:cNvSpPr txBox="1"/>
            <p:nvPr/>
          </p:nvSpPr>
          <p:spPr>
            <a:xfrm>
              <a:off x="6855500" y="2481125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713" name="Google Shape;713;p29"/>
            <p:cNvSpPr/>
            <p:nvPr/>
          </p:nvSpPr>
          <p:spPr>
            <a:xfrm>
              <a:off x="8245025" y="3365975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9"/>
            <p:cNvSpPr txBox="1"/>
            <p:nvPr/>
          </p:nvSpPr>
          <p:spPr>
            <a:xfrm>
              <a:off x="8158175" y="3014525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715" name="Google Shape;715;p29"/>
            <p:cNvSpPr txBox="1"/>
            <p:nvPr/>
          </p:nvSpPr>
          <p:spPr>
            <a:xfrm>
              <a:off x="5646675" y="3014525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2</a:t>
              </a:r>
              <a:endParaRPr baseline="-25000" sz="2000"/>
            </a:p>
          </p:txBody>
        </p:sp>
        <p:sp>
          <p:nvSpPr>
            <p:cNvPr id="716" name="Google Shape;716;p29"/>
            <p:cNvSpPr txBox="1"/>
            <p:nvPr/>
          </p:nvSpPr>
          <p:spPr>
            <a:xfrm>
              <a:off x="5918025" y="2620625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#err</a:t>
              </a:r>
              <a:endParaRPr/>
            </a:p>
          </p:txBody>
        </p:sp>
      </p:grpSp>
      <p:grpSp>
        <p:nvGrpSpPr>
          <p:cNvPr id="717" name="Google Shape;717;p29"/>
          <p:cNvGrpSpPr/>
          <p:nvPr/>
        </p:nvGrpSpPr>
        <p:grpSpPr>
          <a:xfrm>
            <a:off x="5646675" y="3834500"/>
            <a:ext cx="3142050" cy="1195500"/>
            <a:chOff x="5646675" y="3834500"/>
            <a:chExt cx="3142050" cy="1195500"/>
          </a:xfrm>
        </p:grpSpPr>
        <p:cxnSp>
          <p:nvCxnSpPr>
            <p:cNvPr id="718" name="Google Shape;718;p29"/>
            <p:cNvCxnSpPr/>
            <p:nvPr/>
          </p:nvCxnSpPr>
          <p:spPr>
            <a:xfrm rot="10800000">
              <a:off x="6443675" y="4182800"/>
              <a:ext cx="0" cy="8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19" name="Google Shape;719;p29"/>
            <p:cNvCxnSpPr/>
            <p:nvPr/>
          </p:nvCxnSpPr>
          <p:spPr>
            <a:xfrm>
              <a:off x="6436125" y="5030000"/>
              <a:ext cx="235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20" name="Google Shape;720;p29"/>
            <p:cNvSpPr/>
            <p:nvPr/>
          </p:nvSpPr>
          <p:spPr>
            <a:xfrm>
              <a:off x="6942350" y="4231334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9"/>
            <p:cNvSpPr txBox="1"/>
            <p:nvPr/>
          </p:nvSpPr>
          <p:spPr>
            <a:xfrm>
              <a:off x="6855500" y="3879884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A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8245025" y="4185950"/>
              <a:ext cx="128700" cy="128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9"/>
            <p:cNvSpPr txBox="1"/>
            <p:nvPr/>
          </p:nvSpPr>
          <p:spPr>
            <a:xfrm>
              <a:off x="8158175" y="3834500"/>
              <a:ext cx="30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rgbClr val="FF0000"/>
                  </a:solidFill>
                </a:rPr>
                <a:t>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724" name="Google Shape;724;p29"/>
            <p:cNvSpPr txBox="1"/>
            <p:nvPr/>
          </p:nvSpPr>
          <p:spPr>
            <a:xfrm>
              <a:off x="5646675" y="4444100"/>
              <a:ext cx="36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/>
                <a:t>f</a:t>
              </a:r>
              <a:r>
                <a:rPr baseline="-25000" lang="zh-TW" sz="2000"/>
                <a:t>T</a:t>
              </a:r>
              <a:endParaRPr baseline="-25000" sz="2000"/>
            </a:p>
          </p:txBody>
        </p:sp>
        <p:sp>
          <p:nvSpPr>
            <p:cNvPr id="725" name="Google Shape;725;p29"/>
            <p:cNvSpPr txBox="1"/>
            <p:nvPr/>
          </p:nvSpPr>
          <p:spPr>
            <a:xfrm>
              <a:off x="5918025" y="4050200"/>
              <a:ext cx="58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cpu</a:t>
              </a:r>
              <a:endParaRPr/>
            </a:p>
          </p:txBody>
        </p:sp>
      </p:grpSp>
      <p:grpSp>
        <p:nvGrpSpPr>
          <p:cNvPr id="726" name="Google Shape;726;p29"/>
          <p:cNvGrpSpPr/>
          <p:nvPr/>
        </p:nvGrpSpPr>
        <p:grpSpPr>
          <a:xfrm>
            <a:off x="3831625" y="2119188"/>
            <a:ext cx="1364300" cy="1329900"/>
            <a:chOff x="4073650" y="1574588"/>
            <a:chExt cx="1364300" cy="1329900"/>
          </a:xfrm>
        </p:grpSpPr>
        <p:sp>
          <p:nvSpPr>
            <p:cNvPr id="727" name="Google Shape;727;p29"/>
            <p:cNvSpPr/>
            <p:nvPr/>
          </p:nvSpPr>
          <p:spPr>
            <a:xfrm>
              <a:off x="4073650" y="1574588"/>
              <a:ext cx="513300" cy="51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dk1"/>
                  </a:solidFill>
                </a:rPr>
                <a:t>f</a:t>
              </a:r>
              <a:r>
                <a:rPr baseline="-25000" lang="zh-TW" sz="2000">
                  <a:solidFill>
                    <a:schemeClr val="dk1"/>
                  </a:solidFill>
                </a:rPr>
                <a:t>1</a:t>
              </a:r>
              <a:endParaRPr/>
            </a:p>
          </p:txBody>
        </p:sp>
        <p:sp>
          <p:nvSpPr>
            <p:cNvPr id="728" name="Google Shape;728;p29"/>
            <p:cNvSpPr/>
            <p:nvPr/>
          </p:nvSpPr>
          <p:spPr>
            <a:xfrm>
              <a:off x="4073650" y="2391188"/>
              <a:ext cx="513300" cy="51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dk1"/>
                  </a:solidFill>
                </a:rPr>
                <a:t>f</a:t>
              </a:r>
              <a:r>
                <a:rPr baseline="-25000" lang="zh-TW" sz="2000">
                  <a:solidFill>
                    <a:schemeClr val="dk1"/>
                  </a:solidFill>
                </a:rPr>
                <a:t>2</a:t>
              </a:r>
              <a:endParaRPr/>
            </a:p>
          </p:txBody>
        </p:sp>
        <p:sp>
          <p:nvSpPr>
            <p:cNvPr id="729" name="Google Shape;729;p29"/>
            <p:cNvSpPr/>
            <p:nvPr/>
          </p:nvSpPr>
          <p:spPr>
            <a:xfrm>
              <a:off x="4924650" y="1985138"/>
              <a:ext cx="513300" cy="51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dk1"/>
                  </a:solidFill>
                </a:rPr>
                <a:t>f</a:t>
              </a:r>
              <a:r>
                <a:rPr baseline="-25000" lang="zh-TW" sz="2000">
                  <a:solidFill>
                    <a:schemeClr val="dk1"/>
                  </a:solidFill>
                </a:rPr>
                <a:t>T</a:t>
              </a:r>
              <a:endParaRPr/>
            </a:p>
          </p:txBody>
        </p:sp>
        <p:cxnSp>
          <p:nvCxnSpPr>
            <p:cNvPr id="730" name="Google Shape;730;p29"/>
            <p:cNvCxnSpPr>
              <a:stCxn id="727" idx="6"/>
              <a:endCxn id="729" idx="1"/>
            </p:cNvCxnSpPr>
            <p:nvPr/>
          </p:nvCxnSpPr>
          <p:spPr>
            <a:xfrm>
              <a:off x="4586950" y="1831238"/>
              <a:ext cx="412800" cy="22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31" name="Google Shape;731;p29"/>
            <p:cNvCxnSpPr>
              <a:stCxn id="728" idx="6"/>
              <a:endCxn id="729" idx="3"/>
            </p:cNvCxnSpPr>
            <p:nvPr/>
          </p:nvCxnSpPr>
          <p:spPr>
            <a:xfrm flipH="1" rot="10800000">
              <a:off x="4586950" y="2423138"/>
              <a:ext cx="4128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732" name="Google Shape;732;p29"/>
          <p:cNvSpPr txBox="1"/>
          <p:nvPr/>
        </p:nvSpPr>
        <p:spPr>
          <a:xfrm>
            <a:off x="3630700" y="4145050"/>
            <a:ext cx="1959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highlight>
                  <a:srgbClr val="FFFF00"/>
                </a:highlight>
              </a:rPr>
              <a:t>The root cause of C should be different from A's root cause.</a:t>
            </a:r>
            <a:endParaRPr b="1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RCA vs. Causal Learning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Connections</a:t>
            </a:r>
            <a:endParaRPr/>
          </a:p>
        </p:txBody>
      </p:sp>
      <p:sp>
        <p:nvSpPr>
          <p:cNvPr id="743" name="Google Shape;74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Causal Inference ⟷ Root Cause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(CIRCA) Causal Inference-Based Root Cause Analysis for </a:t>
            </a:r>
            <a:r>
              <a:rPr lang="zh-TW">
                <a:highlight>
                  <a:srgbClr val="FFFF00"/>
                </a:highlight>
              </a:rPr>
              <a:t>Online Service Systems</a:t>
            </a:r>
            <a:r>
              <a:rPr lang="zh-TW"/>
              <a:t> with Intervention Recognition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KDD 2022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Causal Discovery ⟷ Root Cause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(RCD) Root Cause Analysis of Failures in </a:t>
            </a:r>
            <a:r>
              <a:rPr lang="zh-TW">
                <a:highlight>
                  <a:srgbClr val="FFFF00"/>
                </a:highlight>
              </a:rPr>
              <a:t>Microservices</a:t>
            </a:r>
            <a:r>
              <a:rPr lang="zh-TW"/>
              <a:t> through Causal Discovery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NeruIPS 2022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9E9E9E"/>
              </a:buClr>
              <a:buSzPts val="1800"/>
              <a:buChar char="●"/>
            </a:pPr>
            <a:r>
              <a:rPr lang="zh-TW">
                <a:solidFill>
                  <a:srgbClr val="9E9E9E"/>
                </a:solidFill>
              </a:rPr>
              <a:t>SCM ⟷ GNN</a:t>
            </a:r>
            <a:endParaRPr>
              <a:solidFill>
                <a:srgbClr val="9E9E9E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400"/>
              <a:buChar char="○"/>
            </a:pPr>
            <a:r>
              <a:rPr lang="zh-TW">
                <a:solidFill>
                  <a:srgbClr val="9E9E9E"/>
                </a:solidFill>
              </a:rPr>
              <a:t>Relating Graph Neural Networks to Structural Causal Models</a:t>
            </a:r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Encountered at TSMC</a:t>
            </a:r>
            <a:endParaRPr/>
          </a:p>
        </p:txBody>
      </p:sp>
      <p:sp>
        <p:nvSpPr>
          <p:cNvPr id="749" name="Google Shape;74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Categorical and numerical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Out-of-vocabulary in categorical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Enormous</a:t>
            </a:r>
            <a:r>
              <a:rPr lang="zh-TW"/>
              <a:t> amount of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Missing Data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 Two-Stage Solution</a:t>
            </a:r>
            <a:endParaRPr/>
          </a:p>
        </p:txBody>
      </p:sp>
      <p:sp>
        <p:nvSpPr>
          <p:cNvPr id="755" name="Google Shape;755;p33"/>
          <p:cNvSpPr txBox="1"/>
          <p:nvPr>
            <p:ph idx="1" type="body"/>
          </p:nvPr>
        </p:nvSpPr>
        <p:spPr>
          <a:xfrm>
            <a:off x="311700" y="1152475"/>
            <a:ext cx="8520600" cy="38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(Causal Discovery) When creating the causal graph, we can add some constraints on edges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Some edges shouldn’t exist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next step → previous step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measurement step → manufacturing step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Some edges should exist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domain knowledge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(Causal Inference) Use learned [causal graph/…] to perform root cause analysis (RCA)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Evaluation (TBD)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Open </a:t>
            </a:r>
            <a:r>
              <a:rPr lang="zh-TW"/>
              <a:t>manufacturing </a:t>
            </a:r>
            <a:r>
              <a:rPr lang="zh-TW"/>
              <a:t>dataset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Open tabular dataset with self-added constraints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Synthetic dataset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