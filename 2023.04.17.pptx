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5D4EA37-5EB6-4A0B-888E-280559CC3A29}">
  <a:tblStyle styleId="{95D4EA37-5EB6-4A0B-888E-280559CC3A2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slide" Target="slides/slide13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20f19a2d99b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20f19a2d99b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20f1a2479b4_0_1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20f1a2479b4_0_1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20f1a2479b4_0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20f1a2479b4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20f1a2479b4_0_3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20f1a2479b4_0_3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22d7efc4aa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22d7efc4aa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22d7efc4aa4_0_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22d7efc4aa4_0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22c5255f597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22c5255f597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22c5255f597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7" name="Google Shape;277;g22c5255f597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g22e9208f611_1_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3" name="Google Shape;363;g22e9208f611_1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g22e9208f611_1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0" name="Google Shape;460;g22e9208f611_1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g22e9208f611_1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5" name="Google Shape;465;g22e9208f611_1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g22e9208f611_1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2" name="Google Shape;472;g22e9208f611_1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g22e9208f611_1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0" name="Google Shape;480;g22e9208f611_1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jpg"/><Relationship Id="rId4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Relationship Id="rId4" Type="http://schemas.openxmlformats.org/officeDocument/2006/relationships/hyperlink" Target="https://www.qualitygurus.com/causal-factors-vs-root-causes-what-is-the-difference/" TargetMode="Externa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hyperlink" Target="https://pediaa.com/what-is-the-difference-between-root-cause-and-contributing-factor/" TargetMode="External"/><Relationship Id="rId4" Type="http://schemas.openxmlformats.org/officeDocument/2006/relationships/image" Target="../media/image2.png"/><Relationship Id="rId5" Type="http://schemas.openxmlformats.org/officeDocument/2006/relationships/image" Target="../media/image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zh-TW"/>
              <a:t>2023 JDP –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AI Causality Inferences for TSMC Operations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550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zh-TW"/>
              <a:t>Advisor: Wen-Chih Peng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zh-TW"/>
              <a:t>Student: Zheng-Ming (Paul) Lin, Ching (Jason) Chang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Date: 2023/04/17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Outline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TW"/>
              <a:t>Problem Definition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TW"/>
              <a:t>RCA vs. Causal Learning</a:t>
            </a:r>
            <a:endParaRPr strike="sngStrike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Problem Definition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Problem Settings</a:t>
            </a:r>
            <a:endParaRPr/>
          </a:p>
        </p:txBody>
      </p:sp>
      <p:sp>
        <p:nvSpPr>
          <p:cNvPr id="72" name="Google Shape;72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graphicFrame>
        <p:nvGraphicFramePr>
          <p:cNvPr id="73" name="Google Shape;73;p16"/>
          <p:cNvGraphicFramePr/>
          <p:nvPr/>
        </p:nvGraphicFramePr>
        <p:xfrm>
          <a:off x="952500" y="1428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{95D4EA37-5EB6-4A0B-888E-280559CC3A29}</a:tableStyleId>
              </a:tblPr>
              <a:tblGrid>
                <a:gridCol w="2687000"/>
                <a:gridCol w="45520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Supervised or Unsupervised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rgbClr val="FF0000"/>
                          </a:solidFill>
                        </a:rPr>
                        <a:t>Unsupervised</a:t>
                      </a:r>
                      <a:endParaRPr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AD or RCA</a:t>
                      </a:r>
                      <a:endParaRPr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rgbClr val="FF0000"/>
                          </a:solidFill>
                        </a:rPr>
                        <a:t>RCA</a:t>
                      </a:r>
                      <a:endParaRPr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rgbClr val="9E9E9E"/>
                          </a:solidFill>
                        </a:rPr>
                        <a:t>Offline or Online</a:t>
                      </a:r>
                      <a:endParaRPr>
                        <a:solidFill>
                          <a:srgbClr val="9E9E9E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rgbClr val="9E9E9E"/>
                          </a:solidFill>
                        </a:rPr>
                        <a:t>Online</a:t>
                      </a:r>
                      <a:endParaRPr>
                        <a:solidFill>
                          <a:srgbClr val="9E9E9E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Data Format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Time-series</a:t>
                      </a:r>
                      <a:endParaRPr strike="sng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Individual or Group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Group (?)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Others</a:t>
                      </a:r>
                      <a:endParaRPr/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5"/>
                        </a:buClr>
                        <a:buSzPts val="1400"/>
                        <a:buAutoNum type="arabicPeriod"/>
                      </a:pPr>
                      <a:r>
                        <a:rPr lang="zh-TW">
                          <a:solidFill>
                            <a:schemeClr val="accent5"/>
                          </a:solidFill>
                        </a:rPr>
                        <a:t>Graph-based</a:t>
                      </a:r>
                      <a:endParaRPr>
                        <a:solidFill>
                          <a:schemeClr val="accent5"/>
                        </a:solidFill>
                      </a:endParaRPr>
                    </a:p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5"/>
                        </a:buClr>
                        <a:buSzPts val="1400"/>
                        <a:buAutoNum type="arabicPeriod"/>
                      </a:pPr>
                      <a:r>
                        <a:rPr lang="zh-TW">
                          <a:solidFill>
                            <a:schemeClr val="accent5"/>
                          </a:solidFill>
                        </a:rPr>
                        <a:t>GNN</a:t>
                      </a:r>
                      <a:endParaRPr>
                        <a:solidFill>
                          <a:schemeClr val="accent5"/>
                        </a:solidFill>
                      </a:endParaRPr>
                    </a:p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5"/>
                        </a:buClr>
                        <a:buSzPts val="1400"/>
                        <a:buAutoNum type="arabicPeriod"/>
                      </a:pPr>
                      <a:r>
                        <a:rPr lang="zh-TW">
                          <a:solidFill>
                            <a:schemeClr val="accent5"/>
                          </a:solidFill>
                        </a:rPr>
                        <a:t>Self-supervised Learning</a:t>
                      </a:r>
                      <a:endParaRPr>
                        <a:solidFill>
                          <a:schemeClr val="accent5"/>
                        </a:solidFill>
                      </a:endParaRPr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/>
          <p:nvPr/>
        </p:nvSpPr>
        <p:spPr>
          <a:xfrm>
            <a:off x="1626250" y="2690914"/>
            <a:ext cx="514500" cy="9426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17"/>
          <p:cNvSpPr/>
          <p:nvPr/>
        </p:nvSpPr>
        <p:spPr>
          <a:xfrm>
            <a:off x="1626250" y="1155250"/>
            <a:ext cx="514500" cy="14688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Input Format with Provided Dataset</a:t>
            </a:r>
            <a:endParaRPr/>
          </a:p>
        </p:txBody>
      </p:sp>
      <p:sp>
        <p:nvSpPr>
          <p:cNvPr id="81" name="Google Shape;81;p17"/>
          <p:cNvSpPr/>
          <p:nvPr/>
        </p:nvSpPr>
        <p:spPr>
          <a:xfrm>
            <a:off x="1732150" y="1748124"/>
            <a:ext cx="300600" cy="3006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7"/>
          <p:cNvSpPr/>
          <p:nvPr/>
        </p:nvSpPr>
        <p:spPr>
          <a:xfrm>
            <a:off x="1732150" y="2744923"/>
            <a:ext cx="300600" cy="3006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17"/>
          <p:cNvSpPr/>
          <p:nvPr/>
        </p:nvSpPr>
        <p:spPr>
          <a:xfrm>
            <a:off x="1732150" y="3836594"/>
            <a:ext cx="300600" cy="3006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17"/>
          <p:cNvSpPr/>
          <p:nvPr/>
        </p:nvSpPr>
        <p:spPr>
          <a:xfrm>
            <a:off x="1732150" y="3291026"/>
            <a:ext cx="300600" cy="3006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17"/>
          <p:cNvSpPr/>
          <p:nvPr/>
        </p:nvSpPr>
        <p:spPr>
          <a:xfrm>
            <a:off x="1732150" y="4347841"/>
            <a:ext cx="300600" cy="300600"/>
          </a:xfrm>
          <a:prstGeom prst="ellipse">
            <a:avLst/>
          </a:prstGeom>
          <a:solidFill>
            <a:srgbClr val="9E9E9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7"/>
          <p:cNvSpPr/>
          <p:nvPr/>
        </p:nvSpPr>
        <p:spPr>
          <a:xfrm>
            <a:off x="1732150" y="2265487"/>
            <a:ext cx="300600" cy="300600"/>
          </a:xfrm>
          <a:prstGeom prst="ellipse">
            <a:avLst/>
          </a:prstGeom>
          <a:solidFill>
            <a:srgbClr val="9E9E9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7" name="Google Shape;87;p17"/>
          <p:cNvCxnSpPr>
            <a:stCxn id="81" idx="4"/>
            <a:endCxn id="86" idx="0"/>
          </p:cNvCxnSpPr>
          <p:nvPr/>
        </p:nvCxnSpPr>
        <p:spPr>
          <a:xfrm>
            <a:off x="1882450" y="2048724"/>
            <a:ext cx="0" cy="216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8" name="Google Shape;88;p17"/>
          <p:cNvCxnSpPr>
            <a:stCxn id="86" idx="4"/>
            <a:endCxn id="82" idx="0"/>
          </p:cNvCxnSpPr>
          <p:nvPr/>
        </p:nvCxnSpPr>
        <p:spPr>
          <a:xfrm>
            <a:off x="1882450" y="2566087"/>
            <a:ext cx="0" cy="17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9" name="Google Shape;89;p17"/>
          <p:cNvSpPr txBox="1"/>
          <p:nvPr/>
        </p:nvSpPr>
        <p:spPr>
          <a:xfrm>
            <a:off x="234475" y="2071525"/>
            <a:ext cx="14103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measurement step</a:t>
            </a:r>
            <a:endParaRPr/>
          </a:p>
        </p:txBody>
      </p:sp>
      <p:cxnSp>
        <p:nvCxnSpPr>
          <p:cNvPr id="90" name="Google Shape;90;p17"/>
          <p:cNvCxnSpPr>
            <a:stCxn id="82" idx="4"/>
            <a:endCxn id="84" idx="0"/>
          </p:cNvCxnSpPr>
          <p:nvPr/>
        </p:nvCxnSpPr>
        <p:spPr>
          <a:xfrm>
            <a:off x="1882450" y="3045523"/>
            <a:ext cx="0" cy="245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1" name="Google Shape;91;p17"/>
          <p:cNvCxnSpPr>
            <a:stCxn id="84" idx="4"/>
            <a:endCxn id="83" idx="0"/>
          </p:cNvCxnSpPr>
          <p:nvPr/>
        </p:nvCxnSpPr>
        <p:spPr>
          <a:xfrm>
            <a:off x="1882450" y="3591626"/>
            <a:ext cx="0" cy="24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2" name="Google Shape;92;p17"/>
          <p:cNvCxnSpPr>
            <a:stCxn id="83" idx="4"/>
            <a:endCxn id="85" idx="0"/>
          </p:cNvCxnSpPr>
          <p:nvPr/>
        </p:nvCxnSpPr>
        <p:spPr>
          <a:xfrm>
            <a:off x="1882450" y="4137194"/>
            <a:ext cx="0" cy="210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3" name="Google Shape;93;p17"/>
          <p:cNvSpPr txBox="1"/>
          <p:nvPr/>
        </p:nvSpPr>
        <p:spPr>
          <a:xfrm>
            <a:off x="234475" y="1321575"/>
            <a:ext cx="14103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manufacturing step</a:t>
            </a:r>
            <a:endParaRPr/>
          </a:p>
        </p:txBody>
      </p:sp>
      <p:sp>
        <p:nvSpPr>
          <p:cNvPr id="94" name="Google Shape;94;p17"/>
          <p:cNvSpPr/>
          <p:nvPr/>
        </p:nvSpPr>
        <p:spPr>
          <a:xfrm>
            <a:off x="1626250" y="3784236"/>
            <a:ext cx="514500" cy="9090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17"/>
          <p:cNvSpPr txBox="1"/>
          <p:nvPr/>
        </p:nvSpPr>
        <p:spPr>
          <a:xfrm>
            <a:off x="2057950" y="1647377"/>
            <a:ext cx="1033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stage 1</a:t>
            </a:r>
            <a:endParaRPr/>
          </a:p>
        </p:txBody>
      </p:sp>
      <p:sp>
        <p:nvSpPr>
          <p:cNvPr id="96" name="Google Shape;96;p17"/>
          <p:cNvSpPr txBox="1"/>
          <p:nvPr/>
        </p:nvSpPr>
        <p:spPr>
          <a:xfrm>
            <a:off x="2057950" y="2975411"/>
            <a:ext cx="1033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stage 2</a:t>
            </a:r>
            <a:endParaRPr/>
          </a:p>
        </p:txBody>
      </p:sp>
      <p:sp>
        <p:nvSpPr>
          <p:cNvPr id="97" name="Google Shape;97;p17"/>
          <p:cNvSpPr txBox="1"/>
          <p:nvPr/>
        </p:nvSpPr>
        <p:spPr>
          <a:xfrm>
            <a:off x="2057950" y="4042400"/>
            <a:ext cx="1033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stage 3</a:t>
            </a:r>
            <a:endParaRPr/>
          </a:p>
        </p:txBody>
      </p:sp>
      <p:sp>
        <p:nvSpPr>
          <p:cNvPr id="98" name="Google Shape;98;p17"/>
          <p:cNvSpPr/>
          <p:nvPr/>
        </p:nvSpPr>
        <p:spPr>
          <a:xfrm>
            <a:off x="1732150" y="1230624"/>
            <a:ext cx="300600" cy="3006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9" name="Google Shape;99;p17"/>
          <p:cNvCxnSpPr>
            <a:stCxn id="98" idx="4"/>
          </p:cNvCxnSpPr>
          <p:nvPr/>
        </p:nvCxnSpPr>
        <p:spPr>
          <a:xfrm>
            <a:off x="1882450" y="1531224"/>
            <a:ext cx="0" cy="216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0" name="Google Shape;100;p17"/>
          <p:cNvSpPr/>
          <p:nvPr/>
        </p:nvSpPr>
        <p:spPr>
          <a:xfrm>
            <a:off x="5921850" y="103150"/>
            <a:ext cx="514500" cy="10521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17"/>
          <p:cNvSpPr/>
          <p:nvPr/>
        </p:nvSpPr>
        <p:spPr>
          <a:xfrm>
            <a:off x="6027750" y="178524"/>
            <a:ext cx="300600" cy="3006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17"/>
          <p:cNvSpPr txBox="1"/>
          <p:nvPr/>
        </p:nvSpPr>
        <p:spPr>
          <a:xfrm>
            <a:off x="5872800" y="445800"/>
            <a:ext cx="612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step</a:t>
            </a:r>
            <a:endParaRPr/>
          </a:p>
        </p:txBody>
      </p:sp>
      <p:sp>
        <p:nvSpPr>
          <p:cNvPr id="103" name="Google Shape;103;p17"/>
          <p:cNvSpPr txBox="1"/>
          <p:nvPr/>
        </p:nvSpPr>
        <p:spPr>
          <a:xfrm>
            <a:off x="6409200" y="445800"/>
            <a:ext cx="766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stage</a:t>
            </a:r>
            <a:endParaRPr/>
          </a:p>
        </p:txBody>
      </p:sp>
      <p:sp>
        <p:nvSpPr>
          <p:cNvPr id="104" name="Google Shape;104;p17"/>
          <p:cNvSpPr txBox="1"/>
          <p:nvPr/>
        </p:nvSpPr>
        <p:spPr>
          <a:xfrm>
            <a:off x="3504625" y="1025175"/>
            <a:ext cx="5488800" cy="27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Data format: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zh-TW"/>
              <a:t>For each stage, mutiple steps can be involved.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zh-TW"/>
              <a:t>Two categories of steps exist: </a:t>
            </a:r>
            <a:r>
              <a:rPr b="1" i="1" lang="zh-TW" u="sng"/>
              <a:t>manufacturing</a:t>
            </a:r>
            <a:r>
              <a:rPr lang="zh-TW"/>
              <a:t> and </a:t>
            </a:r>
            <a:r>
              <a:rPr b="1" i="1" lang="zh-TW" u="sng"/>
              <a:t>measurements</a:t>
            </a:r>
            <a:r>
              <a:rPr lang="zh-TW"/>
              <a:t>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zh-TW">
                <a:solidFill>
                  <a:schemeClr val="dk1"/>
                </a:solidFill>
              </a:rPr>
              <a:t>Measurement steps are not always required in a stage.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zh-TW">
                <a:solidFill>
                  <a:schemeClr val="dk1"/>
                </a:solidFill>
              </a:rPr>
              <a:t>We make use of wafers that exist in both the measurement steps and the manufacturing steps.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zh-TW"/>
              <a:t>Each step has a clear sequential relationship (a distinct linear progression).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zh-TW"/>
              <a:t>The wafer manufacturing process does not change over time.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zh-TW"/>
              <a:t>Measurement steps consistently act as outcomes, rather than </a:t>
            </a:r>
            <a:r>
              <a:rPr lang="zh-TW"/>
              <a:t>contributing</a:t>
            </a:r>
            <a:r>
              <a:rPr lang="zh-TW"/>
              <a:t> factors.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8"/>
          <p:cNvSpPr/>
          <p:nvPr/>
        </p:nvSpPr>
        <p:spPr>
          <a:xfrm>
            <a:off x="1414475" y="1013575"/>
            <a:ext cx="1716900" cy="36762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Input Format with Provided Dataset</a:t>
            </a:r>
            <a:endParaRPr/>
          </a:p>
        </p:txBody>
      </p:sp>
      <p:sp>
        <p:nvSpPr>
          <p:cNvPr id="111" name="Google Shape;111;p18"/>
          <p:cNvSpPr/>
          <p:nvPr/>
        </p:nvSpPr>
        <p:spPr>
          <a:xfrm>
            <a:off x="576425" y="1748124"/>
            <a:ext cx="300600" cy="3006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18"/>
          <p:cNvSpPr/>
          <p:nvPr/>
        </p:nvSpPr>
        <p:spPr>
          <a:xfrm>
            <a:off x="576425" y="2744923"/>
            <a:ext cx="300600" cy="3006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18"/>
          <p:cNvSpPr/>
          <p:nvPr/>
        </p:nvSpPr>
        <p:spPr>
          <a:xfrm>
            <a:off x="576425" y="3836594"/>
            <a:ext cx="300600" cy="3006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18"/>
          <p:cNvSpPr/>
          <p:nvPr/>
        </p:nvSpPr>
        <p:spPr>
          <a:xfrm>
            <a:off x="576425" y="3291026"/>
            <a:ext cx="300600" cy="3006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18"/>
          <p:cNvSpPr/>
          <p:nvPr/>
        </p:nvSpPr>
        <p:spPr>
          <a:xfrm>
            <a:off x="576425" y="4347841"/>
            <a:ext cx="300600" cy="300600"/>
          </a:xfrm>
          <a:prstGeom prst="ellipse">
            <a:avLst/>
          </a:prstGeom>
          <a:solidFill>
            <a:srgbClr val="9E9E9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18"/>
          <p:cNvSpPr/>
          <p:nvPr/>
        </p:nvSpPr>
        <p:spPr>
          <a:xfrm>
            <a:off x="576425" y="2265487"/>
            <a:ext cx="300600" cy="300600"/>
          </a:xfrm>
          <a:prstGeom prst="ellipse">
            <a:avLst/>
          </a:prstGeom>
          <a:solidFill>
            <a:srgbClr val="9E9E9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7" name="Google Shape;117;p18"/>
          <p:cNvCxnSpPr>
            <a:stCxn id="111" idx="4"/>
            <a:endCxn id="116" idx="0"/>
          </p:cNvCxnSpPr>
          <p:nvPr/>
        </p:nvCxnSpPr>
        <p:spPr>
          <a:xfrm>
            <a:off x="726725" y="2048724"/>
            <a:ext cx="0" cy="216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8" name="Google Shape;118;p18"/>
          <p:cNvCxnSpPr>
            <a:stCxn id="116" idx="4"/>
            <a:endCxn id="112" idx="0"/>
          </p:cNvCxnSpPr>
          <p:nvPr/>
        </p:nvCxnSpPr>
        <p:spPr>
          <a:xfrm>
            <a:off x="726725" y="2566087"/>
            <a:ext cx="0" cy="17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9" name="Google Shape;119;p18"/>
          <p:cNvCxnSpPr>
            <a:stCxn id="112" idx="4"/>
            <a:endCxn id="114" idx="0"/>
          </p:cNvCxnSpPr>
          <p:nvPr/>
        </p:nvCxnSpPr>
        <p:spPr>
          <a:xfrm>
            <a:off x="726725" y="3045523"/>
            <a:ext cx="0" cy="245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0" name="Google Shape;120;p18"/>
          <p:cNvCxnSpPr>
            <a:stCxn id="114" idx="4"/>
            <a:endCxn id="113" idx="0"/>
          </p:cNvCxnSpPr>
          <p:nvPr/>
        </p:nvCxnSpPr>
        <p:spPr>
          <a:xfrm>
            <a:off x="726725" y="3591626"/>
            <a:ext cx="0" cy="24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1" name="Google Shape;121;p18"/>
          <p:cNvCxnSpPr>
            <a:stCxn id="113" idx="4"/>
            <a:endCxn id="115" idx="0"/>
          </p:cNvCxnSpPr>
          <p:nvPr/>
        </p:nvCxnSpPr>
        <p:spPr>
          <a:xfrm>
            <a:off x="726725" y="4137194"/>
            <a:ext cx="0" cy="210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2" name="Google Shape;122;p18"/>
          <p:cNvSpPr/>
          <p:nvPr/>
        </p:nvSpPr>
        <p:spPr>
          <a:xfrm>
            <a:off x="576425" y="1230624"/>
            <a:ext cx="300600" cy="3006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23" name="Google Shape;123;p18"/>
          <p:cNvCxnSpPr>
            <a:stCxn id="122" idx="4"/>
          </p:cNvCxnSpPr>
          <p:nvPr/>
        </p:nvCxnSpPr>
        <p:spPr>
          <a:xfrm>
            <a:off x="726725" y="1531224"/>
            <a:ext cx="0" cy="216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4" name="Google Shape;124;p18"/>
          <p:cNvSpPr/>
          <p:nvPr/>
        </p:nvSpPr>
        <p:spPr>
          <a:xfrm>
            <a:off x="2411895" y="1068875"/>
            <a:ext cx="178800" cy="178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18"/>
          <p:cNvSpPr txBox="1"/>
          <p:nvPr/>
        </p:nvSpPr>
        <p:spPr>
          <a:xfrm>
            <a:off x="1154800" y="1180827"/>
            <a:ext cx="1033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M1</a:t>
            </a:r>
            <a:endParaRPr/>
          </a:p>
        </p:txBody>
      </p:sp>
      <p:cxnSp>
        <p:nvCxnSpPr>
          <p:cNvPr id="126" name="Google Shape;126;p18"/>
          <p:cNvCxnSpPr/>
          <p:nvPr/>
        </p:nvCxnSpPr>
        <p:spPr>
          <a:xfrm>
            <a:off x="311700" y="1635975"/>
            <a:ext cx="2906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127" name="Google Shape;127;p18"/>
          <p:cNvSpPr txBox="1"/>
          <p:nvPr/>
        </p:nvSpPr>
        <p:spPr>
          <a:xfrm>
            <a:off x="1154800" y="1669644"/>
            <a:ext cx="1033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M2</a:t>
            </a:r>
            <a:endParaRPr/>
          </a:p>
        </p:txBody>
      </p:sp>
      <p:cxnSp>
        <p:nvCxnSpPr>
          <p:cNvPr id="128" name="Google Shape;128;p18"/>
          <p:cNvCxnSpPr/>
          <p:nvPr/>
        </p:nvCxnSpPr>
        <p:spPr>
          <a:xfrm>
            <a:off x="311700" y="2124792"/>
            <a:ext cx="2906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129" name="Google Shape;129;p18"/>
          <p:cNvSpPr txBox="1"/>
          <p:nvPr/>
        </p:nvSpPr>
        <p:spPr>
          <a:xfrm>
            <a:off x="1154800" y="2169462"/>
            <a:ext cx="1033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Q3</a:t>
            </a:r>
            <a:endParaRPr/>
          </a:p>
        </p:txBody>
      </p:sp>
      <p:cxnSp>
        <p:nvCxnSpPr>
          <p:cNvPr id="130" name="Google Shape;130;p18"/>
          <p:cNvCxnSpPr/>
          <p:nvPr/>
        </p:nvCxnSpPr>
        <p:spPr>
          <a:xfrm>
            <a:off x="311700" y="2624610"/>
            <a:ext cx="2906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131" name="Google Shape;131;p18"/>
          <p:cNvSpPr txBox="1"/>
          <p:nvPr/>
        </p:nvSpPr>
        <p:spPr>
          <a:xfrm>
            <a:off x="1154800" y="2700987"/>
            <a:ext cx="1033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M4</a:t>
            </a:r>
            <a:endParaRPr/>
          </a:p>
        </p:txBody>
      </p:sp>
      <p:cxnSp>
        <p:nvCxnSpPr>
          <p:cNvPr id="132" name="Google Shape;132;p18"/>
          <p:cNvCxnSpPr/>
          <p:nvPr/>
        </p:nvCxnSpPr>
        <p:spPr>
          <a:xfrm>
            <a:off x="311700" y="3156135"/>
            <a:ext cx="2906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133" name="Google Shape;133;p18"/>
          <p:cNvSpPr txBox="1"/>
          <p:nvPr/>
        </p:nvSpPr>
        <p:spPr>
          <a:xfrm>
            <a:off x="1154800" y="3246107"/>
            <a:ext cx="1033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M5</a:t>
            </a:r>
            <a:endParaRPr/>
          </a:p>
        </p:txBody>
      </p:sp>
      <p:cxnSp>
        <p:nvCxnSpPr>
          <p:cNvPr id="134" name="Google Shape;134;p18"/>
          <p:cNvCxnSpPr/>
          <p:nvPr/>
        </p:nvCxnSpPr>
        <p:spPr>
          <a:xfrm>
            <a:off x="311700" y="3701256"/>
            <a:ext cx="2906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135" name="Google Shape;135;p18"/>
          <p:cNvSpPr txBox="1"/>
          <p:nvPr/>
        </p:nvSpPr>
        <p:spPr>
          <a:xfrm>
            <a:off x="1154800" y="3766726"/>
            <a:ext cx="1033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M6</a:t>
            </a:r>
            <a:endParaRPr/>
          </a:p>
        </p:txBody>
      </p:sp>
      <p:cxnSp>
        <p:nvCxnSpPr>
          <p:cNvPr id="136" name="Google Shape;136;p18"/>
          <p:cNvCxnSpPr/>
          <p:nvPr/>
        </p:nvCxnSpPr>
        <p:spPr>
          <a:xfrm>
            <a:off x="311700" y="4221875"/>
            <a:ext cx="2906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137" name="Google Shape;137;p18"/>
          <p:cNvSpPr txBox="1"/>
          <p:nvPr/>
        </p:nvSpPr>
        <p:spPr>
          <a:xfrm>
            <a:off x="1154800" y="4276826"/>
            <a:ext cx="1033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Q7</a:t>
            </a:r>
            <a:endParaRPr/>
          </a:p>
        </p:txBody>
      </p:sp>
      <p:sp>
        <p:nvSpPr>
          <p:cNvPr id="138" name="Google Shape;138;p18"/>
          <p:cNvSpPr/>
          <p:nvPr/>
        </p:nvSpPr>
        <p:spPr>
          <a:xfrm>
            <a:off x="1989345" y="1254300"/>
            <a:ext cx="178800" cy="178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18"/>
          <p:cNvSpPr/>
          <p:nvPr/>
        </p:nvSpPr>
        <p:spPr>
          <a:xfrm>
            <a:off x="2721445" y="1237462"/>
            <a:ext cx="178800" cy="178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18"/>
          <p:cNvSpPr/>
          <p:nvPr/>
        </p:nvSpPr>
        <p:spPr>
          <a:xfrm>
            <a:off x="2388670" y="1421987"/>
            <a:ext cx="178800" cy="178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18"/>
          <p:cNvSpPr/>
          <p:nvPr/>
        </p:nvSpPr>
        <p:spPr>
          <a:xfrm>
            <a:off x="2118920" y="1689550"/>
            <a:ext cx="178800" cy="178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18"/>
          <p:cNvSpPr/>
          <p:nvPr/>
        </p:nvSpPr>
        <p:spPr>
          <a:xfrm>
            <a:off x="2377545" y="1826225"/>
            <a:ext cx="178800" cy="178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18"/>
          <p:cNvSpPr/>
          <p:nvPr/>
        </p:nvSpPr>
        <p:spPr>
          <a:xfrm>
            <a:off x="2188295" y="2320712"/>
            <a:ext cx="178800" cy="178800"/>
          </a:xfrm>
          <a:prstGeom prst="ellipse">
            <a:avLst/>
          </a:prstGeom>
          <a:solidFill>
            <a:srgbClr val="9E9E9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18"/>
          <p:cNvSpPr/>
          <p:nvPr/>
        </p:nvSpPr>
        <p:spPr>
          <a:xfrm>
            <a:off x="2188295" y="4392800"/>
            <a:ext cx="178800" cy="178800"/>
          </a:xfrm>
          <a:prstGeom prst="ellipse">
            <a:avLst/>
          </a:prstGeom>
          <a:solidFill>
            <a:srgbClr val="9E9E9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18"/>
          <p:cNvSpPr/>
          <p:nvPr/>
        </p:nvSpPr>
        <p:spPr>
          <a:xfrm>
            <a:off x="2588932" y="2285300"/>
            <a:ext cx="178800" cy="178800"/>
          </a:xfrm>
          <a:prstGeom prst="ellipse">
            <a:avLst/>
          </a:prstGeom>
          <a:solidFill>
            <a:srgbClr val="9E9E9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18"/>
          <p:cNvSpPr/>
          <p:nvPr/>
        </p:nvSpPr>
        <p:spPr>
          <a:xfrm>
            <a:off x="2464982" y="4400075"/>
            <a:ext cx="178800" cy="178800"/>
          </a:xfrm>
          <a:prstGeom prst="ellipse">
            <a:avLst/>
          </a:prstGeom>
          <a:solidFill>
            <a:srgbClr val="9E9E9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18"/>
          <p:cNvSpPr/>
          <p:nvPr/>
        </p:nvSpPr>
        <p:spPr>
          <a:xfrm>
            <a:off x="2153570" y="2800975"/>
            <a:ext cx="178800" cy="178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18"/>
          <p:cNvSpPr/>
          <p:nvPr/>
        </p:nvSpPr>
        <p:spPr>
          <a:xfrm>
            <a:off x="2446670" y="2823625"/>
            <a:ext cx="178800" cy="178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49" name="Google Shape;149;p18"/>
          <p:cNvCxnSpPr>
            <a:stCxn id="124" idx="2"/>
            <a:endCxn id="138" idx="7"/>
          </p:cNvCxnSpPr>
          <p:nvPr/>
        </p:nvCxnSpPr>
        <p:spPr>
          <a:xfrm flipH="1">
            <a:off x="2141895" y="1158275"/>
            <a:ext cx="270000" cy="122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0" name="Google Shape;150;p18"/>
          <p:cNvCxnSpPr>
            <a:stCxn id="124" idx="4"/>
            <a:endCxn id="140" idx="0"/>
          </p:cNvCxnSpPr>
          <p:nvPr/>
        </p:nvCxnSpPr>
        <p:spPr>
          <a:xfrm flipH="1">
            <a:off x="2478195" y="1247675"/>
            <a:ext cx="23100" cy="174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1" name="Google Shape;151;p18"/>
          <p:cNvCxnSpPr>
            <a:stCxn id="139" idx="2"/>
            <a:endCxn id="140" idx="6"/>
          </p:cNvCxnSpPr>
          <p:nvPr/>
        </p:nvCxnSpPr>
        <p:spPr>
          <a:xfrm flipH="1">
            <a:off x="2567545" y="1326862"/>
            <a:ext cx="153900" cy="184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2" name="Google Shape;152;p18"/>
          <p:cNvCxnSpPr>
            <a:stCxn id="124" idx="3"/>
            <a:endCxn id="141" idx="0"/>
          </p:cNvCxnSpPr>
          <p:nvPr/>
        </p:nvCxnSpPr>
        <p:spPr>
          <a:xfrm flipH="1">
            <a:off x="2208279" y="1221490"/>
            <a:ext cx="229800" cy="468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3" name="Google Shape;153;p18"/>
          <p:cNvCxnSpPr>
            <a:stCxn id="140" idx="4"/>
            <a:endCxn id="142" idx="0"/>
          </p:cNvCxnSpPr>
          <p:nvPr/>
        </p:nvCxnSpPr>
        <p:spPr>
          <a:xfrm flipH="1">
            <a:off x="2466970" y="1600787"/>
            <a:ext cx="11100" cy="225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4" name="Google Shape;154;p18"/>
          <p:cNvCxnSpPr>
            <a:stCxn id="142" idx="4"/>
            <a:endCxn id="145" idx="0"/>
          </p:cNvCxnSpPr>
          <p:nvPr/>
        </p:nvCxnSpPr>
        <p:spPr>
          <a:xfrm>
            <a:off x="2466945" y="2005025"/>
            <a:ext cx="211500" cy="280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5" name="Google Shape;155;p18"/>
          <p:cNvCxnSpPr>
            <a:stCxn id="141" idx="4"/>
            <a:endCxn id="143" idx="0"/>
          </p:cNvCxnSpPr>
          <p:nvPr/>
        </p:nvCxnSpPr>
        <p:spPr>
          <a:xfrm>
            <a:off x="2208320" y="1868350"/>
            <a:ext cx="69300" cy="452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6" name="Google Shape;156;p18"/>
          <p:cNvCxnSpPr>
            <a:stCxn id="145" idx="2"/>
            <a:endCxn id="143" idx="6"/>
          </p:cNvCxnSpPr>
          <p:nvPr/>
        </p:nvCxnSpPr>
        <p:spPr>
          <a:xfrm flipH="1">
            <a:off x="2367232" y="2374700"/>
            <a:ext cx="221700" cy="354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dash"/>
            <a:round/>
            <a:headEnd len="med" w="med" type="none"/>
            <a:tailEnd len="med" w="med" type="triangle"/>
          </a:ln>
        </p:spPr>
      </p:cxnSp>
      <p:cxnSp>
        <p:nvCxnSpPr>
          <p:cNvPr id="157" name="Google Shape;157;p18"/>
          <p:cNvCxnSpPr>
            <a:stCxn id="145" idx="4"/>
            <a:endCxn id="148" idx="0"/>
          </p:cNvCxnSpPr>
          <p:nvPr/>
        </p:nvCxnSpPr>
        <p:spPr>
          <a:xfrm flipH="1">
            <a:off x="2536132" y="2464100"/>
            <a:ext cx="142200" cy="3594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dash"/>
            <a:round/>
            <a:headEnd len="med" w="med" type="none"/>
            <a:tailEnd len="med" w="med" type="triangle"/>
          </a:ln>
        </p:spPr>
      </p:cxnSp>
      <p:cxnSp>
        <p:nvCxnSpPr>
          <p:cNvPr id="158" name="Google Shape;158;p18"/>
          <p:cNvCxnSpPr>
            <a:stCxn id="138" idx="3"/>
            <a:endCxn id="147" idx="2"/>
          </p:cNvCxnSpPr>
          <p:nvPr/>
        </p:nvCxnSpPr>
        <p:spPr>
          <a:xfrm flipH="1" rot="-5400000">
            <a:off x="1342779" y="2079665"/>
            <a:ext cx="1483500" cy="138000"/>
          </a:xfrm>
          <a:prstGeom prst="curved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9" name="Google Shape;159;p18"/>
          <p:cNvCxnSpPr>
            <a:stCxn id="142" idx="6"/>
            <a:endCxn id="148" idx="6"/>
          </p:cNvCxnSpPr>
          <p:nvPr/>
        </p:nvCxnSpPr>
        <p:spPr>
          <a:xfrm>
            <a:off x="2556345" y="1915625"/>
            <a:ext cx="69000" cy="997500"/>
          </a:xfrm>
          <a:prstGeom prst="curvedConnector3">
            <a:avLst>
              <a:gd fmla="val 44529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60" name="Google Shape;160;p18"/>
          <p:cNvSpPr/>
          <p:nvPr/>
        </p:nvSpPr>
        <p:spPr>
          <a:xfrm>
            <a:off x="2620770" y="3304875"/>
            <a:ext cx="178800" cy="178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18"/>
          <p:cNvSpPr/>
          <p:nvPr/>
        </p:nvSpPr>
        <p:spPr>
          <a:xfrm>
            <a:off x="2118920" y="3872162"/>
            <a:ext cx="178800" cy="178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18"/>
          <p:cNvSpPr/>
          <p:nvPr/>
        </p:nvSpPr>
        <p:spPr>
          <a:xfrm>
            <a:off x="2438070" y="3999975"/>
            <a:ext cx="178800" cy="178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18"/>
          <p:cNvSpPr/>
          <p:nvPr/>
        </p:nvSpPr>
        <p:spPr>
          <a:xfrm>
            <a:off x="2483295" y="3737850"/>
            <a:ext cx="178800" cy="178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64" name="Google Shape;164;p18"/>
          <p:cNvCxnSpPr>
            <a:stCxn id="148" idx="4"/>
            <a:endCxn id="163" idx="0"/>
          </p:cNvCxnSpPr>
          <p:nvPr/>
        </p:nvCxnSpPr>
        <p:spPr>
          <a:xfrm>
            <a:off x="2536070" y="3002425"/>
            <a:ext cx="36600" cy="735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65" name="Google Shape;165;p18"/>
          <p:cNvSpPr/>
          <p:nvPr/>
        </p:nvSpPr>
        <p:spPr>
          <a:xfrm>
            <a:off x="2118920" y="3339287"/>
            <a:ext cx="178800" cy="178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66" name="Google Shape;166;p18"/>
          <p:cNvCxnSpPr>
            <a:stCxn id="147" idx="4"/>
            <a:endCxn id="165" idx="0"/>
          </p:cNvCxnSpPr>
          <p:nvPr/>
        </p:nvCxnSpPr>
        <p:spPr>
          <a:xfrm flipH="1">
            <a:off x="2208170" y="2979775"/>
            <a:ext cx="34800" cy="359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7" name="Google Shape;167;p18"/>
          <p:cNvCxnSpPr>
            <a:stCxn id="140" idx="6"/>
            <a:endCxn id="162" idx="6"/>
          </p:cNvCxnSpPr>
          <p:nvPr/>
        </p:nvCxnSpPr>
        <p:spPr>
          <a:xfrm>
            <a:off x="2567470" y="1511387"/>
            <a:ext cx="49500" cy="2577900"/>
          </a:xfrm>
          <a:prstGeom prst="curvedConnector3">
            <a:avLst>
              <a:gd fmla="val 77193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8" name="Google Shape;168;p18"/>
          <p:cNvCxnSpPr>
            <a:stCxn id="143" idx="2"/>
            <a:endCxn id="161" idx="2"/>
          </p:cNvCxnSpPr>
          <p:nvPr/>
        </p:nvCxnSpPr>
        <p:spPr>
          <a:xfrm flipH="1">
            <a:off x="2118995" y="2410112"/>
            <a:ext cx="69300" cy="1551600"/>
          </a:xfrm>
          <a:prstGeom prst="curvedConnector3">
            <a:avLst>
              <a:gd fmla="val 335923" name="adj1"/>
            </a:avLst>
          </a:prstGeom>
          <a:noFill/>
          <a:ln cap="flat" cmpd="sng" w="9525">
            <a:solidFill>
              <a:srgbClr val="FF0000"/>
            </a:solidFill>
            <a:prstDash val="dash"/>
            <a:round/>
            <a:headEnd len="med" w="med" type="none"/>
            <a:tailEnd len="med" w="med" type="triangle"/>
          </a:ln>
        </p:spPr>
      </p:cxnSp>
      <p:cxnSp>
        <p:nvCxnSpPr>
          <p:cNvPr id="169" name="Google Shape;169;p18"/>
          <p:cNvCxnSpPr>
            <a:stCxn id="161" idx="4"/>
            <a:endCxn id="144" idx="0"/>
          </p:cNvCxnSpPr>
          <p:nvPr/>
        </p:nvCxnSpPr>
        <p:spPr>
          <a:xfrm>
            <a:off x="2208320" y="4050962"/>
            <a:ext cx="69300" cy="341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0" name="Google Shape;170;p18"/>
          <p:cNvCxnSpPr>
            <a:stCxn id="162" idx="4"/>
            <a:endCxn id="146" idx="0"/>
          </p:cNvCxnSpPr>
          <p:nvPr/>
        </p:nvCxnSpPr>
        <p:spPr>
          <a:xfrm>
            <a:off x="2527470" y="4178775"/>
            <a:ext cx="27000" cy="22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1" name="Google Shape;171;p18"/>
          <p:cNvCxnSpPr>
            <a:stCxn id="148" idx="2"/>
            <a:endCxn id="162" idx="2"/>
          </p:cNvCxnSpPr>
          <p:nvPr/>
        </p:nvCxnSpPr>
        <p:spPr>
          <a:xfrm flipH="1">
            <a:off x="2437970" y="2913025"/>
            <a:ext cx="8700" cy="1176300"/>
          </a:xfrm>
          <a:prstGeom prst="curvedConnector3">
            <a:avLst>
              <a:gd fmla="val 1301087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72" name="Google Shape;172;p18"/>
          <p:cNvSpPr txBox="1"/>
          <p:nvPr/>
        </p:nvSpPr>
        <p:spPr>
          <a:xfrm>
            <a:off x="3504625" y="1025175"/>
            <a:ext cx="5488800" cy="27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Data format: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zh-TW"/>
              <a:t>For each stage, mutiple steps can be involved.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zh-TW"/>
              <a:t>Two categories of steps exist: </a:t>
            </a:r>
            <a:r>
              <a:rPr b="1" i="1" lang="zh-TW" u="sng"/>
              <a:t>manufacturing</a:t>
            </a:r>
            <a:r>
              <a:rPr lang="zh-TW"/>
              <a:t> and </a:t>
            </a:r>
            <a:r>
              <a:rPr b="1" i="1" lang="zh-TW" u="sng"/>
              <a:t>measurements</a:t>
            </a:r>
            <a:r>
              <a:rPr lang="zh-TW"/>
              <a:t>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zh-TW">
                <a:solidFill>
                  <a:schemeClr val="dk1"/>
                </a:solidFill>
              </a:rPr>
              <a:t>Measurement steps are not always required in a stage.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zh-TW">
                <a:solidFill>
                  <a:schemeClr val="dk1"/>
                </a:solidFill>
              </a:rPr>
              <a:t>We make use of wafers that exist in both the measurement steps and the manufacturing steps.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zh-TW">
                <a:highlight>
                  <a:srgbClr val="FFF2CC"/>
                </a:highlight>
              </a:rPr>
              <a:t>Each step has a clear sequential relationship (a distinct linear progression).</a:t>
            </a:r>
            <a:endParaRPr>
              <a:highlight>
                <a:srgbClr val="FFF2CC"/>
              </a:highlight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zh-TW">
                <a:highlight>
                  <a:srgbClr val="F4CCCC"/>
                </a:highlight>
              </a:rPr>
              <a:t>The wafer manufacturing process does not change over time.</a:t>
            </a:r>
            <a:endParaRPr>
              <a:highlight>
                <a:srgbClr val="F4CCCC"/>
              </a:highlight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zh-TW">
                <a:highlight>
                  <a:srgbClr val="D9EAD3"/>
                </a:highlight>
              </a:rPr>
              <a:t>Measurement steps consistently act as outcomes, rather than contributing factors.</a:t>
            </a:r>
            <a:endParaRPr>
              <a:highlight>
                <a:srgbClr val="D9EAD3"/>
              </a:highlight>
            </a:endParaRPr>
          </a:p>
        </p:txBody>
      </p:sp>
      <p:sp>
        <p:nvSpPr>
          <p:cNvPr id="173" name="Google Shape;173;p18"/>
          <p:cNvSpPr txBox="1"/>
          <p:nvPr/>
        </p:nvSpPr>
        <p:spPr>
          <a:xfrm>
            <a:off x="3504625" y="3777450"/>
            <a:ext cx="5269500" cy="12621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Assumptions for the </a:t>
            </a:r>
            <a:r>
              <a:rPr b="1" lang="zh-TW" u="sng"/>
              <a:t>causal graph</a:t>
            </a:r>
            <a:r>
              <a:rPr lang="zh-TW"/>
              <a:t> based on the data format: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zh-TW">
                <a:highlight>
                  <a:srgbClr val="FFF2CC"/>
                </a:highlight>
              </a:rPr>
              <a:t>No edge is allowed to point back to a previous step</a:t>
            </a:r>
            <a:endParaRPr>
              <a:highlight>
                <a:srgbClr val="FFF2CC"/>
              </a:highlight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zh-TW">
                <a:solidFill>
                  <a:schemeClr val="dk1"/>
                </a:solidFill>
                <a:highlight>
                  <a:srgbClr val="F4CCCC"/>
                </a:highlight>
              </a:rPr>
              <a:t>The causal graph remains unchanged over time</a:t>
            </a:r>
            <a:endParaRPr>
              <a:highlight>
                <a:srgbClr val="F4CCCC"/>
              </a:highlight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zh-TW">
                <a:solidFill>
                  <a:schemeClr val="dk1"/>
                </a:solidFill>
                <a:highlight>
                  <a:srgbClr val="D9EAD3"/>
                </a:highlight>
              </a:rPr>
              <a:t>No edge is allowed to point back to a measurement step, as measurement steps are not considered causal factors.</a:t>
            </a:r>
            <a:endParaRPr>
              <a:highlight>
                <a:srgbClr val="D9EAD3"/>
              </a:highlight>
            </a:endParaRPr>
          </a:p>
        </p:txBody>
      </p:sp>
      <p:sp>
        <p:nvSpPr>
          <p:cNvPr id="174" name="Google Shape;174;p18"/>
          <p:cNvSpPr txBox="1"/>
          <p:nvPr/>
        </p:nvSpPr>
        <p:spPr>
          <a:xfrm>
            <a:off x="1596725" y="4662300"/>
            <a:ext cx="1352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zh-TW">
                <a:solidFill>
                  <a:srgbClr val="FF0000"/>
                </a:solidFill>
              </a:rPr>
              <a:t>causal graph</a:t>
            </a:r>
            <a:endParaRPr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Cars POV vs. Environments POV</a:t>
            </a:r>
            <a:endParaRPr/>
          </a:p>
        </p:txBody>
      </p:sp>
      <p:pic>
        <p:nvPicPr>
          <p:cNvPr id="180" name="Google Shape;180;p19"/>
          <p:cNvPicPr preferRelativeResize="0"/>
          <p:nvPr/>
        </p:nvPicPr>
        <p:blipFill rotWithShape="1">
          <a:blip r:embed="rId3">
            <a:alphaModFix/>
          </a:blip>
          <a:srcRect b="0" l="22593" r="13796" t="0"/>
          <a:stretch/>
        </p:blipFill>
        <p:spPr>
          <a:xfrm>
            <a:off x="4394275" y="1527925"/>
            <a:ext cx="4507126" cy="2745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328638"/>
            <a:ext cx="4394275" cy="3144925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19"/>
          <p:cNvSpPr txBox="1"/>
          <p:nvPr/>
        </p:nvSpPr>
        <p:spPr>
          <a:xfrm>
            <a:off x="249600" y="852250"/>
            <a:ext cx="1036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rgbClr val="FF0000"/>
                </a:solidFill>
              </a:rPr>
              <a:t>Individual</a:t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183" name="Google Shape;183;p19"/>
          <p:cNvSpPr txBox="1"/>
          <p:nvPr/>
        </p:nvSpPr>
        <p:spPr>
          <a:xfrm>
            <a:off x="2874300" y="852250"/>
            <a:ext cx="1036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rgbClr val="FF0000"/>
                </a:solidFill>
              </a:rPr>
              <a:t>Group</a:t>
            </a:r>
            <a:endParaRPr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Wafer POV</a:t>
            </a:r>
            <a:endParaRPr/>
          </a:p>
        </p:txBody>
      </p:sp>
      <p:cxnSp>
        <p:nvCxnSpPr>
          <p:cNvPr id="189" name="Google Shape;189;p20"/>
          <p:cNvCxnSpPr/>
          <p:nvPr/>
        </p:nvCxnSpPr>
        <p:spPr>
          <a:xfrm rot="10800000">
            <a:off x="3646513" y="1127149"/>
            <a:ext cx="0" cy="3440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190" name="Google Shape;190;p20"/>
          <p:cNvSpPr txBox="1"/>
          <p:nvPr/>
        </p:nvSpPr>
        <p:spPr>
          <a:xfrm>
            <a:off x="3241362" y="2409163"/>
            <a:ext cx="260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000"/>
              <a:t>f</a:t>
            </a:r>
            <a:endParaRPr sz="2000"/>
          </a:p>
        </p:txBody>
      </p:sp>
      <p:cxnSp>
        <p:nvCxnSpPr>
          <p:cNvPr id="191" name="Google Shape;191;p20"/>
          <p:cNvCxnSpPr/>
          <p:nvPr/>
        </p:nvCxnSpPr>
        <p:spPr>
          <a:xfrm>
            <a:off x="3825779" y="4722275"/>
            <a:ext cx="43833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92" name="Google Shape;192;p20"/>
          <p:cNvSpPr txBox="1"/>
          <p:nvPr/>
        </p:nvSpPr>
        <p:spPr>
          <a:xfrm>
            <a:off x="5887062" y="4750031"/>
            <a:ext cx="260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000"/>
              <a:t>t</a:t>
            </a:r>
            <a:endParaRPr sz="2000"/>
          </a:p>
        </p:txBody>
      </p:sp>
      <p:sp>
        <p:nvSpPr>
          <p:cNvPr id="193" name="Google Shape;193;p20"/>
          <p:cNvSpPr/>
          <p:nvPr/>
        </p:nvSpPr>
        <p:spPr>
          <a:xfrm>
            <a:off x="4489562" y="1647450"/>
            <a:ext cx="514500" cy="502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20"/>
          <p:cNvSpPr/>
          <p:nvPr/>
        </p:nvSpPr>
        <p:spPr>
          <a:xfrm>
            <a:off x="5080477" y="2273731"/>
            <a:ext cx="125700" cy="300600"/>
          </a:xfrm>
          <a:prstGeom prst="rect">
            <a:avLst/>
          </a:prstGeom>
          <a:solidFill>
            <a:srgbClr val="9E9E9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20"/>
          <p:cNvSpPr/>
          <p:nvPr/>
        </p:nvSpPr>
        <p:spPr>
          <a:xfrm>
            <a:off x="5276923" y="2635216"/>
            <a:ext cx="798600" cy="502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20"/>
          <p:cNvSpPr/>
          <p:nvPr/>
        </p:nvSpPr>
        <p:spPr>
          <a:xfrm>
            <a:off x="6142542" y="3194161"/>
            <a:ext cx="125700" cy="502200"/>
          </a:xfrm>
          <a:prstGeom prst="rect">
            <a:avLst/>
          </a:prstGeom>
          <a:solidFill>
            <a:srgbClr val="9E9E9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20"/>
          <p:cNvSpPr/>
          <p:nvPr/>
        </p:nvSpPr>
        <p:spPr>
          <a:xfrm>
            <a:off x="6367482" y="3735920"/>
            <a:ext cx="1410300" cy="502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20"/>
          <p:cNvSpPr/>
          <p:nvPr/>
        </p:nvSpPr>
        <p:spPr>
          <a:xfrm>
            <a:off x="7873250" y="4333583"/>
            <a:ext cx="125700" cy="330300"/>
          </a:xfrm>
          <a:prstGeom prst="rect">
            <a:avLst/>
          </a:prstGeom>
          <a:solidFill>
            <a:srgbClr val="9E9E9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20"/>
          <p:cNvSpPr/>
          <p:nvPr/>
        </p:nvSpPr>
        <p:spPr>
          <a:xfrm>
            <a:off x="4489557" y="1851675"/>
            <a:ext cx="514500" cy="102000"/>
          </a:xfrm>
          <a:prstGeom prst="rect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20"/>
          <p:cNvSpPr/>
          <p:nvPr/>
        </p:nvSpPr>
        <p:spPr>
          <a:xfrm>
            <a:off x="7873250" y="4395258"/>
            <a:ext cx="125700" cy="102000"/>
          </a:xfrm>
          <a:prstGeom prst="rect">
            <a:avLst/>
          </a:prstGeom>
          <a:solidFill>
            <a:srgbClr val="FF99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20"/>
          <p:cNvSpPr txBox="1"/>
          <p:nvPr/>
        </p:nvSpPr>
        <p:spPr>
          <a:xfrm>
            <a:off x="5029600" y="1698325"/>
            <a:ext cx="1146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rgbClr val="FF0000"/>
                </a:solidFill>
              </a:rPr>
              <a:t>root cause</a:t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202" name="Google Shape;202;p20"/>
          <p:cNvSpPr txBox="1"/>
          <p:nvPr/>
        </p:nvSpPr>
        <p:spPr>
          <a:xfrm>
            <a:off x="7998950" y="4246150"/>
            <a:ext cx="1146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rgbClr val="FF9900"/>
                </a:solidFill>
              </a:rPr>
              <a:t>trigger point</a:t>
            </a:r>
            <a:endParaRPr>
              <a:solidFill>
                <a:srgbClr val="FF9900"/>
              </a:solidFill>
            </a:endParaRPr>
          </a:p>
        </p:txBody>
      </p:sp>
      <p:sp>
        <p:nvSpPr>
          <p:cNvPr id="203" name="Google Shape;203;p20"/>
          <p:cNvSpPr/>
          <p:nvPr/>
        </p:nvSpPr>
        <p:spPr>
          <a:xfrm>
            <a:off x="3766850" y="1114050"/>
            <a:ext cx="672900" cy="502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20"/>
          <p:cNvSpPr txBox="1"/>
          <p:nvPr/>
        </p:nvSpPr>
        <p:spPr>
          <a:xfrm>
            <a:off x="4659400" y="0"/>
            <a:ext cx="4485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Very similar to DeepTraLog’s request-based approach</a:t>
            </a:r>
            <a:endParaRPr/>
          </a:p>
        </p:txBody>
      </p:sp>
      <p:sp>
        <p:nvSpPr>
          <p:cNvPr id="205" name="Google Shape;205;p20"/>
          <p:cNvSpPr txBox="1"/>
          <p:nvPr/>
        </p:nvSpPr>
        <p:spPr>
          <a:xfrm>
            <a:off x="4560151" y="1057350"/>
            <a:ext cx="9093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accent1"/>
                </a:solidFill>
              </a:rPr>
              <a:t>multiple features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206" name="Google Shape;206;p20"/>
          <p:cNvSpPr txBox="1"/>
          <p:nvPr/>
        </p:nvSpPr>
        <p:spPr>
          <a:xfrm>
            <a:off x="4158947" y="2975400"/>
            <a:ext cx="11757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accent1"/>
                </a:solidFill>
              </a:rPr>
              <a:t>single timestamp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207" name="Google Shape;207;p20"/>
          <p:cNvSpPr txBox="1"/>
          <p:nvPr/>
        </p:nvSpPr>
        <p:spPr>
          <a:xfrm>
            <a:off x="3530300" y="303475"/>
            <a:ext cx="1146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accent1"/>
                </a:solidFill>
              </a:rPr>
              <a:t>multiple timestamps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208" name="Google Shape;208;p20"/>
          <p:cNvSpPr/>
          <p:nvPr/>
        </p:nvSpPr>
        <p:spPr>
          <a:xfrm rot="10800000">
            <a:off x="4498075" y="1114050"/>
            <a:ext cx="125700" cy="5022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20"/>
          <p:cNvSpPr/>
          <p:nvPr/>
        </p:nvSpPr>
        <p:spPr>
          <a:xfrm rot="5400000">
            <a:off x="4032725" y="626075"/>
            <a:ext cx="125700" cy="6576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20"/>
          <p:cNvSpPr/>
          <p:nvPr/>
        </p:nvSpPr>
        <p:spPr>
          <a:xfrm rot="-5400000">
            <a:off x="5108600" y="2620675"/>
            <a:ext cx="71100" cy="1242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11" name="Google Shape;211;p20"/>
          <p:cNvCxnSpPr/>
          <p:nvPr/>
        </p:nvCxnSpPr>
        <p:spPr>
          <a:xfrm flipH="1" rot="10800000">
            <a:off x="4892400" y="2759175"/>
            <a:ext cx="220500" cy="2721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12" name="Google Shape;212;p20"/>
          <p:cNvSpPr/>
          <p:nvPr/>
        </p:nvSpPr>
        <p:spPr>
          <a:xfrm>
            <a:off x="1414475" y="1013575"/>
            <a:ext cx="1716900" cy="36762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20"/>
          <p:cNvSpPr/>
          <p:nvPr/>
        </p:nvSpPr>
        <p:spPr>
          <a:xfrm>
            <a:off x="576425" y="1748124"/>
            <a:ext cx="300600" cy="3006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20"/>
          <p:cNvSpPr/>
          <p:nvPr/>
        </p:nvSpPr>
        <p:spPr>
          <a:xfrm>
            <a:off x="576425" y="2744923"/>
            <a:ext cx="300600" cy="3006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20"/>
          <p:cNvSpPr/>
          <p:nvPr/>
        </p:nvSpPr>
        <p:spPr>
          <a:xfrm>
            <a:off x="576425" y="3836594"/>
            <a:ext cx="300600" cy="3006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20"/>
          <p:cNvSpPr/>
          <p:nvPr/>
        </p:nvSpPr>
        <p:spPr>
          <a:xfrm>
            <a:off x="576425" y="3291026"/>
            <a:ext cx="300600" cy="3006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20"/>
          <p:cNvSpPr/>
          <p:nvPr/>
        </p:nvSpPr>
        <p:spPr>
          <a:xfrm>
            <a:off x="576425" y="4347841"/>
            <a:ext cx="300600" cy="300600"/>
          </a:xfrm>
          <a:prstGeom prst="ellipse">
            <a:avLst/>
          </a:prstGeom>
          <a:solidFill>
            <a:srgbClr val="9E9E9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20"/>
          <p:cNvSpPr/>
          <p:nvPr/>
        </p:nvSpPr>
        <p:spPr>
          <a:xfrm>
            <a:off x="576425" y="2265487"/>
            <a:ext cx="300600" cy="300600"/>
          </a:xfrm>
          <a:prstGeom prst="ellipse">
            <a:avLst/>
          </a:prstGeom>
          <a:solidFill>
            <a:srgbClr val="9E9E9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19" name="Google Shape;219;p20"/>
          <p:cNvCxnSpPr>
            <a:stCxn id="213" idx="4"/>
            <a:endCxn id="218" idx="0"/>
          </p:cNvCxnSpPr>
          <p:nvPr/>
        </p:nvCxnSpPr>
        <p:spPr>
          <a:xfrm>
            <a:off x="726725" y="2048724"/>
            <a:ext cx="0" cy="216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20" name="Google Shape;220;p20"/>
          <p:cNvCxnSpPr>
            <a:stCxn id="218" idx="4"/>
            <a:endCxn id="214" idx="0"/>
          </p:cNvCxnSpPr>
          <p:nvPr/>
        </p:nvCxnSpPr>
        <p:spPr>
          <a:xfrm>
            <a:off x="726725" y="2566087"/>
            <a:ext cx="0" cy="17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21" name="Google Shape;221;p20"/>
          <p:cNvCxnSpPr>
            <a:stCxn id="214" idx="4"/>
            <a:endCxn id="216" idx="0"/>
          </p:cNvCxnSpPr>
          <p:nvPr/>
        </p:nvCxnSpPr>
        <p:spPr>
          <a:xfrm>
            <a:off x="726725" y="3045523"/>
            <a:ext cx="0" cy="245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22" name="Google Shape;222;p20"/>
          <p:cNvCxnSpPr>
            <a:stCxn id="216" idx="4"/>
            <a:endCxn id="215" idx="0"/>
          </p:cNvCxnSpPr>
          <p:nvPr/>
        </p:nvCxnSpPr>
        <p:spPr>
          <a:xfrm>
            <a:off x="726725" y="3591626"/>
            <a:ext cx="0" cy="24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23" name="Google Shape;223;p20"/>
          <p:cNvCxnSpPr>
            <a:stCxn id="215" idx="4"/>
            <a:endCxn id="217" idx="0"/>
          </p:cNvCxnSpPr>
          <p:nvPr/>
        </p:nvCxnSpPr>
        <p:spPr>
          <a:xfrm>
            <a:off x="726725" y="4137194"/>
            <a:ext cx="0" cy="210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24" name="Google Shape;224;p20"/>
          <p:cNvSpPr/>
          <p:nvPr/>
        </p:nvSpPr>
        <p:spPr>
          <a:xfrm>
            <a:off x="576425" y="1230624"/>
            <a:ext cx="300600" cy="3006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25" name="Google Shape;225;p20"/>
          <p:cNvCxnSpPr>
            <a:stCxn id="224" idx="4"/>
          </p:cNvCxnSpPr>
          <p:nvPr/>
        </p:nvCxnSpPr>
        <p:spPr>
          <a:xfrm>
            <a:off x="726725" y="1531224"/>
            <a:ext cx="0" cy="216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26" name="Google Shape;226;p20"/>
          <p:cNvSpPr/>
          <p:nvPr/>
        </p:nvSpPr>
        <p:spPr>
          <a:xfrm>
            <a:off x="2411895" y="1068875"/>
            <a:ext cx="178800" cy="178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20"/>
          <p:cNvSpPr txBox="1"/>
          <p:nvPr/>
        </p:nvSpPr>
        <p:spPr>
          <a:xfrm>
            <a:off x="1154800" y="1180827"/>
            <a:ext cx="1033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M1</a:t>
            </a:r>
            <a:endParaRPr/>
          </a:p>
        </p:txBody>
      </p:sp>
      <p:cxnSp>
        <p:nvCxnSpPr>
          <p:cNvPr id="228" name="Google Shape;228;p20"/>
          <p:cNvCxnSpPr/>
          <p:nvPr/>
        </p:nvCxnSpPr>
        <p:spPr>
          <a:xfrm>
            <a:off x="311700" y="1635975"/>
            <a:ext cx="2906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229" name="Google Shape;229;p20"/>
          <p:cNvSpPr txBox="1"/>
          <p:nvPr/>
        </p:nvSpPr>
        <p:spPr>
          <a:xfrm>
            <a:off x="1154800" y="1669644"/>
            <a:ext cx="1033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M2</a:t>
            </a:r>
            <a:endParaRPr/>
          </a:p>
        </p:txBody>
      </p:sp>
      <p:cxnSp>
        <p:nvCxnSpPr>
          <p:cNvPr id="230" name="Google Shape;230;p20"/>
          <p:cNvCxnSpPr/>
          <p:nvPr/>
        </p:nvCxnSpPr>
        <p:spPr>
          <a:xfrm>
            <a:off x="311700" y="2124792"/>
            <a:ext cx="2906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231" name="Google Shape;231;p20"/>
          <p:cNvSpPr txBox="1"/>
          <p:nvPr/>
        </p:nvSpPr>
        <p:spPr>
          <a:xfrm>
            <a:off x="1154800" y="2169462"/>
            <a:ext cx="1033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Q3</a:t>
            </a:r>
            <a:endParaRPr/>
          </a:p>
        </p:txBody>
      </p:sp>
      <p:cxnSp>
        <p:nvCxnSpPr>
          <p:cNvPr id="232" name="Google Shape;232;p20"/>
          <p:cNvCxnSpPr/>
          <p:nvPr/>
        </p:nvCxnSpPr>
        <p:spPr>
          <a:xfrm>
            <a:off x="311700" y="2624610"/>
            <a:ext cx="2906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233" name="Google Shape;233;p20"/>
          <p:cNvSpPr txBox="1"/>
          <p:nvPr/>
        </p:nvSpPr>
        <p:spPr>
          <a:xfrm>
            <a:off x="1154800" y="2700987"/>
            <a:ext cx="1033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M4</a:t>
            </a:r>
            <a:endParaRPr/>
          </a:p>
        </p:txBody>
      </p:sp>
      <p:cxnSp>
        <p:nvCxnSpPr>
          <p:cNvPr id="234" name="Google Shape;234;p20"/>
          <p:cNvCxnSpPr/>
          <p:nvPr/>
        </p:nvCxnSpPr>
        <p:spPr>
          <a:xfrm>
            <a:off x="311700" y="3156135"/>
            <a:ext cx="2906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235" name="Google Shape;235;p20"/>
          <p:cNvSpPr txBox="1"/>
          <p:nvPr/>
        </p:nvSpPr>
        <p:spPr>
          <a:xfrm>
            <a:off x="1154800" y="3246107"/>
            <a:ext cx="1033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M5</a:t>
            </a:r>
            <a:endParaRPr/>
          </a:p>
        </p:txBody>
      </p:sp>
      <p:cxnSp>
        <p:nvCxnSpPr>
          <p:cNvPr id="236" name="Google Shape;236;p20"/>
          <p:cNvCxnSpPr/>
          <p:nvPr/>
        </p:nvCxnSpPr>
        <p:spPr>
          <a:xfrm>
            <a:off x="311700" y="3701256"/>
            <a:ext cx="2906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237" name="Google Shape;237;p20"/>
          <p:cNvSpPr txBox="1"/>
          <p:nvPr/>
        </p:nvSpPr>
        <p:spPr>
          <a:xfrm>
            <a:off x="1154800" y="3766726"/>
            <a:ext cx="1033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M6</a:t>
            </a:r>
            <a:endParaRPr/>
          </a:p>
        </p:txBody>
      </p:sp>
      <p:cxnSp>
        <p:nvCxnSpPr>
          <p:cNvPr id="238" name="Google Shape;238;p20"/>
          <p:cNvCxnSpPr/>
          <p:nvPr/>
        </p:nvCxnSpPr>
        <p:spPr>
          <a:xfrm>
            <a:off x="311700" y="4221875"/>
            <a:ext cx="2906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239" name="Google Shape;239;p20"/>
          <p:cNvSpPr txBox="1"/>
          <p:nvPr/>
        </p:nvSpPr>
        <p:spPr>
          <a:xfrm>
            <a:off x="1154800" y="4276826"/>
            <a:ext cx="1033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Q7</a:t>
            </a:r>
            <a:endParaRPr/>
          </a:p>
        </p:txBody>
      </p:sp>
      <p:sp>
        <p:nvSpPr>
          <p:cNvPr id="240" name="Google Shape;240;p20"/>
          <p:cNvSpPr/>
          <p:nvPr/>
        </p:nvSpPr>
        <p:spPr>
          <a:xfrm>
            <a:off x="1989345" y="1254300"/>
            <a:ext cx="178800" cy="178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20"/>
          <p:cNvSpPr/>
          <p:nvPr/>
        </p:nvSpPr>
        <p:spPr>
          <a:xfrm>
            <a:off x="2721445" y="1237462"/>
            <a:ext cx="178800" cy="178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20"/>
          <p:cNvSpPr/>
          <p:nvPr/>
        </p:nvSpPr>
        <p:spPr>
          <a:xfrm>
            <a:off x="2388670" y="1421987"/>
            <a:ext cx="178800" cy="178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20"/>
          <p:cNvSpPr/>
          <p:nvPr/>
        </p:nvSpPr>
        <p:spPr>
          <a:xfrm>
            <a:off x="2118920" y="1689550"/>
            <a:ext cx="178800" cy="178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20"/>
          <p:cNvSpPr/>
          <p:nvPr/>
        </p:nvSpPr>
        <p:spPr>
          <a:xfrm>
            <a:off x="2377545" y="1826225"/>
            <a:ext cx="178800" cy="178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20"/>
          <p:cNvSpPr/>
          <p:nvPr/>
        </p:nvSpPr>
        <p:spPr>
          <a:xfrm>
            <a:off x="2188295" y="2320712"/>
            <a:ext cx="178800" cy="178800"/>
          </a:xfrm>
          <a:prstGeom prst="ellipse">
            <a:avLst/>
          </a:prstGeom>
          <a:solidFill>
            <a:srgbClr val="9E9E9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20"/>
          <p:cNvSpPr/>
          <p:nvPr/>
        </p:nvSpPr>
        <p:spPr>
          <a:xfrm>
            <a:off x="2188295" y="4392800"/>
            <a:ext cx="178800" cy="178800"/>
          </a:xfrm>
          <a:prstGeom prst="ellipse">
            <a:avLst/>
          </a:prstGeom>
          <a:solidFill>
            <a:srgbClr val="9E9E9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20"/>
          <p:cNvSpPr/>
          <p:nvPr/>
        </p:nvSpPr>
        <p:spPr>
          <a:xfrm>
            <a:off x="2588932" y="2285300"/>
            <a:ext cx="178800" cy="178800"/>
          </a:xfrm>
          <a:prstGeom prst="ellipse">
            <a:avLst/>
          </a:prstGeom>
          <a:solidFill>
            <a:srgbClr val="9E9E9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20"/>
          <p:cNvSpPr/>
          <p:nvPr/>
        </p:nvSpPr>
        <p:spPr>
          <a:xfrm>
            <a:off x="2464982" y="4400075"/>
            <a:ext cx="178800" cy="178800"/>
          </a:xfrm>
          <a:prstGeom prst="ellipse">
            <a:avLst/>
          </a:prstGeom>
          <a:solidFill>
            <a:srgbClr val="9E9E9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20"/>
          <p:cNvSpPr/>
          <p:nvPr/>
        </p:nvSpPr>
        <p:spPr>
          <a:xfrm>
            <a:off x="2153570" y="2800975"/>
            <a:ext cx="178800" cy="178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20"/>
          <p:cNvSpPr/>
          <p:nvPr/>
        </p:nvSpPr>
        <p:spPr>
          <a:xfrm>
            <a:off x="2446670" y="2823625"/>
            <a:ext cx="178800" cy="178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51" name="Google Shape;251;p20"/>
          <p:cNvCxnSpPr>
            <a:stCxn id="226" idx="2"/>
            <a:endCxn id="240" idx="7"/>
          </p:cNvCxnSpPr>
          <p:nvPr/>
        </p:nvCxnSpPr>
        <p:spPr>
          <a:xfrm flipH="1">
            <a:off x="2141895" y="1158275"/>
            <a:ext cx="270000" cy="122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52" name="Google Shape;252;p20"/>
          <p:cNvCxnSpPr>
            <a:stCxn id="226" idx="4"/>
            <a:endCxn id="242" idx="0"/>
          </p:cNvCxnSpPr>
          <p:nvPr/>
        </p:nvCxnSpPr>
        <p:spPr>
          <a:xfrm flipH="1">
            <a:off x="2478195" y="1247675"/>
            <a:ext cx="23100" cy="174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53" name="Google Shape;253;p20"/>
          <p:cNvCxnSpPr>
            <a:stCxn id="241" idx="2"/>
            <a:endCxn id="242" idx="6"/>
          </p:cNvCxnSpPr>
          <p:nvPr/>
        </p:nvCxnSpPr>
        <p:spPr>
          <a:xfrm flipH="1">
            <a:off x="2567545" y="1326862"/>
            <a:ext cx="153900" cy="184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54" name="Google Shape;254;p20"/>
          <p:cNvCxnSpPr>
            <a:stCxn id="226" idx="3"/>
            <a:endCxn id="243" idx="0"/>
          </p:cNvCxnSpPr>
          <p:nvPr/>
        </p:nvCxnSpPr>
        <p:spPr>
          <a:xfrm flipH="1">
            <a:off x="2208279" y="1221490"/>
            <a:ext cx="229800" cy="468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55" name="Google Shape;255;p20"/>
          <p:cNvCxnSpPr>
            <a:stCxn id="242" idx="4"/>
            <a:endCxn id="244" idx="0"/>
          </p:cNvCxnSpPr>
          <p:nvPr/>
        </p:nvCxnSpPr>
        <p:spPr>
          <a:xfrm flipH="1">
            <a:off x="2466970" y="1600787"/>
            <a:ext cx="11100" cy="225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56" name="Google Shape;256;p20"/>
          <p:cNvCxnSpPr>
            <a:stCxn id="244" idx="4"/>
            <a:endCxn id="247" idx="0"/>
          </p:cNvCxnSpPr>
          <p:nvPr/>
        </p:nvCxnSpPr>
        <p:spPr>
          <a:xfrm>
            <a:off x="2466945" y="2005025"/>
            <a:ext cx="211500" cy="280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57" name="Google Shape;257;p20"/>
          <p:cNvCxnSpPr>
            <a:stCxn id="243" idx="4"/>
            <a:endCxn id="245" idx="0"/>
          </p:cNvCxnSpPr>
          <p:nvPr/>
        </p:nvCxnSpPr>
        <p:spPr>
          <a:xfrm>
            <a:off x="2208320" y="1868350"/>
            <a:ext cx="69300" cy="452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58" name="Google Shape;258;p20"/>
          <p:cNvCxnSpPr>
            <a:stCxn id="247" idx="2"/>
            <a:endCxn id="245" idx="6"/>
          </p:cNvCxnSpPr>
          <p:nvPr/>
        </p:nvCxnSpPr>
        <p:spPr>
          <a:xfrm flipH="1">
            <a:off x="2367232" y="2374700"/>
            <a:ext cx="221700" cy="354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dash"/>
            <a:round/>
            <a:headEnd len="med" w="med" type="none"/>
            <a:tailEnd len="med" w="med" type="triangle"/>
          </a:ln>
        </p:spPr>
      </p:cxnSp>
      <p:cxnSp>
        <p:nvCxnSpPr>
          <p:cNvPr id="259" name="Google Shape;259;p20"/>
          <p:cNvCxnSpPr>
            <a:stCxn id="247" idx="4"/>
            <a:endCxn id="250" idx="0"/>
          </p:cNvCxnSpPr>
          <p:nvPr/>
        </p:nvCxnSpPr>
        <p:spPr>
          <a:xfrm flipH="1">
            <a:off x="2536132" y="2464100"/>
            <a:ext cx="142200" cy="3594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dash"/>
            <a:round/>
            <a:headEnd len="med" w="med" type="none"/>
            <a:tailEnd len="med" w="med" type="triangle"/>
          </a:ln>
        </p:spPr>
      </p:cxnSp>
      <p:cxnSp>
        <p:nvCxnSpPr>
          <p:cNvPr id="260" name="Google Shape;260;p20"/>
          <p:cNvCxnSpPr>
            <a:stCxn id="240" idx="3"/>
            <a:endCxn id="249" idx="2"/>
          </p:cNvCxnSpPr>
          <p:nvPr/>
        </p:nvCxnSpPr>
        <p:spPr>
          <a:xfrm flipH="1" rot="-5400000">
            <a:off x="1342779" y="2079665"/>
            <a:ext cx="1483500" cy="138000"/>
          </a:xfrm>
          <a:prstGeom prst="curved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61" name="Google Shape;261;p20"/>
          <p:cNvCxnSpPr>
            <a:stCxn id="244" idx="6"/>
            <a:endCxn id="250" idx="6"/>
          </p:cNvCxnSpPr>
          <p:nvPr/>
        </p:nvCxnSpPr>
        <p:spPr>
          <a:xfrm>
            <a:off x="2556345" y="1915625"/>
            <a:ext cx="69000" cy="997500"/>
          </a:xfrm>
          <a:prstGeom prst="curvedConnector3">
            <a:avLst>
              <a:gd fmla="val 44529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62" name="Google Shape;262;p20"/>
          <p:cNvSpPr/>
          <p:nvPr/>
        </p:nvSpPr>
        <p:spPr>
          <a:xfrm>
            <a:off x="2620770" y="3304875"/>
            <a:ext cx="178800" cy="178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20"/>
          <p:cNvSpPr/>
          <p:nvPr/>
        </p:nvSpPr>
        <p:spPr>
          <a:xfrm>
            <a:off x="2118920" y="3872162"/>
            <a:ext cx="178800" cy="178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20"/>
          <p:cNvSpPr/>
          <p:nvPr/>
        </p:nvSpPr>
        <p:spPr>
          <a:xfrm>
            <a:off x="2438070" y="3999975"/>
            <a:ext cx="178800" cy="178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20"/>
          <p:cNvSpPr/>
          <p:nvPr/>
        </p:nvSpPr>
        <p:spPr>
          <a:xfrm>
            <a:off x="2483295" y="3737850"/>
            <a:ext cx="178800" cy="178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66" name="Google Shape;266;p20"/>
          <p:cNvCxnSpPr>
            <a:stCxn id="250" idx="4"/>
            <a:endCxn id="265" idx="0"/>
          </p:cNvCxnSpPr>
          <p:nvPr/>
        </p:nvCxnSpPr>
        <p:spPr>
          <a:xfrm>
            <a:off x="2536070" y="3002425"/>
            <a:ext cx="36600" cy="735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67" name="Google Shape;267;p20"/>
          <p:cNvSpPr/>
          <p:nvPr/>
        </p:nvSpPr>
        <p:spPr>
          <a:xfrm>
            <a:off x="2118920" y="3339287"/>
            <a:ext cx="178800" cy="178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68" name="Google Shape;268;p20"/>
          <p:cNvCxnSpPr>
            <a:stCxn id="249" idx="4"/>
            <a:endCxn id="267" idx="0"/>
          </p:cNvCxnSpPr>
          <p:nvPr/>
        </p:nvCxnSpPr>
        <p:spPr>
          <a:xfrm flipH="1">
            <a:off x="2208170" y="2979775"/>
            <a:ext cx="34800" cy="359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69" name="Google Shape;269;p20"/>
          <p:cNvCxnSpPr>
            <a:stCxn id="242" idx="6"/>
            <a:endCxn id="264" idx="6"/>
          </p:cNvCxnSpPr>
          <p:nvPr/>
        </p:nvCxnSpPr>
        <p:spPr>
          <a:xfrm>
            <a:off x="2567470" y="1511387"/>
            <a:ext cx="49500" cy="2577900"/>
          </a:xfrm>
          <a:prstGeom prst="curvedConnector3">
            <a:avLst>
              <a:gd fmla="val 580859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70" name="Google Shape;270;p20"/>
          <p:cNvCxnSpPr>
            <a:stCxn id="245" idx="2"/>
            <a:endCxn id="263" idx="2"/>
          </p:cNvCxnSpPr>
          <p:nvPr/>
        </p:nvCxnSpPr>
        <p:spPr>
          <a:xfrm flipH="1">
            <a:off x="2118995" y="2410112"/>
            <a:ext cx="69300" cy="1551600"/>
          </a:xfrm>
          <a:prstGeom prst="curvedConnector3">
            <a:avLst>
              <a:gd fmla="val 443723" name="adj1"/>
            </a:avLst>
          </a:prstGeom>
          <a:noFill/>
          <a:ln cap="flat" cmpd="sng" w="9525">
            <a:solidFill>
              <a:srgbClr val="FF0000"/>
            </a:solidFill>
            <a:prstDash val="dash"/>
            <a:round/>
            <a:headEnd len="med" w="med" type="none"/>
            <a:tailEnd len="med" w="med" type="triangle"/>
          </a:ln>
        </p:spPr>
      </p:cxnSp>
      <p:cxnSp>
        <p:nvCxnSpPr>
          <p:cNvPr id="271" name="Google Shape;271;p20"/>
          <p:cNvCxnSpPr>
            <a:stCxn id="263" idx="4"/>
            <a:endCxn id="246" idx="0"/>
          </p:cNvCxnSpPr>
          <p:nvPr/>
        </p:nvCxnSpPr>
        <p:spPr>
          <a:xfrm>
            <a:off x="2208320" y="4050962"/>
            <a:ext cx="69300" cy="341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72" name="Google Shape;272;p20"/>
          <p:cNvCxnSpPr>
            <a:stCxn id="264" idx="4"/>
            <a:endCxn id="248" idx="0"/>
          </p:cNvCxnSpPr>
          <p:nvPr/>
        </p:nvCxnSpPr>
        <p:spPr>
          <a:xfrm>
            <a:off x="2527470" y="4178775"/>
            <a:ext cx="27000" cy="22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73" name="Google Shape;273;p20"/>
          <p:cNvCxnSpPr>
            <a:stCxn id="250" idx="2"/>
            <a:endCxn id="264" idx="2"/>
          </p:cNvCxnSpPr>
          <p:nvPr/>
        </p:nvCxnSpPr>
        <p:spPr>
          <a:xfrm flipH="1">
            <a:off x="2437970" y="2913025"/>
            <a:ext cx="8700" cy="1176300"/>
          </a:xfrm>
          <a:prstGeom prst="curvedConnector3">
            <a:avLst>
              <a:gd fmla="val 283592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74" name="Google Shape;274;p20"/>
          <p:cNvSpPr txBox="1"/>
          <p:nvPr/>
        </p:nvSpPr>
        <p:spPr>
          <a:xfrm>
            <a:off x="1596725" y="4662300"/>
            <a:ext cx="1352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>
                <a:solidFill>
                  <a:srgbClr val="FF0000"/>
                </a:solidFill>
              </a:rPr>
              <a:t>causal graph</a:t>
            </a:r>
            <a:endParaRPr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Machine POV</a:t>
            </a:r>
            <a:endParaRPr/>
          </a:p>
        </p:txBody>
      </p:sp>
      <p:cxnSp>
        <p:nvCxnSpPr>
          <p:cNvPr id="280" name="Google Shape;280;p21"/>
          <p:cNvCxnSpPr/>
          <p:nvPr/>
        </p:nvCxnSpPr>
        <p:spPr>
          <a:xfrm rot="10800000">
            <a:off x="3646513" y="1127149"/>
            <a:ext cx="0" cy="3440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281" name="Google Shape;281;p21"/>
          <p:cNvSpPr txBox="1"/>
          <p:nvPr/>
        </p:nvSpPr>
        <p:spPr>
          <a:xfrm>
            <a:off x="3241362" y="2409163"/>
            <a:ext cx="260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000"/>
              <a:t>f</a:t>
            </a:r>
            <a:endParaRPr sz="2000"/>
          </a:p>
        </p:txBody>
      </p:sp>
      <p:cxnSp>
        <p:nvCxnSpPr>
          <p:cNvPr id="282" name="Google Shape;282;p21"/>
          <p:cNvCxnSpPr/>
          <p:nvPr/>
        </p:nvCxnSpPr>
        <p:spPr>
          <a:xfrm>
            <a:off x="3825779" y="4722275"/>
            <a:ext cx="43833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83" name="Google Shape;283;p21"/>
          <p:cNvSpPr txBox="1"/>
          <p:nvPr/>
        </p:nvSpPr>
        <p:spPr>
          <a:xfrm>
            <a:off x="5887062" y="4750031"/>
            <a:ext cx="260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000"/>
              <a:t>t</a:t>
            </a:r>
            <a:endParaRPr sz="2000"/>
          </a:p>
        </p:txBody>
      </p:sp>
      <p:sp>
        <p:nvSpPr>
          <p:cNvPr id="284" name="Google Shape;284;p21"/>
          <p:cNvSpPr/>
          <p:nvPr/>
        </p:nvSpPr>
        <p:spPr>
          <a:xfrm>
            <a:off x="3766892" y="1647450"/>
            <a:ext cx="4232100" cy="502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21"/>
          <p:cNvSpPr/>
          <p:nvPr/>
        </p:nvSpPr>
        <p:spPr>
          <a:xfrm>
            <a:off x="3766719" y="2273725"/>
            <a:ext cx="4232100" cy="300600"/>
          </a:xfrm>
          <a:prstGeom prst="rect">
            <a:avLst/>
          </a:prstGeom>
          <a:solidFill>
            <a:srgbClr val="9E9E9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21"/>
          <p:cNvSpPr/>
          <p:nvPr/>
        </p:nvSpPr>
        <p:spPr>
          <a:xfrm>
            <a:off x="3766723" y="2635225"/>
            <a:ext cx="4232100" cy="502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21"/>
          <p:cNvSpPr/>
          <p:nvPr/>
        </p:nvSpPr>
        <p:spPr>
          <a:xfrm>
            <a:off x="3766989" y="3194150"/>
            <a:ext cx="4232100" cy="502200"/>
          </a:xfrm>
          <a:prstGeom prst="rect">
            <a:avLst/>
          </a:prstGeom>
          <a:solidFill>
            <a:srgbClr val="9E9E9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21"/>
          <p:cNvSpPr/>
          <p:nvPr/>
        </p:nvSpPr>
        <p:spPr>
          <a:xfrm>
            <a:off x="3766824" y="3735925"/>
            <a:ext cx="4232100" cy="502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21"/>
          <p:cNvSpPr/>
          <p:nvPr/>
        </p:nvSpPr>
        <p:spPr>
          <a:xfrm>
            <a:off x="3766850" y="4333575"/>
            <a:ext cx="4232100" cy="330300"/>
          </a:xfrm>
          <a:prstGeom prst="rect">
            <a:avLst/>
          </a:prstGeom>
          <a:solidFill>
            <a:srgbClr val="9E9E9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21"/>
          <p:cNvSpPr/>
          <p:nvPr/>
        </p:nvSpPr>
        <p:spPr>
          <a:xfrm>
            <a:off x="6169251" y="1851675"/>
            <a:ext cx="1829700" cy="102000"/>
          </a:xfrm>
          <a:prstGeom prst="rect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21"/>
          <p:cNvSpPr/>
          <p:nvPr/>
        </p:nvSpPr>
        <p:spPr>
          <a:xfrm>
            <a:off x="7873250" y="4395258"/>
            <a:ext cx="125700" cy="102000"/>
          </a:xfrm>
          <a:prstGeom prst="rect">
            <a:avLst/>
          </a:prstGeom>
          <a:solidFill>
            <a:srgbClr val="FF99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21"/>
          <p:cNvSpPr txBox="1"/>
          <p:nvPr/>
        </p:nvSpPr>
        <p:spPr>
          <a:xfrm>
            <a:off x="7998950" y="1698325"/>
            <a:ext cx="1146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rgbClr val="FF0000"/>
                </a:solidFill>
              </a:rPr>
              <a:t>root cause</a:t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293" name="Google Shape;293;p21"/>
          <p:cNvSpPr txBox="1"/>
          <p:nvPr/>
        </p:nvSpPr>
        <p:spPr>
          <a:xfrm>
            <a:off x="7998950" y="4246150"/>
            <a:ext cx="1146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rgbClr val="FF9900"/>
                </a:solidFill>
              </a:rPr>
              <a:t>trigger point</a:t>
            </a:r>
            <a:endParaRPr>
              <a:solidFill>
                <a:srgbClr val="FF9900"/>
              </a:solidFill>
            </a:endParaRPr>
          </a:p>
        </p:txBody>
      </p:sp>
      <p:sp>
        <p:nvSpPr>
          <p:cNvPr id="294" name="Google Shape;294;p21"/>
          <p:cNvSpPr/>
          <p:nvPr/>
        </p:nvSpPr>
        <p:spPr>
          <a:xfrm>
            <a:off x="3766849" y="1114050"/>
            <a:ext cx="4232100" cy="502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21"/>
          <p:cNvSpPr txBox="1"/>
          <p:nvPr/>
        </p:nvSpPr>
        <p:spPr>
          <a:xfrm>
            <a:off x="4720250" y="0"/>
            <a:ext cx="4424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Very similar to MicroHECL’s service-based approach</a:t>
            </a:r>
            <a:endParaRPr/>
          </a:p>
        </p:txBody>
      </p:sp>
      <p:sp>
        <p:nvSpPr>
          <p:cNvPr id="296" name="Google Shape;296;p21"/>
          <p:cNvSpPr txBox="1"/>
          <p:nvPr/>
        </p:nvSpPr>
        <p:spPr>
          <a:xfrm>
            <a:off x="6169121" y="4780675"/>
            <a:ext cx="1829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accent1"/>
                </a:solidFill>
              </a:rPr>
              <a:t>Same sample rate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297" name="Google Shape;297;p21"/>
          <p:cNvSpPr/>
          <p:nvPr/>
        </p:nvSpPr>
        <p:spPr>
          <a:xfrm>
            <a:off x="6169125" y="1026450"/>
            <a:ext cx="1829700" cy="37617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4A86E8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21"/>
          <p:cNvSpPr/>
          <p:nvPr/>
        </p:nvSpPr>
        <p:spPr>
          <a:xfrm>
            <a:off x="1414475" y="1013575"/>
            <a:ext cx="1716900" cy="36762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21"/>
          <p:cNvSpPr/>
          <p:nvPr/>
        </p:nvSpPr>
        <p:spPr>
          <a:xfrm>
            <a:off x="576425" y="1748124"/>
            <a:ext cx="300600" cy="3006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21"/>
          <p:cNvSpPr/>
          <p:nvPr/>
        </p:nvSpPr>
        <p:spPr>
          <a:xfrm>
            <a:off x="576425" y="2744923"/>
            <a:ext cx="300600" cy="3006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21"/>
          <p:cNvSpPr/>
          <p:nvPr/>
        </p:nvSpPr>
        <p:spPr>
          <a:xfrm>
            <a:off x="576425" y="3836594"/>
            <a:ext cx="300600" cy="3006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21"/>
          <p:cNvSpPr/>
          <p:nvPr/>
        </p:nvSpPr>
        <p:spPr>
          <a:xfrm>
            <a:off x="576425" y="3291026"/>
            <a:ext cx="300600" cy="3006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21"/>
          <p:cNvSpPr/>
          <p:nvPr/>
        </p:nvSpPr>
        <p:spPr>
          <a:xfrm>
            <a:off x="576425" y="4347841"/>
            <a:ext cx="300600" cy="300600"/>
          </a:xfrm>
          <a:prstGeom prst="ellipse">
            <a:avLst/>
          </a:prstGeom>
          <a:solidFill>
            <a:srgbClr val="9E9E9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21"/>
          <p:cNvSpPr/>
          <p:nvPr/>
        </p:nvSpPr>
        <p:spPr>
          <a:xfrm>
            <a:off x="576425" y="2265487"/>
            <a:ext cx="300600" cy="300600"/>
          </a:xfrm>
          <a:prstGeom prst="ellipse">
            <a:avLst/>
          </a:prstGeom>
          <a:solidFill>
            <a:srgbClr val="9E9E9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05" name="Google Shape;305;p21"/>
          <p:cNvCxnSpPr>
            <a:stCxn id="299" idx="4"/>
            <a:endCxn id="304" idx="0"/>
          </p:cNvCxnSpPr>
          <p:nvPr/>
        </p:nvCxnSpPr>
        <p:spPr>
          <a:xfrm>
            <a:off x="726725" y="2048724"/>
            <a:ext cx="0" cy="216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06" name="Google Shape;306;p21"/>
          <p:cNvCxnSpPr>
            <a:stCxn id="304" idx="4"/>
            <a:endCxn id="300" idx="0"/>
          </p:cNvCxnSpPr>
          <p:nvPr/>
        </p:nvCxnSpPr>
        <p:spPr>
          <a:xfrm>
            <a:off x="726725" y="2566087"/>
            <a:ext cx="0" cy="17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07" name="Google Shape;307;p21"/>
          <p:cNvCxnSpPr>
            <a:stCxn id="300" idx="4"/>
            <a:endCxn id="302" idx="0"/>
          </p:cNvCxnSpPr>
          <p:nvPr/>
        </p:nvCxnSpPr>
        <p:spPr>
          <a:xfrm>
            <a:off x="726725" y="3045523"/>
            <a:ext cx="0" cy="245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08" name="Google Shape;308;p21"/>
          <p:cNvCxnSpPr>
            <a:stCxn id="302" idx="4"/>
            <a:endCxn id="301" idx="0"/>
          </p:cNvCxnSpPr>
          <p:nvPr/>
        </p:nvCxnSpPr>
        <p:spPr>
          <a:xfrm>
            <a:off x="726725" y="3591626"/>
            <a:ext cx="0" cy="24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09" name="Google Shape;309;p21"/>
          <p:cNvCxnSpPr>
            <a:stCxn id="301" idx="4"/>
            <a:endCxn id="303" idx="0"/>
          </p:cNvCxnSpPr>
          <p:nvPr/>
        </p:nvCxnSpPr>
        <p:spPr>
          <a:xfrm>
            <a:off x="726725" y="4137194"/>
            <a:ext cx="0" cy="210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10" name="Google Shape;310;p21"/>
          <p:cNvSpPr/>
          <p:nvPr/>
        </p:nvSpPr>
        <p:spPr>
          <a:xfrm>
            <a:off x="576425" y="1230624"/>
            <a:ext cx="300600" cy="3006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11" name="Google Shape;311;p21"/>
          <p:cNvCxnSpPr>
            <a:stCxn id="310" idx="4"/>
          </p:cNvCxnSpPr>
          <p:nvPr/>
        </p:nvCxnSpPr>
        <p:spPr>
          <a:xfrm>
            <a:off x="726725" y="1531224"/>
            <a:ext cx="0" cy="216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12" name="Google Shape;312;p21"/>
          <p:cNvSpPr/>
          <p:nvPr/>
        </p:nvSpPr>
        <p:spPr>
          <a:xfrm>
            <a:off x="2411895" y="1068875"/>
            <a:ext cx="178800" cy="178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21"/>
          <p:cNvSpPr txBox="1"/>
          <p:nvPr/>
        </p:nvSpPr>
        <p:spPr>
          <a:xfrm>
            <a:off x="1154800" y="1180827"/>
            <a:ext cx="1033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M1</a:t>
            </a:r>
            <a:endParaRPr/>
          </a:p>
        </p:txBody>
      </p:sp>
      <p:cxnSp>
        <p:nvCxnSpPr>
          <p:cNvPr id="314" name="Google Shape;314;p21"/>
          <p:cNvCxnSpPr/>
          <p:nvPr/>
        </p:nvCxnSpPr>
        <p:spPr>
          <a:xfrm>
            <a:off x="311700" y="1635975"/>
            <a:ext cx="2906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315" name="Google Shape;315;p21"/>
          <p:cNvSpPr txBox="1"/>
          <p:nvPr/>
        </p:nvSpPr>
        <p:spPr>
          <a:xfrm>
            <a:off x="1154800" y="1669644"/>
            <a:ext cx="1033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M2</a:t>
            </a:r>
            <a:endParaRPr/>
          </a:p>
        </p:txBody>
      </p:sp>
      <p:cxnSp>
        <p:nvCxnSpPr>
          <p:cNvPr id="316" name="Google Shape;316;p21"/>
          <p:cNvCxnSpPr/>
          <p:nvPr/>
        </p:nvCxnSpPr>
        <p:spPr>
          <a:xfrm>
            <a:off x="311700" y="2124792"/>
            <a:ext cx="2906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317" name="Google Shape;317;p21"/>
          <p:cNvSpPr txBox="1"/>
          <p:nvPr/>
        </p:nvSpPr>
        <p:spPr>
          <a:xfrm>
            <a:off x="1154800" y="2169462"/>
            <a:ext cx="1033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Q3</a:t>
            </a:r>
            <a:endParaRPr/>
          </a:p>
        </p:txBody>
      </p:sp>
      <p:cxnSp>
        <p:nvCxnSpPr>
          <p:cNvPr id="318" name="Google Shape;318;p21"/>
          <p:cNvCxnSpPr/>
          <p:nvPr/>
        </p:nvCxnSpPr>
        <p:spPr>
          <a:xfrm>
            <a:off x="311700" y="2624610"/>
            <a:ext cx="2906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319" name="Google Shape;319;p21"/>
          <p:cNvSpPr txBox="1"/>
          <p:nvPr/>
        </p:nvSpPr>
        <p:spPr>
          <a:xfrm>
            <a:off x="1154800" y="2700987"/>
            <a:ext cx="1033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M4</a:t>
            </a:r>
            <a:endParaRPr/>
          </a:p>
        </p:txBody>
      </p:sp>
      <p:cxnSp>
        <p:nvCxnSpPr>
          <p:cNvPr id="320" name="Google Shape;320;p21"/>
          <p:cNvCxnSpPr/>
          <p:nvPr/>
        </p:nvCxnSpPr>
        <p:spPr>
          <a:xfrm>
            <a:off x="311700" y="3156135"/>
            <a:ext cx="2906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321" name="Google Shape;321;p21"/>
          <p:cNvSpPr txBox="1"/>
          <p:nvPr/>
        </p:nvSpPr>
        <p:spPr>
          <a:xfrm>
            <a:off x="1154800" y="3246107"/>
            <a:ext cx="1033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M5</a:t>
            </a:r>
            <a:endParaRPr/>
          </a:p>
        </p:txBody>
      </p:sp>
      <p:cxnSp>
        <p:nvCxnSpPr>
          <p:cNvPr id="322" name="Google Shape;322;p21"/>
          <p:cNvCxnSpPr/>
          <p:nvPr/>
        </p:nvCxnSpPr>
        <p:spPr>
          <a:xfrm>
            <a:off x="311700" y="3701256"/>
            <a:ext cx="2906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323" name="Google Shape;323;p21"/>
          <p:cNvSpPr txBox="1"/>
          <p:nvPr/>
        </p:nvSpPr>
        <p:spPr>
          <a:xfrm>
            <a:off x="1154800" y="3766726"/>
            <a:ext cx="1033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M6</a:t>
            </a:r>
            <a:endParaRPr/>
          </a:p>
        </p:txBody>
      </p:sp>
      <p:cxnSp>
        <p:nvCxnSpPr>
          <p:cNvPr id="324" name="Google Shape;324;p21"/>
          <p:cNvCxnSpPr/>
          <p:nvPr/>
        </p:nvCxnSpPr>
        <p:spPr>
          <a:xfrm>
            <a:off x="311700" y="4221875"/>
            <a:ext cx="2906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325" name="Google Shape;325;p21"/>
          <p:cNvSpPr txBox="1"/>
          <p:nvPr/>
        </p:nvSpPr>
        <p:spPr>
          <a:xfrm>
            <a:off x="1154800" y="4276826"/>
            <a:ext cx="1033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Q7</a:t>
            </a:r>
            <a:endParaRPr/>
          </a:p>
        </p:txBody>
      </p:sp>
      <p:sp>
        <p:nvSpPr>
          <p:cNvPr id="326" name="Google Shape;326;p21"/>
          <p:cNvSpPr/>
          <p:nvPr/>
        </p:nvSpPr>
        <p:spPr>
          <a:xfrm>
            <a:off x="1989345" y="1254300"/>
            <a:ext cx="178800" cy="178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21"/>
          <p:cNvSpPr/>
          <p:nvPr/>
        </p:nvSpPr>
        <p:spPr>
          <a:xfrm>
            <a:off x="2721445" y="1237462"/>
            <a:ext cx="178800" cy="178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21"/>
          <p:cNvSpPr/>
          <p:nvPr/>
        </p:nvSpPr>
        <p:spPr>
          <a:xfrm>
            <a:off x="2388670" y="1421987"/>
            <a:ext cx="178800" cy="178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21"/>
          <p:cNvSpPr/>
          <p:nvPr/>
        </p:nvSpPr>
        <p:spPr>
          <a:xfrm>
            <a:off x="2118920" y="1689550"/>
            <a:ext cx="178800" cy="178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21"/>
          <p:cNvSpPr/>
          <p:nvPr/>
        </p:nvSpPr>
        <p:spPr>
          <a:xfrm>
            <a:off x="2377545" y="1826225"/>
            <a:ext cx="178800" cy="178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21"/>
          <p:cNvSpPr/>
          <p:nvPr/>
        </p:nvSpPr>
        <p:spPr>
          <a:xfrm>
            <a:off x="2188295" y="2320712"/>
            <a:ext cx="178800" cy="178800"/>
          </a:xfrm>
          <a:prstGeom prst="ellipse">
            <a:avLst/>
          </a:prstGeom>
          <a:solidFill>
            <a:srgbClr val="9E9E9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21"/>
          <p:cNvSpPr/>
          <p:nvPr/>
        </p:nvSpPr>
        <p:spPr>
          <a:xfrm>
            <a:off x="2188295" y="4392800"/>
            <a:ext cx="178800" cy="178800"/>
          </a:xfrm>
          <a:prstGeom prst="ellipse">
            <a:avLst/>
          </a:prstGeom>
          <a:solidFill>
            <a:srgbClr val="9E9E9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21"/>
          <p:cNvSpPr/>
          <p:nvPr/>
        </p:nvSpPr>
        <p:spPr>
          <a:xfrm>
            <a:off x="2588932" y="2285300"/>
            <a:ext cx="178800" cy="178800"/>
          </a:xfrm>
          <a:prstGeom prst="ellipse">
            <a:avLst/>
          </a:prstGeom>
          <a:solidFill>
            <a:srgbClr val="9E9E9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21"/>
          <p:cNvSpPr/>
          <p:nvPr/>
        </p:nvSpPr>
        <p:spPr>
          <a:xfrm>
            <a:off x="2464982" y="4400075"/>
            <a:ext cx="178800" cy="178800"/>
          </a:xfrm>
          <a:prstGeom prst="ellipse">
            <a:avLst/>
          </a:prstGeom>
          <a:solidFill>
            <a:srgbClr val="9E9E9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21"/>
          <p:cNvSpPr/>
          <p:nvPr/>
        </p:nvSpPr>
        <p:spPr>
          <a:xfrm>
            <a:off x="2153570" y="2800975"/>
            <a:ext cx="178800" cy="178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21"/>
          <p:cNvSpPr/>
          <p:nvPr/>
        </p:nvSpPr>
        <p:spPr>
          <a:xfrm>
            <a:off x="2446670" y="2823625"/>
            <a:ext cx="178800" cy="178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37" name="Google Shape;337;p21"/>
          <p:cNvCxnSpPr>
            <a:stCxn id="312" idx="2"/>
            <a:endCxn id="326" idx="7"/>
          </p:cNvCxnSpPr>
          <p:nvPr/>
        </p:nvCxnSpPr>
        <p:spPr>
          <a:xfrm flipH="1">
            <a:off x="2141895" y="1158275"/>
            <a:ext cx="270000" cy="122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38" name="Google Shape;338;p21"/>
          <p:cNvCxnSpPr>
            <a:stCxn id="312" idx="4"/>
            <a:endCxn id="328" idx="0"/>
          </p:cNvCxnSpPr>
          <p:nvPr/>
        </p:nvCxnSpPr>
        <p:spPr>
          <a:xfrm flipH="1">
            <a:off x="2478195" y="1247675"/>
            <a:ext cx="23100" cy="174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39" name="Google Shape;339;p21"/>
          <p:cNvCxnSpPr>
            <a:stCxn id="327" idx="2"/>
            <a:endCxn id="328" idx="6"/>
          </p:cNvCxnSpPr>
          <p:nvPr/>
        </p:nvCxnSpPr>
        <p:spPr>
          <a:xfrm flipH="1">
            <a:off x="2567545" y="1326862"/>
            <a:ext cx="153900" cy="184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40" name="Google Shape;340;p21"/>
          <p:cNvCxnSpPr>
            <a:stCxn id="312" idx="3"/>
            <a:endCxn id="329" idx="0"/>
          </p:cNvCxnSpPr>
          <p:nvPr/>
        </p:nvCxnSpPr>
        <p:spPr>
          <a:xfrm flipH="1">
            <a:off x="2208279" y="1221490"/>
            <a:ext cx="229800" cy="468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41" name="Google Shape;341;p21"/>
          <p:cNvCxnSpPr>
            <a:stCxn id="328" idx="4"/>
            <a:endCxn id="330" idx="0"/>
          </p:cNvCxnSpPr>
          <p:nvPr/>
        </p:nvCxnSpPr>
        <p:spPr>
          <a:xfrm flipH="1">
            <a:off x="2466970" y="1600787"/>
            <a:ext cx="11100" cy="225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42" name="Google Shape;342;p21"/>
          <p:cNvCxnSpPr>
            <a:stCxn id="330" idx="4"/>
            <a:endCxn id="333" idx="0"/>
          </p:cNvCxnSpPr>
          <p:nvPr/>
        </p:nvCxnSpPr>
        <p:spPr>
          <a:xfrm>
            <a:off x="2466945" y="2005025"/>
            <a:ext cx="211500" cy="280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43" name="Google Shape;343;p21"/>
          <p:cNvCxnSpPr>
            <a:stCxn id="329" idx="4"/>
            <a:endCxn id="331" idx="0"/>
          </p:cNvCxnSpPr>
          <p:nvPr/>
        </p:nvCxnSpPr>
        <p:spPr>
          <a:xfrm>
            <a:off x="2208320" y="1868350"/>
            <a:ext cx="69300" cy="452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44" name="Google Shape;344;p21"/>
          <p:cNvCxnSpPr>
            <a:stCxn id="333" idx="2"/>
            <a:endCxn id="331" idx="6"/>
          </p:cNvCxnSpPr>
          <p:nvPr/>
        </p:nvCxnSpPr>
        <p:spPr>
          <a:xfrm flipH="1">
            <a:off x="2367232" y="2374700"/>
            <a:ext cx="221700" cy="354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dash"/>
            <a:round/>
            <a:headEnd len="med" w="med" type="none"/>
            <a:tailEnd len="med" w="med" type="triangle"/>
          </a:ln>
        </p:spPr>
      </p:cxnSp>
      <p:cxnSp>
        <p:nvCxnSpPr>
          <p:cNvPr id="345" name="Google Shape;345;p21"/>
          <p:cNvCxnSpPr>
            <a:stCxn id="333" idx="4"/>
            <a:endCxn id="336" idx="0"/>
          </p:cNvCxnSpPr>
          <p:nvPr/>
        </p:nvCxnSpPr>
        <p:spPr>
          <a:xfrm flipH="1">
            <a:off x="2536132" y="2464100"/>
            <a:ext cx="142200" cy="3594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dash"/>
            <a:round/>
            <a:headEnd len="med" w="med" type="none"/>
            <a:tailEnd len="med" w="med" type="triangle"/>
          </a:ln>
        </p:spPr>
      </p:cxnSp>
      <p:cxnSp>
        <p:nvCxnSpPr>
          <p:cNvPr id="346" name="Google Shape;346;p21"/>
          <p:cNvCxnSpPr>
            <a:stCxn id="326" idx="3"/>
            <a:endCxn id="335" idx="2"/>
          </p:cNvCxnSpPr>
          <p:nvPr/>
        </p:nvCxnSpPr>
        <p:spPr>
          <a:xfrm flipH="1" rot="-5400000">
            <a:off x="1342779" y="2079665"/>
            <a:ext cx="1483500" cy="138000"/>
          </a:xfrm>
          <a:prstGeom prst="curved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47" name="Google Shape;347;p21"/>
          <p:cNvCxnSpPr>
            <a:stCxn id="330" idx="6"/>
            <a:endCxn id="336" idx="6"/>
          </p:cNvCxnSpPr>
          <p:nvPr/>
        </p:nvCxnSpPr>
        <p:spPr>
          <a:xfrm>
            <a:off x="2556345" y="1915625"/>
            <a:ext cx="69000" cy="997500"/>
          </a:xfrm>
          <a:prstGeom prst="curvedConnector3">
            <a:avLst>
              <a:gd fmla="val 44529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48" name="Google Shape;348;p21"/>
          <p:cNvSpPr/>
          <p:nvPr/>
        </p:nvSpPr>
        <p:spPr>
          <a:xfrm>
            <a:off x="2620770" y="3304875"/>
            <a:ext cx="178800" cy="178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21"/>
          <p:cNvSpPr/>
          <p:nvPr/>
        </p:nvSpPr>
        <p:spPr>
          <a:xfrm>
            <a:off x="2118920" y="3872162"/>
            <a:ext cx="178800" cy="178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21"/>
          <p:cNvSpPr/>
          <p:nvPr/>
        </p:nvSpPr>
        <p:spPr>
          <a:xfrm>
            <a:off x="2438070" y="3999975"/>
            <a:ext cx="178800" cy="178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p21"/>
          <p:cNvSpPr/>
          <p:nvPr/>
        </p:nvSpPr>
        <p:spPr>
          <a:xfrm>
            <a:off x="2483295" y="3737850"/>
            <a:ext cx="178800" cy="178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52" name="Google Shape;352;p21"/>
          <p:cNvCxnSpPr>
            <a:stCxn id="336" idx="4"/>
            <a:endCxn id="351" idx="0"/>
          </p:cNvCxnSpPr>
          <p:nvPr/>
        </p:nvCxnSpPr>
        <p:spPr>
          <a:xfrm>
            <a:off x="2536070" y="3002425"/>
            <a:ext cx="36600" cy="735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53" name="Google Shape;353;p21"/>
          <p:cNvSpPr/>
          <p:nvPr/>
        </p:nvSpPr>
        <p:spPr>
          <a:xfrm>
            <a:off x="2118920" y="3339287"/>
            <a:ext cx="178800" cy="178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54" name="Google Shape;354;p21"/>
          <p:cNvCxnSpPr>
            <a:stCxn id="335" idx="4"/>
            <a:endCxn id="353" idx="0"/>
          </p:cNvCxnSpPr>
          <p:nvPr/>
        </p:nvCxnSpPr>
        <p:spPr>
          <a:xfrm flipH="1">
            <a:off x="2208170" y="2979775"/>
            <a:ext cx="34800" cy="359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55" name="Google Shape;355;p21"/>
          <p:cNvCxnSpPr>
            <a:stCxn id="328" idx="6"/>
            <a:endCxn id="350" idx="6"/>
          </p:cNvCxnSpPr>
          <p:nvPr/>
        </p:nvCxnSpPr>
        <p:spPr>
          <a:xfrm>
            <a:off x="2567470" y="1511387"/>
            <a:ext cx="49500" cy="2577900"/>
          </a:xfrm>
          <a:prstGeom prst="curvedConnector3">
            <a:avLst>
              <a:gd fmla="val 580859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56" name="Google Shape;356;p21"/>
          <p:cNvCxnSpPr>
            <a:stCxn id="331" idx="2"/>
            <a:endCxn id="349" idx="2"/>
          </p:cNvCxnSpPr>
          <p:nvPr/>
        </p:nvCxnSpPr>
        <p:spPr>
          <a:xfrm flipH="1">
            <a:off x="2118995" y="2410112"/>
            <a:ext cx="69300" cy="1551600"/>
          </a:xfrm>
          <a:prstGeom prst="curvedConnector3">
            <a:avLst>
              <a:gd fmla="val 443723" name="adj1"/>
            </a:avLst>
          </a:prstGeom>
          <a:noFill/>
          <a:ln cap="flat" cmpd="sng" w="9525">
            <a:solidFill>
              <a:srgbClr val="FF0000"/>
            </a:solidFill>
            <a:prstDash val="dash"/>
            <a:round/>
            <a:headEnd len="med" w="med" type="none"/>
            <a:tailEnd len="med" w="med" type="triangle"/>
          </a:ln>
        </p:spPr>
      </p:cxnSp>
      <p:cxnSp>
        <p:nvCxnSpPr>
          <p:cNvPr id="357" name="Google Shape;357;p21"/>
          <p:cNvCxnSpPr>
            <a:stCxn id="349" idx="4"/>
            <a:endCxn id="332" idx="0"/>
          </p:cNvCxnSpPr>
          <p:nvPr/>
        </p:nvCxnSpPr>
        <p:spPr>
          <a:xfrm>
            <a:off x="2208320" y="4050962"/>
            <a:ext cx="69300" cy="341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58" name="Google Shape;358;p21"/>
          <p:cNvCxnSpPr>
            <a:stCxn id="350" idx="4"/>
            <a:endCxn id="334" idx="0"/>
          </p:cNvCxnSpPr>
          <p:nvPr/>
        </p:nvCxnSpPr>
        <p:spPr>
          <a:xfrm>
            <a:off x="2527470" y="4178775"/>
            <a:ext cx="27000" cy="22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59" name="Google Shape;359;p21"/>
          <p:cNvCxnSpPr>
            <a:stCxn id="336" idx="2"/>
            <a:endCxn id="350" idx="2"/>
          </p:cNvCxnSpPr>
          <p:nvPr/>
        </p:nvCxnSpPr>
        <p:spPr>
          <a:xfrm flipH="1">
            <a:off x="2437970" y="2913025"/>
            <a:ext cx="8700" cy="1176300"/>
          </a:xfrm>
          <a:prstGeom prst="curvedConnector3">
            <a:avLst>
              <a:gd fmla="val 283592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60" name="Google Shape;360;p21"/>
          <p:cNvSpPr txBox="1"/>
          <p:nvPr/>
        </p:nvSpPr>
        <p:spPr>
          <a:xfrm>
            <a:off x="1596725" y="4662300"/>
            <a:ext cx="1352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>
                <a:solidFill>
                  <a:srgbClr val="FF0000"/>
                </a:solidFill>
              </a:rPr>
              <a:t>causal graph</a:t>
            </a:r>
            <a:endParaRPr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Wafer POV vs. </a:t>
            </a:r>
            <a:r>
              <a:rPr lang="zh-TW"/>
              <a:t>Machine POV</a:t>
            </a:r>
            <a:endParaRPr/>
          </a:p>
        </p:txBody>
      </p:sp>
      <p:cxnSp>
        <p:nvCxnSpPr>
          <p:cNvPr id="366" name="Google Shape;366;p22"/>
          <p:cNvCxnSpPr/>
          <p:nvPr/>
        </p:nvCxnSpPr>
        <p:spPr>
          <a:xfrm rot="10800000">
            <a:off x="3646513" y="1127149"/>
            <a:ext cx="0" cy="3440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367" name="Google Shape;367;p22"/>
          <p:cNvSpPr txBox="1"/>
          <p:nvPr/>
        </p:nvSpPr>
        <p:spPr>
          <a:xfrm>
            <a:off x="3241362" y="2409163"/>
            <a:ext cx="260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000"/>
              <a:t>f</a:t>
            </a:r>
            <a:endParaRPr sz="2000"/>
          </a:p>
        </p:txBody>
      </p:sp>
      <p:cxnSp>
        <p:nvCxnSpPr>
          <p:cNvPr id="368" name="Google Shape;368;p22"/>
          <p:cNvCxnSpPr/>
          <p:nvPr/>
        </p:nvCxnSpPr>
        <p:spPr>
          <a:xfrm>
            <a:off x="3825779" y="4722275"/>
            <a:ext cx="43833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69" name="Google Shape;369;p22"/>
          <p:cNvSpPr txBox="1"/>
          <p:nvPr/>
        </p:nvSpPr>
        <p:spPr>
          <a:xfrm>
            <a:off x="5887062" y="4750031"/>
            <a:ext cx="260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000"/>
              <a:t>t</a:t>
            </a:r>
            <a:endParaRPr sz="2000"/>
          </a:p>
        </p:txBody>
      </p:sp>
      <p:sp>
        <p:nvSpPr>
          <p:cNvPr id="370" name="Google Shape;370;p22"/>
          <p:cNvSpPr/>
          <p:nvPr/>
        </p:nvSpPr>
        <p:spPr>
          <a:xfrm>
            <a:off x="3766892" y="1647450"/>
            <a:ext cx="4232100" cy="502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p22"/>
          <p:cNvSpPr/>
          <p:nvPr/>
        </p:nvSpPr>
        <p:spPr>
          <a:xfrm>
            <a:off x="3766719" y="2273725"/>
            <a:ext cx="4232100" cy="300600"/>
          </a:xfrm>
          <a:prstGeom prst="rect">
            <a:avLst/>
          </a:prstGeom>
          <a:solidFill>
            <a:srgbClr val="9E9E9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p22"/>
          <p:cNvSpPr/>
          <p:nvPr/>
        </p:nvSpPr>
        <p:spPr>
          <a:xfrm>
            <a:off x="3766723" y="2635225"/>
            <a:ext cx="4232100" cy="502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p22"/>
          <p:cNvSpPr/>
          <p:nvPr/>
        </p:nvSpPr>
        <p:spPr>
          <a:xfrm>
            <a:off x="3766989" y="3194150"/>
            <a:ext cx="4232100" cy="502200"/>
          </a:xfrm>
          <a:prstGeom prst="rect">
            <a:avLst/>
          </a:prstGeom>
          <a:solidFill>
            <a:srgbClr val="9E9E9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p22"/>
          <p:cNvSpPr/>
          <p:nvPr/>
        </p:nvSpPr>
        <p:spPr>
          <a:xfrm>
            <a:off x="3766824" y="3735925"/>
            <a:ext cx="4232100" cy="502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p22"/>
          <p:cNvSpPr/>
          <p:nvPr/>
        </p:nvSpPr>
        <p:spPr>
          <a:xfrm>
            <a:off x="3766850" y="4333575"/>
            <a:ext cx="4232100" cy="330300"/>
          </a:xfrm>
          <a:prstGeom prst="rect">
            <a:avLst/>
          </a:prstGeom>
          <a:solidFill>
            <a:srgbClr val="9E9E9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p22"/>
          <p:cNvSpPr/>
          <p:nvPr/>
        </p:nvSpPr>
        <p:spPr>
          <a:xfrm>
            <a:off x="6169251" y="1851675"/>
            <a:ext cx="1829700" cy="102000"/>
          </a:xfrm>
          <a:prstGeom prst="rect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p22"/>
          <p:cNvSpPr/>
          <p:nvPr/>
        </p:nvSpPr>
        <p:spPr>
          <a:xfrm>
            <a:off x="7873250" y="4395258"/>
            <a:ext cx="125700" cy="102000"/>
          </a:xfrm>
          <a:prstGeom prst="rect">
            <a:avLst/>
          </a:prstGeom>
          <a:solidFill>
            <a:srgbClr val="FF99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p22"/>
          <p:cNvSpPr txBox="1"/>
          <p:nvPr/>
        </p:nvSpPr>
        <p:spPr>
          <a:xfrm>
            <a:off x="7998950" y="1698325"/>
            <a:ext cx="1146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rgbClr val="FF0000"/>
                </a:solidFill>
              </a:rPr>
              <a:t>root cause</a:t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379" name="Google Shape;379;p22"/>
          <p:cNvSpPr txBox="1"/>
          <p:nvPr/>
        </p:nvSpPr>
        <p:spPr>
          <a:xfrm>
            <a:off x="7998950" y="4246150"/>
            <a:ext cx="1146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rgbClr val="FF9900"/>
                </a:solidFill>
              </a:rPr>
              <a:t>trigger point</a:t>
            </a:r>
            <a:endParaRPr>
              <a:solidFill>
                <a:srgbClr val="FF9900"/>
              </a:solidFill>
            </a:endParaRPr>
          </a:p>
        </p:txBody>
      </p:sp>
      <p:sp>
        <p:nvSpPr>
          <p:cNvPr id="380" name="Google Shape;380;p22"/>
          <p:cNvSpPr/>
          <p:nvPr/>
        </p:nvSpPr>
        <p:spPr>
          <a:xfrm>
            <a:off x="3766849" y="1114050"/>
            <a:ext cx="4232100" cy="502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p22"/>
          <p:cNvSpPr txBox="1"/>
          <p:nvPr/>
        </p:nvSpPr>
        <p:spPr>
          <a:xfrm>
            <a:off x="6169121" y="4780675"/>
            <a:ext cx="1829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accent1"/>
                </a:solidFill>
              </a:rPr>
              <a:t>Same sample rate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382" name="Google Shape;382;p22"/>
          <p:cNvSpPr txBox="1"/>
          <p:nvPr/>
        </p:nvSpPr>
        <p:spPr>
          <a:xfrm>
            <a:off x="2859739" y="-7547"/>
            <a:ext cx="6392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rgbClr val="FF0000"/>
                </a:solidFill>
              </a:rPr>
              <a:t>What’s the input format for TSMC’s up and running analysis tool? (ex: AISPC)</a:t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383" name="Google Shape;383;p22"/>
          <p:cNvSpPr/>
          <p:nvPr/>
        </p:nvSpPr>
        <p:spPr>
          <a:xfrm>
            <a:off x="6169125" y="1026450"/>
            <a:ext cx="1829700" cy="37617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4A86E8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p22"/>
          <p:cNvSpPr/>
          <p:nvPr/>
        </p:nvSpPr>
        <p:spPr>
          <a:xfrm>
            <a:off x="4489562" y="1647450"/>
            <a:ext cx="514500" cy="502200"/>
          </a:xfrm>
          <a:prstGeom prst="rect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Google Shape;385;p22"/>
          <p:cNvSpPr/>
          <p:nvPr/>
        </p:nvSpPr>
        <p:spPr>
          <a:xfrm>
            <a:off x="5080477" y="2273731"/>
            <a:ext cx="125700" cy="300600"/>
          </a:xfrm>
          <a:prstGeom prst="rect">
            <a:avLst/>
          </a:prstGeom>
          <a:solidFill>
            <a:srgbClr val="9E9E9E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" name="Google Shape;386;p22"/>
          <p:cNvSpPr/>
          <p:nvPr/>
        </p:nvSpPr>
        <p:spPr>
          <a:xfrm>
            <a:off x="5276923" y="2635216"/>
            <a:ext cx="798600" cy="502200"/>
          </a:xfrm>
          <a:prstGeom prst="rect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" name="Google Shape;387;p22"/>
          <p:cNvSpPr/>
          <p:nvPr/>
        </p:nvSpPr>
        <p:spPr>
          <a:xfrm>
            <a:off x="6142542" y="3194161"/>
            <a:ext cx="125700" cy="502200"/>
          </a:xfrm>
          <a:prstGeom prst="rect">
            <a:avLst/>
          </a:prstGeom>
          <a:solidFill>
            <a:srgbClr val="9E9E9E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p22"/>
          <p:cNvSpPr/>
          <p:nvPr/>
        </p:nvSpPr>
        <p:spPr>
          <a:xfrm>
            <a:off x="6367482" y="3735920"/>
            <a:ext cx="1410300" cy="502200"/>
          </a:xfrm>
          <a:prstGeom prst="rect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" name="Google Shape;389;p22"/>
          <p:cNvSpPr/>
          <p:nvPr/>
        </p:nvSpPr>
        <p:spPr>
          <a:xfrm>
            <a:off x="7873250" y="4333583"/>
            <a:ext cx="125700" cy="330300"/>
          </a:xfrm>
          <a:prstGeom prst="rect">
            <a:avLst/>
          </a:prstGeom>
          <a:solidFill>
            <a:srgbClr val="9E9E9E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" name="Google Shape;390;p22"/>
          <p:cNvSpPr/>
          <p:nvPr/>
        </p:nvSpPr>
        <p:spPr>
          <a:xfrm>
            <a:off x="4489557" y="1851675"/>
            <a:ext cx="514500" cy="102000"/>
          </a:xfrm>
          <a:prstGeom prst="rect">
            <a:avLst/>
          </a:prstGeom>
          <a:solidFill>
            <a:srgbClr val="FF0000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p22"/>
          <p:cNvSpPr/>
          <p:nvPr/>
        </p:nvSpPr>
        <p:spPr>
          <a:xfrm>
            <a:off x="7873250" y="4395258"/>
            <a:ext cx="125700" cy="102000"/>
          </a:xfrm>
          <a:prstGeom prst="rect">
            <a:avLst/>
          </a:prstGeom>
          <a:solidFill>
            <a:srgbClr val="FF9900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" name="Google Shape;392;p22"/>
          <p:cNvSpPr/>
          <p:nvPr/>
        </p:nvSpPr>
        <p:spPr>
          <a:xfrm>
            <a:off x="3766850" y="1114050"/>
            <a:ext cx="672900" cy="502200"/>
          </a:xfrm>
          <a:prstGeom prst="rect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p22"/>
          <p:cNvSpPr/>
          <p:nvPr/>
        </p:nvSpPr>
        <p:spPr>
          <a:xfrm>
            <a:off x="1414475" y="1013575"/>
            <a:ext cx="1716900" cy="36762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" name="Google Shape;394;p22"/>
          <p:cNvSpPr/>
          <p:nvPr/>
        </p:nvSpPr>
        <p:spPr>
          <a:xfrm>
            <a:off x="576425" y="1748124"/>
            <a:ext cx="300600" cy="3006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5" name="Google Shape;395;p22"/>
          <p:cNvSpPr/>
          <p:nvPr/>
        </p:nvSpPr>
        <p:spPr>
          <a:xfrm>
            <a:off x="576425" y="2744923"/>
            <a:ext cx="300600" cy="3006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p22"/>
          <p:cNvSpPr/>
          <p:nvPr/>
        </p:nvSpPr>
        <p:spPr>
          <a:xfrm>
            <a:off x="576425" y="3836594"/>
            <a:ext cx="300600" cy="3006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p22"/>
          <p:cNvSpPr/>
          <p:nvPr/>
        </p:nvSpPr>
        <p:spPr>
          <a:xfrm>
            <a:off x="576425" y="3291026"/>
            <a:ext cx="300600" cy="3006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22"/>
          <p:cNvSpPr/>
          <p:nvPr/>
        </p:nvSpPr>
        <p:spPr>
          <a:xfrm>
            <a:off x="576425" y="4347841"/>
            <a:ext cx="300600" cy="300600"/>
          </a:xfrm>
          <a:prstGeom prst="ellipse">
            <a:avLst/>
          </a:prstGeom>
          <a:solidFill>
            <a:srgbClr val="9E9E9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22"/>
          <p:cNvSpPr/>
          <p:nvPr/>
        </p:nvSpPr>
        <p:spPr>
          <a:xfrm>
            <a:off x="576425" y="2265487"/>
            <a:ext cx="300600" cy="300600"/>
          </a:xfrm>
          <a:prstGeom prst="ellipse">
            <a:avLst/>
          </a:prstGeom>
          <a:solidFill>
            <a:srgbClr val="9E9E9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00" name="Google Shape;400;p22"/>
          <p:cNvCxnSpPr>
            <a:stCxn id="394" idx="4"/>
            <a:endCxn id="399" idx="0"/>
          </p:cNvCxnSpPr>
          <p:nvPr/>
        </p:nvCxnSpPr>
        <p:spPr>
          <a:xfrm>
            <a:off x="726725" y="2048724"/>
            <a:ext cx="0" cy="216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01" name="Google Shape;401;p22"/>
          <p:cNvCxnSpPr>
            <a:stCxn id="399" idx="4"/>
            <a:endCxn id="395" idx="0"/>
          </p:cNvCxnSpPr>
          <p:nvPr/>
        </p:nvCxnSpPr>
        <p:spPr>
          <a:xfrm>
            <a:off x="726725" y="2566087"/>
            <a:ext cx="0" cy="17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02" name="Google Shape;402;p22"/>
          <p:cNvCxnSpPr>
            <a:stCxn id="395" idx="4"/>
            <a:endCxn id="397" idx="0"/>
          </p:cNvCxnSpPr>
          <p:nvPr/>
        </p:nvCxnSpPr>
        <p:spPr>
          <a:xfrm>
            <a:off x="726725" y="3045523"/>
            <a:ext cx="0" cy="245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03" name="Google Shape;403;p22"/>
          <p:cNvCxnSpPr>
            <a:stCxn id="397" idx="4"/>
            <a:endCxn id="396" idx="0"/>
          </p:cNvCxnSpPr>
          <p:nvPr/>
        </p:nvCxnSpPr>
        <p:spPr>
          <a:xfrm>
            <a:off x="726725" y="3591626"/>
            <a:ext cx="0" cy="24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04" name="Google Shape;404;p22"/>
          <p:cNvCxnSpPr>
            <a:stCxn id="396" idx="4"/>
            <a:endCxn id="398" idx="0"/>
          </p:cNvCxnSpPr>
          <p:nvPr/>
        </p:nvCxnSpPr>
        <p:spPr>
          <a:xfrm>
            <a:off x="726725" y="4137194"/>
            <a:ext cx="0" cy="210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05" name="Google Shape;405;p22"/>
          <p:cNvSpPr/>
          <p:nvPr/>
        </p:nvSpPr>
        <p:spPr>
          <a:xfrm>
            <a:off x="576425" y="1230624"/>
            <a:ext cx="300600" cy="3006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06" name="Google Shape;406;p22"/>
          <p:cNvCxnSpPr>
            <a:stCxn id="405" idx="4"/>
          </p:cNvCxnSpPr>
          <p:nvPr/>
        </p:nvCxnSpPr>
        <p:spPr>
          <a:xfrm>
            <a:off x="726725" y="1531224"/>
            <a:ext cx="0" cy="216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07" name="Google Shape;407;p22"/>
          <p:cNvSpPr/>
          <p:nvPr/>
        </p:nvSpPr>
        <p:spPr>
          <a:xfrm>
            <a:off x="2411895" y="1068875"/>
            <a:ext cx="178800" cy="178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8" name="Google Shape;408;p22"/>
          <p:cNvSpPr txBox="1"/>
          <p:nvPr/>
        </p:nvSpPr>
        <p:spPr>
          <a:xfrm>
            <a:off x="1154800" y="1180827"/>
            <a:ext cx="1033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M1</a:t>
            </a:r>
            <a:endParaRPr/>
          </a:p>
        </p:txBody>
      </p:sp>
      <p:cxnSp>
        <p:nvCxnSpPr>
          <p:cNvPr id="409" name="Google Shape;409;p22"/>
          <p:cNvCxnSpPr/>
          <p:nvPr/>
        </p:nvCxnSpPr>
        <p:spPr>
          <a:xfrm>
            <a:off x="311700" y="1635975"/>
            <a:ext cx="2906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410" name="Google Shape;410;p22"/>
          <p:cNvSpPr txBox="1"/>
          <p:nvPr/>
        </p:nvSpPr>
        <p:spPr>
          <a:xfrm>
            <a:off x="1154800" y="1669644"/>
            <a:ext cx="1033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M2</a:t>
            </a:r>
            <a:endParaRPr/>
          </a:p>
        </p:txBody>
      </p:sp>
      <p:cxnSp>
        <p:nvCxnSpPr>
          <p:cNvPr id="411" name="Google Shape;411;p22"/>
          <p:cNvCxnSpPr/>
          <p:nvPr/>
        </p:nvCxnSpPr>
        <p:spPr>
          <a:xfrm>
            <a:off x="311700" y="2124792"/>
            <a:ext cx="2906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412" name="Google Shape;412;p22"/>
          <p:cNvSpPr txBox="1"/>
          <p:nvPr/>
        </p:nvSpPr>
        <p:spPr>
          <a:xfrm>
            <a:off x="1154800" y="2169462"/>
            <a:ext cx="1033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Q3</a:t>
            </a:r>
            <a:endParaRPr/>
          </a:p>
        </p:txBody>
      </p:sp>
      <p:cxnSp>
        <p:nvCxnSpPr>
          <p:cNvPr id="413" name="Google Shape;413;p22"/>
          <p:cNvCxnSpPr/>
          <p:nvPr/>
        </p:nvCxnSpPr>
        <p:spPr>
          <a:xfrm>
            <a:off x="311700" y="2624610"/>
            <a:ext cx="2906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414" name="Google Shape;414;p22"/>
          <p:cNvSpPr txBox="1"/>
          <p:nvPr/>
        </p:nvSpPr>
        <p:spPr>
          <a:xfrm>
            <a:off x="1154800" y="2700987"/>
            <a:ext cx="1033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M4</a:t>
            </a:r>
            <a:endParaRPr/>
          </a:p>
        </p:txBody>
      </p:sp>
      <p:cxnSp>
        <p:nvCxnSpPr>
          <p:cNvPr id="415" name="Google Shape;415;p22"/>
          <p:cNvCxnSpPr/>
          <p:nvPr/>
        </p:nvCxnSpPr>
        <p:spPr>
          <a:xfrm>
            <a:off x="311700" y="3156135"/>
            <a:ext cx="2906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416" name="Google Shape;416;p22"/>
          <p:cNvSpPr txBox="1"/>
          <p:nvPr/>
        </p:nvSpPr>
        <p:spPr>
          <a:xfrm>
            <a:off x="1154800" y="3246107"/>
            <a:ext cx="1033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M5</a:t>
            </a:r>
            <a:endParaRPr/>
          </a:p>
        </p:txBody>
      </p:sp>
      <p:cxnSp>
        <p:nvCxnSpPr>
          <p:cNvPr id="417" name="Google Shape;417;p22"/>
          <p:cNvCxnSpPr/>
          <p:nvPr/>
        </p:nvCxnSpPr>
        <p:spPr>
          <a:xfrm>
            <a:off x="311700" y="3701256"/>
            <a:ext cx="2906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418" name="Google Shape;418;p22"/>
          <p:cNvSpPr txBox="1"/>
          <p:nvPr/>
        </p:nvSpPr>
        <p:spPr>
          <a:xfrm>
            <a:off x="1154800" y="3766726"/>
            <a:ext cx="1033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M6</a:t>
            </a:r>
            <a:endParaRPr/>
          </a:p>
        </p:txBody>
      </p:sp>
      <p:cxnSp>
        <p:nvCxnSpPr>
          <p:cNvPr id="419" name="Google Shape;419;p22"/>
          <p:cNvCxnSpPr/>
          <p:nvPr/>
        </p:nvCxnSpPr>
        <p:spPr>
          <a:xfrm>
            <a:off x="311700" y="4221875"/>
            <a:ext cx="2906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420" name="Google Shape;420;p22"/>
          <p:cNvSpPr txBox="1"/>
          <p:nvPr/>
        </p:nvSpPr>
        <p:spPr>
          <a:xfrm>
            <a:off x="1154800" y="4276826"/>
            <a:ext cx="1033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Q7</a:t>
            </a:r>
            <a:endParaRPr/>
          </a:p>
        </p:txBody>
      </p:sp>
      <p:sp>
        <p:nvSpPr>
          <p:cNvPr id="421" name="Google Shape;421;p22"/>
          <p:cNvSpPr/>
          <p:nvPr/>
        </p:nvSpPr>
        <p:spPr>
          <a:xfrm>
            <a:off x="1989345" y="1254300"/>
            <a:ext cx="178800" cy="178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2" name="Google Shape;422;p22"/>
          <p:cNvSpPr/>
          <p:nvPr/>
        </p:nvSpPr>
        <p:spPr>
          <a:xfrm>
            <a:off x="2721445" y="1237462"/>
            <a:ext cx="178800" cy="178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3" name="Google Shape;423;p22"/>
          <p:cNvSpPr/>
          <p:nvPr/>
        </p:nvSpPr>
        <p:spPr>
          <a:xfrm>
            <a:off x="2388670" y="1421987"/>
            <a:ext cx="178800" cy="178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4" name="Google Shape;424;p22"/>
          <p:cNvSpPr/>
          <p:nvPr/>
        </p:nvSpPr>
        <p:spPr>
          <a:xfrm>
            <a:off x="2118920" y="1689550"/>
            <a:ext cx="178800" cy="178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5" name="Google Shape;425;p22"/>
          <p:cNvSpPr/>
          <p:nvPr/>
        </p:nvSpPr>
        <p:spPr>
          <a:xfrm>
            <a:off x="2377545" y="1826225"/>
            <a:ext cx="178800" cy="178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6" name="Google Shape;426;p22"/>
          <p:cNvSpPr/>
          <p:nvPr/>
        </p:nvSpPr>
        <p:spPr>
          <a:xfrm>
            <a:off x="2188295" y="2320712"/>
            <a:ext cx="178800" cy="178800"/>
          </a:xfrm>
          <a:prstGeom prst="ellipse">
            <a:avLst/>
          </a:prstGeom>
          <a:solidFill>
            <a:srgbClr val="9E9E9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7" name="Google Shape;427;p22"/>
          <p:cNvSpPr/>
          <p:nvPr/>
        </p:nvSpPr>
        <p:spPr>
          <a:xfrm>
            <a:off x="2188295" y="4392800"/>
            <a:ext cx="178800" cy="178800"/>
          </a:xfrm>
          <a:prstGeom prst="ellipse">
            <a:avLst/>
          </a:prstGeom>
          <a:solidFill>
            <a:srgbClr val="9E9E9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8" name="Google Shape;428;p22"/>
          <p:cNvSpPr/>
          <p:nvPr/>
        </p:nvSpPr>
        <p:spPr>
          <a:xfrm>
            <a:off x="2588932" y="2285300"/>
            <a:ext cx="178800" cy="178800"/>
          </a:xfrm>
          <a:prstGeom prst="ellipse">
            <a:avLst/>
          </a:prstGeom>
          <a:solidFill>
            <a:srgbClr val="9E9E9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9" name="Google Shape;429;p22"/>
          <p:cNvSpPr/>
          <p:nvPr/>
        </p:nvSpPr>
        <p:spPr>
          <a:xfrm>
            <a:off x="2464982" y="4400075"/>
            <a:ext cx="178800" cy="178800"/>
          </a:xfrm>
          <a:prstGeom prst="ellipse">
            <a:avLst/>
          </a:prstGeom>
          <a:solidFill>
            <a:srgbClr val="9E9E9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0" name="Google Shape;430;p22"/>
          <p:cNvSpPr/>
          <p:nvPr/>
        </p:nvSpPr>
        <p:spPr>
          <a:xfrm>
            <a:off x="2153570" y="2800975"/>
            <a:ext cx="178800" cy="178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1" name="Google Shape;431;p22"/>
          <p:cNvSpPr/>
          <p:nvPr/>
        </p:nvSpPr>
        <p:spPr>
          <a:xfrm>
            <a:off x="2446670" y="2823625"/>
            <a:ext cx="178800" cy="178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32" name="Google Shape;432;p22"/>
          <p:cNvCxnSpPr>
            <a:stCxn id="407" idx="2"/>
            <a:endCxn id="421" idx="7"/>
          </p:cNvCxnSpPr>
          <p:nvPr/>
        </p:nvCxnSpPr>
        <p:spPr>
          <a:xfrm flipH="1">
            <a:off x="2141895" y="1158275"/>
            <a:ext cx="270000" cy="122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33" name="Google Shape;433;p22"/>
          <p:cNvCxnSpPr>
            <a:stCxn id="407" idx="4"/>
            <a:endCxn id="423" idx="0"/>
          </p:cNvCxnSpPr>
          <p:nvPr/>
        </p:nvCxnSpPr>
        <p:spPr>
          <a:xfrm flipH="1">
            <a:off x="2478195" y="1247675"/>
            <a:ext cx="23100" cy="174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34" name="Google Shape;434;p22"/>
          <p:cNvCxnSpPr>
            <a:stCxn id="422" idx="2"/>
            <a:endCxn id="423" idx="6"/>
          </p:cNvCxnSpPr>
          <p:nvPr/>
        </p:nvCxnSpPr>
        <p:spPr>
          <a:xfrm flipH="1">
            <a:off x="2567545" y="1326862"/>
            <a:ext cx="153900" cy="184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35" name="Google Shape;435;p22"/>
          <p:cNvCxnSpPr>
            <a:stCxn id="407" idx="3"/>
            <a:endCxn id="424" idx="0"/>
          </p:cNvCxnSpPr>
          <p:nvPr/>
        </p:nvCxnSpPr>
        <p:spPr>
          <a:xfrm flipH="1">
            <a:off x="2208279" y="1221490"/>
            <a:ext cx="229800" cy="468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36" name="Google Shape;436;p22"/>
          <p:cNvCxnSpPr>
            <a:stCxn id="423" idx="4"/>
            <a:endCxn id="425" idx="0"/>
          </p:cNvCxnSpPr>
          <p:nvPr/>
        </p:nvCxnSpPr>
        <p:spPr>
          <a:xfrm flipH="1">
            <a:off x="2466970" y="1600787"/>
            <a:ext cx="11100" cy="225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37" name="Google Shape;437;p22"/>
          <p:cNvCxnSpPr>
            <a:stCxn id="425" idx="4"/>
            <a:endCxn id="428" idx="0"/>
          </p:cNvCxnSpPr>
          <p:nvPr/>
        </p:nvCxnSpPr>
        <p:spPr>
          <a:xfrm>
            <a:off x="2466945" y="2005025"/>
            <a:ext cx="211500" cy="280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38" name="Google Shape;438;p22"/>
          <p:cNvCxnSpPr>
            <a:stCxn id="424" idx="4"/>
            <a:endCxn id="426" idx="0"/>
          </p:cNvCxnSpPr>
          <p:nvPr/>
        </p:nvCxnSpPr>
        <p:spPr>
          <a:xfrm>
            <a:off x="2208320" y="1868350"/>
            <a:ext cx="69300" cy="452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39" name="Google Shape;439;p22"/>
          <p:cNvCxnSpPr>
            <a:stCxn id="428" idx="2"/>
            <a:endCxn id="426" idx="6"/>
          </p:cNvCxnSpPr>
          <p:nvPr/>
        </p:nvCxnSpPr>
        <p:spPr>
          <a:xfrm flipH="1">
            <a:off x="2367232" y="2374700"/>
            <a:ext cx="221700" cy="354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dash"/>
            <a:round/>
            <a:headEnd len="med" w="med" type="none"/>
            <a:tailEnd len="med" w="med" type="triangle"/>
          </a:ln>
        </p:spPr>
      </p:cxnSp>
      <p:cxnSp>
        <p:nvCxnSpPr>
          <p:cNvPr id="440" name="Google Shape;440;p22"/>
          <p:cNvCxnSpPr>
            <a:stCxn id="428" idx="4"/>
            <a:endCxn id="431" idx="0"/>
          </p:cNvCxnSpPr>
          <p:nvPr/>
        </p:nvCxnSpPr>
        <p:spPr>
          <a:xfrm flipH="1">
            <a:off x="2536132" y="2464100"/>
            <a:ext cx="142200" cy="3594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dash"/>
            <a:round/>
            <a:headEnd len="med" w="med" type="none"/>
            <a:tailEnd len="med" w="med" type="triangle"/>
          </a:ln>
        </p:spPr>
      </p:cxnSp>
      <p:cxnSp>
        <p:nvCxnSpPr>
          <p:cNvPr id="441" name="Google Shape;441;p22"/>
          <p:cNvCxnSpPr>
            <a:stCxn id="421" idx="3"/>
            <a:endCxn id="430" idx="2"/>
          </p:cNvCxnSpPr>
          <p:nvPr/>
        </p:nvCxnSpPr>
        <p:spPr>
          <a:xfrm flipH="1" rot="-5400000">
            <a:off x="1342779" y="2079665"/>
            <a:ext cx="1483500" cy="138000"/>
          </a:xfrm>
          <a:prstGeom prst="curved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42" name="Google Shape;442;p22"/>
          <p:cNvCxnSpPr>
            <a:stCxn id="425" idx="6"/>
            <a:endCxn id="431" idx="6"/>
          </p:cNvCxnSpPr>
          <p:nvPr/>
        </p:nvCxnSpPr>
        <p:spPr>
          <a:xfrm>
            <a:off x="2556345" y="1915625"/>
            <a:ext cx="69000" cy="997500"/>
          </a:xfrm>
          <a:prstGeom prst="curvedConnector3">
            <a:avLst>
              <a:gd fmla="val 44529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43" name="Google Shape;443;p22"/>
          <p:cNvSpPr/>
          <p:nvPr/>
        </p:nvSpPr>
        <p:spPr>
          <a:xfrm>
            <a:off x="2620770" y="3304875"/>
            <a:ext cx="178800" cy="178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4" name="Google Shape;444;p22"/>
          <p:cNvSpPr/>
          <p:nvPr/>
        </p:nvSpPr>
        <p:spPr>
          <a:xfrm>
            <a:off x="2118920" y="3872162"/>
            <a:ext cx="178800" cy="178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5" name="Google Shape;445;p22"/>
          <p:cNvSpPr/>
          <p:nvPr/>
        </p:nvSpPr>
        <p:spPr>
          <a:xfrm>
            <a:off x="2438070" y="3999975"/>
            <a:ext cx="178800" cy="178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6" name="Google Shape;446;p22"/>
          <p:cNvSpPr/>
          <p:nvPr/>
        </p:nvSpPr>
        <p:spPr>
          <a:xfrm>
            <a:off x="2483295" y="3737850"/>
            <a:ext cx="178800" cy="178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47" name="Google Shape;447;p22"/>
          <p:cNvCxnSpPr>
            <a:stCxn id="431" idx="4"/>
            <a:endCxn id="446" idx="0"/>
          </p:cNvCxnSpPr>
          <p:nvPr/>
        </p:nvCxnSpPr>
        <p:spPr>
          <a:xfrm>
            <a:off x="2536070" y="3002425"/>
            <a:ext cx="36600" cy="735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48" name="Google Shape;448;p22"/>
          <p:cNvSpPr/>
          <p:nvPr/>
        </p:nvSpPr>
        <p:spPr>
          <a:xfrm>
            <a:off x="2118920" y="3339287"/>
            <a:ext cx="178800" cy="178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49" name="Google Shape;449;p22"/>
          <p:cNvCxnSpPr>
            <a:stCxn id="430" idx="4"/>
            <a:endCxn id="448" idx="0"/>
          </p:cNvCxnSpPr>
          <p:nvPr/>
        </p:nvCxnSpPr>
        <p:spPr>
          <a:xfrm flipH="1">
            <a:off x="2208170" y="2979775"/>
            <a:ext cx="34800" cy="359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50" name="Google Shape;450;p22"/>
          <p:cNvCxnSpPr>
            <a:stCxn id="423" idx="6"/>
            <a:endCxn id="445" idx="6"/>
          </p:cNvCxnSpPr>
          <p:nvPr/>
        </p:nvCxnSpPr>
        <p:spPr>
          <a:xfrm>
            <a:off x="2567470" y="1511387"/>
            <a:ext cx="49500" cy="2577900"/>
          </a:xfrm>
          <a:prstGeom prst="curvedConnector3">
            <a:avLst>
              <a:gd fmla="val 580859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51" name="Google Shape;451;p22"/>
          <p:cNvCxnSpPr>
            <a:stCxn id="426" idx="2"/>
            <a:endCxn id="444" idx="2"/>
          </p:cNvCxnSpPr>
          <p:nvPr/>
        </p:nvCxnSpPr>
        <p:spPr>
          <a:xfrm flipH="1">
            <a:off x="2118995" y="2410112"/>
            <a:ext cx="69300" cy="1551600"/>
          </a:xfrm>
          <a:prstGeom prst="curvedConnector3">
            <a:avLst>
              <a:gd fmla="val 443723" name="adj1"/>
            </a:avLst>
          </a:prstGeom>
          <a:noFill/>
          <a:ln cap="flat" cmpd="sng" w="9525">
            <a:solidFill>
              <a:srgbClr val="FF0000"/>
            </a:solidFill>
            <a:prstDash val="dash"/>
            <a:round/>
            <a:headEnd len="med" w="med" type="none"/>
            <a:tailEnd len="med" w="med" type="triangle"/>
          </a:ln>
        </p:spPr>
      </p:cxnSp>
      <p:cxnSp>
        <p:nvCxnSpPr>
          <p:cNvPr id="452" name="Google Shape;452;p22"/>
          <p:cNvCxnSpPr>
            <a:stCxn id="444" idx="4"/>
            <a:endCxn id="427" idx="0"/>
          </p:cNvCxnSpPr>
          <p:nvPr/>
        </p:nvCxnSpPr>
        <p:spPr>
          <a:xfrm>
            <a:off x="2208320" y="4050962"/>
            <a:ext cx="69300" cy="341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53" name="Google Shape;453;p22"/>
          <p:cNvCxnSpPr>
            <a:stCxn id="445" idx="4"/>
            <a:endCxn id="429" idx="0"/>
          </p:cNvCxnSpPr>
          <p:nvPr/>
        </p:nvCxnSpPr>
        <p:spPr>
          <a:xfrm>
            <a:off x="2527470" y="4178775"/>
            <a:ext cx="27000" cy="22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54" name="Google Shape;454;p22"/>
          <p:cNvCxnSpPr>
            <a:stCxn id="431" idx="2"/>
            <a:endCxn id="445" idx="2"/>
          </p:cNvCxnSpPr>
          <p:nvPr/>
        </p:nvCxnSpPr>
        <p:spPr>
          <a:xfrm flipH="1">
            <a:off x="2437970" y="2913025"/>
            <a:ext cx="8700" cy="1176300"/>
          </a:xfrm>
          <a:prstGeom prst="curvedConnector3">
            <a:avLst>
              <a:gd fmla="val 283592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55" name="Google Shape;455;p22"/>
          <p:cNvSpPr txBox="1"/>
          <p:nvPr/>
        </p:nvSpPr>
        <p:spPr>
          <a:xfrm>
            <a:off x="1596725" y="4662300"/>
            <a:ext cx="1352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>
                <a:solidFill>
                  <a:srgbClr val="FF0000"/>
                </a:solidFill>
              </a:rPr>
              <a:t>causal graph</a:t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456" name="Google Shape;456;p22"/>
          <p:cNvSpPr txBox="1"/>
          <p:nvPr/>
        </p:nvSpPr>
        <p:spPr>
          <a:xfrm>
            <a:off x="290880" y="294082"/>
            <a:ext cx="1036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accent1"/>
                </a:solidFill>
              </a:rPr>
              <a:t>Individual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457" name="Google Shape;457;p22"/>
          <p:cNvSpPr txBox="1"/>
          <p:nvPr/>
        </p:nvSpPr>
        <p:spPr>
          <a:xfrm>
            <a:off x="2684412" y="294082"/>
            <a:ext cx="1036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accent1"/>
                </a:solidFill>
              </a:rPr>
              <a:t>Group</a:t>
            </a:r>
            <a:endParaRPr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2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RCA vs. Causal Learning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Causal Factors vs. Root Causes</a:t>
            </a:r>
            <a:endParaRPr/>
          </a:p>
        </p:txBody>
      </p:sp>
      <p:pic>
        <p:nvPicPr>
          <p:cNvPr id="468" name="Google Shape;468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195805"/>
            <a:ext cx="9144001" cy="3361491"/>
          </a:xfrm>
          <a:prstGeom prst="rect">
            <a:avLst/>
          </a:prstGeom>
          <a:noFill/>
          <a:ln>
            <a:noFill/>
          </a:ln>
        </p:spPr>
      </p:pic>
      <p:sp>
        <p:nvSpPr>
          <p:cNvPr id="469" name="Google Shape;469;p24"/>
          <p:cNvSpPr txBox="1"/>
          <p:nvPr/>
        </p:nvSpPr>
        <p:spPr>
          <a:xfrm>
            <a:off x="311700" y="4765300"/>
            <a:ext cx="8615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u="sng">
                <a:solidFill>
                  <a:schemeClr val="hlink"/>
                </a:solidFill>
                <a:hlinkClick r:id="rId4"/>
              </a:rPr>
              <a:t>https://www.qualitygurus.com/causal-factors-vs-root-causes-what-is-the-difference/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Causal/Contributing </a:t>
            </a:r>
            <a:r>
              <a:rPr lang="zh-TW"/>
              <a:t>Factors vs. Root Causes</a:t>
            </a:r>
            <a:endParaRPr/>
          </a:p>
        </p:txBody>
      </p:sp>
      <p:sp>
        <p:nvSpPr>
          <p:cNvPr id="475" name="Google Shape;475;p25"/>
          <p:cNvSpPr txBox="1"/>
          <p:nvPr/>
        </p:nvSpPr>
        <p:spPr>
          <a:xfrm>
            <a:off x="311700" y="4765300"/>
            <a:ext cx="8615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u="sng">
                <a:solidFill>
                  <a:schemeClr val="hlink"/>
                </a:solidFill>
                <a:hlinkClick r:id="rId3"/>
              </a:rPr>
              <a:t>https://pediaa.com/what-is-the-difference-between-root-cause-and-contributing-factor/</a:t>
            </a:r>
            <a:endParaRPr/>
          </a:p>
        </p:txBody>
      </p:sp>
      <p:pic>
        <p:nvPicPr>
          <p:cNvPr id="476" name="Google Shape;476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53000" y="1170125"/>
            <a:ext cx="3734638" cy="3442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477" name="Google Shape;477;p2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57200" y="1185253"/>
            <a:ext cx="4267200" cy="34115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Connections</a:t>
            </a:r>
            <a:endParaRPr/>
          </a:p>
        </p:txBody>
      </p:sp>
      <p:sp>
        <p:nvSpPr>
          <p:cNvPr id="483" name="Google Shape;483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TW"/>
              <a:t>Causal Inference ⟷ Root Cause Analysis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zh-TW"/>
              <a:t>(CIRCA) Causal Inference-Based Root Cause Analysis for </a:t>
            </a:r>
            <a:r>
              <a:rPr lang="zh-TW">
                <a:highlight>
                  <a:srgbClr val="FFFF00"/>
                </a:highlight>
              </a:rPr>
              <a:t>Online Service Systems</a:t>
            </a:r>
            <a:r>
              <a:rPr lang="zh-TW"/>
              <a:t> with Intervention Recognition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zh-TW"/>
              <a:t>KDD 2022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TW"/>
              <a:t>Causal Discovery ⟷ Root Cause Analysis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zh-TW"/>
              <a:t>(RCD) Root Cause Analysis of Failures in </a:t>
            </a:r>
            <a:r>
              <a:rPr lang="zh-TW">
                <a:highlight>
                  <a:srgbClr val="FFFF00"/>
                </a:highlight>
              </a:rPr>
              <a:t>Microservices</a:t>
            </a:r>
            <a:r>
              <a:rPr lang="zh-TW"/>
              <a:t> through Causal Discovery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zh-TW"/>
              <a:t>NeruIPS 2022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rgbClr val="9E9E9E"/>
              </a:buClr>
              <a:buSzPts val="1800"/>
              <a:buChar char="●"/>
            </a:pPr>
            <a:r>
              <a:rPr lang="zh-TW">
                <a:solidFill>
                  <a:srgbClr val="9E9E9E"/>
                </a:solidFill>
              </a:rPr>
              <a:t>SCM ⟷ GNN</a:t>
            </a:r>
            <a:endParaRPr>
              <a:solidFill>
                <a:srgbClr val="9E9E9E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9E9E9E"/>
              </a:buClr>
              <a:buSzPts val="1400"/>
              <a:buChar char="○"/>
            </a:pPr>
            <a:r>
              <a:rPr lang="zh-TW">
                <a:solidFill>
                  <a:srgbClr val="9E9E9E"/>
                </a:solidFill>
              </a:rPr>
              <a:t>Relating Graph Neural Networks to Structural Causal Models</a:t>
            </a:r>
            <a:endParaRPr>
              <a:solidFill>
                <a:srgbClr val="9E9E9E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