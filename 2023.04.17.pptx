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0CD9ED-54C4-4F46-A56C-03C39D8A9F35}">
  <a:tblStyle styleId="{B30CD9ED-54C4-4F46-A56C-03C39D8A9F3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0f19a2d99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0f19a2d99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0f1a2479b4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0f1a2479b4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f1a2479b4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f1a2479b4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0f1a2479b4_0_3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0f1a2479b4_0_3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2d7efc4aa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2d7efc4a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2d7efc4aa4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2d7efc4aa4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2c5255f59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2c5255f59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2c5255f597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2c5255f597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22e9208f611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22e9208f611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2e9208f611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2e9208f611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22e9208f611_1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22e9208f611_1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2e9208f611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22e9208f611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hyperlink" Target="https://www.qualitygurus.com/causal-factors-vs-root-causes-what-is-the-difference/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pediaa.com/what-is-the-difference-between-root-cause-and-contributing-factor/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zh-TW"/>
              <a:t>2023 JDP –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AI Causality Inferences for TSMC Operations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zh-TW"/>
              <a:t>Advisor: Wen-Chih Peng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zh-TW"/>
              <a:t>Student: Zheng-Ming (Paul) Lin, Ching (Jason) Chang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Date: 2023/04/17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Outline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Problem Definition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RCA vs. Causal Learning</a:t>
            </a:r>
            <a:endParaRPr strike="sngStrike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Problem Definition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Problem Settings</a:t>
            </a:r>
            <a:endParaRPr/>
          </a:p>
        </p:txBody>
      </p:sp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  <p:graphicFrame>
        <p:nvGraphicFramePr>
          <p:cNvPr id="73" name="Google Shape;73;p16"/>
          <p:cNvGraphicFramePr/>
          <p:nvPr/>
        </p:nvGraphicFramePr>
        <p:xfrm>
          <a:off x="952500" y="14287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{B30CD9ED-54C4-4F46-A56C-03C39D8A9F35}</a:tableStyleId>
              </a:tblPr>
              <a:tblGrid>
                <a:gridCol w="2687000"/>
                <a:gridCol w="4552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/>
                        <a:t>Supervised or Unsupervised</a:t>
                      </a:r>
                      <a:endParaRPr/>
                    </a:p>
                  </a:txBody>
                  <a:tcPr marT="91425" marB="91425" marR="91425" marL="91425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solidFill>
                            <a:srgbClr val="FF0000"/>
                          </a:solidFill>
                        </a:rPr>
                        <a:t>Unsupervised</a:t>
                      </a:r>
                      <a:endParaRPr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/>
                        <a:t>AD or RCA</a:t>
                      </a:r>
                      <a:endParaRPr/>
                    </a:p>
                  </a:txBody>
                  <a:tcPr marT="91425" marB="91425" marR="91425" marL="91425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solidFill>
                            <a:srgbClr val="FF0000"/>
                          </a:solidFill>
                        </a:rPr>
                        <a:t>RCA</a:t>
                      </a:r>
                      <a:endParaRPr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solidFill>
                            <a:srgbClr val="9E9E9E"/>
                          </a:solidFill>
                        </a:rPr>
                        <a:t>Offline or Online</a:t>
                      </a:r>
                      <a:endParaRPr>
                        <a:solidFill>
                          <a:srgbClr val="9E9E9E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solidFill>
                            <a:srgbClr val="9E9E9E"/>
                          </a:solidFill>
                        </a:rPr>
                        <a:t>Online</a:t>
                      </a:r>
                      <a:endParaRPr>
                        <a:solidFill>
                          <a:srgbClr val="9E9E9E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/>
                        <a:t>Data Format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/>
                        <a:t>Time-series</a:t>
                      </a:r>
                      <a:endParaRPr strike="sngStrike"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/>
                        <a:t>Individual or Group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/>
                        <a:t>Group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/>
                        <a:t>Others</a:t>
                      </a:r>
                      <a:endParaRPr/>
                    </a:p>
                  </a:txBody>
                  <a:tcPr marT="91425" marB="91425" marR="91425" marL="9142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5"/>
                        </a:buClr>
                        <a:buSzPts val="1400"/>
                        <a:buAutoNum type="arabicPeriod"/>
                      </a:pPr>
                      <a:r>
                        <a:rPr lang="zh-TW">
                          <a:solidFill>
                            <a:schemeClr val="accent5"/>
                          </a:solidFill>
                        </a:rPr>
                        <a:t>Graph-based</a:t>
                      </a:r>
                      <a:endParaRPr>
                        <a:solidFill>
                          <a:schemeClr val="accent5"/>
                        </a:solidFill>
                      </a:endParaRPr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5"/>
                        </a:buClr>
                        <a:buSzPts val="1400"/>
                        <a:buAutoNum type="arabicPeriod"/>
                      </a:pPr>
                      <a:r>
                        <a:rPr lang="zh-TW">
                          <a:solidFill>
                            <a:schemeClr val="accent5"/>
                          </a:solidFill>
                        </a:rPr>
                        <a:t>GNN</a:t>
                      </a:r>
                      <a:endParaRPr>
                        <a:solidFill>
                          <a:schemeClr val="accent5"/>
                        </a:solidFill>
                      </a:endParaRPr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5"/>
                        </a:buClr>
                        <a:buSzPts val="1400"/>
                        <a:buAutoNum type="arabicPeriod"/>
                      </a:pPr>
                      <a:r>
                        <a:rPr lang="zh-TW">
                          <a:solidFill>
                            <a:schemeClr val="accent5"/>
                          </a:solidFill>
                        </a:rPr>
                        <a:t>Self-supervised Learning</a:t>
                      </a:r>
                      <a:endParaRPr>
                        <a:solidFill>
                          <a:schemeClr val="accent5"/>
                        </a:solidFill>
                      </a:endParaRPr>
                    </a:p>
                  </a:txBody>
                  <a:tcPr marT="91425" marB="91425" marR="91425" marL="91425"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/>
          <p:nvPr/>
        </p:nvSpPr>
        <p:spPr>
          <a:xfrm>
            <a:off x="1626250" y="2690914"/>
            <a:ext cx="514500" cy="942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7"/>
          <p:cNvSpPr/>
          <p:nvPr/>
        </p:nvSpPr>
        <p:spPr>
          <a:xfrm>
            <a:off x="1626250" y="1155250"/>
            <a:ext cx="514500" cy="1468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Input Format with Provided Dataset</a:t>
            </a:r>
            <a:endParaRPr/>
          </a:p>
        </p:txBody>
      </p:sp>
      <p:sp>
        <p:nvSpPr>
          <p:cNvPr id="81" name="Google Shape;81;p17"/>
          <p:cNvSpPr/>
          <p:nvPr/>
        </p:nvSpPr>
        <p:spPr>
          <a:xfrm>
            <a:off x="1732150" y="17481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7"/>
          <p:cNvSpPr/>
          <p:nvPr/>
        </p:nvSpPr>
        <p:spPr>
          <a:xfrm>
            <a:off x="1732150" y="2744923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7"/>
          <p:cNvSpPr/>
          <p:nvPr/>
        </p:nvSpPr>
        <p:spPr>
          <a:xfrm>
            <a:off x="1732150" y="383659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7"/>
          <p:cNvSpPr/>
          <p:nvPr/>
        </p:nvSpPr>
        <p:spPr>
          <a:xfrm>
            <a:off x="1732150" y="3291026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7"/>
          <p:cNvSpPr/>
          <p:nvPr/>
        </p:nvSpPr>
        <p:spPr>
          <a:xfrm>
            <a:off x="1732150" y="4347841"/>
            <a:ext cx="300600" cy="3006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7"/>
          <p:cNvSpPr/>
          <p:nvPr/>
        </p:nvSpPr>
        <p:spPr>
          <a:xfrm>
            <a:off x="1732150" y="2265487"/>
            <a:ext cx="300600" cy="3006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7" name="Google Shape;87;p17"/>
          <p:cNvCxnSpPr>
            <a:stCxn id="81" idx="4"/>
            <a:endCxn id="86" idx="0"/>
          </p:cNvCxnSpPr>
          <p:nvPr/>
        </p:nvCxnSpPr>
        <p:spPr>
          <a:xfrm>
            <a:off x="1882450" y="2048724"/>
            <a:ext cx="0" cy="21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8" name="Google Shape;88;p17"/>
          <p:cNvCxnSpPr>
            <a:stCxn id="86" idx="4"/>
            <a:endCxn id="82" idx="0"/>
          </p:cNvCxnSpPr>
          <p:nvPr/>
        </p:nvCxnSpPr>
        <p:spPr>
          <a:xfrm>
            <a:off x="1882450" y="2566087"/>
            <a:ext cx="0" cy="178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89" name="Google Shape;89;p17"/>
          <p:cNvSpPr txBox="1"/>
          <p:nvPr/>
        </p:nvSpPr>
        <p:spPr>
          <a:xfrm>
            <a:off x="234475" y="2071525"/>
            <a:ext cx="1410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measurement step</a:t>
            </a:r>
            <a:endParaRPr/>
          </a:p>
        </p:txBody>
      </p:sp>
      <p:cxnSp>
        <p:nvCxnSpPr>
          <p:cNvPr id="90" name="Google Shape;90;p17"/>
          <p:cNvCxnSpPr>
            <a:stCxn id="82" idx="4"/>
            <a:endCxn id="84" idx="0"/>
          </p:cNvCxnSpPr>
          <p:nvPr/>
        </p:nvCxnSpPr>
        <p:spPr>
          <a:xfrm>
            <a:off x="1882450" y="3045523"/>
            <a:ext cx="0" cy="24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1" name="Google Shape;91;p17"/>
          <p:cNvCxnSpPr>
            <a:stCxn id="84" idx="4"/>
            <a:endCxn id="83" idx="0"/>
          </p:cNvCxnSpPr>
          <p:nvPr/>
        </p:nvCxnSpPr>
        <p:spPr>
          <a:xfrm>
            <a:off x="1882450" y="3591626"/>
            <a:ext cx="0" cy="2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2" name="Google Shape;92;p17"/>
          <p:cNvCxnSpPr>
            <a:stCxn id="83" idx="4"/>
            <a:endCxn id="85" idx="0"/>
          </p:cNvCxnSpPr>
          <p:nvPr/>
        </p:nvCxnSpPr>
        <p:spPr>
          <a:xfrm>
            <a:off x="1882450" y="4137194"/>
            <a:ext cx="0" cy="210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3" name="Google Shape;93;p17"/>
          <p:cNvSpPr txBox="1"/>
          <p:nvPr/>
        </p:nvSpPr>
        <p:spPr>
          <a:xfrm>
            <a:off x="234475" y="1321575"/>
            <a:ext cx="1410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manufacturing step</a:t>
            </a:r>
            <a:endParaRPr/>
          </a:p>
        </p:txBody>
      </p:sp>
      <p:sp>
        <p:nvSpPr>
          <p:cNvPr id="94" name="Google Shape;94;p17"/>
          <p:cNvSpPr/>
          <p:nvPr/>
        </p:nvSpPr>
        <p:spPr>
          <a:xfrm>
            <a:off x="1626250" y="3784236"/>
            <a:ext cx="514500" cy="9090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7"/>
          <p:cNvSpPr txBox="1"/>
          <p:nvPr/>
        </p:nvSpPr>
        <p:spPr>
          <a:xfrm>
            <a:off x="2057950" y="1647377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stage 1</a:t>
            </a:r>
            <a:endParaRPr/>
          </a:p>
        </p:txBody>
      </p:sp>
      <p:sp>
        <p:nvSpPr>
          <p:cNvPr id="96" name="Google Shape;96;p17"/>
          <p:cNvSpPr txBox="1"/>
          <p:nvPr/>
        </p:nvSpPr>
        <p:spPr>
          <a:xfrm>
            <a:off x="2057950" y="2975411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stage 2</a:t>
            </a:r>
            <a:endParaRPr/>
          </a:p>
        </p:txBody>
      </p:sp>
      <p:sp>
        <p:nvSpPr>
          <p:cNvPr id="97" name="Google Shape;97;p17"/>
          <p:cNvSpPr txBox="1"/>
          <p:nvPr/>
        </p:nvSpPr>
        <p:spPr>
          <a:xfrm>
            <a:off x="2057950" y="4042400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stage 3</a:t>
            </a:r>
            <a:endParaRPr/>
          </a:p>
        </p:txBody>
      </p:sp>
      <p:sp>
        <p:nvSpPr>
          <p:cNvPr id="98" name="Google Shape;98;p17"/>
          <p:cNvSpPr/>
          <p:nvPr/>
        </p:nvSpPr>
        <p:spPr>
          <a:xfrm>
            <a:off x="1732150" y="12306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9" name="Google Shape;99;p17"/>
          <p:cNvCxnSpPr>
            <a:stCxn id="98" idx="4"/>
          </p:cNvCxnSpPr>
          <p:nvPr/>
        </p:nvCxnSpPr>
        <p:spPr>
          <a:xfrm>
            <a:off x="1882450" y="1531224"/>
            <a:ext cx="0" cy="21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0" name="Google Shape;100;p17"/>
          <p:cNvSpPr/>
          <p:nvPr/>
        </p:nvSpPr>
        <p:spPr>
          <a:xfrm>
            <a:off x="5921850" y="103150"/>
            <a:ext cx="514500" cy="10521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7"/>
          <p:cNvSpPr/>
          <p:nvPr/>
        </p:nvSpPr>
        <p:spPr>
          <a:xfrm>
            <a:off x="6027750" y="1785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 txBox="1"/>
          <p:nvPr/>
        </p:nvSpPr>
        <p:spPr>
          <a:xfrm>
            <a:off x="5872800" y="445800"/>
            <a:ext cx="612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step</a:t>
            </a:r>
            <a:endParaRPr/>
          </a:p>
        </p:txBody>
      </p:sp>
      <p:sp>
        <p:nvSpPr>
          <p:cNvPr id="103" name="Google Shape;103;p17"/>
          <p:cNvSpPr txBox="1"/>
          <p:nvPr/>
        </p:nvSpPr>
        <p:spPr>
          <a:xfrm>
            <a:off x="6409200" y="445800"/>
            <a:ext cx="766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stage</a:t>
            </a:r>
            <a:endParaRPr/>
          </a:p>
        </p:txBody>
      </p:sp>
      <p:sp>
        <p:nvSpPr>
          <p:cNvPr id="104" name="Google Shape;104;p17"/>
          <p:cNvSpPr txBox="1"/>
          <p:nvPr/>
        </p:nvSpPr>
        <p:spPr>
          <a:xfrm>
            <a:off x="3504625" y="1025175"/>
            <a:ext cx="5488800" cy="27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Data format: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/>
              <a:t>For each stage, mutiple steps can be involved.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/>
              <a:t>Two categories of steps exist: </a:t>
            </a:r>
            <a:r>
              <a:rPr b="1" i="1" lang="zh-TW" u="sng"/>
              <a:t>manufacturing</a:t>
            </a:r>
            <a:r>
              <a:rPr lang="zh-TW"/>
              <a:t> and </a:t>
            </a:r>
            <a:r>
              <a:rPr b="1" i="1" lang="zh-TW" u="sng"/>
              <a:t>measurements</a:t>
            </a:r>
            <a:r>
              <a:rPr lang="zh-TW"/>
              <a:t>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zh-TW">
                <a:solidFill>
                  <a:schemeClr val="dk1"/>
                </a:solidFill>
              </a:rPr>
              <a:t>Measurement steps are not always required in a stage.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zh-TW">
                <a:solidFill>
                  <a:schemeClr val="dk1"/>
                </a:solidFill>
              </a:rPr>
              <a:t>We make use of wafers that exist in both the measurement steps and the manufacturing steps.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/>
              <a:t>Each step has a clear sequential relationship (a distinct linear progression).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/>
              <a:t>The wafer manufacturing process does not change over time.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/>
              <a:t>Measurement steps consistently act as outcomes, rather than </a:t>
            </a:r>
            <a:r>
              <a:rPr lang="zh-TW"/>
              <a:t>contributing</a:t>
            </a:r>
            <a:r>
              <a:rPr lang="zh-TW"/>
              <a:t> factors.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8"/>
          <p:cNvSpPr/>
          <p:nvPr/>
        </p:nvSpPr>
        <p:spPr>
          <a:xfrm>
            <a:off x="1414475" y="1013575"/>
            <a:ext cx="1716900" cy="36762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Input Format with Provided Dataset</a:t>
            </a:r>
            <a:endParaRPr/>
          </a:p>
        </p:txBody>
      </p:sp>
      <p:sp>
        <p:nvSpPr>
          <p:cNvPr id="111" name="Google Shape;111;p18"/>
          <p:cNvSpPr/>
          <p:nvPr/>
        </p:nvSpPr>
        <p:spPr>
          <a:xfrm>
            <a:off x="576425" y="17481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8"/>
          <p:cNvSpPr/>
          <p:nvPr/>
        </p:nvSpPr>
        <p:spPr>
          <a:xfrm>
            <a:off x="576425" y="2744923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8"/>
          <p:cNvSpPr/>
          <p:nvPr/>
        </p:nvSpPr>
        <p:spPr>
          <a:xfrm>
            <a:off x="576425" y="383659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8"/>
          <p:cNvSpPr/>
          <p:nvPr/>
        </p:nvSpPr>
        <p:spPr>
          <a:xfrm>
            <a:off x="576425" y="3291026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18"/>
          <p:cNvSpPr/>
          <p:nvPr/>
        </p:nvSpPr>
        <p:spPr>
          <a:xfrm>
            <a:off x="576425" y="4347841"/>
            <a:ext cx="300600" cy="3006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8"/>
          <p:cNvSpPr/>
          <p:nvPr/>
        </p:nvSpPr>
        <p:spPr>
          <a:xfrm>
            <a:off x="576425" y="2265487"/>
            <a:ext cx="300600" cy="3006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7" name="Google Shape;117;p18"/>
          <p:cNvCxnSpPr>
            <a:stCxn id="111" idx="4"/>
            <a:endCxn id="116" idx="0"/>
          </p:cNvCxnSpPr>
          <p:nvPr/>
        </p:nvCxnSpPr>
        <p:spPr>
          <a:xfrm>
            <a:off x="726725" y="2048724"/>
            <a:ext cx="0" cy="21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8" name="Google Shape;118;p18"/>
          <p:cNvCxnSpPr>
            <a:stCxn id="116" idx="4"/>
            <a:endCxn id="112" idx="0"/>
          </p:cNvCxnSpPr>
          <p:nvPr/>
        </p:nvCxnSpPr>
        <p:spPr>
          <a:xfrm>
            <a:off x="726725" y="2566087"/>
            <a:ext cx="0" cy="178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9" name="Google Shape;119;p18"/>
          <p:cNvCxnSpPr>
            <a:stCxn id="112" idx="4"/>
            <a:endCxn id="114" idx="0"/>
          </p:cNvCxnSpPr>
          <p:nvPr/>
        </p:nvCxnSpPr>
        <p:spPr>
          <a:xfrm>
            <a:off x="726725" y="3045523"/>
            <a:ext cx="0" cy="24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18"/>
          <p:cNvCxnSpPr>
            <a:stCxn id="114" idx="4"/>
            <a:endCxn id="113" idx="0"/>
          </p:cNvCxnSpPr>
          <p:nvPr/>
        </p:nvCxnSpPr>
        <p:spPr>
          <a:xfrm>
            <a:off x="726725" y="3591626"/>
            <a:ext cx="0" cy="2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1" name="Google Shape;121;p18"/>
          <p:cNvCxnSpPr>
            <a:stCxn id="113" idx="4"/>
            <a:endCxn id="115" idx="0"/>
          </p:cNvCxnSpPr>
          <p:nvPr/>
        </p:nvCxnSpPr>
        <p:spPr>
          <a:xfrm>
            <a:off x="726725" y="4137194"/>
            <a:ext cx="0" cy="210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2" name="Google Shape;122;p18"/>
          <p:cNvSpPr/>
          <p:nvPr/>
        </p:nvSpPr>
        <p:spPr>
          <a:xfrm>
            <a:off x="576425" y="12306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3" name="Google Shape;123;p18"/>
          <p:cNvCxnSpPr>
            <a:stCxn id="122" idx="4"/>
          </p:cNvCxnSpPr>
          <p:nvPr/>
        </p:nvCxnSpPr>
        <p:spPr>
          <a:xfrm>
            <a:off x="726725" y="1531224"/>
            <a:ext cx="0" cy="21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4" name="Google Shape;124;p18"/>
          <p:cNvSpPr/>
          <p:nvPr/>
        </p:nvSpPr>
        <p:spPr>
          <a:xfrm>
            <a:off x="2411895" y="1068875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8"/>
          <p:cNvSpPr txBox="1"/>
          <p:nvPr/>
        </p:nvSpPr>
        <p:spPr>
          <a:xfrm>
            <a:off x="1154800" y="1180827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M1</a:t>
            </a:r>
            <a:endParaRPr/>
          </a:p>
        </p:txBody>
      </p:sp>
      <p:cxnSp>
        <p:nvCxnSpPr>
          <p:cNvPr id="126" name="Google Shape;126;p18"/>
          <p:cNvCxnSpPr/>
          <p:nvPr/>
        </p:nvCxnSpPr>
        <p:spPr>
          <a:xfrm>
            <a:off x="311700" y="1635975"/>
            <a:ext cx="2906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127" name="Google Shape;127;p18"/>
          <p:cNvSpPr txBox="1"/>
          <p:nvPr/>
        </p:nvSpPr>
        <p:spPr>
          <a:xfrm>
            <a:off x="1154800" y="1669644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M2</a:t>
            </a:r>
            <a:endParaRPr/>
          </a:p>
        </p:txBody>
      </p:sp>
      <p:cxnSp>
        <p:nvCxnSpPr>
          <p:cNvPr id="128" name="Google Shape;128;p18"/>
          <p:cNvCxnSpPr/>
          <p:nvPr/>
        </p:nvCxnSpPr>
        <p:spPr>
          <a:xfrm>
            <a:off x="311700" y="2124792"/>
            <a:ext cx="2906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129" name="Google Shape;129;p18"/>
          <p:cNvSpPr txBox="1"/>
          <p:nvPr/>
        </p:nvSpPr>
        <p:spPr>
          <a:xfrm>
            <a:off x="1154800" y="2169462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Q3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311700" y="2624610"/>
            <a:ext cx="2906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1154800" y="2700987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M4</a:t>
            </a:r>
            <a:endParaRPr/>
          </a:p>
        </p:txBody>
      </p:sp>
      <p:cxnSp>
        <p:nvCxnSpPr>
          <p:cNvPr id="132" name="Google Shape;132;p18"/>
          <p:cNvCxnSpPr/>
          <p:nvPr/>
        </p:nvCxnSpPr>
        <p:spPr>
          <a:xfrm>
            <a:off x="311700" y="3156135"/>
            <a:ext cx="2906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133" name="Google Shape;133;p18"/>
          <p:cNvSpPr txBox="1"/>
          <p:nvPr/>
        </p:nvSpPr>
        <p:spPr>
          <a:xfrm>
            <a:off x="1154800" y="3246107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M5</a:t>
            </a:r>
            <a:endParaRPr/>
          </a:p>
        </p:txBody>
      </p:sp>
      <p:cxnSp>
        <p:nvCxnSpPr>
          <p:cNvPr id="134" name="Google Shape;134;p18"/>
          <p:cNvCxnSpPr/>
          <p:nvPr/>
        </p:nvCxnSpPr>
        <p:spPr>
          <a:xfrm>
            <a:off x="311700" y="3701256"/>
            <a:ext cx="2906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135" name="Google Shape;135;p18"/>
          <p:cNvSpPr txBox="1"/>
          <p:nvPr/>
        </p:nvSpPr>
        <p:spPr>
          <a:xfrm>
            <a:off x="1154800" y="3766726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M6</a:t>
            </a:r>
            <a:endParaRPr/>
          </a:p>
        </p:txBody>
      </p:sp>
      <p:cxnSp>
        <p:nvCxnSpPr>
          <p:cNvPr id="136" name="Google Shape;136;p18"/>
          <p:cNvCxnSpPr/>
          <p:nvPr/>
        </p:nvCxnSpPr>
        <p:spPr>
          <a:xfrm>
            <a:off x="311700" y="4221875"/>
            <a:ext cx="2906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137" name="Google Shape;137;p18"/>
          <p:cNvSpPr txBox="1"/>
          <p:nvPr/>
        </p:nvSpPr>
        <p:spPr>
          <a:xfrm>
            <a:off x="1154800" y="4276826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Q7</a:t>
            </a: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1989345" y="1254300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2721445" y="1237462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2388670" y="1421987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2118920" y="1689550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18"/>
          <p:cNvSpPr/>
          <p:nvPr/>
        </p:nvSpPr>
        <p:spPr>
          <a:xfrm>
            <a:off x="2377545" y="1826225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8"/>
          <p:cNvSpPr/>
          <p:nvPr/>
        </p:nvSpPr>
        <p:spPr>
          <a:xfrm>
            <a:off x="2188295" y="2320712"/>
            <a:ext cx="178800" cy="1788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8"/>
          <p:cNvSpPr/>
          <p:nvPr/>
        </p:nvSpPr>
        <p:spPr>
          <a:xfrm>
            <a:off x="2188295" y="4392800"/>
            <a:ext cx="178800" cy="1788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8"/>
          <p:cNvSpPr/>
          <p:nvPr/>
        </p:nvSpPr>
        <p:spPr>
          <a:xfrm>
            <a:off x="2588932" y="2285300"/>
            <a:ext cx="178800" cy="1788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8"/>
          <p:cNvSpPr/>
          <p:nvPr/>
        </p:nvSpPr>
        <p:spPr>
          <a:xfrm>
            <a:off x="2464982" y="4400075"/>
            <a:ext cx="178800" cy="1788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8"/>
          <p:cNvSpPr/>
          <p:nvPr/>
        </p:nvSpPr>
        <p:spPr>
          <a:xfrm>
            <a:off x="2153570" y="2800975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2446670" y="2823625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49" name="Google Shape;149;p18"/>
          <p:cNvCxnSpPr>
            <a:stCxn id="124" idx="2"/>
            <a:endCxn id="138" idx="7"/>
          </p:cNvCxnSpPr>
          <p:nvPr/>
        </p:nvCxnSpPr>
        <p:spPr>
          <a:xfrm flipH="1">
            <a:off x="2141895" y="1158275"/>
            <a:ext cx="270000" cy="12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0" name="Google Shape;150;p18"/>
          <p:cNvCxnSpPr>
            <a:stCxn id="124" idx="4"/>
            <a:endCxn id="140" idx="0"/>
          </p:cNvCxnSpPr>
          <p:nvPr/>
        </p:nvCxnSpPr>
        <p:spPr>
          <a:xfrm flipH="1">
            <a:off x="2478195" y="1247675"/>
            <a:ext cx="23100" cy="174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1" name="Google Shape;151;p18"/>
          <p:cNvCxnSpPr>
            <a:stCxn id="139" idx="2"/>
            <a:endCxn id="140" idx="6"/>
          </p:cNvCxnSpPr>
          <p:nvPr/>
        </p:nvCxnSpPr>
        <p:spPr>
          <a:xfrm flipH="1">
            <a:off x="2567545" y="1326862"/>
            <a:ext cx="153900" cy="184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2" name="Google Shape;152;p18"/>
          <p:cNvCxnSpPr>
            <a:stCxn id="124" idx="3"/>
            <a:endCxn id="141" idx="0"/>
          </p:cNvCxnSpPr>
          <p:nvPr/>
        </p:nvCxnSpPr>
        <p:spPr>
          <a:xfrm flipH="1">
            <a:off x="2208279" y="1221490"/>
            <a:ext cx="229800" cy="468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3" name="Google Shape;153;p18"/>
          <p:cNvCxnSpPr>
            <a:stCxn id="140" idx="4"/>
            <a:endCxn id="142" idx="0"/>
          </p:cNvCxnSpPr>
          <p:nvPr/>
        </p:nvCxnSpPr>
        <p:spPr>
          <a:xfrm flipH="1">
            <a:off x="2466970" y="1600787"/>
            <a:ext cx="11100" cy="22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4" name="Google Shape;154;p18"/>
          <p:cNvCxnSpPr>
            <a:stCxn id="142" idx="4"/>
            <a:endCxn id="145" idx="0"/>
          </p:cNvCxnSpPr>
          <p:nvPr/>
        </p:nvCxnSpPr>
        <p:spPr>
          <a:xfrm>
            <a:off x="2466945" y="2005025"/>
            <a:ext cx="211500" cy="280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5" name="Google Shape;155;p18"/>
          <p:cNvCxnSpPr>
            <a:stCxn id="141" idx="4"/>
            <a:endCxn id="143" idx="0"/>
          </p:cNvCxnSpPr>
          <p:nvPr/>
        </p:nvCxnSpPr>
        <p:spPr>
          <a:xfrm>
            <a:off x="2208320" y="1868350"/>
            <a:ext cx="69300" cy="452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6" name="Google Shape;156;p18"/>
          <p:cNvCxnSpPr>
            <a:stCxn id="145" idx="2"/>
            <a:endCxn id="143" idx="6"/>
          </p:cNvCxnSpPr>
          <p:nvPr/>
        </p:nvCxnSpPr>
        <p:spPr>
          <a:xfrm flipH="1">
            <a:off x="2367232" y="2374700"/>
            <a:ext cx="221700" cy="354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57" name="Google Shape;157;p18"/>
          <p:cNvCxnSpPr>
            <a:stCxn id="145" idx="4"/>
            <a:endCxn id="148" idx="0"/>
          </p:cNvCxnSpPr>
          <p:nvPr/>
        </p:nvCxnSpPr>
        <p:spPr>
          <a:xfrm flipH="1">
            <a:off x="2536132" y="2464100"/>
            <a:ext cx="142200" cy="3594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58" name="Google Shape;158;p18"/>
          <p:cNvCxnSpPr>
            <a:stCxn id="138" idx="3"/>
            <a:endCxn id="147" idx="2"/>
          </p:cNvCxnSpPr>
          <p:nvPr/>
        </p:nvCxnSpPr>
        <p:spPr>
          <a:xfrm flipH="1" rot="-5400000">
            <a:off x="1342779" y="2079665"/>
            <a:ext cx="1483500" cy="138000"/>
          </a:xfrm>
          <a:prstGeom prst="curved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9" name="Google Shape;159;p18"/>
          <p:cNvCxnSpPr>
            <a:stCxn id="142" idx="6"/>
            <a:endCxn id="148" idx="6"/>
          </p:cNvCxnSpPr>
          <p:nvPr/>
        </p:nvCxnSpPr>
        <p:spPr>
          <a:xfrm>
            <a:off x="2556345" y="1915625"/>
            <a:ext cx="69000" cy="997500"/>
          </a:xfrm>
          <a:prstGeom prst="curvedConnector3">
            <a:avLst>
              <a:gd fmla="val 44529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0" name="Google Shape;160;p18"/>
          <p:cNvSpPr/>
          <p:nvPr/>
        </p:nvSpPr>
        <p:spPr>
          <a:xfrm>
            <a:off x="2620770" y="3304875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2118920" y="3872162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18"/>
          <p:cNvSpPr/>
          <p:nvPr/>
        </p:nvSpPr>
        <p:spPr>
          <a:xfrm>
            <a:off x="2438070" y="3999975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8"/>
          <p:cNvSpPr/>
          <p:nvPr/>
        </p:nvSpPr>
        <p:spPr>
          <a:xfrm>
            <a:off x="2483295" y="3737850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4" name="Google Shape;164;p18"/>
          <p:cNvCxnSpPr>
            <a:stCxn id="148" idx="4"/>
            <a:endCxn id="163" idx="0"/>
          </p:cNvCxnSpPr>
          <p:nvPr/>
        </p:nvCxnSpPr>
        <p:spPr>
          <a:xfrm>
            <a:off x="2536070" y="3002425"/>
            <a:ext cx="36600" cy="735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5" name="Google Shape;165;p18"/>
          <p:cNvSpPr/>
          <p:nvPr/>
        </p:nvSpPr>
        <p:spPr>
          <a:xfrm>
            <a:off x="2118920" y="3339287"/>
            <a:ext cx="178800" cy="178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66" name="Google Shape;166;p18"/>
          <p:cNvCxnSpPr>
            <a:stCxn id="147" idx="4"/>
            <a:endCxn id="165" idx="0"/>
          </p:cNvCxnSpPr>
          <p:nvPr/>
        </p:nvCxnSpPr>
        <p:spPr>
          <a:xfrm flipH="1">
            <a:off x="2208170" y="2979775"/>
            <a:ext cx="34800" cy="359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7" name="Google Shape;167;p18"/>
          <p:cNvCxnSpPr>
            <a:stCxn id="140" idx="6"/>
            <a:endCxn id="162" idx="6"/>
          </p:cNvCxnSpPr>
          <p:nvPr/>
        </p:nvCxnSpPr>
        <p:spPr>
          <a:xfrm>
            <a:off x="2567470" y="1511387"/>
            <a:ext cx="49500" cy="2577900"/>
          </a:xfrm>
          <a:prstGeom prst="curvedConnector3">
            <a:avLst>
              <a:gd fmla="val 77193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68" name="Google Shape;168;p18"/>
          <p:cNvCxnSpPr>
            <a:stCxn id="143" idx="2"/>
            <a:endCxn id="161" idx="2"/>
          </p:cNvCxnSpPr>
          <p:nvPr/>
        </p:nvCxnSpPr>
        <p:spPr>
          <a:xfrm flipH="1">
            <a:off x="2118995" y="2410112"/>
            <a:ext cx="69300" cy="1551600"/>
          </a:xfrm>
          <a:prstGeom prst="curvedConnector3">
            <a:avLst>
              <a:gd fmla="val 335923" name="adj1"/>
            </a:avLst>
          </a:prstGeom>
          <a:noFill/>
          <a:ln cap="flat" cmpd="sng" w="9525">
            <a:solidFill>
              <a:srgbClr val="FF0000"/>
            </a:solidFill>
            <a:prstDash val="dash"/>
            <a:round/>
            <a:headEnd len="med" w="med" type="none"/>
            <a:tailEnd len="med" w="med" type="triangle"/>
          </a:ln>
        </p:spPr>
      </p:cxnSp>
      <p:cxnSp>
        <p:nvCxnSpPr>
          <p:cNvPr id="169" name="Google Shape;169;p18"/>
          <p:cNvCxnSpPr>
            <a:stCxn id="161" idx="4"/>
            <a:endCxn id="144" idx="0"/>
          </p:cNvCxnSpPr>
          <p:nvPr/>
        </p:nvCxnSpPr>
        <p:spPr>
          <a:xfrm>
            <a:off x="2208320" y="4050962"/>
            <a:ext cx="69300" cy="341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0" name="Google Shape;170;p18"/>
          <p:cNvCxnSpPr>
            <a:stCxn id="162" idx="4"/>
            <a:endCxn id="146" idx="0"/>
          </p:cNvCxnSpPr>
          <p:nvPr/>
        </p:nvCxnSpPr>
        <p:spPr>
          <a:xfrm>
            <a:off x="2527470" y="4178775"/>
            <a:ext cx="27000" cy="221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71" name="Google Shape;171;p18"/>
          <p:cNvCxnSpPr>
            <a:stCxn id="148" idx="2"/>
            <a:endCxn id="162" idx="2"/>
          </p:cNvCxnSpPr>
          <p:nvPr/>
        </p:nvCxnSpPr>
        <p:spPr>
          <a:xfrm flipH="1">
            <a:off x="2437970" y="2913025"/>
            <a:ext cx="8700" cy="1176300"/>
          </a:xfrm>
          <a:prstGeom prst="curvedConnector3">
            <a:avLst>
              <a:gd fmla="val 1301087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2" name="Google Shape;172;p18"/>
          <p:cNvSpPr txBox="1"/>
          <p:nvPr/>
        </p:nvSpPr>
        <p:spPr>
          <a:xfrm>
            <a:off x="3504625" y="1025175"/>
            <a:ext cx="5488800" cy="27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Data format: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/>
              <a:t>For each stage, mutiple steps can be involved.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/>
              <a:t>Two categories of steps exist: </a:t>
            </a:r>
            <a:r>
              <a:rPr b="1" i="1" lang="zh-TW" u="sng"/>
              <a:t>manufacturing</a:t>
            </a:r>
            <a:r>
              <a:rPr lang="zh-TW"/>
              <a:t> and </a:t>
            </a:r>
            <a:r>
              <a:rPr b="1" i="1" lang="zh-TW" u="sng"/>
              <a:t>measurements</a:t>
            </a:r>
            <a:r>
              <a:rPr lang="zh-TW"/>
              <a:t>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zh-TW">
                <a:solidFill>
                  <a:schemeClr val="dk1"/>
                </a:solidFill>
              </a:rPr>
              <a:t>Measurement steps are not always required in a stage.</a:t>
            </a:r>
            <a:endParaRPr>
              <a:solidFill>
                <a:schemeClr val="dk1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</a:pPr>
            <a:r>
              <a:rPr lang="zh-TW">
                <a:solidFill>
                  <a:schemeClr val="dk1"/>
                </a:solidFill>
              </a:rPr>
              <a:t>We make use of wafers that exist in both the measurement steps and the manufacturing steps.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>
                <a:highlight>
                  <a:srgbClr val="FFF2CC"/>
                </a:highlight>
              </a:rPr>
              <a:t>Each step has a clear sequential relationship (a distinct linear progression).</a:t>
            </a:r>
            <a:endParaRPr>
              <a:highlight>
                <a:srgbClr val="FFF2CC"/>
              </a:highlight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>
                <a:highlight>
                  <a:srgbClr val="F4CCCC"/>
                </a:highlight>
              </a:rPr>
              <a:t>The wafer manufacturing process does not change over time.</a:t>
            </a:r>
            <a:endParaRPr>
              <a:highlight>
                <a:srgbClr val="F4CCCC"/>
              </a:highlight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>
                <a:highlight>
                  <a:srgbClr val="D9EAD3"/>
                </a:highlight>
              </a:rPr>
              <a:t>Measurement steps consistently act as outcomes, rather than contributing factors.</a:t>
            </a:r>
            <a:endParaRPr>
              <a:highlight>
                <a:srgbClr val="D9EAD3"/>
              </a:highlight>
            </a:endParaRPr>
          </a:p>
        </p:txBody>
      </p:sp>
      <p:sp>
        <p:nvSpPr>
          <p:cNvPr id="173" name="Google Shape;173;p18"/>
          <p:cNvSpPr txBox="1"/>
          <p:nvPr/>
        </p:nvSpPr>
        <p:spPr>
          <a:xfrm>
            <a:off x="3504625" y="3777450"/>
            <a:ext cx="5269500" cy="1262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Assumptions for the </a:t>
            </a:r>
            <a:r>
              <a:rPr b="1" lang="zh-TW" u="sng"/>
              <a:t>causal graph</a:t>
            </a:r>
            <a:r>
              <a:rPr lang="zh-TW"/>
              <a:t> based on the data format: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>
                <a:highlight>
                  <a:srgbClr val="FFF2CC"/>
                </a:highlight>
              </a:rPr>
              <a:t>No edge is allowed to point back to a previous step</a:t>
            </a:r>
            <a:endParaRPr>
              <a:highlight>
                <a:srgbClr val="FFF2CC"/>
              </a:highlight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zh-TW">
                <a:solidFill>
                  <a:schemeClr val="dk1"/>
                </a:solidFill>
                <a:highlight>
                  <a:srgbClr val="F4CCCC"/>
                </a:highlight>
              </a:rPr>
              <a:t>The causal graph remains unchanged over time</a:t>
            </a:r>
            <a:endParaRPr>
              <a:highlight>
                <a:srgbClr val="F4CCCC"/>
              </a:highlight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zh-TW">
                <a:solidFill>
                  <a:schemeClr val="dk1"/>
                </a:solidFill>
                <a:highlight>
                  <a:srgbClr val="D9EAD3"/>
                </a:highlight>
              </a:rPr>
              <a:t>No edge is allowed to point back to a measurement step, as measurement steps are not considered causal factors.</a:t>
            </a:r>
            <a:endParaRPr>
              <a:highlight>
                <a:srgbClr val="D9EAD3"/>
              </a:highlight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1596725" y="4662300"/>
            <a:ext cx="1352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zh-TW">
                <a:solidFill>
                  <a:srgbClr val="FF0000"/>
                </a:solidFill>
              </a:rPr>
              <a:t>causal graph</a:t>
            </a:r>
            <a:endParaRPr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Cars POV vs. Environments POV</a:t>
            </a:r>
            <a:endParaRPr/>
          </a:p>
        </p:txBody>
      </p:sp>
      <p:pic>
        <p:nvPicPr>
          <p:cNvPr id="180" name="Google Shape;180;p19"/>
          <p:cNvPicPr preferRelativeResize="0"/>
          <p:nvPr/>
        </p:nvPicPr>
        <p:blipFill rotWithShape="1">
          <a:blip r:embed="rId3">
            <a:alphaModFix/>
          </a:blip>
          <a:srcRect b="0" l="22593" r="13796" t="0"/>
          <a:stretch/>
        </p:blipFill>
        <p:spPr>
          <a:xfrm>
            <a:off x="4394275" y="1527925"/>
            <a:ext cx="4507126" cy="274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328638"/>
            <a:ext cx="4394275" cy="3144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0"/>
          <p:cNvSpPr/>
          <p:nvPr/>
        </p:nvSpPr>
        <p:spPr>
          <a:xfrm>
            <a:off x="1626250" y="2690914"/>
            <a:ext cx="514500" cy="942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20"/>
          <p:cNvSpPr/>
          <p:nvPr/>
        </p:nvSpPr>
        <p:spPr>
          <a:xfrm>
            <a:off x="1626250" y="1155250"/>
            <a:ext cx="514500" cy="1468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Wafer POV</a:t>
            </a:r>
            <a:endParaRPr/>
          </a:p>
        </p:txBody>
      </p:sp>
      <p:cxnSp>
        <p:nvCxnSpPr>
          <p:cNvPr id="189" name="Google Shape;189;p20"/>
          <p:cNvCxnSpPr/>
          <p:nvPr/>
        </p:nvCxnSpPr>
        <p:spPr>
          <a:xfrm rot="10800000">
            <a:off x="3646513" y="1127149"/>
            <a:ext cx="0" cy="3440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190" name="Google Shape;190;p20"/>
          <p:cNvSpPr txBox="1"/>
          <p:nvPr/>
        </p:nvSpPr>
        <p:spPr>
          <a:xfrm>
            <a:off x="3241362" y="2409163"/>
            <a:ext cx="260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/>
              <a:t>f</a:t>
            </a:r>
            <a:endParaRPr sz="2000"/>
          </a:p>
        </p:txBody>
      </p:sp>
      <p:cxnSp>
        <p:nvCxnSpPr>
          <p:cNvPr id="191" name="Google Shape;191;p20"/>
          <p:cNvCxnSpPr/>
          <p:nvPr/>
        </p:nvCxnSpPr>
        <p:spPr>
          <a:xfrm>
            <a:off x="3825779" y="4722275"/>
            <a:ext cx="4383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2" name="Google Shape;192;p20"/>
          <p:cNvSpPr txBox="1"/>
          <p:nvPr/>
        </p:nvSpPr>
        <p:spPr>
          <a:xfrm>
            <a:off x="5887062" y="4750031"/>
            <a:ext cx="260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/>
              <a:t>t</a:t>
            </a:r>
            <a:endParaRPr sz="2000"/>
          </a:p>
        </p:txBody>
      </p:sp>
      <p:sp>
        <p:nvSpPr>
          <p:cNvPr id="193" name="Google Shape;193;p20"/>
          <p:cNvSpPr/>
          <p:nvPr/>
        </p:nvSpPr>
        <p:spPr>
          <a:xfrm>
            <a:off x="4489562" y="1647450"/>
            <a:ext cx="514500" cy="502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20"/>
          <p:cNvSpPr/>
          <p:nvPr/>
        </p:nvSpPr>
        <p:spPr>
          <a:xfrm>
            <a:off x="5080477" y="2273731"/>
            <a:ext cx="125700" cy="300600"/>
          </a:xfrm>
          <a:prstGeom prst="rect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20"/>
          <p:cNvSpPr/>
          <p:nvPr/>
        </p:nvSpPr>
        <p:spPr>
          <a:xfrm>
            <a:off x="5276923" y="2635216"/>
            <a:ext cx="798600" cy="502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20"/>
          <p:cNvSpPr/>
          <p:nvPr/>
        </p:nvSpPr>
        <p:spPr>
          <a:xfrm>
            <a:off x="6142542" y="3194161"/>
            <a:ext cx="125700" cy="502200"/>
          </a:xfrm>
          <a:prstGeom prst="rect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20"/>
          <p:cNvSpPr/>
          <p:nvPr/>
        </p:nvSpPr>
        <p:spPr>
          <a:xfrm>
            <a:off x="6367482" y="3735920"/>
            <a:ext cx="1410300" cy="502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0"/>
          <p:cNvSpPr/>
          <p:nvPr/>
        </p:nvSpPr>
        <p:spPr>
          <a:xfrm>
            <a:off x="7873250" y="4333583"/>
            <a:ext cx="125700" cy="330300"/>
          </a:xfrm>
          <a:prstGeom prst="rect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0"/>
          <p:cNvSpPr/>
          <p:nvPr/>
        </p:nvSpPr>
        <p:spPr>
          <a:xfrm>
            <a:off x="1732150" y="17481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1732150" y="2744923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20"/>
          <p:cNvSpPr/>
          <p:nvPr/>
        </p:nvSpPr>
        <p:spPr>
          <a:xfrm>
            <a:off x="1732150" y="383659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0"/>
          <p:cNvSpPr/>
          <p:nvPr/>
        </p:nvSpPr>
        <p:spPr>
          <a:xfrm>
            <a:off x="1732150" y="3291026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20"/>
          <p:cNvSpPr/>
          <p:nvPr/>
        </p:nvSpPr>
        <p:spPr>
          <a:xfrm>
            <a:off x="1732150" y="4347841"/>
            <a:ext cx="300600" cy="3006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0"/>
          <p:cNvSpPr/>
          <p:nvPr/>
        </p:nvSpPr>
        <p:spPr>
          <a:xfrm>
            <a:off x="1732150" y="2265487"/>
            <a:ext cx="300600" cy="3006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05" name="Google Shape;205;p20"/>
          <p:cNvCxnSpPr>
            <a:stCxn id="199" idx="4"/>
            <a:endCxn id="204" idx="0"/>
          </p:cNvCxnSpPr>
          <p:nvPr/>
        </p:nvCxnSpPr>
        <p:spPr>
          <a:xfrm>
            <a:off x="1882450" y="2048724"/>
            <a:ext cx="0" cy="21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6" name="Google Shape;206;p20"/>
          <p:cNvCxnSpPr>
            <a:stCxn id="204" idx="4"/>
            <a:endCxn id="200" idx="0"/>
          </p:cNvCxnSpPr>
          <p:nvPr/>
        </p:nvCxnSpPr>
        <p:spPr>
          <a:xfrm>
            <a:off x="1882450" y="2566087"/>
            <a:ext cx="0" cy="178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07" name="Google Shape;207;p20"/>
          <p:cNvSpPr txBox="1"/>
          <p:nvPr/>
        </p:nvSpPr>
        <p:spPr>
          <a:xfrm>
            <a:off x="234475" y="2071525"/>
            <a:ext cx="1410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measurement step</a:t>
            </a:r>
            <a:endParaRPr/>
          </a:p>
        </p:txBody>
      </p:sp>
      <p:cxnSp>
        <p:nvCxnSpPr>
          <p:cNvPr id="208" name="Google Shape;208;p20"/>
          <p:cNvCxnSpPr>
            <a:stCxn id="200" idx="4"/>
            <a:endCxn id="202" idx="0"/>
          </p:cNvCxnSpPr>
          <p:nvPr/>
        </p:nvCxnSpPr>
        <p:spPr>
          <a:xfrm>
            <a:off x="1882450" y="3045523"/>
            <a:ext cx="0" cy="24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09" name="Google Shape;209;p20"/>
          <p:cNvCxnSpPr>
            <a:stCxn id="202" idx="4"/>
            <a:endCxn id="201" idx="0"/>
          </p:cNvCxnSpPr>
          <p:nvPr/>
        </p:nvCxnSpPr>
        <p:spPr>
          <a:xfrm>
            <a:off x="1882450" y="3591626"/>
            <a:ext cx="0" cy="2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10" name="Google Shape;210;p20"/>
          <p:cNvCxnSpPr>
            <a:stCxn id="201" idx="4"/>
            <a:endCxn id="203" idx="0"/>
          </p:cNvCxnSpPr>
          <p:nvPr/>
        </p:nvCxnSpPr>
        <p:spPr>
          <a:xfrm>
            <a:off x="1882450" y="4137194"/>
            <a:ext cx="0" cy="210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11" name="Google Shape;211;p20"/>
          <p:cNvSpPr/>
          <p:nvPr/>
        </p:nvSpPr>
        <p:spPr>
          <a:xfrm>
            <a:off x="4489557" y="1851675"/>
            <a:ext cx="514500" cy="1020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7873250" y="4395258"/>
            <a:ext cx="125700" cy="102000"/>
          </a:xfrm>
          <a:prstGeom prst="rect">
            <a:avLst/>
          </a:prstGeom>
          <a:solidFill>
            <a:srgbClr val="FF99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5029600" y="1698325"/>
            <a:ext cx="114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FF0000"/>
                </a:solidFill>
              </a:rPr>
              <a:t>root cause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7998950" y="4246150"/>
            <a:ext cx="114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FF9900"/>
                </a:solidFill>
              </a:rPr>
              <a:t>trigger point</a:t>
            </a:r>
            <a:endParaRPr>
              <a:solidFill>
                <a:srgbClr val="FF9900"/>
              </a:solidFill>
            </a:endParaRPr>
          </a:p>
        </p:txBody>
      </p:sp>
      <p:sp>
        <p:nvSpPr>
          <p:cNvPr id="215" name="Google Shape;215;p20"/>
          <p:cNvSpPr txBox="1"/>
          <p:nvPr/>
        </p:nvSpPr>
        <p:spPr>
          <a:xfrm>
            <a:off x="234475" y="1321575"/>
            <a:ext cx="1410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manufacturing step</a:t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1626250" y="3784236"/>
            <a:ext cx="514500" cy="9090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2057950" y="1647377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stage 1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2057950" y="2975411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stage 2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2057950" y="4042400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stage 3</a:t>
            </a:r>
            <a:endParaRPr/>
          </a:p>
        </p:txBody>
      </p:sp>
      <p:sp>
        <p:nvSpPr>
          <p:cNvPr id="220" name="Google Shape;220;p20"/>
          <p:cNvSpPr/>
          <p:nvPr/>
        </p:nvSpPr>
        <p:spPr>
          <a:xfrm>
            <a:off x="1732150" y="12306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20"/>
          <p:cNvCxnSpPr>
            <a:stCxn id="220" idx="4"/>
          </p:cNvCxnSpPr>
          <p:nvPr/>
        </p:nvCxnSpPr>
        <p:spPr>
          <a:xfrm>
            <a:off x="1882450" y="1531224"/>
            <a:ext cx="0" cy="21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22" name="Google Shape;222;p20"/>
          <p:cNvSpPr/>
          <p:nvPr/>
        </p:nvSpPr>
        <p:spPr>
          <a:xfrm>
            <a:off x="3766850" y="1114050"/>
            <a:ext cx="672900" cy="502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4659400" y="0"/>
            <a:ext cx="4485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Very similar to DeepTraLog’s request-based approach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1"/>
          <p:cNvSpPr/>
          <p:nvPr/>
        </p:nvSpPr>
        <p:spPr>
          <a:xfrm>
            <a:off x="1626250" y="2690914"/>
            <a:ext cx="514500" cy="942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1"/>
          <p:cNvSpPr/>
          <p:nvPr/>
        </p:nvSpPr>
        <p:spPr>
          <a:xfrm>
            <a:off x="1626250" y="1155250"/>
            <a:ext cx="514500" cy="14688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Machine POV</a:t>
            </a:r>
            <a:endParaRPr/>
          </a:p>
        </p:txBody>
      </p:sp>
      <p:cxnSp>
        <p:nvCxnSpPr>
          <p:cNvPr id="231" name="Google Shape;231;p21"/>
          <p:cNvCxnSpPr/>
          <p:nvPr/>
        </p:nvCxnSpPr>
        <p:spPr>
          <a:xfrm rot="10800000">
            <a:off x="3646513" y="1127149"/>
            <a:ext cx="0" cy="3440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triangle"/>
            <a:tailEnd len="med" w="med" type="none"/>
          </a:ln>
        </p:spPr>
      </p:cxnSp>
      <p:sp>
        <p:nvSpPr>
          <p:cNvPr id="232" name="Google Shape;232;p21"/>
          <p:cNvSpPr txBox="1"/>
          <p:nvPr/>
        </p:nvSpPr>
        <p:spPr>
          <a:xfrm>
            <a:off x="3241362" y="2409163"/>
            <a:ext cx="260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/>
              <a:t>f</a:t>
            </a:r>
            <a:endParaRPr sz="2000"/>
          </a:p>
        </p:txBody>
      </p:sp>
      <p:cxnSp>
        <p:nvCxnSpPr>
          <p:cNvPr id="233" name="Google Shape;233;p21"/>
          <p:cNvCxnSpPr/>
          <p:nvPr/>
        </p:nvCxnSpPr>
        <p:spPr>
          <a:xfrm>
            <a:off x="3825779" y="4722275"/>
            <a:ext cx="43833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34" name="Google Shape;234;p21"/>
          <p:cNvSpPr txBox="1"/>
          <p:nvPr/>
        </p:nvSpPr>
        <p:spPr>
          <a:xfrm>
            <a:off x="5887062" y="4750031"/>
            <a:ext cx="260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/>
              <a:t>t</a:t>
            </a:r>
            <a:endParaRPr sz="2000"/>
          </a:p>
        </p:txBody>
      </p:sp>
      <p:sp>
        <p:nvSpPr>
          <p:cNvPr id="235" name="Google Shape;235;p21"/>
          <p:cNvSpPr/>
          <p:nvPr/>
        </p:nvSpPr>
        <p:spPr>
          <a:xfrm>
            <a:off x="3766892" y="1647450"/>
            <a:ext cx="4232100" cy="502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21"/>
          <p:cNvSpPr/>
          <p:nvPr/>
        </p:nvSpPr>
        <p:spPr>
          <a:xfrm>
            <a:off x="3766719" y="2273725"/>
            <a:ext cx="4232100" cy="300600"/>
          </a:xfrm>
          <a:prstGeom prst="rect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3766723" y="2635225"/>
            <a:ext cx="4232100" cy="502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1"/>
          <p:cNvSpPr/>
          <p:nvPr/>
        </p:nvSpPr>
        <p:spPr>
          <a:xfrm>
            <a:off x="3766989" y="3194150"/>
            <a:ext cx="4232100" cy="502200"/>
          </a:xfrm>
          <a:prstGeom prst="rect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1"/>
          <p:cNvSpPr/>
          <p:nvPr/>
        </p:nvSpPr>
        <p:spPr>
          <a:xfrm>
            <a:off x="3766824" y="3735925"/>
            <a:ext cx="4232100" cy="502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21"/>
          <p:cNvSpPr/>
          <p:nvPr/>
        </p:nvSpPr>
        <p:spPr>
          <a:xfrm>
            <a:off x="3766850" y="4333575"/>
            <a:ext cx="4232100" cy="330300"/>
          </a:xfrm>
          <a:prstGeom prst="rect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1"/>
          <p:cNvSpPr/>
          <p:nvPr/>
        </p:nvSpPr>
        <p:spPr>
          <a:xfrm>
            <a:off x="1732150" y="17481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1"/>
          <p:cNvSpPr/>
          <p:nvPr/>
        </p:nvSpPr>
        <p:spPr>
          <a:xfrm>
            <a:off x="1732150" y="2744923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1"/>
          <p:cNvSpPr/>
          <p:nvPr/>
        </p:nvSpPr>
        <p:spPr>
          <a:xfrm>
            <a:off x="1732150" y="383659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1"/>
          <p:cNvSpPr/>
          <p:nvPr/>
        </p:nvSpPr>
        <p:spPr>
          <a:xfrm>
            <a:off x="1732150" y="3291026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1"/>
          <p:cNvSpPr/>
          <p:nvPr/>
        </p:nvSpPr>
        <p:spPr>
          <a:xfrm>
            <a:off x="1732150" y="4347841"/>
            <a:ext cx="300600" cy="3006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"/>
          <p:cNvSpPr/>
          <p:nvPr/>
        </p:nvSpPr>
        <p:spPr>
          <a:xfrm>
            <a:off x="1732150" y="2265487"/>
            <a:ext cx="300600" cy="300600"/>
          </a:xfrm>
          <a:prstGeom prst="ellipse">
            <a:avLst/>
          </a:prstGeom>
          <a:solidFill>
            <a:srgbClr val="9E9E9E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47" name="Google Shape;247;p21"/>
          <p:cNvCxnSpPr>
            <a:stCxn id="241" idx="4"/>
            <a:endCxn id="246" idx="0"/>
          </p:cNvCxnSpPr>
          <p:nvPr/>
        </p:nvCxnSpPr>
        <p:spPr>
          <a:xfrm>
            <a:off x="1882450" y="2048724"/>
            <a:ext cx="0" cy="21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8" name="Google Shape;248;p21"/>
          <p:cNvCxnSpPr>
            <a:stCxn id="246" idx="4"/>
            <a:endCxn id="242" idx="0"/>
          </p:cNvCxnSpPr>
          <p:nvPr/>
        </p:nvCxnSpPr>
        <p:spPr>
          <a:xfrm>
            <a:off x="1882450" y="2566087"/>
            <a:ext cx="0" cy="178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9" name="Google Shape;249;p21"/>
          <p:cNvSpPr txBox="1"/>
          <p:nvPr/>
        </p:nvSpPr>
        <p:spPr>
          <a:xfrm>
            <a:off x="234475" y="2071525"/>
            <a:ext cx="1410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measurement step</a:t>
            </a:r>
            <a:endParaRPr/>
          </a:p>
        </p:txBody>
      </p:sp>
      <p:cxnSp>
        <p:nvCxnSpPr>
          <p:cNvPr id="250" name="Google Shape;250;p21"/>
          <p:cNvCxnSpPr>
            <a:stCxn id="242" idx="4"/>
            <a:endCxn id="244" idx="0"/>
          </p:cNvCxnSpPr>
          <p:nvPr/>
        </p:nvCxnSpPr>
        <p:spPr>
          <a:xfrm>
            <a:off x="1882450" y="3045523"/>
            <a:ext cx="0" cy="245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51" name="Google Shape;251;p21"/>
          <p:cNvCxnSpPr>
            <a:stCxn id="244" idx="4"/>
            <a:endCxn id="243" idx="0"/>
          </p:cNvCxnSpPr>
          <p:nvPr/>
        </p:nvCxnSpPr>
        <p:spPr>
          <a:xfrm>
            <a:off x="1882450" y="3591626"/>
            <a:ext cx="0" cy="2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52" name="Google Shape;252;p21"/>
          <p:cNvCxnSpPr>
            <a:stCxn id="243" idx="4"/>
            <a:endCxn id="245" idx="0"/>
          </p:cNvCxnSpPr>
          <p:nvPr/>
        </p:nvCxnSpPr>
        <p:spPr>
          <a:xfrm>
            <a:off x="1882450" y="4137194"/>
            <a:ext cx="0" cy="210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53" name="Google Shape;253;p21"/>
          <p:cNvSpPr/>
          <p:nvPr/>
        </p:nvSpPr>
        <p:spPr>
          <a:xfrm>
            <a:off x="6169251" y="1851675"/>
            <a:ext cx="1829700" cy="1020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21"/>
          <p:cNvSpPr/>
          <p:nvPr/>
        </p:nvSpPr>
        <p:spPr>
          <a:xfrm>
            <a:off x="7873250" y="4395258"/>
            <a:ext cx="125700" cy="102000"/>
          </a:xfrm>
          <a:prstGeom prst="rect">
            <a:avLst/>
          </a:prstGeom>
          <a:solidFill>
            <a:srgbClr val="FF99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1"/>
          <p:cNvSpPr txBox="1"/>
          <p:nvPr/>
        </p:nvSpPr>
        <p:spPr>
          <a:xfrm>
            <a:off x="7998950" y="1698325"/>
            <a:ext cx="114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FF0000"/>
                </a:solidFill>
              </a:rPr>
              <a:t>root cause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56" name="Google Shape;256;p21"/>
          <p:cNvSpPr txBox="1"/>
          <p:nvPr/>
        </p:nvSpPr>
        <p:spPr>
          <a:xfrm>
            <a:off x="7998950" y="4246150"/>
            <a:ext cx="1146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FF9900"/>
                </a:solidFill>
              </a:rPr>
              <a:t>trigger point</a:t>
            </a:r>
            <a:endParaRPr>
              <a:solidFill>
                <a:srgbClr val="FF9900"/>
              </a:solidFill>
            </a:endParaRPr>
          </a:p>
        </p:txBody>
      </p:sp>
      <p:sp>
        <p:nvSpPr>
          <p:cNvPr id="257" name="Google Shape;257;p21"/>
          <p:cNvSpPr txBox="1"/>
          <p:nvPr/>
        </p:nvSpPr>
        <p:spPr>
          <a:xfrm>
            <a:off x="234475" y="1321575"/>
            <a:ext cx="14103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manufacturing step</a:t>
            </a:r>
            <a:endParaRPr/>
          </a:p>
        </p:txBody>
      </p:sp>
      <p:sp>
        <p:nvSpPr>
          <p:cNvPr id="258" name="Google Shape;258;p21"/>
          <p:cNvSpPr/>
          <p:nvPr/>
        </p:nvSpPr>
        <p:spPr>
          <a:xfrm>
            <a:off x="1626250" y="3784236"/>
            <a:ext cx="514500" cy="9090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21"/>
          <p:cNvSpPr txBox="1"/>
          <p:nvPr/>
        </p:nvSpPr>
        <p:spPr>
          <a:xfrm>
            <a:off x="2057950" y="1647377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stage 1</a:t>
            </a:r>
            <a:endParaRPr/>
          </a:p>
        </p:txBody>
      </p:sp>
      <p:sp>
        <p:nvSpPr>
          <p:cNvPr id="260" name="Google Shape;260;p21"/>
          <p:cNvSpPr txBox="1"/>
          <p:nvPr/>
        </p:nvSpPr>
        <p:spPr>
          <a:xfrm>
            <a:off x="2057950" y="2975411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stage 2</a:t>
            </a:r>
            <a:endParaRPr/>
          </a:p>
        </p:txBody>
      </p:sp>
      <p:sp>
        <p:nvSpPr>
          <p:cNvPr id="261" name="Google Shape;261;p21"/>
          <p:cNvSpPr txBox="1"/>
          <p:nvPr/>
        </p:nvSpPr>
        <p:spPr>
          <a:xfrm>
            <a:off x="2057950" y="4042400"/>
            <a:ext cx="1033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stage 3</a:t>
            </a:r>
            <a:endParaRPr/>
          </a:p>
        </p:txBody>
      </p:sp>
      <p:sp>
        <p:nvSpPr>
          <p:cNvPr id="262" name="Google Shape;262;p21"/>
          <p:cNvSpPr/>
          <p:nvPr/>
        </p:nvSpPr>
        <p:spPr>
          <a:xfrm>
            <a:off x="1732150" y="1230624"/>
            <a:ext cx="300600" cy="3006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63" name="Google Shape;263;p21"/>
          <p:cNvCxnSpPr>
            <a:stCxn id="262" idx="4"/>
          </p:cNvCxnSpPr>
          <p:nvPr/>
        </p:nvCxnSpPr>
        <p:spPr>
          <a:xfrm>
            <a:off x="1882450" y="1531224"/>
            <a:ext cx="0" cy="21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64" name="Google Shape;264;p21"/>
          <p:cNvSpPr/>
          <p:nvPr/>
        </p:nvSpPr>
        <p:spPr>
          <a:xfrm>
            <a:off x="3766849" y="1114050"/>
            <a:ext cx="4232100" cy="502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1"/>
          <p:cNvSpPr txBox="1"/>
          <p:nvPr/>
        </p:nvSpPr>
        <p:spPr>
          <a:xfrm>
            <a:off x="2821919" y="217081"/>
            <a:ext cx="6392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FF0000"/>
                </a:solidFill>
              </a:rPr>
              <a:t>(The current TSMC correlation-based approach use this input format as well)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66" name="Google Shape;266;p21"/>
          <p:cNvSpPr txBox="1"/>
          <p:nvPr/>
        </p:nvSpPr>
        <p:spPr>
          <a:xfrm>
            <a:off x="4720250" y="0"/>
            <a:ext cx="4424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Very similar to MicroHECL’s service-based approach</a:t>
            </a:r>
            <a:endParaRPr/>
          </a:p>
        </p:txBody>
      </p:sp>
      <p:sp>
        <p:nvSpPr>
          <p:cNvPr id="267" name="Google Shape;267;p21"/>
          <p:cNvSpPr txBox="1"/>
          <p:nvPr/>
        </p:nvSpPr>
        <p:spPr>
          <a:xfrm>
            <a:off x="6169121" y="4780675"/>
            <a:ext cx="182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accent1"/>
                </a:solidFill>
              </a:rPr>
              <a:t>Same sample rate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268" name="Google Shape;268;p21"/>
          <p:cNvSpPr/>
          <p:nvPr/>
        </p:nvSpPr>
        <p:spPr>
          <a:xfrm>
            <a:off x="6169125" y="1026450"/>
            <a:ext cx="1829700" cy="3761700"/>
          </a:xfrm>
          <a:prstGeom prst="roundRect">
            <a:avLst>
              <a:gd fmla="val 16667" name="adj"/>
            </a:avLst>
          </a:prstGeom>
          <a:noFill/>
          <a:ln cap="flat" cmpd="sng" w="28575">
            <a:solidFill>
              <a:srgbClr val="4A86E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RCA vs. Causal Learning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Causal Factors vs. Root Causes</a:t>
            </a:r>
            <a:endParaRPr/>
          </a:p>
        </p:txBody>
      </p:sp>
      <p:pic>
        <p:nvPicPr>
          <p:cNvPr id="279" name="Google Shape;27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195805"/>
            <a:ext cx="9144001" cy="336149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3"/>
          <p:cNvSpPr txBox="1"/>
          <p:nvPr/>
        </p:nvSpPr>
        <p:spPr>
          <a:xfrm>
            <a:off x="311700" y="4765300"/>
            <a:ext cx="8615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u="sng">
                <a:solidFill>
                  <a:schemeClr val="hlink"/>
                </a:solidFill>
                <a:hlinkClick r:id="rId4"/>
              </a:rPr>
              <a:t>https://www.qualitygurus.com/causal-factors-vs-root-causes-what-is-the-difference/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Causal/Contributing </a:t>
            </a:r>
            <a:r>
              <a:rPr lang="zh-TW"/>
              <a:t>Factors vs. Root Causes</a:t>
            </a:r>
            <a:endParaRPr/>
          </a:p>
        </p:txBody>
      </p:sp>
      <p:sp>
        <p:nvSpPr>
          <p:cNvPr id="286" name="Google Shape;286;p24"/>
          <p:cNvSpPr txBox="1"/>
          <p:nvPr/>
        </p:nvSpPr>
        <p:spPr>
          <a:xfrm>
            <a:off x="311700" y="4765300"/>
            <a:ext cx="86154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u="sng">
                <a:solidFill>
                  <a:schemeClr val="hlink"/>
                </a:solidFill>
                <a:hlinkClick r:id="rId3"/>
              </a:rPr>
              <a:t>https://pediaa.com/what-is-the-difference-between-root-cause-and-contributing-factor/</a:t>
            </a:r>
            <a:endParaRPr/>
          </a:p>
        </p:txBody>
      </p:sp>
      <p:pic>
        <p:nvPicPr>
          <p:cNvPr id="287" name="Google Shape;287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3000" y="1170125"/>
            <a:ext cx="3734638" cy="34427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7200" y="1185253"/>
            <a:ext cx="4267200" cy="34115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Connections</a:t>
            </a:r>
            <a:endParaRPr/>
          </a:p>
        </p:txBody>
      </p:sp>
      <p:sp>
        <p:nvSpPr>
          <p:cNvPr id="294" name="Google Shape;294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Causal Inference ⟷ Root Cause Analysis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zh-TW"/>
              <a:t>(CIRCA) Causal Inference-Based Root Cause Analysis for Online Service Systems with Intervention Recognition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zh-TW"/>
              <a:t>KDD 2022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Causal Discovery ⟷ Root Cause Analysis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zh-TW"/>
              <a:t>(RCD) Root Cause Analysis of Failures in Microservices through Causal Discovery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zh-TW"/>
              <a:t>NeruIPS 2022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9E9E9E"/>
              </a:buClr>
              <a:buSzPts val="1800"/>
              <a:buChar char="●"/>
            </a:pPr>
            <a:r>
              <a:rPr lang="zh-TW">
                <a:solidFill>
                  <a:srgbClr val="9E9E9E"/>
                </a:solidFill>
              </a:rPr>
              <a:t>SCM ⟷ GNN</a:t>
            </a:r>
            <a:endParaRPr>
              <a:solidFill>
                <a:srgbClr val="9E9E9E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400"/>
              <a:buChar char="○"/>
            </a:pPr>
            <a:r>
              <a:rPr lang="zh-TW">
                <a:solidFill>
                  <a:srgbClr val="9E9E9E"/>
                </a:solidFill>
              </a:rPr>
              <a:t>Relating Graph Neural Networks to Structural Causal Models</a:t>
            </a:r>
            <a:endParaRPr>
              <a:solidFill>
                <a:srgbClr val="9E9E9E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