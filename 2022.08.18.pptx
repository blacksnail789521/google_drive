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76DB73-FF8C-4DBB-8DD4-EEAA70C100BA}">
  <a:tblStyle styleId="{6976DB73-FF8C-4DBB-8DD4-EEAA70C100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a97ba48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a97ba48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a97ba48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a97ba48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2a97ba48cc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2a97ba48c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c6b0afd4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c6b0afd4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fa804ed8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fa804ed8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a97ba48c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a97ba48c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4877448d5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4877448d5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877448d5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4877448d5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877448d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4877448d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877448d5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4877448d5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877448d5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4877448d5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877448d5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4877448d5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877448d5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4877448d5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877448d5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4877448d5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877448d5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4877448d5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877448d5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4877448d5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877448d5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4877448d5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877448d51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877448d51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877448d51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4877448d51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877448d51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4877448d51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4877448d51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4877448d51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4877448d51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4877448d5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4877448d51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4877448d51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4877448d51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4877448d51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4877448d51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4877448d51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4877448d51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4877448d51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4877448d51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4877448d51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4877448d5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14877448d5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4877448d5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4877448d5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2a97ba48c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2a97ba48c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45247fd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145247fd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45247fd7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45247fd7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45247fd70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145247fd70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45247fd70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45247fd70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45247fd70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145247fd7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199" y="324017"/>
            <a:ext cx="82295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1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13259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100"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1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7071122" y="4970151"/>
            <a:ext cx="1028700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2431256" y="4972467"/>
            <a:ext cx="4281488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58200" y="4967835"/>
            <a:ext cx="685800" cy="17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2022 JDP –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AI Detection and Causality Inferences for Fab Operations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727950" y="3205450"/>
            <a:ext cx="76881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Advisor: Wen-Chih Peng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Student: Zheng-Ming (Paul) Lin, Ching (Jason) Chang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Date: 2022/08/11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Thoughs on log parsing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Surveyed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On Automatic Parsing of Log Records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ICSE 2021 (#15 conference), #citations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Prefix-Graph: A Versatile Log Parsing Approach Merging Prefix Tree with Probabilistic Graph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ICDE, 2021, unsupervised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Review - </a:t>
            </a:r>
            <a:r>
              <a:rPr lang="zh-TW"/>
              <a:t>張敬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Done in the past two weeks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Understand kubernetes, Helm, Istio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Train Ticket with k8s + isio (using minikube to create k8s cluster)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Thoughs on log parsing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To 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Produce all 14 possible anomalies from Train Ticket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Unsupervised POS tagging papers</a:t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Done in the past two weeks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Log parsing post-processing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Merge the different cluster but similar template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To do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Apply the method from paper to TSMC data </a:t>
            </a:r>
            <a:endParaRPr sz="1800"/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Review - </a:t>
            </a:r>
            <a:r>
              <a:rPr lang="zh-TW"/>
              <a:t>正明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Internship plan (from NYCU)</a:t>
            </a:r>
            <a:endParaRPr/>
          </a:p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159" y="950"/>
            <a:ext cx="3778466" cy="22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03081"/>
            <a:ext cx="9143998" cy="2416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Unsupervised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Offline or Online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Online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type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+ Log + Trace + Changelog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/>
                        <a:t>System log (kubernetes-related)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Application 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Multiple sources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time mismatch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log sparsity issue (error message)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Log parsing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Causality/Interpretability/Explainability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21"/>
          <p:cNvSpPr txBox="1"/>
          <p:nvPr/>
        </p:nvSpPr>
        <p:spPr>
          <a:xfrm>
            <a:off x="562450" y="4659925"/>
            <a:ext cx="79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Keywords: micro services, causal graph, root cause analysis, causal inference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3970"/>
            <a:ext cx="9144000" cy="3337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Single source – Metric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GDN (AAAI 2021)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GNN-based MTS 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If using Graph Deviation Scoring, </a:t>
            </a:r>
            <a:br>
              <a:rPr lang="zh-TW"/>
            </a:br>
            <a:r>
              <a:rPr lang="zh-TW"/>
              <a:t>output will be anomalous label for </a:t>
            </a:r>
            <a:br>
              <a:rPr lang="zh-TW"/>
            </a:br>
            <a:r>
              <a:rPr lang="zh-TW"/>
              <a:t>each timestamp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Darts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Nbeats, TCN, TFT, NHiTs</a:t>
            </a:r>
            <a:endParaRPr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849" y="0"/>
            <a:ext cx="4632148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8350" y="3476621"/>
            <a:ext cx="4724400" cy="15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364325" y="4146925"/>
            <a:ext cx="321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specified for microservices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Single source – Log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NeuralLog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Log AD without log parsing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GLAD-PAW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Log AD with GNN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LogAnomaly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225025"/>
            <a:ext cx="8520600" cy="10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trike="sngStrike"/>
              <a:t>Multiple sources – Metric + Trace</a:t>
            </a:r>
            <a:br>
              <a:rPr lang="zh-TW"/>
            </a:br>
            <a:r>
              <a:rPr lang="zh-TW">
                <a:solidFill>
                  <a:srgbClr val="FF0000"/>
                </a:solidFill>
              </a:rPr>
              <a:t>Single source – Trace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MicroHECL</a:t>
            </a:r>
            <a:endParaRPr/>
          </a:p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1252"/>
            <a:ext cx="9143998" cy="28553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258375" y="4598200"/>
            <a:ext cx="833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0000"/>
                </a:solidFill>
              </a:rPr>
              <a:t>“Trace” is not just about the topology/edges. We can have some metric/KPI on the edges.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Multiple sources – Log + Trace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DeepTraLog</a:t>
            </a:r>
            <a:endParaRPr/>
          </a:p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63446"/>
            <a:ext cx="9144000" cy="3035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Multiple sources – Metric + Log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CloudRCA</a:t>
            </a:r>
            <a:endParaRPr/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049" y="1200150"/>
            <a:ext cx="5934402" cy="371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 Selling points for my own paper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Combine 3 data 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Log, Trace, Metric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Change “Changelog” to “Metric”, like TSMC did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GNN with RCA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Self-supervised learning (with GNN)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Contrastive learning</a:t>
            </a:r>
            <a:endParaRPr/>
          </a:p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166150"/>
            <a:ext cx="8520600" cy="11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Tsinghua NetMan Lab – NetManAIOps</a:t>
            </a:r>
            <a:br>
              <a:rPr lang="zh-TW"/>
            </a:br>
            <a:r>
              <a:rPr i="1" lang="zh-TW">
                <a:solidFill>
                  <a:srgbClr val="9E9E9E"/>
                </a:solidFill>
              </a:rPr>
              <a:t>Autonomizing IT Operations</a:t>
            </a:r>
            <a:endParaRPr i="1">
              <a:solidFill>
                <a:srgbClr val="9E9E9E"/>
              </a:solidFill>
            </a:endParaRPr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TraceAnomaly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ISSRE 2020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TraceRCA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IWQoS 2021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DejaVu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Actionable and Interpretable Fault Localization for Recurring Failures in Online Service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FSE 2022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CIRCA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Causal Inference-Based Root Cause Analysis for Online Service Systems with Intervention Recognition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KDD 2022</a:t>
            </a:r>
            <a:endParaRPr/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5" name="Google Shape;175;p29"/>
          <p:cNvSpPr txBox="1"/>
          <p:nvPr/>
        </p:nvSpPr>
        <p:spPr>
          <a:xfrm>
            <a:off x="6654400" y="1039425"/>
            <a:ext cx="162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0000"/>
                </a:solidFill>
              </a:rPr>
              <a:t>Open Source!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Implementation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MicroHECL with TSMC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DeepTraLog with Train Ticket</a:t>
            </a:r>
            <a:endParaRPr/>
          </a:p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Trigger point: having </a:t>
            </a:r>
            <a:r>
              <a:rPr lang="zh-TW">
                <a:solidFill>
                  <a:srgbClr val="FF0000"/>
                </a:solidFill>
              </a:rPr>
              <a:t>availability issue (business metric)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Service Call Graph Construction (in the latest time window, e.g., the last 30 min)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Anomaly Propagation Chain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Candidate Root Cause Ranking</a:t>
            </a:r>
            <a:endParaRPr/>
          </a:p>
        </p:txBody>
      </p:sp>
      <p:sp>
        <p:nvSpPr>
          <p:cNvPr id="189" name="Google Shape;18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</a:t>
            </a:r>
            <a:endParaRPr/>
          </a:p>
        </p:txBody>
      </p:sp>
      <p:sp>
        <p:nvSpPr>
          <p:cNvPr id="195" name="Google Shape;19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6" name="Google Shape;196;p32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197" name="Google Shape;197;p32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98" name="Google Shape;198;p32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99" name="Google Shape;199;p32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200" name="Google Shape;200;p32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202" name="Google Shape;202;p32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203" name="Google Shape;203;p32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204" name="Google Shape;204;p32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205" name="Google Shape;205;p32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206" name="Google Shape;206;p32"/>
          <p:cNvCxnSpPr>
            <a:stCxn id="196" idx="6"/>
            <a:endCxn id="198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" name="Google Shape;207;p32"/>
          <p:cNvCxnSpPr>
            <a:stCxn id="198" idx="6"/>
            <a:endCxn id="200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" name="Google Shape;208;p32"/>
          <p:cNvCxnSpPr>
            <a:stCxn id="200" idx="6"/>
            <a:endCxn id="202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" name="Google Shape;209;p32"/>
          <p:cNvCxnSpPr>
            <a:stCxn id="202" idx="6"/>
            <a:endCxn id="204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" name="Google Shape;210;p32"/>
          <p:cNvCxnSpPr>
            <a:stCxn id="197" idx="6"/>
            <a:endCxn id="199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" name="Google Shape;211;p32"/>
          <p:cNvCxnSpPr>
            <a:stCxn id="199" idx="6"/>
            <a:endCxn id="201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" name="Google Shape;212;p32"/>
          <p:cNvCxnSpPr>
            <a:stCxn id="196" idx="6"/>
            <a:endCxn id="199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" name="Google Shape;213;p32"/>
          <p:cNvCxnSpPr>
            <a:stCxn id="200" idx="6"/>
            <a:endCxn id="203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" name="Google Shape;214;p32"/>
          <p:cNvCxnSpPr>
            <a:stCxn id="202" idx="6"/>
            <a:endCxn id="205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" name="Google Shape;215;p32"/>
          <p:cNvCxnSpPr>
            <a:stCxn id="199" idx="6"/>
            <a:endCxn id="200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16" name="Google Shape;216;p32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7" name="Google Shape;217;p32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8" name="Google Shape;218;p32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9" name="Google Shape;219;p32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" name="Google Shape;220;p32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32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Google Shape;222;p32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32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32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32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32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32"/>
          <p:cNvGraphicFramePr/>
          <p:nvPr/>
        </p:nvGraphicFramePr>
        <p:xfrm>
          <a:off x="7209075" y="1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32"/>
          <p:cNvSpPr txBox="1"/>
          <p:nvPr/>
        </p:nvSpPr>
        <p:spPr>
          <a:xfrm>
            <a:off x="6632972" y="97631"/>
            <a:ext cx="642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</a:t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7148575" y="777850"/>
            <a:ext cx="16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10:00 10:05     …     10:55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235" name="Google Shape;23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6" name="Google Shape;236;p33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237" name="Google Shape;237;p33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238" name="Google Shape;238;p33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239" name="Google Shape;239;p33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240" name="Google Shape;240;p33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242" name="Google Shape;242;p33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243" name="Google Shape;243;p33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244" name="Google Shape;244;p33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245" name="Google Shape;245;p33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246" name="Google Shape;246;p33"/>
          <p:cNvCxnSpPr>
            <a:stCxn id="236" idx="6"/>
            <a:endCxn id="238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" name="Google Shape;247;p33"/>
          <p:cNvCxnSpPr>
            <a:stCxn id="238" idx="6"/>
            <a:endCxn id="240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" name="Google Shape;248;p33"/>
          <p:cNvCxnSpPr>
            <a:stCxn id="240" idx="6"/>
            <a:endCxn id="242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" name="Google Shape;249;p33"/>
          <p:cNvCxnSpPr>
            <a:stCxn id="242" idx="6"/>
            <a:endCxn id="244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" name="Google Shape;250;p33"/>
          <p:cNvCxnSpPr>
            <a:stCxn id="237" idx="6"/>
            <a:endCxn id="239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" name="Google Shape;251;p33"/>
          <p:cNvCxnSpPr>
            <a:stCxn id="239" idx="6"/>
            <a:endCxn id="241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" name="Google Shape;252;p33"/>
          <p:cNvCxnSpPr>
            <a:stCxn id="236" idx="6"/>
            <a:endCxn id="239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" name="Google Shape;253;p33"/>
          <p:cNvCxnSpPr>
            <a:stCxn id="240" idx="6"/>
            <a:endCxn id="243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" name="Google Shape;254;p33"/>
          <p:cNvCxnSpPr>
            <a:stCxn id="242" idx="6"/>
            <a:endCxn id="245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" name="Google Shape;255;p33"/>
          <p:cNvCxnSpPr>
            <a:stCxn id="239" idx="6"/>
            <a:endCxn id="240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56" name="Google Shape;256;p33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7" name="Google Shape;257;p33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8" name="Google Shape;258;p33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9" name="Google Shape;259;p33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33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1" name="Google Shape;261;p33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2" name="Google Shape;262;p33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3" name="Google Shape;263;p33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4" name="Google Shape;264;p33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5" name="Google Shape;265;p33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6" name="Google Shape;266;p33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(EC)</a:t>
            </a:r>
            <a:endParaRPr/>
          </a:p>
        </p:txBody>
      </p:sp>
      <p:sp>
        <p:nvSpPr>
          <p:cNvPr id="272" name="Google Shape;27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3" name="Google Shape;273;p34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274" name="Google Shape;274;p34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275" name="Google Shape;275;p34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276" name="Google Shape;276;p34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277" name="Google Shape;277;p34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279" name="Google Shape;279;p34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280" name="Google Shape;280;p34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281" name="Google Shape;281;p34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282" name="Google Shape;282;p34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283" name="Google Shape;283;p34"/>
          <p:cNvCxnSpPr>
            <a:stCxn id="273" idx="6"/>
            <a:endCxn id="275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4" name="Google Shape;284;p34"/>
          <p:cNvCxnSpPr>
            <a:stCxn id="275" idx="6"/>
            <a:endCxn id="277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5" name="Google Shape;285;p34"/>
          <p:cNvCxnSpPr>
            <a:stCxn id="277" idx="6"/>
            <a:endCxn id="279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" name="Google Shape;286;p34"/>
          <p:cNvCxnSpPr>
            <a:stCxn id="279" idx="6"/>
            <a:endCxn id="281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" name="Google Shape;287;p34"/>
          <p:cNvCxnSpPr>
            <a:stCxn id="274" idx="6"/>
            <a:endCxn id="276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" name="Google Shape;288;p34"/>
          <p:cNvCxnSpPr>
            <a:stCxn id="276" idx="6"/>
            <a:endCxn id="278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" name="Google Shape;289;p34"/>
          <p:cNvCxnSpPr>
            <a:stCxn id="273" idx="6"/>
            <a:endCxn id="276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" name="Google Shape;290;p34"/>
          <p:cNvCxnSpPr>
            <a:stCxn id="277" idx="6"/>
            <a:endCxn id="280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" name="Google Shape;291;p34"/>
          <p:cNvCxnSpPr>
            <a:stCxn id="279" idx="6"/>
            <a:endCxn id="282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2" name="Google Shape;292;p34"/>
          <p:cNvCxnSpPr>
            <a:stCxn id="276" idx="6"/>
            <a:endCxn id="277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93" name="Google Shape;293;p34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4" name="Google Shape;294;p34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5" name="Google Shape;295;p34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6" name="Google Shape;296;p34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7" name="Google Shape;297;p34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8" name="Google Shape;298;p34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9" name="Google Shape;299;p34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0" name="Google Shape;300;p34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1" name="Google Shape;301;p34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2" name="Google Shape;302;p34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3" name="Google Shape;303;p34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(QPS)</a:t>
            </a:r>
            <a:endParaRPr/>
          </a:p>
        </p:txBody>
      </p:sp>
      <p:sp>
        <p:nvSpPr>
          <p:cNvPr id="309" name="Google Shape;30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0" name="Google Shape;310;p35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311" name="Google Shape;311;p35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312" name="Google Shape;312;p35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313" name="Google Shape;313;p35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314" name="Google Shape;314;p35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316" name="Google Shape;316;p35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317" name="Google Shape;317;p35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318" name="Google Shape;318;p35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319" name="Google Shape;319;p35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320" name="Google Shape;320;p35"/>
          <p:cNvCxnSpPr>
            <a:stCxn id="310" idx="6"/>
            <a:endCxn id="312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1" name="Google Shape;321;p35"/>
          <p:cNvCxnSpPr>
            <a:stCxn id="312" idx="6"/>
            <a:endCxn id="314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2" name="Google Shape;322;p35"/>
          <p:cNvCxnSpPr>
            <a:stCxn id="314" idx="6"/>
            <a:endCxn id="316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3" name="Google Shape;323;p35"/>
          <p:cNvCxnSpPr>
            <a:stCxn id="316" idx="6"/>
            <a:endCxn id="318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4" name="Google Shape;324;p35"/>
          <p:cNvCxnSpPr>
            <a:stCxn id="311" idx="6"/>
            <a:endCxn id="313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5" name="Google Shape;325;p35"/>
          <p:cNvCxnSpPr>
            <a:stCxn id="313" idx="6"/>
            <a:endCxn id="315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6" name="Google Shape;326;p35"/>
          <p:cNvCxnSpPr>
            <a:stCxn id="310" idx="6"/>
            <a:endCxn id="313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7" name="Google Shape;327;p35"/>
          <p:cNvCxnSpPr>
            <a:stCxn id="314" idx="6"/>
            <a:endCxn id="317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8" name="Google Shape;328;p35"/>
          <p:cNvCxnSpPr>
            <a:stCxn id="316" idx="6"/>
            <a:endCxn id="319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9" name="Google Shape;329;p35"/>
          <p:cNvCxnSpPr>
            <a:stCxn id="313" idx="6"/>
            <a:endCxn id="314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330" name="Google Shape;330;p35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1" name="Google Shape;331;p35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2" name="Google Shape;332;p35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3" name="Google Shape;333;p35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" name="Google Shape;334;p35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5" name="Google Shape;335;p35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6" name="Google Shape;336;p35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7" name="Google Shape;337;p35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8" name="Google Shape;338;p35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9" name="Google Shape;339;p35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0" name="Google Shape;340;p35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346" name="Google Shape;34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7" name="Google Shape;347;p36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348" name="Google Shape;348;p36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349" name="Google Shape;349;p36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350" name="Google Shape;350;p36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351" name="Google Shape;351;p36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353" name="Google Shape;353;p36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354" name="Google Shape;354;p36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355" name="Google Shape;355;p36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356" name="Google Shape;356;p36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357" name="Google Shape;357;p36"/>
          <p:cNvCxnSpPr>
            <a:stCxn id="347" idx="6"/>
            <a:endCxn id="349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8" name="Google Shape;358;p36"/>
          <p:cNvCxnSpPr>
            <a:stCxn id="349" idx="6"/>
            <a:endCxn id="351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9" name="Google Shape;359;p36"/>
          <p:cNvCxnSpPr>
            <a:stCxn id="351" idx="6"/>
            <a:endCxn id="353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0" name="Google Shape;360;p36"/>
          <p:cNvCxnSpPr>
            <a:stCxn id="353" idx="6"/>
            <a:endCxn id="355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1" name="Google Shape;361;p36"/>
          <p:cNvCxnSpPr>
            <a:stCxn id="348" idx="6"/>
            <a:endCxn id="350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2" name="Google Shape;362;p36"/>
          <p:cNvCxnSpPr>
            <a:stCxn id="350" idx="6"/>
            <a:endCxn id="352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3" name="Google Shape;363;p36"/>
          <p:cNvCxnSpPr>
            <a:stCxn id="347" idx="6"/>
            <a:endCxn id="350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4" name="Google Shape;364;p36"/>
          <p:cNvCxnSpPr>
            <a:stCxn id="351" idx="6"/>
            <a:endCxn id="354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5" name="Google Shape;365;p36"/>
          <p:cNvCxnSpPr>
            <a:stCxn id="353" idx="6"/>
            <a:endCxn id="356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6" name="Google Shape;366;p36"/>
          <p:cNvCxnSpPr>
            <a:stCxn id="350" idx="6"/>
            <a:endCxn id="351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367" name="Google Shape;367;p36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8" name="Google Shape;368;p36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9" name="Google Shape;369;p36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0" name="Google Shape;370;p36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1" name="Google Shape;371;p36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2" name="Google Shape;372;p36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3" name="Google Shape;373;p36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4" name="Google Shape;374;p36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5" name="Google Shape;375;p36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6" name="Google Shape;376;p36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7" name="Google Shape;377;p36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383" name="Google Shape;38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4" name="Google Shape;384;p37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385" name="Google Shape;385;p37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386" name="Google Shape;386;p37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387" name="Google Shape;387;p37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388" name="Google Shape;388;p37"/>
          <p:cNvSpPr/>
          <p:nvPr/>
        </p:nvSpPr>
        <p:spPr>
          <a:xfrm>
            <a:off x="4154075" y="22397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390" name="Google Shape;390;p37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391" name="Google Shape;391;p37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392" name="Google Shape;392;p37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393" name="Google Shape;393;p37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394" name="Google Shape;394;p37"/>
          <p:cNvCxnSpPr>
            <a:stCxn id="384" idx="6"/>
            <a:endCxn id="386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5" name="Google Shape;395;p37"/>
          <p:cNvCxnSpPr>
            <a:stCxn id="386" idx="6"/>
            <a:endCxn id="388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6" name="Google Shape;396;p37"/>
          <p:cNvCxnSpPr>
            <a:stCxn id="388" idx="6"/>
            <a:endCxn id="390" idx="2"/>
          </p:cNvCxnSpPr>
          <p:nvPr/>
        </p:nvCxnSpPr>
        <p:spPr>
          <a:xfrm>
            <a:off x="4893575" y="24884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7" name="Google Shape;397;p37"/>
          <p:cNvCxnSpPr>
            <a:stCxn id="390" idx="6"/>
            <a:endCxn id="392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8" name="Google Shape;398;p37"/>
          <p:cNvCxnSpPr>
            <a:stCxn id="385" idx="6"/>
            <a:endCxn id="387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9" name="Google Shape;399;p37"/>
          <p:cNvCxnSpPr>
            <a:stCxn id="387" idx="6"/>
            <a:endCxn id="389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0" name="Google Shape;400;p37"/>
          <p:cNvCxnSpPr>
            <a:stCxn id="384" idx="6"/>
            <a:endCxn id="387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1" name="Google Shape;401;p37"/>
          <p:cNvCxnSpPr>
            <a:stCxn id="388" idx="6"/>
            <a:endCxn id="391" idx="2"/>
          </p:cNvCxnSpPr>
          <p:nvPr/>
        </p:nvCxnSpPr>
        <p:spPr>
          <a:xfrm>
            <a:off x="4893575" y="248845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2" name="Google Shape;402;p37"/>
          <p:cNvCxnSpPr>
            <a:stCxn id="390" idx="6"/>
            <a:endCxn id="393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3" name="Google Shape;403;p37"/>
          <p:cNvCxnSpPr>
            <a:stCxn id="387" idx="6"/>
            <a:endCxn id="388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04" name="Google Shape;404;p37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5" name="Google Shape;405;p37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6" name="Google Shape;406;p37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7" name="Google Shape;407;p37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8" name="Google Shape;408;p37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9" name="Google Shape;409;p37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0" name="Google Shape;410;p37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1" name="Google Shape;411;p37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2" name="Google Shape;412;p37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3" name="Google Shape;413;p37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4" name="Google Shape;414;p37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5" name="Google Shape;415;p37"/>
          <p:cNvSpPr/>
          <p:nvPr/>
        </p:nvSpPr>
        <p:spPr>
          <a:xfrm>
            <a:off x="6077525" y="223975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421" name="Google Shape;42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2" name="Google Shape;422;p38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423" name="Google Shape;423;p38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424" name="Google Shape;424;p38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425" name="Google Shape;425;p38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426" name="Google Shape;426;p38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428" name="Google Shape;428;p38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429" name="Google Shape;429;p38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430" name="Google Shape;430;p38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431" name="Google Shape;431;p38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432" name="Google Shape;432;p38"/>
          <p:cNvCxnSpPr>
            <a:stCxn id="422" idx="6"/>
            <a:endCxn id="424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3" name="Google Shape;433;p38"/>
          <p:cNvCxnSpPr>
            <a:stCxn id="424" idx="6"/>
            <a:endCxn id="426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4" name="Google Shape;434;p38"/>
          <p:cNvCxnSpPr>
            <a:stCxn id="426" idx="6"/>
            <a:endCxn id="428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5" name="Google Shape;435;p38"/>
          <p:cNvCxnSpPr>
            <a:stCxn id="428" idx="6"/>
            <a:endCxn id="430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6" name="Google Shape;436;p38"/>
          <p:cNvCxnSpPr>
            <a:stCxn id="423" idx="6"/>
            <a:endCxn id="425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7" name="Google Shape;437;p38"/>
          <p:cNvCxnSpPr>
            <a:stCxn id="425" idx="6"/>
            <a:endCxn id="427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8" name="Google Shape;438;p38"/>
          <p:cNvCxnSpPr>
            <a:stCxn id="422" idx="6"/>
            <a:endCxn id="425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9" name="Google Shape;439;p38"/>
          <p:cNvCxnSpPr>
            <a:stCxn id="426" idx="6"/>
            <a:endCxn id="429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0" name="Google Shape;440;p38"/>
          <p:cNvCxnSpPr>
            <a:stCxn id="428" idx="6"/>
            <a:endCxn id="431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1" name="Google Shape;441;p38"/>
          <p:cNvCxnSpPr>
            <a:stCxn id="425" idx="6"/>
            <a:endCxn id="426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42" name="Google Shape;442;p38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3" name="Google Shape;443;p38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4" name="Google Shape;444;p38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5" name="Google Shape;445;p38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6" name="Google Shape;446;p38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7" name="Google Shape;447;p38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8" name="Google Shape;448;p38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9" name="Google Shape;449;p38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0" name="Google Shape;450;p38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1" name="Google Shape;451;p38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2" name="Google Shape;452;p38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458" name="Google Shape;45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9" name="Google Shape;459;p39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460" name="Google Shape;460;p39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461" name="Google Shape;461;p39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462" name="Google Shape;462;p39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463" name="Google Shape;463;p39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465" name="Google Shape;465;p39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466" name="Google Shape;466;p39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467" name="Google Shape;467;p39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468" name="Google Shape;468;p39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469" name="Google Shape;469;p39"/>
          <p:cNvCxnSpPr>
            <a:stCxn id="459" idx="6"/>
            <a:endCxn id="461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0" name="Google Shape;470;p39"/>
          <p:cNvCxnSpPr>
            <a:stCxn id="461" idx="6"/>
            <a:endCxn id="463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1" name="Google Shape;471;p39"/>
          <p:cNvCxnSpPr>
            <a:stCxn id="463" idx="6"/>
            <a:endCxn id="465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2" name="Google Shape;472;p39"/>
          <p:cNvCxnSpPr>
            <a:stCxn id="465" idx="6"/>
            <a:endCxn id="467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3" name="Google Shape;473;p39"/>
          <p:cNvCxnSpPr>
            <a:stCxn id="460" idx="6"/>
            <a:endCxn id="462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" name="Google Shape;474;p39"/>
          <p:cNvCxnSpPr>
            <a:stCxn id="462" idx="6"/>
            <a:endCxn id="464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" name="Google Shape;475;p39"/>
          <p:cNvCxnSpPr>
            <a:stCxn id="459" idx="6"/>
            <a:endCxn id="462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6" name="Google Shape;476;p39"/>
          <p:cNvCxnSpPr>
            <a:stCxn id="463" idx="6"/>
            <a:endCxn id="466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7" name="Google Shape;477;p39"/>
          <p:cNvCxnSpPr>
            <a:stCxn id="465" idx="6"/>
            <a:endCxn id="468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8" name="Google Shape;478;p39"/>
          <p:cNvCxnSpPr>
            <a:stCxn id="462" idx="6"/>
            <a:endCxn id="463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79" name="Google Shape;479;p39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Google Shape;480;p39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1" name="Google Shape;481;p39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2" name="Google Shape;482;p39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3" name="Google Shape;483;p39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4" name="Google Shape;484;p39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5" name="Google Shape;485;p39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6" name="Google Shape;486;p39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7" name="Google Shape;487;p39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8" name="Google Shape;488;p39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9" name="Google Shape;489;p39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0" name="Google Shape;490;p39"/>
          <p:cNvSpPr txBox="1"/>
          <p:nvPr/>
        </p:nvSpPr>
        <p:spPr>
          <a:xfrm>
            <a:off x="6096275" y="987725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7 </a:t>
            </a:r>
            <a:r>
              <a:rPr lang="zh-TW" sz="1600"/>
              <a:t>≉ S</a:t>
            </a:r>
            <a:r>
              <a:rPr baseline="-25000" lang="zh-TW" sz="1600"/>
              <a:t>9</a:t>
            </a:r>
            <a:endParaRPr baseline="-25000" sz="1600"/>
          </a:p>
        </p:txBody>
      </p:sp>
      <p:sp>
        <p:nvSpPr>
          <p:cNvPr id="491" name="Google Shape;491;p39"/>
          <p:cNvSpPr txBox="1"/>
          <p:nvPr/>
        </p:nvSpPr>
        <p:spPr>
          <a:xfrm>
            <a:off x="6994075" y="100357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4A86E8"/>
                </a:solidFill>
              </a:rPr>
              <a:t>Pearson correlation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492" name="Google Shape;492;p39"/>
          <p:cNvSpPr txBox="1"/>
          <p:nvPr/>
        </p:nvSpPr>
        <p:spPr>
          <a:xfrm>
            <a:off x="5174725" y="11975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5 </a:t>
            </a:r>
            <a:r>
              <a:rPr lang="zh-TW" sz="1600"/>
              <a:t>≈ S</a:t>
            </a:r>
            <a:r>
              <a:rPr baseline="-25000" lang="zh-TW" sz="1600"/>
              <a:t>7</a:t>
            </a:r>
            <a:endParaRPr baseline="-25000" sz="1600"/>
          </a:p>
        </p:txBody>
      </p:sp>
      <p:sp>
        <p:nvSpPr>
          <p:cNvPr id="493" name="Google Shape;493;p39"/>
          <p:cNvSpPr/>
          <p:nvPr/>
        </p:nvSpPr>
        <p:spPr>
          <a:xfrm>
            <a:off x="5936450" y="60950"/>
            <a:ext cx="548700" cy="548700"/>
          </a:xfrm>
          <a:prstGeom prst="mathMultiply">
            <a:avLst>
              <a:gd fmla="val 13669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9"/>
          <p:cNvSpPr txBox="1"/>
          <p:nvPr/>
        </p:nvSpPr>
        <p:spPr>
          <a:xfrm>
            <a:off x="6485150" y="11975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0000"/>
                </a:solidFill>
              </a:rPr>
              <a:t>No need</a:t>
            </a:r>
            <a:endParaRPr baseline="-25000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500" name="Google Shape;50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1" name="Google Shape;501;p40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502" name="Google Shape;502;p40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503" name="Google Shape;503;p40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504" name="Google Shape;504;p40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505" name="Google Shape;505;p40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06" name="Google Shape;506;p40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507" name="Google Shape;507;p40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508" name="Google Shape;508;p40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509" name="Google Shape;509;p40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510" name="Google Shape;510;p40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511" name="Google Shape;511;p40"/>
          <p:cNvCxnSpPr>
            <a:stCxn id="501" idx="6"/>
            <a:endCxn id="503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2" name="Google Shape;512;p40"/>
          <p:cNvCxnSpPr>
            <a:stCxn id="503" idx="6"/>
            <a:endCxn id="505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3" name="Google Shape;513;p40"/>
          <p:cNvCxnSpPr>
            <a:stCxn id="505" idx="6"/>
            <a:endCxn id="507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4" name="Google Shape;514;p40"/>
          <p:cNvCxnSpPr>
            <a:stCxn id="507" idx="6"/>
            <a:endCxn id="509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5" name="Google Shape;515;p40"/>
          <p:cNvCxnSpPr>
            <a:stCxn id="502" idx="6"/>
            <a:endCxn id="504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6" name="Google Shape;516;p40"/>
          <p:cNvCxnSpPr>
            <a:stCxn id="504" idx="6"/>
            <a:endCxn id="506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7" name="Google Shape;517;p40"/>
          <p:cNvCxnSpPr>
            <a:stCxn id="501" idx="6"/>
            <a:endCxn id="504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8" name="Google Shape;518;p40"/>
          <p:cNvCxnSpPr>
            <a:stCxn id="505" idx="6"/>
            <a:endCxn id="508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9" name="Google Shape;519;p40"/>
          <p:cNvCxnSpPr>
            <a:stCxn id="507" idx="6"/>
            <a:endCxn id="510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0" name="Google Shape;520;p40"/>
          <p:cNvCxnSpPr>
            <a:stCxn id="504" idx="6"/>
            <a:endCxn id="505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21" name="Google Shape;521;p40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2" name="Google Shape;522;p40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3" name="Google Shape;523;p40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4" name="Google Shape;524;p40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5" name="Google Shape;525;p40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6" name="Google Shape;526;p40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7" name="Google Shape;527;p40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8" name="Google Shape;528;p40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9" name="Google Shape;529;p40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0" name="Google Shape;530;p40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1" name="Google Shape;531;p40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2" name="Google Shape;532;p40"/>
          <p:cNvSpPr txBox="1"/>
          <p:nvPr/>
        </p:nvSpPr>
        <p:spPr>
          <a:xfrm>
            <a:off x="7141338" y="422420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7 </a:t>
            </a:r>
            <a:r>
              <a:rPr lang="zh-TW" sz="1600">
                <a:solidFill>
                  <a:schemeClr val="dk1"/>
                </a:solidFill>
              </a:rPr>
              <a:t>≈</a:t>
            </a:r>
            <a:r>
              <a:rPr lang="zh-TW" sz="1600"/>
              <a:t> S</a:t>
            </a:r>
            <a:r>
              <a:rPr baseline="-25000" lang="zh-TW" sz="1600"/>
              <a:t>10</a:t>
            </a:r>
            <a:endParaRPr baseline="-25000" sz="1600"/>
          </a:p>
        </p:txBody>
      </p:sp>
      <p:sp>
        <p:nvSpPr>
          <p:cNvPr id="533" name="Google Shape;533;p40"/>
          <p:cNvSpPr/>
          <p:nvPr/>
        </p:nvSpPr>
        <p:spPr>
          <a:xfrm>
            <a:off x="8001125" y="38016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</a:t>
            </a:r>
            <a:endParaRPr/>
          </a:p>
        </p:txBody>
      </p:sp>
      <p:sp>
        <p:nvSpPr>
          <p:cNvPr id="539" name="Google Shape;53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0" name="Google Shape;540;p41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541" name="Google Shape;541;p41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542" name="Google Shape;542;p41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543" name="Google Shape;543;p41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544" name="Google Shape;544;p41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546" name="Google Shape;546;p41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547" name="Google Shape;547;p41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548" name="Google Shape;548;p41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549" name="Google Shape;549;p41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550" name="Google Shape;550;p41"/>
          <p:cNvCxnSpPr>
            <a:stCxn id="540" idx="6"/>
            <a:endCxn id="542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1" name="Google Shape;551;p41"/>
          <p:cNvCxnSpPr>
            <a:stCxn id="542" idx="6"/>
            <a:endCxn id="544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2" name="Google Shape;552;p41"/>
          <p:cNvCxnSpPr>
            <a:stCxn id="544" idx="6"/>
            <a:endCxn id="546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3" name="Google Shape;553;p41"/>
          <p:cNvCxnSpPr>
            <a:stCxn id="546" idx="6"/>
            <a:endCxn id="548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4" name="Google Shape;554;p41"/>
          <p:cNvCxnSpPr>
            <a:stCxn id="541" idx="6"/>
            <a:endCxn id="543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5" name="Google Shape;555;p41"/>
          <p:cNvCxnSpPr>
            <a:stCxn id="543" idx="6"/>
            <a:endCxn id="545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6" name="Google Shape;556;p41"/>
          <p:cNvCxnSpPr>
            <a:stCxn id="540" idx="6"/>
            <a:endCxn id="543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7" name="Google Shape;557;p41"/>
          <p:cNvCxnSpPr>
            <a:stCxn id="544" idx="6"/>
            <a:endCxn id="547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8" name="Google Shape;558;p41"/>
          <p:cNvCxnSpPr>
            <a:stCxn id="546" idx="6"/>
            <a:endCxn id="549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9" name="Google Shape;559;p41"/>
          <p:cNvCxnSpPr>
            <a:stCxn id="543" idx="6"/>
            <a:endCxn id="544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60" name="Google Shape;560;p41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1" name="Google Shape;561;p41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2" name="Google Shape;562;p41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3" name="Google Shape;563;p41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4" name="Google Shape;564;p41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5" name="Google Shape;565;p41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6" name="Google Shape;566;p41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7" name="Google Shape;567;p41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" name="Google Shape;568;p41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9" name="Google Shape;569;p41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0" name="Google Shape;570;p41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1" name="Google Shape;571;p41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572" name="Google Shape;572;p41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</a:t>
            </a:r>
            <a:r>
              <a:rPr lang="zh-TW"/>
              <a:t>’s candidate root cause</a:t>
            </a:r>
            <a:endParaRPr/>
          </a:p>
        </p:txBody>
      </p:sp>
      <p:sp>
        <p:nvSpPr>
          <p:cNvPr id="573" name="Google Shape;573;p41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</a:t>
            </a:r>
            <a:r>
              <a:rPr lang="zh-TW"/>
              <a:t>’s candidate root cause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Candidate Root Cause Ranking</a:t>
            </a:r>
            <a:endParaRPr/>
          </a:p>
        </p:txBody>
      </p:sp>
      <p:sp>
        <p:nvSpPr>
          <p:cNvPr id="579" name="Google Shape;57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0" name="Google Shape;580;p42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581" name="Google Shape;581;p42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582" name="Google Shape;582;p42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583" name="Google Shape;583;p42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584" name="Google Shape;584;p42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85" name="Google Shape;585;p42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586" name="Google Shape;586;p42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587" name="Google Shape;587;p42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588" name="Google Shape;588;p42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589" name="Google Shape;589;p42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590" name="Google Shape;590;p42"/>
          <p:cNvCxnSpPr>
            <a:stCxn id="580" idx="6"/>
            <a:endCxn id="582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1" name="Google Shape;591;p42"/>
          <p:cNvCxnSpPr>
            <a:stCxn id="582" idx="6"/>
            <a:endCxn id="584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2" name="Google Shape;592;p42"/>
          <p:cNvCxnSpPr>
            <a:stCxn id="584" idx="6"/>
            <a:endCxn id="586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3" name="Google Shape;593;p42"/>
          <p:cNvCxnSpPr>
            <a:stCxn id="586" idx="6"/>
            <a:endCxn id="588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4" name="Google Shape;594;p42"/>
          <p:cNvCxnSpPr>
            <a:stCxn id="581" idx="6"/>
            <a:endCxn id="583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5" name="Google Shape;595;p42"/>
          <p:cNvCxnSpPr>
            <a:stCxn id="583" idx="6"/>
            <a:endCxn id="585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6" name="Google Shape;596;p42"/>
          <p:cNvCxnSpPr>
            <a:stCxn id="580" idx="6"/>
            <a:endCxn id="583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7" name="Google Shape;597;p42"/>
          <p:cNvCxnSpPr>
            <a:stCxn id="584" idx="6"/>
            <a:endCxn id="587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8" name="Google Shape;598;p42"/>
          <p:cNvCxnSpPr>
            <a:stCxn id="586" idx="6"/>
            <a:endCxn id="589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9" name="Google Shape;599;p42"/>
          <p:cNvCxnSpPr>
            <a:stCxn id="583" idx="6"/>
            <a:endCxn id="584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600" name="Google Shape;600;p42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1" name="Google Shape;601;p42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2" name="Google Shape;602;p42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3" name="Google Shape;603;p42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4" name="Google Shape;604;p42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5" name="Google Shape;605;p42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6" name="Google Shape;606;p42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7" name="Google Shape;607;p42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8" name="Google Shape;608;p42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9" name="Google Shape;609;p42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0" name="Google Shape;610;p42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{6976DB73-FF8C-4DBB-8DD4-EEAA70C100BA}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1" name="Google Shape;611;p42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612" name="Google Shape;612;p42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EC’s candidate root cause</a:t>
            </a:r>
            <a:endParaRPr/>
          </a:p>
        </p:txBody>
      </p:sp>
      <p:sp>
        <p:nvSpPr>
          <p:cNvPr id="613" name="Google Shape;613;p42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RT’s candidate root cause</a:t>
            </a:r>
            <a:endParaRPr/>
          </a:p>
        </p:txBody>
      </p:sp>
      <p:cxnSp>
        <p:nvCxnSpPr>
          <p:cNvPr id="614" name="Google Shape;614;p42"/>
          <p:cNvCxnSpPr/>
          <p:nvPr/>
        </p:nvCxnSpPr>
        <p:spPr>
          <a:xfrm flipH="1" rot="10800000">
            <a:off x="2110975" y="1178725"/>
            <a:ext cx="15753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5" name="Google Shape;615;p42"/>
          <p:cNvCxnSpPr/>
          <p:nvPr/>
        </p:nvCxnSpPr>
        <p:spPr>
          <a:xfrm>
            <a:off x="5411400" y="1178725"/>
            <a:ext cx="11787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6" name="Google Shape;616;p42"/>
          <p:cNvCxnSpPr/>
          <p:nvPr/>
        </p:nvCxnSpPr>
        <p:spPr>
          <a:xfrm>
            <a:off x="5218525" y="1417013"/>
            <a:ext cx="1296600" cy="1615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17" name="Google Shape;617;p42"/>
          <p:cNvSpPr txBox="1"/>
          <p:nvPr/>
        </p:nvSpPr>
        <p:spPr>
          <a:xfrm>
            <a:off x="5400875" y="37242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6AA84F"/>
                </a:solidFill>
              </a:rPr>
              <a:t>Pearson correlation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623" name="Google Shape;62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get_metric.py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Find the business metric (開單成功率)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Initial anomalous service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Problem: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romanLcPeriod"/>
            </a:pPr>
            <a:r>
              <a:rPr lang="zh-TW">
                <a:solidFill>
                  <a:srgbClr val="FF0000"/>
                </a:solidFill>
              </a:rPr>
              <a:t>開單成功率的sample rate從SAO看起來很大，是每小時一筆，但是從CY的圖片可以觀察到，其實開單率的sample rate應該要很小，像是每5分鐘就會有一筆資料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romanLcPeriod"/>
            </a:pPr>
            <a:r>
              <a:rPr lang="zh-TW">
                <a:solidFill>
                  <a:srgbClr val="FF0000"/>
                </a:solidFill>
              </a:rPr>
              <a:t>從SAO撈出來的每小時的資料，如果我們用service的名稱來篩選開單成功率的話，會有很多筆records。我不確定我這邊是要取哪一筆。</a:t>
            </a:r>
            <a:endParaRPr/>
          </a:p>
        </p:txBody>
      </p:sp>
      <p:sp>
        <p:nvSpPr>
          <p:cNvPr id="624" name="Google Shape;62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630" name="Google Shape;63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get_trace.py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Find the topology and quality metrics around the given initial anomalous service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Problem: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romanLcPeriod"/>
            </a:pPr>
            <a:r>
              <a:rPr lang="zh-TW">
                <a:solidFill>
                  <a:srgbClr val="FF0000"/>
                </a:solidFill>
              </a:rPr>
              <a:t>不確定是否能直接用service name來跟metric資料做結合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31" name="Google Shape;63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~~~~~~~~~~~~~~~~~~~~~~~~~~~~~~~</a:t>
            </a:r>
            <a:endParaRPr/>
          </a:p>
        </p:txBody>
      </p:sp>
      <p:sp>
        <p:nvSpPr>
          <p:cNvPr id="637" name="Google Shape;63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6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Undermasking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Similar template diff cluster / Different template same cluster</a:t>
            </a:r>
            <a:endParaRPr sz="1800"/>
          </a:p>
        </p:txBody>
      </p:sp>
      <p:sp>
        <p:nvSpPr>
          <p:cNvPr id="643" name="Google Shape;64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4" name="Google Shape;64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First, calculate the similarity of two log templates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Use pretrained model </a:t>
            </a:r>
            <a:r>
              <a:rPr b="1" lang="zh-TW" sz="1800"/>
              <a:t>Sentence-BERT </a:t>
            </a:r>
            <a:r>
              <a:rPr lang="zh-TW" sz="1800"/>
              <a:t>to embed log template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Then, calculate the cosine of two embedding vectors as the similarity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Then, calculate the similarity of the appearance time of two log templates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The size of the time vector is 288 (Per 5 minutes in 1 day)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As the same as first step, calculate the cosine of two time vectors as the similarity</a:t>
            </a:r>
            <a:endParaRPr sz="1800"/>
          </a:p>
        </p:txBody>
      </p:sp>
      <p:sp>
        <p:nvSpPr>
          <p:cNvPr id="650" name="Google Shape;65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51" name="Google Shape;65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8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Successfully to merge some different cluster but their are same event </a:t>
            </a:r>
            <a:br>
              <a:rPr lang="zh-TW"/>
            </a:br>
            <a:r>
              <a:rPr lang="zh-TW"/>
              <a:t>(as we can check the result by auto-feedback)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Find the same event but doesn’t be discovered by feedback	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Ex: cluster11473, cluster14870</a:t>
            </a:r>
            <a:endParaRPr sz="1800"/>
          </a:p>
        </p:txBody>
      </p:sp>
      <p:sp>
        <p:nvSpPr>
          <p:cNvPr id="657" name="Google Shape;65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58" name="Google Shape;65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9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Different appearance time but similar raw log (only different parameters)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Ex: cluster15689, cluster16044</a:t>
            </a:r>
            <a:endParaRPr sz="1800"/>
          </a:p>
        </p:txBody>
      </p:sp>
      <p:sp>
        <p:nvSpPr>
          <p:cNvPr id="664" name="Google Shape;66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65" name="Google Shape;66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0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How to define the performance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Recall or precision</a:t>
            </a:r>
            <a:r>
              <a:rPr lang="zh-TW"/>
              <a:t> </a:t>
            </a:r>
            <a:endParaRPr sz="1800"/>
          </a:p>
        </p:txBody>
      </p:sp>
      <p:sp>
        <p:nvSpPr>
          <p:cNvPr id="671" name="Google Shape;67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72" name="Google Shape;67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Discussion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