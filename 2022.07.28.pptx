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2B4995-EFB8-4207-A579-B89F0863377B}">
  <a:tblStyle styleId="{382B4995-EFB8-4207-A579-B89F086337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a97ba48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a97ba48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a97ba48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2a97ba48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2a97ba48cc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2a97ba48cc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c6b0afd4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c6b0afd4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a97ba48c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a97ba48c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a97ba48c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a97ba48c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cc755ff2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cc755ff2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cc755ff2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cc755ff2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cc755ff2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3cc755ff2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cc755ff2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3cc755ff2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a97ba48c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2a97ba48c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ce0cdca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ce0cdca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e59bbbd6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e59bbbd6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e59bbbd6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e59bbbd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3ee0da7f1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3ee0da7f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e59bbbd6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3e59bbbd6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3e59bbbd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3e59bbbd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3e59bbbd6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3e59bbbd6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3ee0da7f1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3ee0da7f1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3e59bbbd6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3e59bbbd6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3ee0da7f1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3ee0da7f1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3e59bbbd6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3e59bbbd6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3ee0da7f1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3ee0da7f1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57199" y="324017"/>
            <a:ext cx="82295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1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113259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100"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1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7071122" y="4970151"/>
            <a:ext cx="1028700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2431256" y="4972467"/>
            <a:ext cx="4281488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58200" y="4967835"/>
            <a:ext cx="685800" cy="17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2022 JDP –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AI Detection and Causality Inferences for Fab Operations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727950" y="3205450"/>
            <a:ext cx="76881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Advisor: Wen-Chih Peng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Student: Zheng-Ming (Paul) Lin, Ching (Jason) Chang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Date: 2022/07/28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LotAction - TSMC’s solutions and pain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Open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Log parser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Anomaly Detection/Localization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Root Cause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Surveyed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Prefix-Graph: A Versatile Log Parsing Approach Merging Prefix Tree with Probabilistic Graph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ICDE, 2021, unsupervised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Review - </a:t>
            </a:r>
            <a:r>
              <a:rPr lang="zh-TW"/>
              <a:t>張敬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Done in the past two weeks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Collect open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Graph-based root cause analysis for service-oriented and microservice architectures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JSS 2020 (Q1 journal), #citations = 38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To 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Reproduce the results in DeepTraLog</a:t>
            </a:r>
            <a:endParaRPr/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Done in the past two weeks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Survey the method of the log parsing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Prefix-Graph: A Versatile Log Parsing Approach Merging Prefix Tree with Probabilistic Graph</a:t>
            </a:r>
            <a:endParaRPr sz="18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ICDE, 2021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To do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Survey the method for log parsing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USTEP: Unfixed Search Tree for Efficient Log Parsing</a:t>
            </a:r>
            <a:endParaRPr sz="18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ICDM, 2021</a:t>
            </a:r>
            <a:endParaRPr sz="1800"/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Review - </a:t>
            </a:r>
            <a:r>
              <a:rPr lang="zh-TW"/>
              <a:t>正明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Internship plan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7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11月底前完成演算法設計與程式開發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12月底前完成報告撰寫 (論文明年2月底前完成即可)</a:t>
            </a:r>
            <a:endParaRPr/>
          </a:p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5746"/>
            <a:ext cx="9144000" cy="2807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{382B4995-EFB8-4207-A579-B89F0863377B}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Unsupervised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Offline or Online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Online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type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Metric + Log + Trace + Changelog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/>
                        <a:t>System log (kubernetes-related)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Application 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Multiple sources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time mismatch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log sparsity issue (error message)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Log parsing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Causality/Interpretability/Explainability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21"/>
          <p:cNvSpPr txBox="1"/>
          <p:nvPr/>
        </p:nvSpPr>
        <p:spPr>
          <a:xfrm>
            <a:off x="562450" y="4659925"/>
            <a:ext cx="79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Keywords: micro services, causal graph, root cause analysis, causal inference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LotAction - TSMC’s solutions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Metric跟Log分開分析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Metric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單變量 (why?)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預測模型 + 卡threshold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單變量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使用Drain來parse log，轉成time series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與Metric相同的模型 (預測模型 + 卡threshold)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Not ready</a:t>
            </a:r>
            <a:endParaRPr/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LotAction - TSMC’s solutions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Changelog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大部分的anomaly其實都來自於change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根據changelog產生”change”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Ex: DB要change，2022/07/03 00:00 ~ 2022/07/04 00:00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跟time series計算相似度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change非常多，加入filter來決定要比對的change</a:t>
            </a:r>
            <a:endParaRPr/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001" y="2381325"/>
            <a:ext cx="4398026" cy="14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LotAction - TSMC’s pain points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Log Parser - Drain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Parse到後面會有大量wildcard的問題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同樣屬性的log會對應到不同的template (?)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Combine multiple data sources (Anomaly Detection)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同時使用多個data source的"raw"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Changelog其實佔大宗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Causal Relations (Root Cause Analysis)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嘗試演算法：BBN、TCDF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問題：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zh-TW"/>
              <a:t>超參數微調會有完全不同的結果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zh-TW"/>
              <a:t>執行時間過久</a:t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Open Dataset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Log parser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Anomaly Detection/Localization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Root Cause Analysis</a:t>
            </a:r>
            <a:endParaRPr/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~~~~~~~~~~~~~~~~~~~~~~~~~~~~~~~</a:t>
            </a:r>
            <a:endParaRPr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ctrTitle"/>
          </p:nvPr>
        </p:nvSpPr>
        <p:spPr>
          <a:xfrm>
            <a:off x="311700" y="1285675"/>
            <a:ext cx="8520600" cy="183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33">
                <a:latin typeface="Calibri"/>
                <a:ea typeface="Calibri"/>
                <a:cs typeface="Calibri"/>
                <a:sym typeface="Calibri"/>
              </a:rPr>
              <a:t>Prefix-Graph: A Versatile Log Parsing Approach Merging Prefix Tree with Probabilistic Graph</a:t>
            </a:r>
            <a:endParaRPr sz="48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7"/>
          <p:cNvSpPr txBox="1"/>
          <p:nvPr>
            <p:ph idx="1" type="subTitle"/>
          </p:nvPr>
        </p:nvSpPr>
        <p:spPr>
          <a:xfrm>
            <a:off x="727950" y="3314675"/>
            <a:ext cx="7688100" cy="6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Guojun Chu, Jingyu Wang, Qi Qi, Haifeng Sun, Shimin Tao</a:t>
            </a:r>
            <a:r>
              <a:rPr lang="zh-TW" sz="1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, Jianxin Liao</a:t>
            </a:r>
            <a:endParaRPr sz="1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ICDE 2021</a:t>
            </a:r>
            <a:endParaRPr sz="1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614" y="931037"/>
            <a:ext cx="4064773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Workflow of Prefix-Graph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1" name="Google Shape;161;p28"/>
          <p:cNvSpPr/>
          <p:nvPr/>
        </p:nvSpPr>
        <p:spPr>
          <a:xfrm>
            <a:off x="2539700" y="969950"/>
            <a:ext cx="4064700" cy="115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2539650" y="2129450"/>
            <a:ext cx="4064700" cy="188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8"/>
          <p:cNvSpPr/>
          <p:nvPr/>
        </p:nvSpPr>
        <p:spPr>
          <a:xfrm>
            <a:off x="2539700" y="4016150"/>
            <a:ext cx="4064700" cy="99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 txBox="1"/>
          <p:nvPr/>
        </p:nvSpPr>
        <p:spPr>
          <a:xfrm>
            <a:off x="1399900" y="1349600"/>
            <a:ext cx="94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First step</a:t>
            </a:r>
            <a:endParaRPr/>
          </a:p>
        </p:txBody>
      </p:sp>
      <p:sp>
        <p:nvSpPr>
          <p:cNvPr id="165" name="Google Shape;165;p28"/>
          <p:cNvSpPr txBox="1"/>
          <p:nvPr/>
        </p:nvSpPr>
        <p:spPr>
          <a:xfrm>
            <a:off x="1249900" y="2793825"/>
            <a:ext cx="124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Second</a:t>
            </a:r>
            <a:r>
              <a:rPr lang="zh-TW"/>
              <a:t> step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1249900" y="4313900"/>
            <a:ext cx="124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Third</a:t>
            </a:r>
            <a:r>
              <a:rPr lang="zh-TW"/>
              <a:t> step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First Step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 empty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Prefix-Graph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offline learning or 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oad an existing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Prefix-Graph for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incremental learning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historical log data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this graph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Graph Construction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Prefix-Graph can be regarded as a </a:t>
            </a: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acyclic graph (DAG)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e 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two main attributes: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W(e) denotes the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word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corresponding to edge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N(e) denotes the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occurrence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edge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root-to-leaf path in the Prefix-Graph corresponds to a log message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empty graph with the root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insert historical data into this graph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there exists an edge UV connected from current node U to its child V with key W(UV)= w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move the current node from U to V and increase N(UV) by 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create a new branch for node 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digits (and letters next to digits) with “#” character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Insert of Log Message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650" y="1157275"/>
            <a:ext cx="540067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525" y="100550"/>
            <a:ext cx="3065625" cy="12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Second Step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Iteratively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traverse the entire graph and merges together two branches with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similarity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Until there is no more change in the structure of the graph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this process, the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 vector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f(e) 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each node is calculated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the feature vector of two branches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less than the threshold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Prefix-Graph will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merge these subgraphs and reconnect some relevant edges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cycles will possibly appear after merging subgraphs, each of the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strongly connected component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in the graph should be replaced with a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node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322" y="2428122"/>
            <a:ext cx="2005250" cy="2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Similarity Measure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3200" y="1152525"/>
            <a:ext cx="80124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whether two branches in Prefix-Graph should be merged together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the </a:t>
            </a: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descendants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node U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set of all the nodes and edges which are reachable from node 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(U) denote the descendant nodes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(U) denote the descendant edges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(U) = { V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(U), E</a:t>
            </a:r>
            <a:r>
              <a:rPr baseline="-25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(U) } denote the subgraph with U as the root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P(e|U) as the conditional probability that a random walk passes the edge 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estimate the probability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feature vector F(U) can also calculated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723" y="4449973"/>
            <a:ext cx="3148763" cy="69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/>
          <p:nvPr/>
        </p:nvSpPr>
        <p:spPr>
          <a:xfrm>
            <a:off x="7049700" y="3715600"/>
            <a:ext cx="1275900" cy="120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Distance 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313200" y="1152525"/>
            <a:ext cx="80124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distance between two nodes by their feature vector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</a:t>
            </a: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the feature vector of two branches</a:t>
            </a: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less than the threshold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Prefix-Graph will </a:t>
            </a: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merge these subgraphs and reconnect some relevant edges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175" y="1621698"/>
            <a:ext cx="4169824" cy="7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763" y="651713"/>
            <a:ext cx="6787274" cy="43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Merge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Special Scenario</a:t>
            </a: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313200" y="1152525"/>
            <a:ext cx="80124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cycles will possibly appear after merging subgraphs, each of the </a:t>
            </a: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strongly connected components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graph should be replaced with a </a:t>
            </a: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node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103" y="1958549"/>
            <a:ext cx="3361800" cy="26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Third Step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for a path from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leaf node back to the root node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cut-edges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this path form a log template, while 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non-cut-edges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replaced with wildcard characters (e.g., “&lt;*&gt;”)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templates can be employed to match raw log messages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975" y="2571750"/>
            <a:ext cx="3234025" cy="22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593300"/>
            <a:ext cx="810000" cy="6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>
                <a:latin typeface="Calibri"/>
                <a:ea typeface="Calibri"/>
                <a:cs typeface="Calibri"/>
                <a:sym typeface="Calibri"/>
              </a:rPr>
              <a:t>Compare to Drain</a:t>
            </a:r>
            <a:endParaRPr sz="25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9" name="Google Shape;259;p38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Prefix-Graph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doesn’t need the domain knowledge to preprocess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Prefix-Graph considers the frequency of the word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593300"/>
            <a:ext cx="810000" cy="6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1650" y="1968150"/>
            <a:ext cx="540067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