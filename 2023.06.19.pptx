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DD3C30C-06B7-461B-A279-907DD2700492}">
  <a:tblStyle styleId="{1DD3C30C-06B7-461B-A279-907DD270049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1d6cd004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1d6cd004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1d6cd0043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1d6cd0043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1d6cd0043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1d6cd0043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40691a1dea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40691a1dea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1d6cd0043b_0_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1d6cd0043b_0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536a61f35e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536a61f35e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40548a8e34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240548a8e3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240548a8e34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240548a8e34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240548a8e34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240548a8e34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2536a61f35e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2536a61f35e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2536a61f35e_0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2536a61f35e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240548a8e34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240548a8e34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2536a61f35e_0_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2536a61f35e_0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226d6c6f309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226d6c6f309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226d6c6f309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226d6c6f309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21d6cd0043b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21d6cd0043b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21d6cd0043b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21d6cd0043b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240548a8e34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240548a8e34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2241b1a22d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2241b1a22d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zh-TW"/>
              <a:t>2023 JDP –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AI Causality Inferences for TSMC Operations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zh-TW"/>
              <a:t>Advisor: Wen-Chih Peng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zh-TW"/>
              <a:t>Student: Zheng-Ming Lin, Ching Chang, Ting-Yun Ou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Date: 2023/06/19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Problem Settings</a:t>
            </a:r>
            <a:endParaRPr/>
          </a:p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62" name="Google Shape;62;p14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{1DD3C30C-06B7-461B-A279-907DD2700492}</a:tableStyleId>
              </a:tblPr>
              <a:tblGrid>
                <a:gridCol w="2687000"/>
                <a:gridCol w="4552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Supervised or Unsupervised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Unsupervised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AD or RCA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RCA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9E9E9E"/>
                          </a:solidFill>
                        </a:rPr>
                        <a:t>Offline or Online</a:t>
                      </a:r>
                      <a:endParaRPr>
                        <a:solidFill>
                          <a:srgbClr val="9E9E9E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9E9E9E"/>
                          </a:solidFill>
                        </a:rPr>
                        <a:t>Online</a:t>
                      </a:r>
                      <a:endParaRPr>
                        <a:solidFill>
                          <a:srgbClr val="9E9E9E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Data Format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u="sng"/>
                        <a:t>Irregular</a:t>
                      </a:r>
                      <a:r>
                        <a:rPr b="1" lang="zh-TW"/>
                        <a:t> time-seires</a:t>
                      </a:r>
                      <a:endParaRPr b="1" strike="sng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Others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chemeClr val="accent5"/>
                          </a:solidFill>
                        </a:rPr>
                        <a:t>Causal Graph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chemeClr val="accent5"/>
                          </a:solidFill>
                          <a:highlight>
                            <a:srgbClr val="FFFF00"/>
                          </a:highlight>
                        </a:rPr>
                        <a:t>Edge Existence Constraints (should or should not exist)</a:t>
                      </a:r>
                      <a:endParaRPr>
                        <a:solidFill>
                          <a:schemeClr val="accent5"/>
                        </a:solidFill>
                        <a:highlight>
                          <a:srgbClr val="FFFF00"/>
                        </a:highlight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chemeClr val="accent5"/>
                          </a:solidFill>
                          <a:highlight>
                            <a:srgbClr val="FFFF00"/>
                          </a:highlight>
                        </a:rPr>
                        <a:t>Few Data Scenario</a:t>
                      </a:r>
                      <a:endParaRPr>
                        <a:solidFill>
                          <a:schemeClr val="accent5"/>
                        </a:solidFill>
                        <a:highlight>
                          <a:srgbClr val="FFFF00"/>
                        </a:highlight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chemeClr val="accent5"/>
                          </a:solidFill>
                        </a:rPr>
                        <a:t>Self-supervised Learning, GNN, Deep Causal Learning, …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1626250" y="3784236"/>
            <a:ext cx="514500" cy="909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1626250" y="2690914"/>
            <a:ext cx="514500" cy="942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1626250" y="1155250"/>
            <a:ext cx="514500" cy="1468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Input Format with Provided Dataset</a:t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1732150" y="1748124"/>
            <a:ext cx="300600" cy="300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1732150" y="2744923"/>
            <a:ext cx="300600" cy="300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1732150" y="3836594"/>
            <a:ext cx="300600" cy="300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1732150" y="3291026"/>
            <a:ext cx="300600" cy="300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1732150" y="4347841"/>
            <a:ext cx="300600" cy="300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1732150" y="2265487"/>
            <a:ext cx="300600" cy="300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7" name="Google Shape;77;p15"/>
          <p:cNvCxnSpPr>
            <a:stCxn id="71" idx="4"/>
            <a:endCxn id="76" idx="0"/>
          </p:cNvCxnSpPr>
          <p:nvPr/>
        </p:nvCxnSpPr>
        <p:spPr>
          <a:xfrm>
            <a:off x="1882450" y="2048724"/>
            <a:ext cx="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" name="Google Shape;78;p15"/>
          <p:cNvCxnSpPr>
            <a:stCxn id="76" idx="4"/>
            <a:endCxn id="72" idx="0"/>
          </p:cNvCxnSpPr>
          <p:nvPr/>
        </p:nvCxnSpPr>
        <p:spPr>
          <a:xfrm>
            <a:off x="1882450" y="2566087"/>
            <a:ext cx="0" cy="17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" name="Google Shape;79;p15"/>
          <p:cNvSpPr txBox="1"/>
          <p:nvPr/>
        </p:nvSpPr>
        <p:spPr>
          <a:xfrm>
            <a:off x="234475" y="2071525"/>
            <a:ext cx="1410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measurement step</a:t>
            </a:r>
            <a:endParaRPr/>
          </a:p>
        </p:txBody>
      </p:sp>
      <p:cxnSp>
        <p:nvCxnSpPr>
          <p:cNvPr id="80" name="Google Shape;80;p15"/>
          <p:cNvCxnSpPr>
            <a:stCxn id="72" idx="4"/>
            <a:endCxn id="74" idx="0"/>
          </p:cNvCxnSpPr>
          <p:nvPr/>
        </p:nvCxnSpPr>
        <p:spPr>
          <a:xfrm>
            <a:off x="1882450" y="3045523"/>
            <a:ext cx="0" cy="24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" name="Google Shape;81;p15"/>
          <p:cNvCxnSpPr>
            <a:stCxn id="74" idx="4"/>
            <a:endCxn id="73" idx="0"/>
          </p:cNvCxnSpPr>
          <p:nvPr/>
        </p:nvCxnSpPr>
        <p:spPr>
          <a:xfrm>
            <a:off x="1882450" y="3591626"/>
            <a:ext cx="0" cy="24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" name="Google Shape;82;p15"/>
          <p:cNvCxnSpPr>
            <a:stCxn id="73" idx="4"/>
            <a:endCxn id="75" idx="0"/>
          </p:cNvCxnSpPr>
          <p:nvPr/>
        </p:nvCxnSpPr>
        <p:spPr>
          <a:xfrm>
            <a:off x="1882450" y="4137194"/>
            <a:ext cx="0" cy="21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" name="Google Shape;83;p15"/>
          <p:cNvSpPr txBox="1"/>
          <p:nvPr/>
        </p:nvSpPr>
        <p:spPr>
          <a:xfrm>
            <a:off x="234475" y="1321575"/>
            <a:ext cx="1410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manufacturing step</a:t>
            </a:r>
            <a:endParaRPr/>
          </a:p>
        </p:txBody>
      </p:sp>
      <p:sp>
        <p:nvSpPr>
          <p:cNvPr id="84" name="Google Shape;84;p15"/>
          <p:cNvSpPr txBox="1"/>
          <p:nvPr/>
        </p:nvSpPr>
        <p:spPr>
          <a:xfrm>
            <a:off x="2057950" y="164737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stage 1</a:t>
            </a:r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2057950" y="2975411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stage 2</a:t>
            </a:r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2057950" y="4042400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stage 3</a:t>
            </a:r>
            <a:endParaRPr/>
          </a:p>
        </p:txBody>
      </p:sp>
      <p:sp>
        <p:nvSpPr>
          <p:cNvPr id="87" name="Google Shape;87;p15"/>
          <p:cNvSpPr/>
          <p:nvPr/>
        </p:nvSpPr>
        <p:spPr>
          <a:xfrm>
            <a:off x="1732150" y="1230624"/>
            <a:ext cx="300600" cy="300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15"/>
          <p:cNvCxnSpPr>
            <a:stCxn id="87" idx="4"/>
          </p:cNvCxnSpPr>
          <p:nvPr/>
        </p:nvCxnSpPr>
        <p:spPr>
          <a:xfrm>
            <a:off x="1882450" y="1531224"/>
            <a:ext cx="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" name="Google Shape;89;p15"/>
          <p:cNvSpPr/>
          <p:nvPr/>
        </p:nvSpPr>
        <p:spPr>
          <a:xfrm>
            <a:off x="5921850" y="103150"/>
            <a:ext cx="514500" cy="742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5"/>
          <p:cNvSpPr/>
          <p:nvPr/>
        </p:nvSpPr>
        <p:spPr>
          <a:xfrm>
            <a:off x="6027750" y="178524"/>
            <a:ext cx="300600" cy="300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 txBox="1"/>
          <p:nvPr/>
        </p:nvSpPr>
        <p:spPr>
          <a:xfrm>
            <a:off x="5872800" y="445800"/>
            <a:ext cx="6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step</a:t>
            </a:r>
            <a:endParaRPr/>
          </a:p>
        </p:txBody>
      </p:sp>
      <p:sp>
        <p:nvSpPr>
          <p:cNvPr id="92" name="Google Shape;92;p15"/>
          <p:cNvSpPr txBox="1"/>
          <p:nvPr/>
        </p:nvSpPr>
        <p:spPr>
          <a:xfrm>
            <a:off x="6409200" y="274450"/>
            <a:ext cx="76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stage</a:t>
            </a:r>
            <a:endParaRPr/>
          </a:p>
        </p:txBody>
      </p:sp>
      <p:sp>
        <p:nvSpPr>
          <p:cNvPr id="93" name="Google Shape;93;p15"/>
          <p:cNvSpPr txBox="1"/>
          <p:nvPr/>
        </p:nvSpPr>
        <p:spPr>
          <a:xfrm>
            <a:off x="3504625" y="781267"/>
            <a:ext cx="54888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Data format: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For each stage, mutiple steps can be involved.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Two categories of </a:t>
            </a:r>
            <a:r>
              <a:rPr lang="zh-TW">
                <a:highlight>
                  <a:srgbClr val="FFFF00"/>
                </a:highlight>
              </a:rPr>
              <a:t>features</a:t>
            </a:r>
            <a:r>
              <a:rPr lang="zh-TW"/>
              <a:t> exist: </a:t>
            </a:r>
            <a:r>
              <a:rPr b="1" i="1" lang="zh-TW" u="sng"/>
              <a:t>manufacturing (M)</a:t>
            </a:r>
            <a:r>
              <a:rPr lang="zh-TW"/>
              <a:t> and </a:t>
            </a:r>
            <a:r>
              <a:rPr b="1" i="1" lang="zh-TW" u="sng"/>
              <a:t>measurements (Q)</a:t>
            </a:r>
            <a:r>
              <a:rPr lang="zh-TW"/>
              <a:t>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For each </a:t>
            </a:r>
            <a:r>
              <a:rPr lang="zh-TW">
                <a:highlight>
                  <a:srgbClr val="FFFF00"/>
                </a:highlight>
              </a:rPr>
              <a:t>feature</a:t>
            </a:r>
            <a:r>
              <a:rPr lang="zh-TW"/>
              <a:t>, we only have one record.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>
                <a:highlight>
                  <a:srgbClr val="FFFF00"/>
                </a:highlight>
              </a:rPr>
              <a:t>We can have both </a:t>
            </a:r>
            <a:r>
              <a:rPr lang="zh-TW">
                <a:highlight>
                  <a:srgbClr val="FFFF00"/>
                </a:highlight>
              </a:rPr>
              <a:t>manufacturing</a:t>
            </a:r>
            <a:r>
              <a:rPr lang="zh-TW">
                <a:highlight>
                  <a:srgbClr val="FFFF00"/>
                </a:highlight>
              </a:rPr>
              <a:t> and measurement features at the same step.</a:t>
            </a:r>
            <a:endParaRPr>
              <a:highlight>
                <a:srgbClr val="FFFF00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zh-TW" strike="sngStrike">
                <a:solidFill>
                  <a:schemeClr val="dk1"/>
                </a:solidFill>
              </a:rPr>
              <a:t>Measurement steps are not always required in a stage.</a:t>
            </a:r>
            <a:endParaRPr strike="sngStrike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 strike="sngStrike">
                <a:solidFill>
                  <a:schemeClr val="dk1"/>
                </a:solidFill>
              </a:rPr>
              <a:t>We utilize wafers present in both steps to create edges between these two steps.</a:t>
            </a:r>
            <a:endParaRPr strike="sngStrike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Certain features are shared across all steps.</a:t>
            </a:r>
            <a:endParaRPr>
              <a:highlight>
                <a:srgbClr val="FFFF00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Each step has a clear sequential relationship (a distinct linear progression).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The wafer manufacturing process does not change over time.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Measurement steps consistently act as outcomes, rather than contributing factors.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Input Format with Provided Dataset</a:t>
            </a:r>
            <a:endParaRPr/>
          </a:p>
        </p:txBody>
      </p:sp>
      <p:sp>
        <p:nvSpPr>
          <p:cNvPr id="99" name="Google Shape;99;p16"/>
          <p:cNvSpPr txBox="1"/>
          <p:nvPr/>
        </p:nvSpPr>
        <p:spPr>
          <a:xfrm>
            <a:off x="3504625" y="781267"/>
            <a:ext cx="54888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Data format: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For each stage, mutiple steps can be involved.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zh-TW">
                <a:solidFill>
                  <a:schemeClr val="dk1"/>
                </a:solidFill>
              </a:rPr>
              <a:t>Two categories of features exist: </a:t>
            </a:r>
            <a:r>
              <a:rPr b="1" i="1" lang="zh-TW" u="sng">
                <a:solidFill>
                  <a:schemeClr val="dk1"/>
                </a:solidFill>
              </a:rPr>
              <a:t>manufacturing (M)</a:t>
            </a:r>
            <a:r>
              <a:rPr lang="zh-TW">
                <a:solidFill>
                  <a:schemeClr val="dk1"/>
                </a:solidFill>
              </a:rPr>
              <a:t> and </a:t>
            </a:r>
            <a:r>
              <a:rPr b="1" i="1" lang="zh-TW" u="sng">
                <a:solidFill>
                  <a:schemeClr val="dk1"/>
                </a:solidFill>
              </a:rPr>
              <a:t>measurements (Q)</a:t>
            </a:r>
            <a:r>
              <a:rPr lang="zh-TW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For each feature, we only have one record.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We can have both manufacturing and measurement features at the same step.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zh-TW">
                <a:solidFill>
                  <a:schemeClr val="dk1"/>
                </a:solidFill>
                <a:highlight>
                  <a:srgbClr val="FFF2CC"/>
                </a:highlight>
              </a:rPr>
              <a:t>Certain features are shared across all steps.</a:t>
            </a:r>
            <a:endParaRPr>
              <a:solidFill>
                <a:schemeClr val="dk1"/>
              </a:solidFill>
              <a:highlight>
                <a:srgbClr val="FFF2CC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zh-TW">
                <a:solidFill>
                  <a:schemeClr val="dk1"/>
                </a:solidFill>
                <a:highlight>
                  <a:srgbClr val="FFF2CC"/>
                </a:highlight>
              </a:rPr>
              <a:t>Each step has a clear sequential relationship (a distinct linear progression).</a:t>
            </a:r>
            <a:endParaRPr>
              <a:solidFill>
                <a:schemeClr val="dk1"/>
              </a:solidFill>
              <a:highlight>
                <a:srgbClr val="FFF2CC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>
                <a:highlight>
                  <a:srgbClr val="F4CCCC"/>
                </a:highlight>
              </a:rPr>
              <a:t>The wafer manufacturing process does not change over time.</a:t>
            </a:r>
            <a:endParaRPr>
              <a:highlight>
                <a:srgbClr val="F4CCCC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>
                <a:highlight>
                  <a:srgbClr val="D9EAD3"/>
                </a:highlight>
              </a:rPr>
              <a:t>Measurement steps consistently act as outcomes, rather than contributing factors.</a:t>
            </a:r>
            <a:endParaRPr>
              <a:highlight>
                <a:srgbClr val="D9EAD3"/>
              </a:highlight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3504625" y="3878380"/>
            <a:ext cx="5269500" cy="1262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Assumptions for the </a:t>
            </a:r>
            <a:r>
              <a:rPr b="1" lang="zh-TW" u="sng"/>
              <a:t>causal graph</a:t>
            </a:r>
            <a:r>
              <a:rPr lang="zh-TW"/>
              <a:t> based on the data format: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>
                <a:highlight>
                  <a:srgbClr val="FFF2CC"/>
                </a:highlight>
              </a:rPr>
              <a:t>No edge is allowed to point back to a previous step</a:t>
            </a:r>
            <a:endParaRPr>
              <a:highlight>
                <a:srgbClr val="FFF2CC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>
                <a:solidFill>
                  <a:schemeClr val="dk1"/>
                </a:solidFill>
                <a:highlight>
                  <a:srgbClr val="F4CCCC"/>
                </a:highlight>
              </a:rPr>
              <a:t>The causal graph remains unchanged over time</a:t>
            </a:r>
            <a:endParaRPr>
              <a:highlight>
                <a:srgbClr val="F4CCCC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zh-TW">
                <a:solidFill>
                  <a:schemeClr val="dk1"/>
                </a:solidFill>
                <a:highlight>
                  <a:srgbClr val="D9EAD3"/>
                </a:highlight>
              </a:rPr>
              <a:t>No edge is allowed to point back to a measurement step, as measurement steps are not considered causal factors.</a:t>
            </a:r>
            <a:endParaRPr>
              <a:highlight>
                <a:srgbClr val="D9EAD3"/>
              </a:highlight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1414475" y="1013575"/>
            <a:ext cx="1907400" cy="3676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576425" y="1748124"/>
            <a:ext cx="300600" cy="300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576425" y="2744923"/>
            <a:ext cx="300600" cy="300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576425" y="3836594"/>
            <a:ext cx="300600" cy="300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/>
          <p:nvPr/>
        </p:nvSpPr>
        <p:spPr>
          <a:xfrm>
            <a:off x="576425" y="3291026"/>
            <a:ext cx="300600" cy="300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/>
          <p:nvPr/>
        </p:nvSpPr>
        <p:spPr>
          <a:xfrm>
            <a:off x="576425" y="4347841"/>
            <a:ext cx="300600" cy="300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576425" y="2265487"/>
            <a:ext cx="300600" cy="300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8" name="Google Shape;108;p16"/>
          <p:cNvCxnSpPr>
            <a:stCxn id="102" idx="4"/>
            <a:endCxn id="107" idx="0"/>
          </p:cNvCxnSpPr>
          <p:nvPr/>
        </p:nvCxnSpPr>
        <p:spPr>
          <a:xfrm>
            <a:off x="726725" y="2048724"/>
            <a:ext cx="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" name="Google Shape;109;p16"/>
          <p:cNvCxnSpPr>
            <a:stCxn id="107" idx="4"/>
            <a:endCxn id="103" idx="0"/>
          </p:cNvCxnSpPr>
          <p:nvPr/>
        </p:nvCxnSpPr>
        <p:spPr>
          <a:xfrm>
            <a:off x="726725" y="2566087"/>
            <a:ext cx="0" cy="17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" name="Google Shape;110;p16"/>
          <p:cNvCxnSpPr>
            <a:stCxn id="103" idx="4"/>
            <a:endCxn id="105" idx="0"/>
          </p:cNvCxnSpPr>
          <p:nvPr/>
        </p:nvCxnSpPr>
        <p:spPr>
          <a:xfrm>
            <a:off x="726725" y="3045523"/>
            <a:ext cx="0" cy="24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" name="Google Shape;111;p16"/>
          <p:cNvCxnSpPr>
            <a:stCxn id="105" idx="4"/>
            <a:endCxn id="104" idx="0"/>
          </p:cNvCxnSpPr>
          <p:nvPr/>
        </p:nvCxnSpPr>
        <p:spPr>
          <a:xfrm>
            <a:off x="726725" y="3591626"/>
            <a:ext cx="0" cy="24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" name="Google Shape;112;p16"/>
          <p:cNvCxnSpPr>
            <a:stCxn id="104" idx="4"/>
            <a:endCxn id="106" idx="0"/>
          </p:cNvCxnSpPr>
          <p:nvPr/>
        </p:nvCxnSpPr>
        <p:spPr>
          <a:xfrm>
            <a:off x="726725" y="4137194"/>
            <a:ext cx="0" cy="21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" name="Google Shape;113;p16"/>
          <p:cNvSpPr/>
          <p:nvPr/>
        </p:nvSpPr>
        <p:spPr>
          <a:xfrm>
            <a:off x="576425" y="1230624"/>
            <a:ext cx="300600" cy="300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4" name="Google Shape;114;p16"/>
          <p:cNvCxnSpPr>
            <a:stCxn id="113" idx="4"/>
          </p:cNvCxnSpPr>
          <p:nvPr/>
        </p:nvCxnSpPr>
        <p:spPr>
          <a:xfrm>
            <a:off x="726725" y="1531224"/>
            <a:ext cx="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" name="Google Shape;115;p16"/>
          <p:cNvSpPr/>
          <p:nvPr/>
        </p:nvSpPr>
        <p:spPr>
          <a:xfrm>
            <a:off x="2411895" y="1068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1154800" y="118082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</a:t>
            </a:r>
            <a:r>
              <a:rPr lang="zh-TW"/>
              <a:t>1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1154800" y="1669644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</a:t>
            </a:r>
            <a:r>
              <a:rPr lang="zh-TW"/>
              <a:t>2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1154800" y="2169462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</a:t>
            </a:r>
            <a:r>
              <a:rPr lang="zh-TW"/>
              <a:t>3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1154800" y="270098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</a:t>
            </a:r>
            <a:r>
              <a:rPr lang="zh-TW"/>
              <a:t>4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1154800" y="324610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</a:t>
            </a:r>
            <a:r>
              <a:rPr lang="zh-TW"/>
              <a:t>5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1154800" y="37667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</a:t>
            </a:r>
            <a:r>
              <a:rPr lang="zh-TW"/>
              <a:t>6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1154800" y="42768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</a:t>
            </a:r>
            <a:r>
              <a:rPr lang="zh-TW"/>
              <a:t>7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1989345" y="125430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2698483" y="12374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2388670" y="14219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2118920" y="16895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2377545" y="1826225"/>
            <a:ext cx="178800" cy="178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2188295" y="232071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2188295" y="439280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2588932" y="228530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2464982" y="4400075"/>
            <a:ext cx="178800" cy="1788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2153570" y="2800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2446670" y="282362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4" name="Google Shape;134;p16"/>
          <p:cNvCxnSpPr>
            <a:stCxn id="115" idx="2"/>
            <a:endCxn id="123" idx="7"/>
          </p:cNvCxnSpPr>
          <p:nvPr/>
        </p:nvCxnSpPr>
        <p:spPr>
          <a:xfrm flipH="1">
            <a:off x="2141895" y="1158275"/>
            <a:ext cx="270000" cy="12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" name="Google Shape;135;p16"/>
          <p:cNvCxnSpPr>
            <a:stCxn id="115" idx="4"/>
            <a:endCxn id="125" idx="0"/>
          </p:cNvCxnSpPr>
          <p:nvPr/>
        </p:nvCxnSpPr>
        <p:spPr>
          <a:xfrm flipH="1">
            <a:off x="2478195" y="1247675"/>
            <a:ext cx="23100" cy="17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" name="Google Shape;136;p16"/>
          <p:cNvCxnSpPr>
            <a:stCxn id="124" idx="2"/>
            <a:endCxn id="125" idx="6"/>
          </p:cNvCxnSpPr>
          <p:nvPr/>
        </p:nvCxnSpPr>
        <p:spPr>
          <a:xfrm flipH="1">
            <a:off x="2567383" y="1326862"/>
            <a:ext cx="131100" cy="18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" name="Google Shape;137;p16"/>
          <p:cNvCxnSpPr>
            <a:stCxn id="115" idx="3"/>
            <a:endCxn id="126" idx="0"/>
          </p:cNvCxnSpPr>
          <p:nvPr/>
        </p:nvCxnSpPr>
        <p:spPr>
          <a:xfrm flipH="1">
            <a:off x="2208279" y="1221490"/>
            <a:ext cx="229800" cy="46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" name="Google Shape;138;p16"/>
          <p:cNvCxnSpPr>
            <a:stCxn id="125" idx="4"/>
            <a:endCxn id="127" idx="0"/>
          </p:cNvCxnSpPr>
          <p:nvPr/>
        </p:nvCxnSpPr>
        <p:spPr>
          <a:xfrm flipH="1">
            <a:off x="2466970" y="1600787"/>
            <a:ext cx="11100" cy="22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" name="Google Shape;139;p16"/>
          <p:cNvCxnSpPr>
            <a:stCxn id="127" idx="4"/>
            <a:endCxn id="130" idx="0"/>
          </p:cNvCxnSpPr>
          <p:nvPr/>
        </p:nvCxnSpPr>
        <p:spPr>
          <a:xfrm>
            <a:off x="2466945" y="2005025"/>
            <a:ext cx="211500" cy="2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" name="Google Shape;140;p16"/>
          <p:cNvCxnSpPr>
            <a:stCxn id="126" idx="4"/>
            <a:endCxn id="128" idx="0"/>
          </p:cNvCxnSpPr>
          <p:nvPr/>
        </p:nvCxnSpPr>
        <p:spPr>
          <a:xfrm>
            <a:off x="2208320" y="1868350"/>
            <a:ext cx="69300" cy="45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" name="Google Shape;141;p16"/>
          <p:cNvCxnSpPr>
            <a:stCxn id="130" idx="2"/>
            <a:endCxn id="128" idx="6"/>
          </p:cNvCxnSpPr>
          <p:nvPr/>
        </p:nvCxnSpPr>
        <p:spPr>
          <a:xfrm flipH="1">
            <a:off x="2367232" y="2374700"/>
            <a:ext cx="221700" cy="3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" name="Google Shape;142;p16"/>
          <p:cNvCxnSpPr>
            <a:stCxn id="130" idx="4"/>
            <a:endCxn id="133" idx="0"/>
          </p:cNvCxnSpPr>
          <p:nvPr/>
        </p:nvCxnSpPr>
        <p:spPr>
          <a:xfrm flipH="1">
            <a:off x="2536132" y="2464100"/>
            <a:ext cx="142200" cy="35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" name="Google Shape;143;p16"/>
          <p:cNvCxnSpPr>
            <a:stCxn id="123" idx="3"/>
            <a:endCxn id="132" idx="2"/>
          </p:cNvCxnSpPr>
          <p:nvPr/>
        </p:nvCxnSpPr>
        <p:spPr>
          <a:xfrm flipH="1" rot="-5400000">
            <a:off x="1342779" y="2079665"/>
            <a:ext cx="1483500" cy="138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16"/>
          <p:cNvCxnSpPr>
            <a:stCxn id="127" idx="6"/>
            <a:endCxn id="133" idx="6"/>
          </p:cNvCxnSpPr>
          <p:nvPr/>
        </p:nvCxnSpPr>
        <p:spPr>
          <a:xfrm>
            <a:off x="2556345" y="1915625"/>
            <a:ext cx="69000" cy="997500"/>
          </a:xfrm>
          <a:prstGeom prst="curvedConnector3">
            <a:avLst>
              <a:gd fmla="val 44529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" name="Google Shape;145;p16"/>
          <p:cNvSpPr/>
          <p:nvPr/>
        </p:nvSpPr>
        <p:spPr>
          <a:xfrm>
            <a:off x="2620770" y="3304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2118920" y="38721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2438070" y="3999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2483295" y="37378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9" name="Google Shape;149;p16"/>
          <p:cNvCxnSpPr>
            <a:stCxn id="133" idx="4"/>
            <a:endCxn id="148" idx="0"/>
          </p:cNvCxnSpPr>
          <p:nvPr/>
        </p:nvCxnSpPr>
        <p:spPr>
          <a:xfrm>
            <a:off x="2536070" y="3002425"/>
            <a:ext cx="36600" cy="735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50" name="Google Shape;150;p16"/>
          <p:cNvSpPr/>
          <p:nvPr/>
        </p:nvSpPr>
        <p:spPr>
          <a:xfrm>
            <a:off x="2118920" y="33392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1" name="Google Shape;151;p16"/>
          <p:cNvCxnSpPr>
            <a:stCxn id="132" idx="4"/>
            <a:endCxn id="150" idx="0"/>
          </p:cNvCxnSpPr>
          <p:nvPr/>
        </p:nvCxnSpPr>
        <p:spPr>
          <a:xfrm flipH="1">
            <a:off x="2208170" y="2979775"/>
            <a:ext cx="34800" cy="35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" name="Google Shape;152;p16"/>
          <p:cNvCxnSpPr>
            <a:stCxn id="128" idx="2"/>
            <a:endCxn id="146" idx="2"/>
          </p:cNvCxnSpPr>
          <p:nvPr/>
        </p:nvCxnSpPr>
        <p:spPr>
          <a:xfrm flipH="1">
            <a:off x="2118995" y="2410112"/>
            <a:ext cx="69300" cy="1551600"/>
          </a:xfrm>
          <a:prstGeom prst="curvedConnector3">
            <a:avLst>
              <a:gd fmla="val 443723" name="adj1"/>
            </a:avLst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53" name="Google Shape;153;p16"/>
          <p:cNvCxnSpPr>
            <a:stCxn id="146" idx="4"/>
            <a:endCxn id="129" idx="0"/>
          </p:cNvCxnSpPr>
          <p:nvPr/>
        </p:nvCxnSpPr>
        <p:spPr>
          <a:xfrm>
            <a:off x="2208320" y="4050962"/>
            <a:ext cx="69300" cy="3417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54" name="Google Shape;154;p16"/>
          <p:cNvCxnSpPr>
            <a:stCxn id="147" idx="4"/>
            <a:endCxn id="131" idx="0"/>
          </p:cNvCxnSpPr>
          <p:nvPr/>
        </p:nvCxnSpPr>
        <p:spPr>
          <a:xfrm>
            <a:off x="2527470" y="4178775"/>
            <a:ext cx="27000" cy="22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5" name="Google Shape;155;p16"/>
          <p:cNvSpPr txBox="1"/>
          <p:nvPr/>
        </p:nvSpPr>
        <p:spPr>
          <a:xfrm>
            <a:off x="1672925" y="4662300"/>
            <a:ext cx="13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FF0000"/>
                </a:solidFill>
              </a:rPr>
              <a:t>causal graph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156" name="Google Shape;156;p16"/>
          <p:cNvCxnSpPr/>
          <p:nvPr/>
        </p:nvCxnSpPr>
        <p:spPr>
          <a:xfrm>
            <a:off x="311700" y="1635975"/>
            <a:ext cx="258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57" name="Google Shape;157;p16"/>
          <p:cNvCxnSpPr/>
          <p:nvPr/>
        </p:nvCxnSpPr>
        <p:spPr>
          <a:xfrm>
            <a:off x="311700" y="2124792"/>
            <a:ext cx="258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16"/>
          <p:cNvCxnSpPr/>
          <p:nvPr/>
        </p:nvCxnSpPr>
        <p:spPr>
          <a:xfrm>
            <a:off x="311700" y="2624610"/>
            <a:ext cx="258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16"/>
          <p:cNvCxnSpPr/>
          <p:nvPr/>
        </p:nvCxnSpPr>
        <p:spPr>
          <a:xfrm>
            <a:off x="311700" y="3156135"/>
            <a:ext cx="258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60" name="Google Shape;160;p16"/>
          <p:cNvCxnSpPr/>
          <p:nvPr/>
        </p:nvCxnSpPr>
        <p:spPr>
          <a:xfrm>
            <a:off x="311700" y="3701256"/>
            <a:ext cx="258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16"/>
          <p:cNvCxnSpPr/>
          <p:nvPr/>
        </p:nvCxnSpPr>
        <p:spPr>
          <a:xfrm>
            <a:off x="311700" y="4221875"/>
            <a:ext cx="258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62" name="Google Shape;162;p16"/>
          <p:cNvSpPr/>
          <p:nvPr/>
        </p:nvSpPr>
        <p:spPr>
          <a:xfrm>
            <a:off x="3018707" y="191562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6"/>
          <p:cNvSpPr/>
          <p:nvPr/>
        </p:nvSpPr>
        <p:spPr>
          <a:xfrm>
            <a:off x="3063570" y="360410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6"/>
          <p:cNvSpPr/>
          <p:nvPr/>
        </p:nvSpPr>
        <p:spPr>
          <a:xfrm>
            <a:off x="3101095" y="291312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5" name="Google Shape;165;p16"/>
          <p:cNvCxnSpPr>
            <a:stCxn id="124" idx="5"/>
            <a:endCxn id="162" idx="0"/>
          </p:cNvCxnSpPr>
          <p:nvPr/>
        </p:nvCxnSpPr>
        <p:spPr>
          <a:xfrm>
            <a:off x="2851098" y="1390077"/>
            <a:ext cx="257100" cy="52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" name="Google Shape;166;p16"/>
          <p:cNvCxnSpPr>
            <a:stCxn id="162" idx="3"/>
            <a:endCxn id="130" idx="7"/>
          </p:cNvCxnSpPr>
          <p:nvPr/>
        </p:nvCxnSpPr>
        <p:spPr>
          <a:xfrm flipH="1">
            <a:off x="2741592" y="2068240"/>
            <a:ext cx="303300" cy="24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" name="Google Shape;167;p16"/>
          <p:cNvCxnSpPr>
            <a:stCxn id="145" idx="7"/>
            <a:endCxn id="164" idx="3"/>
          </p:cNvCxnSpPr>
          <p:nvPr/>
        </p:nvCxnSpPr>
        <p:spPr>
          <a:xfrm flipH="1" rot="10800000">
            <a:off x="2773385" y="3065859"/>
            <a:ext cx="354000" cy="26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p16"/>
          <p:cNvCxnSpPr>
            <a:stCxn id="164" idx="2"/>
            <a:endCxn id="133" idx="6"/>
          </p:cNvCxnSpPr>
          <p:nvPr/>
        </p:nvCxnSpPr>
        <p:spPr>
          <a:xfrm rot="10800000">
            <a:off x="2625595" y="2913125"/>
            <a:ext cx="475500" cy="894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69" name="Google Shape;169;p16"/>
          <p:cNvCxnSpPr>
            <a:stCxn id="164" idx="4"/>
            <a:endCxn id="163" idx="0"/>
          </p:cNvCxnSpPr>
          <p:nvPr/>
        </p:nvCxnSpPr>
        <p:spPr>
          <a:xfrm flipH="1">
            <a:off x="3152995" y="3091925"/>
            <a:ext cx="37500" cy="51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" name="Google Shape;170;p16"/>
          <p:cNvCxnSpPr>
            <a:stCxn id="163" idx="2"/>
            <a:endCxn id="148" idx="6"/>
          </p:cNvCxnSpPr>
          <p:nvPr/>
        </p:nvCxnSpPr>
        <p:spPr>
          <a:xfrm flipH="1">
            <a:off x="2662170" y="3693500"/>
            <a:ext cx="401400" cy="13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1" name="Google Shape;171;p16"/>
          <p:cNvCxnSpPr/>
          <p:nvPr/>
        </p:nvCxnSpPr>
        <p:spPr>
          <a:xfrm>
            <a:off x="2556345" y="1915625"/>
            <a:ext cx="60600" cy="2173800"/>
          </a:xfrm>
          <a:prstGeom prst="curvedConnector3">
            <a:avLst>
              <a:gd fmla="val 808507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72" name="Google Shape;172;p16"/>
          <p:cNvGrpSpPr/>
          <p:nvPr/>
        </p:nvGrpSpPr>
        <p:grpSpPr>
          <a:xfrm>
            <a:off x="6011720" y="163800"/>
            <a:ext cx="1221405" cy="689900"/>
            <a:chOff x="5981095" y="41350"/>
            <a:chExt cx="1221405" cy="689900"/>
          </a:xfrm>
        </p:grpSpPr>
        <p:sp>
          <p:nvSpPr>
            <p:cNvPr id="173" name="Google Shape;173;p16"/>
            <p:cNvSpPr/>
            <p:nvPr/>
          </p:nvSpPr>
          <p:spPr>
            <a:xfrm>
              <a:off x="5981095" y="152062"/>
              <a:ext cx="178800" cy="178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6"/>
            <p:cNvSpPr/>
            <p:nvPr/>
          </p:nvSpPr>
          <p:spPr>
            <a:xfrm>
              <a:off x="5981107" y="441750"/>
              <a:ext cx="178800" cy="178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6"/>
            <p:cNvSpPr txBox="1"/>
            <p:nvPr/>
          </p:nvSpPr>
          <p:spPr>
            <a:xfrm>
              <a:off x="6207400" y="41350"/>
              <a:ext cx="995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 feature</a:t>
              </a:r>
              <a:endParaRPr/>
            </a:p>
          </p:txBody>
        </p:sp>
        <p:sp>
          <p:nvSpPr>
            <p:cNvPr id="176" name="Google Shape;176;p16"/>
            <p:cNvSpPr txBox="1"/>
            <p:nvPr/>
          </p:nvSpPr>
          <p:spPr>
            <a:xfrm>
              <a:off x="6207400" y="331050"/>
              <a:ext cx="995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Q</a:t>
              </a:r>
              <a:r>
                <a:rPr lang="zh-TW"/>
                <a:t> feature</a:t>
              </a:r>
              <a:endParaRPr/>
            </a:p>
          </p:txBody>
        </p:sp>
      </p:grpSp>
      <p:cxnSp>
        <p:nvCxnSpPr>
          <p:cNvPr id="177" name="Google Shape;177;p16"/>
          <p:cNvCxnSpPr/>
          <p:nvPr/>
        </p:nvCxnSpPr>
        <p:spPr>
          <a:xfrm rot="10800000">
            <a:off x="2893250" y="1079150"/>
            <a:ext cx="0" cy="357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Organized</a:t>
            </a:r>
            <a:r>
              <a:rPr lang="zh-TW"/>
              <a:t> CSV</a:t>
            </a:r>
            <a:endParaRPr/>
          </a:p>
        </p:txBody>
      </p:sp>
      <p:graphicFrame>
        <p:nvGraphicFramePr>
          <p:cNvPr id="183" name="Google Shape;183;p17"/>
          <p:cNvGraphicFramePr/>
          <p:nvPr/>
        </p:nvGraphicFramePr>
        <p:xfrm>
          <a:off x="3409596" y="15678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{1DD3C30C-06B7-461B-A279-907DD2700492}</a:tableStyleId>
              </a:tblPr>
              <a:tblGrid>
                <a:gridCol w="715750"/>
                <a:gridCol w="715750"/>
                <a:gridCol w="715750"/>
                <a:gridCol w="715750"/>
                <a:gridCol w="715750"/>
                <a:gridCol w="715750"/>
                <a:gridCol w="715750"/>
                <a:gridCol w="715750"/>
              </a:tblGrid>
              <a:tr h="25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wafer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 id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rgbClr val="FFFF00"/>
                          </a:solidFill>
                        </a:rPr>
                        <a:t>f1</a:t>
                      </a:r>
                      <a:endParaRPr b="1" sz="1300">
                        <a:solidFill>
                          <a:srgbClr val="FFFF00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rgbClr val="FFFF00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rgbClr val="FFFF00"/>
                          </a:solidFill>
                        </a:rPr>
                        <a:t>(M)</a:t>
                      </a:r>
                      <a:endParaRPr b="1" sz="1300"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S</a:t>
                      </a: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1_f1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(M)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S</a:t>
                      </a: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2_f2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(M)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S3</a:t>
                      </a: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_f1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(Q)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S</a:t>
                      </a: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3_f2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(M)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…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S</a:t>
                      </a: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7_f1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(Q)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TOOL</a:t>
                      </a:r>
                      <a:r>
                        <a:rPr lang="zh-TW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7.3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XXX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23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…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22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1.6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XXX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45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0.4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30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0.2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24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W5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0.9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36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34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…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W97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3.7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30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23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W98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TOOL3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1.6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45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67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W99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TOOL3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0.5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64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83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W100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TOOL3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3.5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80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84" name="Google Shape;184;p17"/>
          <p:cNvGrpSpPr/>
          <p:nvPr/>
        </p:nvGrpSpPr>
        <p:grpSpPr>
          <a:xfrm>
            <a:off x="4957703" y="591750"/>
            <a:ext cx="3610886" cy="688620"/>
            <a:chOff x="4239615" y="0"/>
            <a:chExt cx="3610886" cy="688620"/>
          </a:xfrm>
        </p:grpSpPr>
        <p:grpSp>
          <p:nvGrpSpPr>
            <p:cNvPr id="185" name="Google Shape;185;p17"/>
            <p:cNvGrpSpPr/>
            <p:nvPr/>
          </p:nvGrpSpPr>
          <p:grpSpPr>
            <a:xfrm rot="-5400000">
              <a:off x="5893250" y="-1170588"/>
              <a:ext cx="300600" cy="3417817"/>
              <a:chOff x="576425" y="1230624"/>
              <a:chExt cx="300600" cy="3417817"/>
            </a:xfrm>
          </p:grpSpPr>
          <p:sp>
            <p:nvSpPr>
              <p:cNvPr id="186" name="Google Shape;186;p17"/>
              <p:cNvSpPr/>
              <p:nvPr/>
            </p:nvSpPr>
            <p:spPr>
              <a:xfrm>
                <a:off x="576425" y="1748124"/>
                <a:ext cx="300600" cy="3006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7"/>
              <p:cNvSpPr/>
              <p:nvPr/>
            </p:nvSpPr>
            <p:spPr>
              <a:xfrm>
                <a:off x="576425" y="2744923"/>
                <a:ext cx="300600" cy="3006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7"/>
              <p:cNvSpPr/>
              <p:nvPr/>
            </p:nvSpPr>
            <p:spPr>
              <a:xfrm>
                <a:off x="576425" y="3836594"/>
                <a:ext cx="300600" cy="3006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17"/>
              <p:cNvSpPr/>
              <p:nvPr/>
            </p:nvSpPr>
            <p:spPr>
              <a:xfrm>
                <a:off x="576425" y="3291026"/>
                <a:ext cx="300600" cy="3006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576425" y="4347841"/>
                <a:ext cx="300600" cy="3006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576425" y="2265487"/>
                <a:ext cx="300600" cy="3006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92" name="Google Shape;192;p17"/>
              <p:cNvCxnSpPr>
                <a:stCxn id="186" idx="4"/>
                <a:endCxn id="191" idx="0"/>
              </p:cNvCxnSpPr>
              <p:nvPr/>
            </p:nvCxnSpPr>
            <p:spPr>
              <a:xfrm rot="5400000">
                <a:off x="618275" y="2157174"/>
                <a:ext cx="216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93" name="Google Shape;193;p17"/>
              <p:cNvCxnSpPr>
                <a:stCxn id="191" idx="4"/>
                <a:endCxn id="187" idx="0"/>
              </p:cNvCxnSpPr>
              <p:nvPr/>
            </p:nvCxnSpPr>
            <p:spPr>
              <a:xfrm rot="5400000">
                <a:off x="637325" y="2655487"/>
                <a:ext cx="178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94" name="Google Shape;194;p17"/>
              <p:cNvCxnSpPr>
                <a:stCxn id="187" idx="4"/>
                <a:endCxn id="189" idx="0"/>
              </p:cNvCxnSpPr>
              <p:nvPr/>
            </p:nvCxnSpPr>
            <p:spPr>
              <a:xfrm rot="5400000">
                <a:off x="604025" y="3168223"/>
                <a:ext cx="245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95" name="Google Shape;195;p17"/>
              <p:cNvCxnSpPr>
                <a:stCxn id="189" idx="4"/>
                <a:endCxn id="188" idx="0"/>
              </p:cNvCxnSpPr>
              <p:nvPr/>
            </p:nvCxnSpPr>
            <p:spPr>
              <a:xfrm rot="5400000">
                <a:off x="604175" y="3714176"/>
                <a:ext cx="24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96" name="Google Shape;196;p17"/>
              <p:cNvCxnSpPr>
                <a:stCxn id="188" idx="4"/>
                <a:endCxn id="190" idx="0"/>
              </p:cNvCxnSpPr>
              <p:nvPr/>
            </p:nvCxnSpPr>
            <p:spPr>
              <a:xfrm rot="5400000">
                <a:off x="621425" y="4242494"/>
                <a:ext cx="210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97" name="Google Shape;197;p17"/>
              <p:cNvSpPr/>
              <p:nvPr/>
            </p:nvSpPr>
            <p:spPr>
              <a:xfrm>
                <a:off x="576425" y="1230624"/>
                <a:ext cx="300600" cy="3006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98" name="Google Shape;198;p17"/>
              <p:cNvCxnSpPr>
                <a:stCxn id="197" idx="4"/>
              </p:cNvCxnSpPr>
              <p:nvPr/>
            </p:nvCxnSpPr>
            <p:spPr>
              <a:xfrm rot="5400000">
                <a:off x="618275" y="1639674"/>
                <a:ext cx="216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99" name="Google Shape;199;p17"/>
            <p:cNvSpPr txBox="1"/>
            <p:nvPr/>
          </p:nvSpPr>
          <p:spPr>
            <a:xfrm>
              <a:off x="4239615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S</a:t>
              </a:r>
              <a:r>
                <a:rPr lang="zh-TW"/>
                <a:t>1</a:t>
              </a:r>
              <a:endParaRPr/>
            </a:p>
          </p:txBody>
        </p:sp>
        <p:sp>
          <p:nvSpPr>
            <p:cNvPr id="200" name="Google Shape;200;p17"/>
            <p:cNvSpPr txBox="1"/>
            <p:nvPr/>
          </p:nvSpPr>
          <p:spPr>
            <a:xfrm>
              <a:off x="4753949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S</a:t>
              </a:r>
              <a:r>
                <a:rPr lang="zh-TW"/>
                <a:t>2</a:t>
              </a:r>
              <a:endParaRPr/>
            </a:p>
          </p:txBody>
        </p:sp>
        <p:sp>
          <p:nvSpPr>
            <p:cNvPr id="201" name="Google Shape;201;p17"/>
            <p:cNvSpPr txBox="1"/>
            <p:nvPr/>
          </p:nvSpPr>
          <p:spPr>
            <a:xfrm>
              <a:off x="5268876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S3</a:t>
              </a:r>
              <a:endParaRPr/>
            </a:p>
          </p:txBody>
        </p:sp>
        <p:sp>
          <p:nvSpPr>
            <p:cNvPr id="202" name="Google Shape;202;p17"/>
            <p:cNvSpPr txBox="1"/>
            <p:nvPr/>
          </p:nvSpPr>
          <p:spPr>
            <a:xfrm>
              <a:off x="5742360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S</a:t>
              </a:r>
              <a:r>
                <a:rPr lang="zh-TW"/>
                <a:t>4</a:t>
              </a:r>
              <a:endParaRPr/>
            </a:p>
          </p:txBody>
        </p:sp>
        <p:sp>
          <p:nvSpPr>
            <p:cNvPr id="203" name="Google Shape;203;p17"/>
            <p:cNvSpPr txBox="1"/>
            <p:nvPr/>
          </p:nvSpPr>
          <p:spPr>
            <a:xfrm>
              <a:off x="6298138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S</a:t>
              </a:r>
              <a:r>
                <a:rPr lang="zh-TW"/>
                <a:t>5</a:t>
              </a:r>
              <a:endParaRPr/>
            </a:p>
          </p:txBody>
        </p:sp>
        <p:sp>
          <p:nvSpPr>
            <p:cNvPr id="204" name="Google Shape;204;p17"/>
            <p:cNvSpPr txBox="1"/>
            <p:nvPr/>
          </p:nvSpPr>
          <p:spPr>
            <a:xfrm>
              <a:off x="6843329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S</a:t>
              </a:r>
              <a:r>
                <a:rPr lang="zh-TW"/>
                <a:t>6</a:t>
              </a:r>
              <a:endParaRPr/>
            </a:p>
          </p:txBody>
        </p:sp>
        <p:sp>
          <p:nvSpPr>
            <p:cNvPr id="205" name="Google Shape;205;p17"/>
            <p:cNvSpPr txBox="1"/>
            <p:nvPr/>
          </p:nvSpPr>
          <p:spPr>
            <a:xfrm>
              <a:off x="7350701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S7</a:t>
              </a:r>
              <a:endParaRPr/>
            </a:p>
          </p:txBody>
        </p:sp>
      </p:grpSp>
      <p:sp>
        <p:nvSpPr>
          <p:cNvPr id="206" name="Google Shape;206;p17"/>
          <p:cNvSpPr/>
          <p:nvPr/>
        </p:nvSpPr>
        <p:spPr>
          <a:xfrm>
            <a:off x="1414475" y="1013575"/>
            <a:ext cx="1907400" cy="3676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7"/>
          <p:cNvSpPr/>
          <p:nvPr/>
        </p:nvSpPr>
        <p:spPr>
          <a:xfrm>
            <a:off x="576425" y="1748124"/>
            <a:ext cx="300600" cy="300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7"/>
          <p:cNvSpPr/>
          <p:nvPr/>
        </p:nvSpPr>
        <p:spPr>
          <a:xfrm>
            <a:off x="576425" y="2744923"/>
            <a:ext cx="300600" cy="300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7"/>
          <p:cNvSpPr/>
          <p:nvPr/>
        </p:nvSpPr>
        <p:spPr>
          <a:xfrm>
            <a:off x="576425" y="3836594"/>
            <a:ext cx="300600" cy="300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7"/>
          <p:cNvSpPr/>
          <p:nvPr/>
        </p:nvSpPr>
        <p:spPr>
          <a:xfrm>
            <a:off x="576425" y="3291026"/>
            <a:ext cx="300600" cy="300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7"/>
          <p:cNvSpPr/>
          <p:nvPr/>
        </p:nvSpPr>
        <p:spPr>
          <a:xfrm>
            <a:off x="576425" y="4347841"/>
            <a:ext cx="300600" cy="300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7"/>
          <p:cNvSpPr/>
          <p:nvPr/>
        </p:nvSpPr>
        <p:spPr>
          <a:xfrm>
            <a:off x="576425" y="2265487"/>
            <a:ext cx="300600" cy="300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3" name="Google Shape;213;p17"/>
          <p:cNvCxnSpPr>
            <a:stCxn id="207" idx="4"/>
            <a:endCxn id="212" idx="0"/>
          </p:cNvCxnSpPr>
          <p:nvPr/>
        </p:nvCxnSpPr>
        <p:spPr>
          <a:xfrm>
            <a:off x="726725" y="2048724"/>
            <a:ext cx="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" name="Google Shape;214;p17"/>
          <p:cNvCxnSpPr>
            <a:stCxn id="212" idx="4"/>
            <a:endCxn id="208" idx="0"/>
          </p:cNvCxnSpPr>
          <p:nvPr/>
        </p:nvCxnSpPr>
        <p:spPr>
          <a:xfrm>
            <a:off x="726725" y="2566087"/>
            <a:ext cx="0" cy="17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5" name="Google Shape;215;p17"/>
          <p:cNvCxnSpPr>
            <a:stCxn id="208" idx="4"/>
            <a:endCxn id="210" idx="0"/>
          </p:cNvCxnSpPr>
          <p:nvPr/>
        </p:nvCxnSpPr>
        <p:spPr>
          <a:xfrm>
            <a:off x="726725" y="3045523"/>
            <a:ext cx="0" cy="24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" name="Google Shape;216;p17"/>
          <p:cNvCxnSpPr>
            <a:stCxn id="210" idx="4"/>
            <a:endCxn id="209" idx="0"/>
          </p:cNvCxnSpPr>
          <p:nvPr/>
        </p:nvCxnSpPr>
        <p:spPr>
          <a:xfrm>
            <a:off x="726725" y="3591626"/>
            <a:ext cx="0" cy="24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" name="Google Shape;217;p17"/>
          <p:cNvCxnSpPr>
            <a:stCxn id="209" idx="4"/>
            <a:endCxn id="211" idx="0"/>
          </p:cNvCxnSpPr>
          <p:nvPr/>
        </p:nvCxnSpPr>
        <p:spPr>
          <a:xfrm>
            <a:off x="726725" y="4137194"/>
            <a:ext cx="0" cy="21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8" name="Google Shape;218;p17"/>
          <p:cNvSpPr/>
          <p:nvPr/>
        </p:nvSpPr>
        <p:spPr>
          <a:xfrm>
            <a:off x="576425" y="1230624"/>
            <a:ext cx="300600" cy="300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9" name="Google Shape;219;p17"/>
          <p:cNvCxnSpPr>
            <a:stCxn id="218" idx="4"/>
          </p:cNvCxnSpPr>
          <p:nvPr/>
        </p:nvCxnSpPr>
        <p:spPr>
          <a:xfrm>
            <a:off x="726725" y="1531224"/>
            <a:ext cx="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0" name="Google Shape;220;p17"/>
          <p:cNvSpPr/>
          <p:nvPr/>
        </p:nvSpPr>
        <p:spPr>
          <a:xfrm>
            <a:off x="2411895" y="1068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1154800" y="118082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S1</a:t>
            </a:r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1154800" y="1669644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S2</a:t>
            </a:r>
            <a:endParaRPr/>
          </a:p>
        </p:txBody>
      </p:sp>
      <p:sp>
        <p:nvSpPr>
          <p:cNvPr id="223" name="Google Shape;223;p17"/>
          <p:cNvSpPr txBox="1"/>
          <p:nvPr/>
        </p:nvSpPr>
        <p:spPr>
          <a:xfrm>
            <a:off x="1154800" y="2169462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S3</a:t>
            </a:r>
            <a:endParaRPr/>
          </a:p>
        </p:txBody>
      </p:sp>
      <p:sp>
        <p:nvSpPr>
          <p:cNvPr id="224" name="Google Shape;224;p17"/>
          <p:cNvSpPr txBox="1"/>
          <p:nvPr/>
        </p:nvSpPr>
        <p:spPr>
          <a:xfrm>
            <a:off x="1154800" y="270098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S4</a:t>
            </a:r>
            <a:endParaRPr/>
          </a:p>
        </p:txBody>
      </p:sp>
      <p:sp>
        <p:nvSpPr>
          <p:cNvPr id="225" name="Google Shape;225;p17"/>
          <p:cNvSpPr txBox="1"/>
          <p:nvPr/>
        </p:nvSpPr>
        <p:spPr>
          <a:xfrm>
            <a:off x="1154800" y="324610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S5</a:t>
            </a:r>
            <a:endParaRPr/>
          </a:p>
        </p:txBody>
      </p:sp>
      <p:sp>
        <p:nvSpPr>
          <p:cNvPr id="226" name="Google Shape;226;p17"/>
          <p:cNvSpPr txBox="1"/>
          <p:nvPr/>
        </p:nvSpPr>
        <p:spPr>
          <a:xfrm>
            <a:off x="1154800" y="37667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S6</a:t>
            </a:r>
            <a:endParaRPr/>
          </a:p>
        </p:txBody>
      </p:sp>
      <p:sp>
        <p:nvSpPr>
          <p:cNvPr id="227" name="Google Shape;227;p17"/>
          <p:cNvSpPr txBox="1"/>
          <p:nvPr/>
        </p:nvSpPr>
        <p:spPr>
          <a:xfrm>
            <a:off x="1154800" y="42768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S7</a:t>
            </a:r>
            <a:endParaRPr/>
          </a:p>
        </p:txBody>
      </p:sp>
      <p:sp>
        <p:nvSpPr>
          <p:cNvPr id="228" name="Google Shape;228;p17"/>
          <p:cNvSpPr/>
          <p:nvPr/>
        </p:nvSpPr>
        <p:spPr>
          <a:xfrm>
            <a:off x="1989345" y="125430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7"/>
          <p:cNvSpPr/>
          <p:nvPr/>
        </p:nvSpPr>
        <p:spPr>
          <a:xfrm>
            <a:off x="2698483" y="12374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7"/>
          <p:cNvSpPr/>
          <p:nvPr/>
        </p:nvSpPr>
        <p:spPr>
          <a:xfrm>
            <a:off x="2388670" y="14219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7"/>
          <p:cNvSpPr/>
          <p:nvPr/>
        </p:nvSpPr>
        <p:spPr>
          <a:xfrm>
            <a:off x="2118920" y="16895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7"/>
          <p:cNvSpPr/>
          <p:nvPr/>
        </p:nvSpPr>
        <p:spPr>
          <a:xfrm>
            <a:off x="2377545" y="1826225"/>
            <a:ext cx="178800" cy="178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7"/>
          <p:cNvSpPr/>
          <p:nvPr/>
        </p:nvSpPr>
        <p:spPr>
          <a:xfrm>
            <a:off x="2188295" y="232071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7"/>
          <p:cNvSpPr/>
          <p:nvPr/>
        </p:nvSpPr>
        <p:spPr>
          <a:xfrm>
            <a:off x="2188295" y="439280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7"/>
          <p:cNvSpPr/>
          <p:nvPr/>
        </p:nvSpPr>
        <p:spPr>
          <a:xfrm>
            <a:off x="2588932" y="228530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7"/>
          <p:cNvSpPr/>
          <p:nvPr/>
        </p:nvSpPr>
        <p:spPr>
          <a:xfrm>
            <a:off x="2464982" y="4400075"/>
            <a:ext cx="178800" cy="1788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7"/>
          <p:cNvSpPr/>
          <p:nvPr/>
        </p:nvSpPr>
        <p:spPr>
          <a:xfrm>
            <a:off x="2153570" y="2800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7"/>
          <p:cNvSpPr/>
          <p:nvPr/>
        </p:nvSpPr>
        <p:spPr>
          <a:xfrm>
            <a:off x="2446670" y="282362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9" name="Google Shape;239;p17"/>
          <p:cNvCxnSpPr>
            <a:stCxn id="220" idx="2"/>
            <a:endCxn id="228" idx="7"/>
          </p:cNvCxnSpPr>
          <p:nvPr/>
        </p:nvCxnSpPr>
        <p:spPr>
          <a:xfrm flipH="1">
            <a:off x="2141895" y="1158275"/>
            <a:ext cx="270000" cy="12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" name="Google Shape;240;p17"/>
          <p:cNvCxnSpPr>
            <a:stCxn id="220" idx="4"/>
            <a:endCxn id="230" idx="0"/>
          </p:cNvCxnSpPr>
          <p:nvPr/>
        </p:nvCxnSpPr>
        <p:spPr>
          <a:xfrm flipH="1">
            <a:off x="2478195" y="1247675"/>
            <a:ext cx="23100" cy="17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" name="Google Shape;241;p17"/>
          <p:cNvCxnSpPr>
            <a:stCxn id="229" idx="2"/>
            <a:endCxn id="230" idx="6"/>
          </p:cNvCxnSpPr>
          <p:nvPr/>
        </p:nvCxnSpPr>
        <p:spPr>
          <a:xfrm flipH="1">
            <a:off x="2567383" y="1326862"/>
            <a:ext cx="131100" cy="18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2" name="Google Shape;242;p17"/>
          <p:cNvCxnSpPr>
            <a:stCxn id="220" idx="3"/>
            <a:endCxn id="231" idx="0"/>
          </p:cNvCxnSpPr>
          <p:nvPr/>
        </p:nvCxnSpPr>
        <p:spPr>
          <a:xfrm flipH="1">
            <a:off x="2208279" y="1221490"/>
            <a:ext cx="229800" cy="46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3" name="Google Shape;243;p17"/>
          <p:cNvCxnSpPr>
            <a:stCxn id="230" idx="4"/>
            <a:endCxn id="232" idx="0"/>
          </p:cNvCxnSpPr>
          <p:nvPr/>
        </p:nvCxnSpPr>
        <p:spPr>
          <a:xfrm flipH="1">
            <a:off x="2466970" y="1600787"/>
            <a:ext cx="11100" cy="22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4" name="Google Shape;244;p17"/>
          <p:cNvCxnSpPr>
            <a:stCxn id="232" idx="4"/>
            <a:endCxn id="235" idx="0"/>
          </p:cNvCxnSpPr>
          <p:nvPr/>
        </p:nvCxnSpPr>
        <p:spPr>
          <a:xfrm>
            <a:off x="2466945" y="2005025"/>
            <a:ext cx="211500" cy="2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5" name="Google Shape;245;p17"/>
          <p:cNvCxnSpPr>
            <a:stCxn id="231" idx="4"/>
            <a:endCxn id="233" idx="0"/>
          </p:cNvCxnSpPr>
          <p:nvPr/>
        </p:nvCxnSpPr>
        <p:spPr>
          <a:xfrm>
            <a:off x="2208320" y="1868350"/>
            <a:ext cx="69300" cy="45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6" name="Google Shape;246;p17"/>
          <p:cNvCxnSpPr>
            <a:stCxn id="235" idx="2"/>
            <a:endCxn id="233" idx="6"/>
          </p:cNvCxnSpPr>
          <p:nvPr/>
        </p:nvCxnSpPr>
        <p:spPr>
          <a:xfrm flipH="1">
            <a:off x="2367232" y="2374700"/>
            <a:ext cx="221700" cy="3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" name="Google Shape;247;p17"/>
          <p:cNvCxnSpPr>
            <a:stCxn id="235" idx="4"/>
            <a:endCxn id="238" idx="0"/>
          </p:cNvCxnSpPr>
          <p:nvPr/>
        </p:nvCxnSpPr>
        <p:spPr>
          <a:xfrm flipH="1">
            <a:off x="2536132" y="2464100"/>
            <a:ext cx="142200" cy="35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8" name="Google Shape;248;p17"/>
          <p:cNvCxnSpPr>
            <a:stCxn id="228" idx="3"/>
            <a:endCxn id="237" idx="2"/>
          </p:cNvCxnSpPr>
          <p:nvPr/>
        </p:nvCxnSpPr>
        <p:spPr>
          <a:xfrm flipH="1" rot="-5400000">
            <a:off x="1342779" y="2079665"/>
            <a:ext cx="1483500" cy="138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9" name="Google Shape;249;p17"/>
          <p:cNvCxnSpPr>
            <a:stCxn id="232" idx="6"/>
            <a:endCxn id="238" idx="6"/>
          </p:cNvCxnSpPr>
          <p:nvPr/>
        </p:nvCxnSpPr>
        <p:spPr>
          <a:xfrm>
            <a:off x="2556345" y="1915625"/>
            <a:ext cx="69000" cy="997500"/>
          </a:xfrm>
          <a:prstGeom prst="curvedConnector3">
            <a:avLst>
              <a:gd fmla="val 44529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0" name="Google Shape;250;p17"/>
          <p:cNvSpPr/>
          <p:nvPr/>
        </p:nvSpPr>
        <p:spPr>
          <a:xfrm>
            <a:off x="2620770" y="3304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7"/>
          <p:cNvSpPr/>
          <p:nvPr/>
        </p:nvSpPr>
        <p:spPr>
          <a:xfrm>
            <a:off x="2118920" y="38721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7"/>
          <p:cNvSpPr/>
          <p:nvPr/>
        </p:nvSpPr>
        <p:spPr>
          <a:xfrm>
            <a:off x="2438070" y="3999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7"/>
          <p:cNvSpPr/>
          <p:nvPr/>
        </p:nvSpPr>
        <p:spPr>
          <a:xfrm>
            <a:off x="2483295" y="37378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4" name="Google Shape;254;p17"/>
          <p:cNvCxnSpPr>
            <a:stCxn id="238" idx="4"/>
            <a:endCxn id="253" idx="0"/>
          </p:cNvCxnSpPr>
          <p:nvPr/>
        </p:nvCxnSpPr>
        <p:spPr>
          <a:xfrm>
            <a:off x="2536070" y="3002425"/>
            <a:ext cx="36600" cy="735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55" name="Google Shape;255;p17"/>
          <p:cNvSpPr/>
          <p:nvPr/>
        </p:nvSpPr>
        <p:spPr>
          <a:xfrm>
            <a:off x="2118920" y="33392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6" name="Google Shape;256;p17"/>
          <p:cNvCxnSpPr>
            <a:stCxn id="237" idx="4"/>
            <a:endCxn id="255" idx="0"/>
          </p:cNvCxnSpPr>
          <p:nvPr/>
        </p:nvCxnSpPr>
        <p:spPr>
          <a:xfrm flipH="1">
            <a:off x="2208170" y="2979775"/>
            <a:ext cx="34800" cy="35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" name="Google Shape;257;p17"/>
          <p:cNvCxnSpPr>
            <a:stCxn id="233" idx="2"/>
            <a:endCxn id="251" idx="2"/>
          </p:cNvCxnSpPr>
          <p:nvPr/>
        </p:nvCxnSpPr>
        <p:spPr>
          <a:xfrm flipH="1">
            <a:off x="2118995" y="2410112"/>
            <a:ext cx="69300" cy="1551600"/>
          </a:xfrm>
          <a:prstGeom prst="curvedConnector3">
            <a:avLst>
              <a:gd fmla="val 443723" name="adj1"/>
            </a:avLst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58" name="Google Shape;258;p17"/>
          <p:cNvCxnSpPr>
            <a:stCxn id="251" idx="4"/>
            <a:endCxn id="234" idx="0"/>
          </p:cNvCxnSpPr>
          <p:nvPr/>
        </p:nvCxnSpPr>
        <p:spPr>
          <a:xfrm>
            <a:off x="2208320" y="4050962"/>
            <a:ext cx="69300" cy="3417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59" name="Google Shape;259;p17"/>
          <p:cNvCxnSpPr>
            <a:stCxn id="252" idx="4"/>
            <a:endCxn id="236" idx="0"/>
          </p:cNvCxnSpPr>
          <p:nvPr/>
        </p:nvCxnSpPr>
        <p:spPr>
          <a:xfrm>
            <a:off x="2527470" y="4178775"/>
            <a:ext cx="27000" cy="22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0" name="Google Shape;260;p17"/>
          <p:cNvSpPr txBox="1"/>
          <p:nvPr/>
        </p:nvSpPr>
        <p:spPr>
          <a:xfrm>
            <a:off x="1672925" y="4662300"/>
            <a:ext cx="13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FF0000"/>
                </a:solidFill>
              </a:rPr>
              <a:t>causal graph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261" name="Google Shape;261;p17"/>
          <p:cNvCxnSpPr/>
          <p:nvPr/>
        </p:nvCxnSpPr>
        <p:spPr>
          <a:xfrm>
            <a:off x="311700" y="1635975"/>
            <a:ext cx="258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17"/>
          <p:cNvCxnSpPr/>
          <p:nvPr/>
        </p:nvCxnSpPr>
        <p:spPr>
          <a:xfrm>
            <a:off x="311700" y="2124792"/>
            <a:ext cx="258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17"/>
          <p:cNvCxnSpPr/>
          <p:nvPr/>
        </p:nvCxnSpPr>
        <p:spPr>
          <a:xfrm>
            <a:off x="311700" y="2624610"/>
            <a:ext cx="258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17"/>
          <p:cNvCxnSpPr/>
          <p:nvPr/>
        </p:nvCxnSpPr>
        <p:spPr>
          <a:xfrm>
            <a:off x="311700" y="3156135"/>
            <a:ext cx="258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17"/>
          <p:cNvCxnSpPr/>
          <p:nvPr/>
        </p:nvCxnSpPr>
        <p:spPr>
          <a:xfrm>
            <a:off x="311700" y="3701256"/>
            <a:ext cx="258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17"/>
          <p:cNvCxnSpPr/>
          <p:nvPr/>
        </p:nvCxnSpPr>
        <p:spPr>
          <a:xfrm>
            <a:off x="311700" y="4221875"/>
            <a:ext cx="258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67" name="Google Shape;267;p17"/>
          <p:cNvSpPr/>
          <p:nvPr/>
        </p:nvSpPr>
        <p:spPr>
          <a:xfrm>
            <a:off x="3018707" y="191562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7"/>
          <p:cNvSpPr/>
          <p:nvPr/>
        </p:nvSpPr>
        <p:spPr>
          <a:xfrm>
            <a:off x="3063570" y="360410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7"/>
          <p:cNvSpPr/>
          <p:nvPr/>
        </p:nvSpPr>
        <p:spPr>
          <a:xfrm>
            <a:off x="3101095" y="291312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0" name="Google Shape;270;p17"/>
          <p:cNvCxnSpPr>
            <a:stCxn id="229" idx="5"/>
            <a:endCxn id="267" idx="0"/>
          </p:cNvCxnSpPr>
          <p:nvPr/>
        </p:nvCxnSpPr>
        <p:spPr>
          <a:xfrm>
            <a:off x="2851098" y="1390077"/>
            <a:ext cx="257100" cy="52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1" name="Google Shape;271;p17"/>
          <p:cNvCxnSpPr>
            <a:stCxn id="267" idx="3"/>
            <a:endCxn id="235" idx="7"/>
          </p:cNvCxnSpPr>
          <p:nvPr/>
        </p:nvCxnSpPr>
        <p:spPr>
          <a:xfrm flipH="1">
            <a:off x="2741592" y="2068240"/>
            <a:ext cx="303300" cy="24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2" name="Google Shape;272;p17"/>
          <p:cNvCxnSpPr>
            <a:stCxn id="250" idx="7"/>
            <a:endCxn id="269" idx="3"/>
          </p:cNvCxnSpPr>
          <p:nvPr/>
        </p:nvCxnSpPr>
        <p:spPr>
          <a:xfrm flipH="1" rot="10800000">
            <a:off x="2773385" y="3065859"/>
            <a:ext cx="354000" cy="26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3" name="Google Shape;273;p17"/>
          <p:cNvCxnSpPr>
            <a:stCxn id="269" idx="2"/>
            <a:endCxn id="238" idx="6"/>
          </p:cNvCxnSpPr>
          <p:nvPr/>
        </p:nvCxnSpPr>
        <p:spPr>
          <a:xfrm rot="10800000">
            <a:off x="2625595" y="2913125"/>
            <a:ext cx="475500" cy="894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74" name="Google Shape;274;p17"/>
          <p:cNvCxnSpPr>
            <a:stCxn id="269" idx="4"/>
            <a:endCxn id="268" idx="0"/>
          </p:cNvCxnSpPr>
          <p:nvPr/>
        </p:nvCxnSpPr>
        <p:spPr>
          <a:xfrm flipH="1">
            <a:off x="3152995" y="3091925"/>
            <a:ext cx="37500" cy="51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5" name="Google Shape;275;p17"/>
          <p:cNvCxnSpPr>
            <a:stCxn id="268" idx="2"/>
            <a:endCxn id="253" idx="6"/>
          </p:cNvCxnSpPr>
          <p:nvPr/>
        </p:nvCxnSpPr>
        <p:spPr>
          <a:xfrm flipH="1">
            <a:off x="2662170" y="3693500"/>
            <a:ext cx="401400" cy="13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6" name="Google Shape;276;p17"/>
          <p:cNvCxnSpPr/>
          <p:nvPr/>
        </p:nvCxnSpPr>
        <p:spPr>
          <a:xfrm>
            <a:off x="2556345" y="1915625"/>
            <a:ext cx="60600" cy="2173800"/>
          </a:xfrm>
          <a:prstGeom prst="curvedConnector3">
            <a:avLst>
              <a:gd fmla="val 808507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" name="Google Shape;277;p17"/>
          <p:cNvCxnSpPr/>
          <p:nvPr/>
        </p:nvCxnSpPr>
        <p:spPr>
          <a:xfrm rot="10800000">
            <a:off x="2893250" y="1079150"/>
            <a:ext cx="0" cy="357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Organized CSV (before)</a:t>
            </a:r>
            <a:endParaRPr/>
          </a:p>
        </p:txBody>
      </p:sp>
      <p:graphicFrame>
        <p:nvGraphicFramePr>
          <p:cNvPr id="283" name="Google Shape;283;p18"/>
          <p:cNvGraphicFramePr/>
          <p:nvPr/>
        </p:nvGraphicFramePr>
        <p:xfrm>
          <a:off x="3409596" y="15678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{1DD3C30C-06B7-461B-A279-907DD2700492}</a:tableStyleId>
              </a:tblPr>
              <a:tblGrid>
                <a:gridCol w="715750"/>
                <a:gridCol w="715750"/>
                <a:gridCol w="715750"/>
                <a:gridCol w="715750"/>
                <a:gridCol w="715750"/>
                <a:gridCol w="715750"/>
                <a:gridCol w="715750"/>
                <a:gridCol w="715750"/>
              </a:tblGrid>
              <a:tr h="25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wafer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 id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rgbClr val="FFFF00"/>
                          </a:solidFill>
                        </a:rPr>
                        <a:t>f1</a:t>
                      </a:r>
                      <a:endParaRPr b="1" sz="1300"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M1_f1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M2_f2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Q3_f1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Q3_f2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…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Q7_f1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TOOL1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7.3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XXX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23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…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22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1.6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XXX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45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0.4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30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0.2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24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W5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0.9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36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34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…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W97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3.7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30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23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W98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TOOL3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1.6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45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67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W99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TOOL3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0.5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64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83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W100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TOOL3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3.5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80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84" name="Google Shape;284;p18"/>
          <p:cNvGrpSpPr/>
          <p:nvPr/>
        </p:nvGrpSpPr>
        <p:grpSpPr>
          <a:xfrm>
            <a:off x="4957703" y="591750"/>
            <a:ext cx="3610886" cy="688620"/>
            <a:chOff x="4239615" y="0"/>
            <a:chExt cx="3610886" cy="688620"/>
          </a:xfrm>
        </p:grpSpPr>
        <p:grpSp>
          <p:nvGrpSpPr>
            <p:cNvPr id="285" name="Google Shape;285;p18"/>
            <p:cNvGrpSpPr/>
            <p:nvPr/>
          </p:nvGrpSpPr>
          <p:grpSpPr>
            <a:xfrm rot="-5400000">
              <a:off x="5893250" y="-1170588"/>
              <a:ext cx="300600" cy="3417817"/>
              <a:chOff x="576425" y="1230624"/>
              <a:chExt cx="300600" cy="3417817"/>
            </a:xfrm>
          </p:grpSpPr>
          <p:sp>
            <p:nvSpPr>
              <p:cNvPr id="286" name="Google Shape;286;p18"/>
              <p:cNvSpPr/>
              <p:nvPr/>
            </p:nvSpPr>
            <p:spPr>
              <a:xfrm>
                <a:off x="576425" y="1748124"/>
                <a:ext cx="300600" cy="300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18"/>
              <p:cNvSpPr/>
              <p:nvPr/>
            </p:nvSpPr>
            <p:spPr>
              <a:xfrm>
                <a:off x="576425" y="2744923"/>
                <a:ext cx="300600" cy="300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18"/>
              <p:cNvSpPr/>
              <p:nvPr/>
            </p:nvSpPr>
            <p:spPr>
              <a:xfrm>
                <a:off x="576425" y="3836594"/>
                <a:ext cx="300600" cy="300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18"/>
              <p:cNvSpPr/>
              <p:nvPr/>
            </p:nvSpPr>
            <p:spPr>
              <a:xfrm>
                <a:off x="576425" y="3291026"/>
                <a:ext cx="300600" cy="300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18"/>
              <p:cNvSpPr/>
              <p:nvPr/>
            </p:nvSpPr>
            <p:spPr>
              <a:xfrm>
                <a:off x="576425" y="4347841"/>
                <a:ext cx="300600" cy="300600"/>
              </a:xfrm>
              <a:prstGeom prst="ellipse">
                <a:avLst/>
              </a:prstGeom>
              <a:solidFill>
                <a:srgbClr val="9E9E9E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18"/>
              <p:cNvSpPr/>
              <p:nvPr/>
            </p:nvSpPr>
            <p:spPr>
              <a:xfrm>
                <a:off x="576425" y="2265487"/>
                <a:ext cx="300600" cy="300600"/>
              </a:xfrm>
              <a:prstGeom prst="ellipse">
                <a:avLst/>
              </a:prstGeom>
              <a:solidFill>
                <a:srgbClr val="9E9E9E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92" name="Google Shape;292;p18"/>
              <p:cNvCxnSpPr>
                <a:stCxn id="286" idx="4"/>
                <a:endCxn id="291" idx="0"/>
              </p:cNvCxnSpPr>
              <p:nvPr/>
            </p:nvCxnSpPr>
            <p:spPr>
              <a:xfrm rot="5400000">
                <a:off x="618275" y="2157174"/>
                <a:ext cx="216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93" name="Google Shape;293;p18"/>
              <p:cNvCxnSpPr>
                <a:stCxn id="291" idx="4"/>
                <a:endCxn id="287" idx="0"/>
              </p:cNvCxnSpPr>
              <p:nvPr/>
            </p:nvCxnSpPr>
            <p:spPr>
              <a:xfrm rot="5400000">
                <a:off x="637325" y="2655487"/>
                <a:ext cx="178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94" name="Google Shape;294;p18"/>
              <p:cNvCxnSpPr>
                <a:stCxn id="287" idx="4"/>
                <a:endCxn id="289" idx="0"/>
              </p:cNvCxnSpPr>
              <p:nvPr/>
            </p:nvCxnSpPr>
            <p:spPr>
              <a:xfrm rot="5400000">
                <a:off x="604025" y="3168223"/>
                <a:ext cx="245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95" name="Google Shape;295;p18"/>
              <p:cNvCxnSpPr>
                <a:stCxn id="289" idx="4"/>
                <a:endCxn id="288" idx="0"/>
              </p:cNvCxnSpPr>
              <p:nvPr/>
            </p:nvCxnSpPr>
            <p:spPr>
              <a:xfrm rot="5400000">
                <a:off x="604175" y="3714176"/>
                <a:ext cx="24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96" name="Google Shape;296;p18"/>
              <p:cNvCxnSpPr>
                <a:stCxn id="288" idx="4"/>
                <a:endCxn id="290" idx="0"/>
              </p:cNvCxnSpPr>
              <p:nvPr/>
            </p:nvCxnSpPr>
            <p:spPr>
              <a:xfrm rot="5400000">
                <a:off x="621425" y="4242494"/>
                <a:ext cx="210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297" name="Google Shape;297;p18"/>
              <p:cNvSpPr/>
              <p:nvPr/>
            </p:nvSpPr>
            <p:spPr>
              <a:xfrm>
                <a:off x="576425" y="1230624"/>
                <a:ext cx="300600" cy="300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98" name="Google Shape;298;p18"/>
              <p:cNvCxnSpPr>
                <a:stCxn id="297" idx="4"/>
              </p:cNvCxnSpPr>
              <p:nvPr/>
            </p:nvCxnSpPr>
            <p:spPr>
              <a:xfrm rot="5400000">
                <a:off x="618275" y="1639674"/>
                <a:ext cx="216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299" name="Google Shape;299;p18"/>
            <p:cNvSpPr txBox="1"/>
            <p:nvPr/>
          </p:nvSpPr>
          <p:spPr>
            <a:xfrm>
              <a:off x="4239615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M1</a:t>
              </a:r>
              <a:endParaRPr/>
            </a:p>
          </p:txBody>
        </p:sp>
        <p:sp>
          <p:nvSpPr>
            <p:cNvPr id="300" name="Google Shape;300;p18"/>
            <p:cNvSpPr txBox="1"/>
            <p:nvPr/>
          </p:nvSpPr>
          <p:spPr>
            <a:xfrm>
              <a:off x="4753949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M2</a:t>
              </a:r>
              <a:endParaRPr/>
            </a:p>
          </p:txBody>
        </p:sp>
        <p:sp>
          <p:nvSpPr>
            <p:cNvPr id="301" name="Google Shape;301;p18"/>
            <p:cNvSpPr txBox="1"/>
            <p:nvPr/>
          </p:nvSpPr>
          <p:spPr>
            <a:xfrm>
              <a:off x="5268876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Q3</a:t>
              </a:r>
              <a:endParaRPr/>
            </a:p>
          </p:txBody>
        </p:sp>
        <p:sp>
          <p:nvSpPr>
            <p:cNvPr id="302" name="Google Shape;302;p18"/>
            <p:cNvSpPr txBox="1"/>
            <p:nvPr/>
          </p:nvSpPr>
          <p:spPr>
            <a:xfrm>
              <a:off x="5742360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M4</a:t>
              </a:r>
              <a:endParaRPr/>
            </a:p>
          </p:txBody>
        </p:sp>
        <p:sp>
          <p:nvSpPr>
            <p:cNvPr id="303" name="Google Shape;303;p18"/>
            <p:cNvSpPr txBox="1"/>
            <p:nvPr/>
          </p:nvSpPr>
          <p:spPr>
            <a:xfrm>
              <a:off x="6298138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M5</a:t>
              </a:r>
              <a:endParaRPr/>
            </a:p>
          </p:txBody>
        </p:sp>
        <p:sp>
          <p:nvSpPr>
            <p:cNvPr id="304" name="Google Shape;304;p18"/>
            <p:cNvSpPr txBox="1"/>
            <p:nvPr/>
          </p:nvSpPr>
          <p:spPr>
            <a:xfrm>
              <a:off x="6843329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M6</a:t>
              </a:r>
              <a:endParaRPr/>
            </a:p>
          </p:txBody>
        </p:sp>
        <p:sp>
          <p:nvSpPr>
            <p:cNvPr id="305" name="Google Shape;305;p18"/>
            <p:cNvSpPr txBox="1"/>
            <p:nvPr/>
          </p:nvSpPr>
          <p:spPr>
            <a:xfrm>
              <a:off x="7350701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Q7</a:t>
              </a:r>
              <a:endParaRPr/>
            </a:p>
          </p:txBody>
        </p:sp>
      </p:grpSp>
      <p:sp>
        <p:nvSpPr>
          <p:cNvPr id="306" name="Google Shape;306;p18"/>
          <p:cNvSpPr/>
          <p:nvPr/>
        </p:nvSpPr>
        <p:spPr>
          <a:xfrm>
            <a:off x="1414475" y="1013575"/>
            <a:ext cx="1907400" cy="3676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8"/>
          <p:cNvSpPr/>
          <p:nvPr/>
        </p:nvSpPr>
        <p:spPr>
          <a:xfrm>
            <a:off x="576425" y="174812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8"/>
          <p:cNvSpPr/>
          <p:nvPr/>
        </p:nvSpPr>
        <p:spPr>
          <a:xfrm>
            <a:off x="576425" y="2744923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8"/>
          <p:cNvSpPr/>
          <p:nvPr/>
        </p:nvSpPr>
        <p:spPr>
          <a:xfrm>
            <a:off x="576425" y="383659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8"/>
          <p:cNvSpPr/>
          <p:nvPr/>
        </p:nvSpPr>
        <p:spPr>
          <a:xfrm>
            <a:off x="576425" y="3291026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8"/>
          <p:cNvSpPr/>
          <p:nvPr/>
        </p:nvSpPr>
        <p:spPr>
          <a:xfrm>
            <a:off x="576425" y="4347841"/>
            <a:ext cx="300600" cy="3006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8"/>
          <p:cNvSpPr/>
          <p:nvPr/>
        </p:nvSpPr>
        <p:spPr>
          <a:xfrm>
            <a:off x="576425" y="2265487"/>
            <a:ext cx="300600" cy="3006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3" name="Google Shape;313;p18"/>
          <p:cNvCxnSpPr>
            <a:stCxn id="307" idx="4"/>
            <a:endCxn id="312" idx="0"/>
          </p:cNvCxnSpPr>
          <p:nvPr/>
        </p:nvCxnSpPr>
        <p:spPr>
          <a:xfrm>
            <a:off x="726725" y="2048724"/>
            <a:ext cx="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" name="Google Shape;314;p18"/>
          <p:cNvCxnSpPr>
            <a:stCxn id="312" idx="4"/>
            <a:endCxn id="308" idx="0"/>
          </p:cNvCxnSpPr>
          <p:nvPr/>
        </p:nvCxnSpPr>
        <p:spPr>
          <a:xfrm>
            <a:off x="726725" y="2566087"/>
            <a:ext cx="0" cy="17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5" name="Google Shape;315;p18"/>
          <p:cNvCxnSpPr>
            <a:stCxn id="308" idx="4"/>
            <a:endCxn id="310" idx="0"/>
          </p:cNvCxnSpPr>
          <p:nvPr/>
        </p:nvCxnSpPr>
        <p:spPr>
          <a:xfrm>
            <a:off x="726725" y="3045523"/>
            <a:ext cx="0" cy="24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" name="Google Shape;316;p18"/>
          <p:cNvCxnSpPr>
            <a:stCxn id="310" idx="4"/>
            <a:endCxn id="309" idx="0"/>
          </p:cNvCxnSpPr>
          <p:nvPr/>
        </p:nvCxnSpPr>
        <p:spPr>
          <a:xfrm>
            <a:off x="726725" y="3591626"/>
            <a:ext cx="0" cy="24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" name="Google Shape;317;p18"/>
          <p:cNvCxnSpPr>
            <a:stCxn id="309" idx="4"/>
            <a:endCxn id="311" idx="0"/>
          </p:cNvCxnSpPr>
          <p:nvPr/>
        </p:nvCxnSpPr>
        <p:spPr>
          <a:xfrm>
            <a:off x="726725" y="4137194"/>
            <a:ext cx="0" cy="21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8" name="Google Shape;318;p18"/>
          <p:cNvSpPr/>
          <p:nvPr/>
        </p:nvSpPr>
        <p:spPr>
          <a:xfrm>
            <a:off x="576425" y="123062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9" name="Google Shape;319;p18"/>
          <p:cNvCxnSpPr>
            <a:stCxn id="318" idx="4"/>
          </p:cNvCxnSpPr>
          <p:nvPr/>
        </p:nvCxnSpPr>
        <p:spPr>
          <a:xfrm>
            <a:off x="726725" y="1531224"/>
            <a:ext cx="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0" name="Google Shape;320;p18"/>
          <p:cNvSpPr/>
          <p:nvPr/>
        </p:nvSpPr>
        <p:spPr>
          <a:xfrm>
            <a:off x="2411895" y="1068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8"/>
          <p:cNvSpPr txBox="1"/>
          <p:nvPr/>
        </p:nvSpPr>
        <p:spPr>
          <a:xfrm>
            <a:off x="1154800" y="118082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M1</a:t>
            </a:r>
            <a:endParaRPr/>
          </a:p>
        </p:txBody>
      </p:sp>
      <p:sp>
        <p:nvSpPr>
          <p:cNvPr id="322" name="Google Shape;322;p18"/>
          <p:cNvSpPr txBox="1"/>
          <p:nvPr/>
        </p:nvSpPr>
        <p:spPr>
          <a:xfrm>
            <a:off x="1154800" y="1669644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M2</a:t>
            </a:r>
            <a:endParaRPr/>
          </a:p>
        </p:txBody>
      </p:sp>
      <p:sp>
        <p:nvSpPr>
          <p:cNvPr id="323" name="Google Shape;323;p18"/>
          <p:cNvSpPr txBox="1"/>
          <p:nvPr/>
        </p:nvSpPr>
        <p:spPr>
          <a:xfrm>
            <a:off x="1154800" y="2169462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Q3</a:t>
            </a:r>
            <a:endParaRPr/>
          </a:p>
        </p:txBody>
      </p:sp>
      <p:sp>
        <p:nvSpPr>
          <p:cNvPr id="324" name="Google Shape;324;p18"/>
          <p:cNvSpPr txBox="1"/>
          <p:nvPr/>
        </p:nvSpPr>
        <p:spPr>
          <a:xfrm>
            <a:off x="1154800" y="270098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M4</a:t>
            </a:r>
            <a:endParaRPr/>
          </a:p>
        </p:txBody>
      </p:sp>
      <p:sp>
        <p:nvSpPr>
          <p:cNvPr id="325" name="Google Shape;325;p18"/>
          <p:cNvSpPr txBox="1"/>
          <p:nvPr/>
        </p:nvSpPr>
        <p:spPr>
          <a:xfrm>
            <a:off x="1154800" y="324610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M5</a:t>
            </a:r>
            <a:endParaRPr/>
          </a:p>
        </p:txBody>
      </p:sp>
      <p:sp>
        <p:nvSpPr>
          <p:cNvPr id="326" name="Google Shape;326;p18"/>
          <p:cNvSpPr txBox="1"/>
          <p:nvPr/>
        </p:nvSpPr>
        <p:spPr>
          <a:xfrm>
            <a:off x="1154800" y="37667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M6</a:t>
            </a:r>
            <a:endParaRPr/>
          </a:p>
        </p:txBody>
      </p:sp>
      <p:sp>
        <p:nvSpPr>
          <p:cNvPr id="327" name="Google Shape;327;p18"/>
          <p:cNvSpPr txBox="1"/>
          <p:nvPr/>
        </p:nvSpPr>
        <p:spPr>
          <a:xfrm>
            <a:off x="1154800" y="42768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Q7</a:t>
            </a:r>
            <a:endParaRPr/>
          </a:p>
        </p:txBody>
      </p:sp>
      <p:sp>
        <p:nvSpPr>
          <p:cNvPr id="328" name="Google Shape;328;p18"/>
          <p:cNvSpPr/>
          <p:nvPr/>
        </p:nvSpPr>
        <p:spPr>
          <a:xfrm>
            <a:off x="1989345" y="125430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8"/>
          <p:cNvSpPr/>
          <p:nvPr/>
        </p:nvSpPr>
        <p:spPr>
          <a:xfrm>
            <a:off x="2698483" y="12374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8"/>
          <p:cNvSpPr/>
          <p:nvPr/>
        </p:nvSpPr>
        <p:spPr>
          <a:xfrm>
            <a:off x="2388670" y="14219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8"/>
          <p:cNvSpPr/>
          <p:nvPr/>
        </p:nvSpPr>
        <p:spPr>
          <a:xfrm>
            <a:off x="2118920" y="16895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8"/>
          <p:cNvSpPr/>
          <p:nvPr/>
        </p:nvSpPr>
        <p:spPr>
          <a:xfrm>
            <a:off x="2377545" y="1826225"/>
            <a:ext cx="178800" cy="178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8"/>
          <p:cNvSpPr/>
          <p:nvPr/>
        </p:nvSpPr>
        <p:spPr>
          <a:xfrm>
            <a:off x="2188295" y="2320712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8"/>
          <p:cNvSpPr/>
          <p:nvPr/>
        </p:nvSpPr>
        <p:spPr>
          <a:xfrm>
            <a:off x="2188295" y="4392800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8"/>
          <p:cNvSpPr/>
          <p:nvPr/>
        </p:nvSpPr>
        <p:spPr>
          <a:xfrm>
            <a:off x="2588932" y="2285300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8"/>
          <p:cNvSpPr/>
          <p:nvPr/>
        </p:nvSpPr>
        <p:spPr>
          <a:xfrm>
            <a:off x="2464982" y="4400075"/>
            <a:ext cx="178800" cy="1788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8"/>
          <p:cNvSpPr/>
          <p:nvPr/>
        </p:nvSpPr>
        <p:spPr>
          <a:xfrm>
            <a:off x="2153570" y="2800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8"/>
          <p:cNvSpPr/>
          <p:nvPr/>
        </p:nvSpPr>
        <p:spPr>
          <a:xfrm>
            <a:off x="2446670" y="282362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9" name="Google Shape;339;p18"/>
          <p:cNvCxnSpPr>
            <a:stCxn id="320" idx="2"/>
            <a:endCxn id="328" idx="7"/>
          </p:cNvCxnSpPr>
          <p:nvPr/>
        </p:nvCxnSpPr>
        <p:spPr>
          <a:xfrm flipH="1">
            <a:off x="2141895" y="1158275"/>
            <a:ext cx="270000" cy="12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0" name="Google Shape;340;p18"/>
          <p:cNvCxnSpPr>
            <a:stCxn id="320" idx="4"/>
            <a:endCxn id="330" idx="0"/>
          </p:cNvCxnSpPr>
          <p:nvPr/>
        </p:nvCxnSpPr>
        <p:spPr>
          <a:xfrm flipH="1">
            <a:off x="2478195" y="1247675"/>
            <a:ext cx="23100" cy="17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1" name="Google Shape;341;p18"/>
          <p:cNvCxnSpPr>
            <a:stCxn id="329" idx="2"/>
            <a:endCxn id="330" idx="6"/>
          </p:cNvCxnSpPr>
          <p:nvPr/>
        </p:nvCxnSpPr>
        <p:spPr>
          <a:xfrm flipH="1">
            <a:off x="2567383" y="1326862"/>
            <a:ext cx="131100" cy="18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2" name="Google Shape;342;p18"/>
          <p:cNvCxnSpPr>
            <a:stCxn id="320" idx="3"/>
            <a:endCxn id="331" idx="0"/>
          </p:cNvCxnSpPr>
          <p:nvPr/>
        </p:nvCxnSpPr>
        <p:spPr>
          <a:xfrm flipH="1">
            <a:off x="2208279" y="1221490"/>
            <a:ext cx="229800" cy="46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3" name="Google Shape;343;p18"/>
          <p:cNvCxnSpPr>
            <a:stCxn id="330" idx="4"/>
            <a:endCxn id="332" idx="0"/>
          </p:cNvCxnSpPr>
          <p:nvPr/>
        </p:nvCxnSpPr>
        <p:spPr>
          <a:xfrm flipH="1">
            <a:off x="2466970" y="1600787"/>
            <a:ext cx="11100" cy="22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4" name="Google Shape;344;p18"/>
          <p:cNvCxnSpPr>
            <a:stCxn id="332" idx="4"/>
            <a:endCxn id="335" idx="0"/>
          </p:cNvCxnSpPr>
          <p:nvPr/>
        </p:nvCxnSpPr>
        <p:spPr>
          <a:xfrm>
            <a:off x="2466945" y="2005025"/>
            <a:ext cx="211500" cy="2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5" name="Google Shape;345;p18"/>
          <p:cNvCxnSpPr>
            <a:stCxn id="331" idx="4"/>
            <a:endCxn id="333" idx="0"/>
          </p:cNvCxnSpPr>
          <p:nvPr/>
        </p:nvCxnSpPr>
        <p:spPr>
          <a:xfrm>
            <a:off x="2208320" y="1868350"/>
            <a:ext cx="69300" cy="45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6" name="Google Shape;346;p18"/>
          <p:cNvCxnSpPr>
            <a:stCxn id="335" idx="2"/>
            <a:endCxn id="333" idx="6"/>
          </p:cNvCxnSpPr>
          <p:nvPr/>
        </p:nvCxnSpPr>
        <p:spPr>
          <a:xfrm flipH="1">
            <a:off x="2367232" y="2374700"/>
            <a:ext cx="221700" cy="354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347" name="Google Shape;347;p18"/>
          <p:cNvCxnSpPr>
            <a:stCxn id="335" idx="4"/>
            <a:endCxn id="338" idx="0"/>
          </p:cNvCxnSpPr>
          <p:nvPr/>
        </p:nvCxnSpPr>
        <p:spPr>
          <a:xfrm flipH="1">
            <a:off x="2536132" y="2464100"/>
            <a:ext cx="142200" cy="3594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348" name="Google Shape;348;p18"/>
          <p:cNvCxnSpPr>
            <a:stCxn id="328" idx="3"/>
            <a:endCxn id="337" idx="2"/>
          </p:cNvCxnSpPr>
          <p:nvPr/>
        </p:nvCxnSpPr>
        <p:spPr>
          <a:xfrm flipH="1" rot="-5400000">
            <a:off x="1342779" y="2079665"/>
            <a:ext cx="1483500" cy="138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9" name="Google Shape;349;p18"/>
          <p:cNvCxnSpPr>
            <a:stCxn id="332" idx="6"/>
            <a:endCxn id="338" idx="6"/>
          </p:cNvCxnSpPr>
          <p:nvPr/>
        </p:nvCxnSpPr>
        <p:spPr>
          <a:xfrm>
            <a:off x="2556345" y="1915625"/>
            <a:ext cx="69000" cy="997500"/>
          </a:xfrm>
          <a:prstGeom prst="curvedConnector3">
            <a:avLst>
              <a:gd fmla="val 44529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0" name="Google Shape;350;p18"/>
          <p:cNvSpPr/>
          <p:nvPr/>
        </p:nvSpPr>
        <p:spPr>
          <a:xfrm>
            <a:off x="2620770" y="3304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8"/>
          <p:cNvSpPr/>
          <p:nvPr/>
        </p:nvSpPr>
        <p:spPr>
          <a:xfrm>
            <a:off x="2118920" y="38721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8"/>
          <p:cNvSpPr/>
          <p:nvPr/>
        </p:nvSpPr>
        <p:spPr>
          <a:xfrm>
            <a:off x="2438070" y="3999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8"/>
          <p:cNvSpPr/>
          <p:nvPr/>
        </p:nvSpPr>
        <p:spPr>
          <a:xfrm>
            <a:off x="2483295" y="37378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4" name="Google Shape;354;p18"/>
          <p:cNvCxnSpPr>
            <a:stCxn id="338" idx="4"/>
            <a:endCxn id="353" idx="0"/>
          </p:cNvCxnSpPr>
          <p:nvPr/>
        </p:nvCxnSpPr>
        <p:spPr>
          <a:xfrm>
            <a:off x="2536070" y="3002425"/>
            <a:ext cx="36600" cy="73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5" name="Google Shape;355;p18"/>
          <p:cNvSpPr/>
          <p:nvPr/>
        </p:nvSpPr>
        <p:spPr>
          <a:xfrm>
            <a:off x="2118920" y="33392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6" name="Google Shape;356;p18"/>
          <p:cNvCxnSpPr>
            <a:stCxn id="337" idx="4"/>
            <a:endCxn id="355" idx="0"/>
          </p:cNvCxnSpPr>
          <p:nvPr/>
        </p:nvCxnSpPr>
        <p:spPr>
          <a:xfrm flipH="1">
            <a:off x="2208170" y="2979775"/>
            <a:ext cx="34800" cy="35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7" name="Google Shape;357;p18"/>
          <p:cNvCxnSpPr>
            <a:stCxn id="333" idx="2"/>
            <a:endCxn id="351" idx="2"/>
          </p:cNvCxnSpPr>
          <p:nvPr/>
        </p:nvCxnSpPr>
        <p:spPr>
          <a:xfrm flipH="1">
            <a:off x="2118995" y="2410112"/>
            <a:ext cx="69300" cy="1551600"/>
          </a:xfrm>
          <a:prstGeom prst="curvedConnector3">
            <a:avLst>
              <a:gd fmla="val 443723" name="adj1"/>
            </a:avLst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358" name="Google Shape;358;p18"/>
          <p:cNvCxnSpPr>
            <a:stCxn id="351" idx="4"/>
            <a:endCxn id="334" idx="0"/>
          </p:cNvCxnSpPr>
          <p:nvPr/>
        </p:nvCxnSpPr>
        <p:spPr>
          <a:xfrm>
            <a:off x="2208320" y="4050962"/>
            <a:ext cx="69300" cy="34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9" name="Google Shape;359;p18"/>
          <p:cNvCxnSpPr>
            <a:stCxn id="352" idx="4"/>
            <a:endCxn id="336" idx="0"/>
          </p:cNvCxnSpPr>
          <p:nvPr/>
        </p:nvCxnSpPr>
        <p:spPr>
          <a:xfrm>
            <a:off x="2527470" y="4178775"/>
            <a:ext cx="27000" cy="22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0" name="Google Shape;360;p18"/>
          <p:cNvSpPr txBox="1"/>
          <p:nvPr/>
        </p:nvSpPr>
        <p:spPr>
          <a:xfrm>
            <a:off x="1672925" y="4662300"/>
            <a:ext cx="13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FF0000"/>
                </a:solidFill>
              </a:rPr>
              <a:t>causal graph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361" name="Google Shape;361;p18"/>
          <p:cNvCxnSpPr/>
          <p:nvPr/>
        </p:nvCxnSpPr>
        <p:spPr>
          <a:xfrm>
            <a:off x="311700" y="1635975"/>
            <a:ext cx="258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18"/>
          <p:cNvCxnSpPr/>
          <p:nvPr/>
        </p:nvCxnSpPr>
        <p:spPr>
          <a:xfrm>
            <a:off x="311700" y="2124792"/>
            <a:ext cx="258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18"/>
          <p:cNvCxnSpPr/>
          <p:nvPr/>
        </p:nvCxnSpPr>
        <p:spPr>
          <a:xfrm>
            <a:off x="311700" y="2624610"/>
            <a:ext cx="258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64" name="Google Shape;364;p18"/>
          <p:cNvCxnSpPr/>
          <p:nvPr/>
        </p:nvCxnSpPr>
        <p:spPr>
          <a:xfrm>
            <a:off x="311700" y="3156135"/>
            <a:ext cx="258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65" name="Google Shape;365;p18"/>
          <p:cNvCxnSpPr/>
          <p:nvPr/>
        </p:nvCxnSpPr>
        <p:spPr>
          <a:xfrm>
            <a:off x="311700" y="3701256"/>
            <a:ext cx="258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66" name="Google Shape;366;p18"/>
          <p:cNvCxnSpPr/>
          <p:nvPr/>
        </p:nvCxnSpPr>
        <p:spPr>
          <a:xfrm>
            <a:off x="311700" y="4221875"/>
            <a:ext cx="258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67" name="Google Shape;367;p18"/>
          <p:cNvSpPr/>
          <p:nvPr/>
        </p:nvSpPr>
        <p:spPr>
          <a:xfrm>
            <a:off x="3018707" y="1915625"/>
            <a:ext cx="178800" cy="1788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8"/>
          <p:cNvSpPr/>
          <p:nvPr/>
        </p:nvSpPr>
        <p:spPr>
          <a:xfrm>
            <a:off x="3063570" y="3604100"/>
            <a:ext cx="178800" cy="1788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8"/>
          <p:cNvSpPr/>
          <p:nvPr/>
        </p:nvSpPr>
        <p:spPr>
          <a:xfrm>
            <a:off x="3101095" y="2913125"/>
            <a:ext cx="178800" cy="1788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0" name="Google Shape;370;p18"/>
          <p:cNvCxnSpPr>
            <a:stCxn id="329" idx="5"/>
            <a:endCxn id="367" idx="0"/>
          </p:cNvCxnSpPr>
          <p:nvPr/>
        </p:nvCxnSpPr>
        <p:spPr>
          <a:xfrm>
            <a:off x="2851098" y="1390077"/>
            <a:ext cx="257100" cy="52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1" name="Google Shape;371;p18"/>
          <p:cNvCxnSpPr>
            <a:stCxn id="367" idx="3"/>
            <a:endCxn id="335" idx="7"/>
          </p:cNvCxnSpPr>
          <p:nvPr/>
        </p:nvCxnSpPr>
        <p:spPr>
          <a:xfrm flipH="1">
            <a:off x="2741592" y="2068240"/>
            <a:ext cx="303300" cy="24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2" name="Google Shape;372;p18"/>
          <p:cNvCxnSpPr>
            <a:stCxn id="350" idx="7"/>
            <a:endCxn id="369" idx="3"/>
          </p:cNvCxnSpPr>
          <p:nvPr/>
        </p:nvCxnSpPr>
        <p:spPr>
          <a:xfrm flipH="1" rot="10800000">
            <a:off x="2773385" y="3065859"/>
            <a:ext cx="354000" cy="26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3" name="Google Shape;373;p18"/>
          <p:cNvCxnSpPr>
            <a:stCxn id="369" idx="2"/>
            <a:endCxn id="338" idx="6"/>
          </p:cNvCxnSpPr>
          <p:nvPr/>
        </p:nvCxnSpPr>
        <p:spPr>
          <a:xfrm rot="10800000">
            <a:off x="2625595" y="2913125"/>
            <a:ext cx="475500" cy="894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374" name="Google Shape;374;p18"/>
          <p:cNvCxnSpPr>
            <a:stCxn id="369" idx="4"/>
            <a:endCxn id="368" idx="0"/>
          </p:cNvCxnSpPr>
          <p:nvPr/>
        </p:nvCxnSpPr>
        <p:spPr>
          <a:xfrm flipH="1">
            <a:off x="3152995" y="3091925"/>
            <a:ext cx="37500" cy="51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5" name="Google Shape;375;p18"/>
          <p:cNvCxnSpPr>
            <a:stCxn id="368" idx="2"/>
            <a:endCxn id="353" idx="6"/>
          </p:cNvCxnSpPr>
          <p:nvPr/>
        </p:nvCxnSpPr>
        <p:spPr>
          <a:xfrm flipH="1">
            <a:off x="2662170" y="3693500"/>
            <a:ext cx="401400" cy="13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6" name="Google Shape;376;p18"/>
          <p:cNvCxnSpPr/>
          <p:nvPr/>
        </p:nvCxnSpPr>
        <p:spPr>
          <a:xfrm>
            <a:off x="2556345" y="1915625"/>
            <a:ext cx="60600" cy="2173800"/>
          </a:xfrm>
          <a:prstGeom prst="curvedConnector3">
            <a:avLst>
              <a:gd fmla="val 808507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7" name="Google Shape;377;p18"/>
          <p:cNvCxnSpPr/>
          <p:nvPr/>
        </p:nvCxnSpPr>
        <p:spPr>
          <a:xfrm rot="10800000">
            <a:off x="2893250" y="1079150"/>
            <a:ext cx="0" cy="357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Group POV</a:t>
            </a:r>
            <a:endParaRPr/>
          </a:p>
        </p:txBody>
      </p:sp>
      <p:sp>
        <p:nvSpPr>
          <p:cNvPr id="383" name="Google Shape;383;p19"/>
          <p:cNvSpPr txBox="1"/>
          <p:nvPr/>
        </p:nvSpPr>
        <p:spPr>
          <a:xfrm>
            <a:off x="6023700" y="52975"/>
            <a:ext cx="312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zh-TW" sz="1800" u="sng">
                <a:highlight>
                  <a:srgbClr val="FFE599"/>
                </a:highlight>
              </a:rPr>
              <a:t>Irregular Time-Series Data</a:t>
            </a:r>
            <a:endParaRPr b="1" i="1" sz="1800" u="sng">
              <a:highlight>
                <a:srgbClr val="FFE599"/>
              </a:highlight>
            </a:endParaRPr>
          </a:p>
        </p:txBody>
      </p:sp>
      <p:sp>
        <p:nvSpPr>
          <p:cNvPr id="384" name="Google Shape;384;p19"/>
          <p:cNvSpPr/>
          <p:nvPr/>
        </p:nvSpPr>
        <p:spPr>
          <a:xfrm>
            <a:off x="3409600" y="3177450"/>
            <a:ext cx="5734500" cy="1694100"/>
          </a:xfrm>
          <a:prstGeom prst="roundRect">
            <a:avLst>
              <a:gd fmla="val 10709" name="adj"/>
            </a:avLst>
          </a:prstGeom>
          <a:noFill/>
          <a:ln cap="flat" cmpd="sng" w="76200">
            <a:solidFill>
              <a:srgbClr val="4A86E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9"/>
          <p:cNvSpPr txBox="1"/>
          <p:nvPr/>
        </p:nvSpPr>
        <p:spPr>
          <a:xfrm>
            <a:off x="3367775" y="336109"/>
            <a:ext cx="440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chemeClr val="accent1"/>
                </a:solidFill>
              </a:rPr>
              <a:t>We also care about the </a:t>
            </a:r>
            <a:r>
              <a:rPr b="1" lang="zh-TW" sz="1600" u="sng">
                <a:solidFill>
                  <a:schemeClr val="accent1"/>
                </a:solidFill>
              </a:rPr>
              <a:t>ordering</a:t>
            </a:r>
            <a:endParaRPr b="1" sz="1600" u="sng">
              <a:solidFill>
                <a:schemeClr val="accent1"/>
              </a:solidFill>
            </a:endParaRPr>
          </a:p>
        </p:txBody>
      </p:sp>
      <p:sp>
        <p:nvSpPr>
          <p:cNvPr id="386" name="Google Shape;386;p19"/>
          <p:cNvSpPr/>
          <p:nvPr/>
        </p:nvSpPr>
        <p:spPr>
          <a:xfrm>
            <a:off x="1414475" y="1013575"/>
            <a:ext cx="1907400" cy="3676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9"/>
          <p:cNvSpPr/>
          <p:nvPr/>
        </p:nvSpPr>
        <p:spPr>
          <a:xfrm>
            <a:off x="576425" y="1748124"/>
            <a:ext cx="300600" cy="300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9"/>
          <p:cNvSpPr/>
          <p:nvPr/>
        </p:nvSpPr>
        <p:spPr>
          <a:xfrm>
            <a:off x="576425" y="2744923"/>
            <a:ext cx="300600" cy="300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9"/>
          <p:cNvSpPr/>
          <p:nvPr/>
        </p:nvSpPr>
        <p:spPr>
          <a:xfrm>
            <a:off x="576425" y="3836594"/>
            <a:ext cx="300600" cy="300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9"/>
          <p:cNvSpPr/>
          <p:nvPr/>
        </p:nvSpPr>
        <p:spPr>
          <a:xfrm>
            <a:off x="576425" y="3291026"/>
            <a:ext cx="300600" cy="300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9"/>
          <p:cNvSpPr/>
          <p:nvPr/>
        </p:nvSpPr>
        <p:spPr>
          <a:xfrm>
            <a:off x="576425" y="4347841"/>
            <a:ext cx="300600" cy="300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9"/>
          <p:cNvSpPr/>
          <p:nvPr/>
        </p:nvSpPr>
        <p:spPr>
          <a:xfrm>
            <a:off x="576425" y="2265487"/>
            <a:ext cx="300600" cy="300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3" name="Google Shape;393;p19"/>
          <p:cNvCxnSpPr>
            <a:stCxn id="387" idx="4"/>
            <a:endCxn id="392" idx="0"/>
          </p:cNvCxnSpPr>
          <p:nvPr/>
        </p:nvCxnSpPr>
        <p:spPr>
          <a:xfrm>
            <a:off x="726725" y="2048724"/>
            <a:ext cx="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4" name="Google Shape;394;p19"/>
          <p:cNvCxnSpPr>
            <a:stCxn id="392" idx="4"/>
            <a:endCxn id="388" idx="0"/>
          </p:cNvCxnSpPr>
          <p:nvPr/>
        </p:nvCxnSpPr>
        <p:spPr>
          <a:xfrm>
            <a:off x="726725" y="2566087"/>
            <a:ext cx="0" cy="17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5" name="Google Shape;395;p19"/>
          <p:cNvCxnSpPr>
            <a:stCxn id="388" idx="4"/>
            <a:endCxn id="390" idx="0"/>
          </p:cNvCxnSpPr>
          <p:nvPr/>
        </p:nvCxnSpPr>
        <p:spPr>
          <a:xfrm>
            <a:off x="726725" y="3045523"/>
            <a:ext cx="0" cy="24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6" name="Google Shape;396;p19"/>
          <p:cNvCxnSpPr>
            <a:stCxn id="390" idx="4"/>
            <a:endCxn id="389" idx="0"/>
          </p:cNvCxnSpPr>
          <p:nvPr/>
        </p:nvCxnSpPr>
        <p:spPr>
          <a:xfrm>
            <a:off x="726725" y="3591626"/>
            <a:ext cx="0" cy="24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7" name="Google Shape;397;p19"/>
          <p:cNvCxnSpPr>
            <a:stCxn id="389" idx="4"/>
            <a:endCxn id="391" idx="0"/>
          </p:cNvCxnSpPr>
          <p:nvPr/>
        </p:nvCxnSpPr>
        <p:spPr>
          <a:xfrm>
            <a:off x="726725" y="4137194"/>
            <a:ext cx="0" cy="21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8" name="Google Shape;398;p19"/>
          <p:cNvSpPr/>
          <p:nvPr/>
        </p:nvSpPr>
        <p:spPr>
          <a:xfrm>
            <a:off x="576425" y="1230624"/>
            <a:ext cx="300600" cy="300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9" name="Google Shape;399;p19"/>
          <p:cNvCxnSpPr>
            <a:stCxn id="398" idx="4"/>
          </p:cNvCxnSpPr>
          <p:nvPr/>
        </p:nvCxnSpPr>
        <p:spPr>
          <a:xfrm>
            <a:off x="726725" y="1531224"/>
            <a:ext cx="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0" name="Google Shape;400;p19"/>
          <p:cNvSpPr/>
          <p:nvPr/>
        </p:nvSpPr>
        <p:spPr>
          <a:xfrm>
            <a:off x="2411895" y="1068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9"/>
          <p:cNvSpPr txBox="1"/>
          <p:nvPr/>
        </p:nvSpPr>
        <p:spPr>
          <a:xfrm>
            <a:off x="1154800" y="118082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S1</a:t>
            </a:r>
            <a:endParaRPr/>
          </a:p>
        </p:txBody>
      </p:sp>
      <p:sp>
        <p:nvSpPr>
          <p:cNvPr id="402" name="Google Shape;402;p19"/>
          <p:cNvSpPr txBox="1"/>
          <p:nvPr/>
        </p:nvSpPr>
        <p:spPr>
          <a:xfrm>
            <a:off x="1154800" y="1669644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S2</a:t>
            </a:r>
            <a:endParaRPr/>
          </a:p>
        </p:txBody>
      </p:sp>
      <p:sp>
        <p:nvSpPr>
          <p:cNvPr id="403" name="Google Shape;403;p19"/>
          <p:cNvSpPr txBox="1"/>
          <p:nvPr/>
        </p:nvSpPr>
        <p:spPr>
          <a:xfrm>
            <a:off x="1154800" y="2169462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S3</a:t>
            </a:r>
            <a:endParaRPr/>
          </a:p>
        </p:txBody>
      </p:sp>
      <p:sp>
        <p:nvSpPr>
          <p:cNvPr id="404" name="Google Shape;404;p19"/>
          <p:cNvSpPr txBox="1"/>
          <p:nvPr/>
        </p:nvSpPr>
        <p:spPr>
          <a:xfrm>
            <a:off x="1154800" y="270098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S4</a:t>
            </a:r>
            <a:endParaRPr/>
          </a:p>
        </p:txBody>
      </p:sp>
      <p:sp>
        <p:nvSpPr>
          <p:cNvPr id="405" name="Google Shape;405;p19"/>
          <p:cNvSpPr txBox="1"/>
          <p:nvPr/>
        </p:nvSpPr>
        <p:spPr>
          <a:xfrm>
            <a:off x="1154800" y="324610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S5</a:t>
            </a:r>
            <a:endParaRPr/>
          </a:p>
        </p:txBody>
      </p:sp>
      <p:sp>
        <p:nvSpPr>
          <p:cNvPr id="406" name="Google Shape;406;p19"/>
          <p:cNvSpPr txBox="1"/>
          <p:nvPr/>
        </p:nvSpPr>
        <p:spPr>
          <a:xfrm>
            <a:off x="1154800" y="37667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S6</a:t>
            </a:r>
            <a:endParaRPr/>
          </a:p>
        </p:txBody>
      </p:sp>
      <p:sp>
        <p:nvSpPr>
          <p:cNvPr id="407" name="Google Shape;407;p19"/>
          <p:cNvSpPr txBox="1"/>
          <p:nvPr/>
        </p:nvSpPr>
        <p:spPr>
          <a:xfrm>
            <a:off x="1154800" y="42768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S7</a:t>
            </a:r>
            <a:endParaRPr/>
          </a:p>
        </p:txBody>
      </p:sp>
      <p:sp>
        <p:nvSpPr>
          <p:cNvPr id="408" name="Google Shape;408;p19"/>
          <p:cNvSpPr/>
          <p:nvPr/>
        </p:nvSpPr>
        <p:spPr>
          <a:xfrm>
            <a:off x="1989345" y="125430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9"/>
          <p:cNvSpPr/>
          <p:nvPr/>
        </p:nvSpPr>
        <p:spPr>
          <a:xfrm>
            <a:off x="2698483" y="12374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9"/>
          <p:cNvSpPr/>
          <p:nvPr/>
        </p:nvSpPr>
        <p:spPr>
          <a:xfrm>
            <a:off x="2388670" y="14219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9"/>
          <p:cNvSpPr/>
          <p:nvPr/>
        </p:nvSpPr>
        <p:spPr>
          <a:xfrm>
            <a:off x="2118920" y="16895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9"/>
          <p:cNvSpPr/>
          <p:nvPr/>
        </p:nvSpPr>
        <p:spPr>
          <a:xfrm>
            <a:off x="2377545" y="1826225"/>
            <a:ext cx="178800" cy="178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9"/>
          <p:cNvSpPr/>
          <p:nvPr/>
        </p:nvSpPr>
        <p:spPr>
          <a:xfrm>
            <a:off x="2188295" y="232071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9"/>
          <p:cNvSpPr/>
          <p:nvPr/>
        </p:nvSpPr>
        <p:spPr>
          <a:xfrm>
            <a:off x="2188295" y="439280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9"/>
          <p:cNvSpPr/>
          <p:nvPr/>
        </p:nvSpPr>
        <p:spPr>
          <a:xfrm>
            <a:off x="2588932" y="228530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9"/>
          <p:cNvSpPr/>
          <p:nvPr/>
        </p:nvSpPr>
        <p:spPr>
          <a:xfrm>
            <a:off x="2464982" y="4400075"/>
            <a:ext cx="178800" cy="1788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9"/>
          <p:cNvSpPr/>
          <p:nvPr/>
        </p:nvSpPr>
        <p:spPr>
          <a:xfrm>
            <a:off x="2153570" y="2800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9"/>
          <p:cNvSpPr/>
          <p:nvPr/>
        </p:nvSpPr>
        <p:spPr>
          <a:xfrm>
            <a:off x="2446670" y="282362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9" name="Google Shape;419;p19"/>
          <p:cNvCxnSpPr>
            <a:stCxn id="400" idx="2"/>
            <a:endCxn id="408" idx="7"/>
          </p:cNvCxnSpPr>
          <p:nvPr/>
        </p:nvCxnSpPr>
        <p:spPr>
          <a:xfrm flipH="1">
            <a:off x="2141895" y="1158275"/>
            <a:ext cx="270000" cy="12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0" name="Google Shape;420;p19"/>
          <p:cNvCxnSpPr>
            <a:stCxn id="400" idx="4"/>
            <a:endCxn id="410" idx="0"/>
          </p:cNvCxnSpPr>
          <p:nvPr/>
        </p:nvCxnSpPr>
        <p:spPr>
          <a:xfrm flipH="1">
            <a:off x="2478195" y="1247675"/>
            <a:ext cx="23100" cy="17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1" name="Google Shape;421;p19"/>
          <p:cNvCxnSpPr>
            <a:stCxn id="409" idx="2"/>
            <a:endCxn id="410" idx="6"/>
          </p:cNvCxnSpPr>
          <p:nvPr/>
        </p:nvCxnSpPr>
        <p:spPr>
          <a:xfrm flipH="1">
            <a:off x="2567383" y="1326862"/>
            <a:ext cx="131100" cy="18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2" name="Google Shape;422;p19"/>
          <p:cNvCxnSpPr>
            <a:stCxn id="400" idx="3"/>
            <a:endCxn id="411" idx="0"/>
          </p:cNvCxnSpPr>
          <p:nvPr/>
        </p:nvCxnSpPr>
        <p:spPr>
          <a:xfrm flipH="1">
            <a:off x="2208279" y="1221490"/>
            <a:ext cx="229800" cy="46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3" name="Google Shape;423;p19"/>
          <p:cNvCxnSpPr>
            <a:stCxn id="410" idx="4"/>
            <a:endCxn id="412" idx="0"/>
          </p:cNvCxnSpPr>
          <p:nvPr/>
        </p:nvCxnSpPr>
        <p:spPr>
          <a:xfrm flipH="1">
            <a:off x="2466970" y="1600787"/>
            <a:ext cx="11100" cy="22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4" name="Google Shape;424;p19"/>
          <p:cNvCxnSpPr>
            <a:stCxn id="412" idx="4"/>
            <a:endCxn id="415" idx="0"/>
          </p:cNvCxnSpPr>
          <p:nvPr/>
        </p:nvCxnSpPr>
        <p:spPr>
          <a:xfrm>
            <a:off x="2466945" y="2005025"/>
            <a:ext cx="211500" cy="2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5" name="Google Shape;425;p19"/>
          <p:cNvCxnSpPr>
            <a:stCxn id="411" idx="4"/>
            <a:endCxn id="413" idx="0"/>
          </p:cNvCxnSpPr>
          <p:nvPr/>
        </p:nvCxnSpPr>
        <p:spPr>
          <a:xfrm>
            <a:off x="2208320" y="1868350"/>
            <a:ext cx="69300" cy="45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6" name="Google Shape;426;p19"/>
          <p:cNvCxnSpPr>
            <a:stCxn id="415" idx="2"/>
            <a:endCxn id="413" idx="6"/>
          </p:cNvCxnSpPr>
          <p:nvPr/>
        </p:nvCxnSpPr>
        <p:spPr>
          <a:xfrm flipH="1">
            <a:off x="2367232" y="2374700"/>
            <a:ext cx="221700" cy="3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7" name="Google Shape;427;p19"/>
          <p:cNvCxnSpPr>
            <a:stCxn id="415" idx="4"/>
            <a:endCxn id="418" idx="0"/>
          </p:cNvCxnSpPr>
          <p:nvPr/>
        </p:nvCxnSpPr>
        <p:spPr>
          <a:xfrm flipH="1">
            <a:off x="2536132" y="2464100"/>
            <a:ext cx="142200" cy="35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8" name="Google Shape;428;p19"/>
          <p:cNvCxnSpPr>
            <a:stCxn id="408" idx="3"/>
            <a:endCxn id="417" idx="2"/>
          </p:cNvCxnSpPr>
          <p:nvPr/>
        </p:nvCxnSpPr>
        <p:spPr>
          <a:xfrm flipH="1" rot="-5400000">
            <a:off x="1342779" y="2079665"/>
            <a:ext cx="1483500" cy="138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9" name="Google Shape;429;p19"/>
          <p:cNvCxnSpPr>
            <a:stCxn id="412" idx="6"/>
            <a:endCxn id="418" idx="6"/>
          </p:cNvCxnSpPr>
          <p:nvPr/>
        </p:nvCxnSpPr>
        <p:spPr>
          <a:xfrm>
            <a:off x="2556345" y="1915625"/>
            <a:ext cx="69000" cy="997500"/>
          </a:xfrm>
          <a:prstGeom prst="curvedConnector3">
            <a:avLst>
              <a:gd fmla="val 44529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0" name="Google Shape;430;p19"/>
          <p:cNvSpPr/>
          <p:nvPr/>
        </p:nvSpPr>
        <p:spPr>
          <a:xfrm>
            <a:off x="2620770" y="3304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9"/>
          <p:cNvSpPr/>
          <p:nvPr/>
        </p:nvSpPr>
        <p:spPr>
          <a:xfrm>
            <a:off x="2118920" y="38721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9"/>
          <p:cNvSpPr/>
          <p:nvPr/>
        </p:nvSpPr>
        <p:spPr>
          <a:xfrm>
            <a:off x="2438070" y="3999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9"/>
          <p:cNvSpPr/>
          <p:nvPr/>
        </p:nvSpPr>
        <p:spPr>
          <a:xfrm>
            <a:off x="2483295" y="37378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4" name="Google Shape;434;p19"/>
          <p:cNvCxnSpPr>
            <a:stCxn id="418" idx="4"/>
            <a:endCxn id="433" idx="0"/>
          </p:cNvCxnSpPr>
          <p:nvPr/>
        </p:nvCxnSpPr>
        <p:spPr>
          <a:xfrm>
            <a:off x="2536070" y="3002425"/>
            <a:ext cx="36600" cy="735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435" name="Google Shape;435;p19"/>
          <p:cNvSpPr/>
          <p:nvPr/>
        </p:nvSpPr>
        <p:spPr>
          <a:xfrm>
            <a:off x="2118920" y="33392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6" name="Google Shape;436;p19"/>
          <p:cNvCxnSpPr>
            <a:stCxn id="417" idx="4"/>
            <a:endCxn id="435" idx="0"/>
          </p:cNvCxnSpPr>
          <p:nvPr/>
        </p:nvCxnSpPr>
        <p:spPr>
          <a:xfrm flipH="1">
            <a:off x="2208170" y="2979775"/>
            <a:ext cx="34800" cy="35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7" name="Google Shape;437;p19"/>
          <p:cNvCxnSpPr>
            <a:stCxn id="413" idx="2"/>
            <a:endCxn id="431" idx="2"/>
          </p:cNvCxnSpPr>
          <p:nvPr/>
        </p:nvCxnSpPr>
        <p:spPr>
          <a:xfrm flipH="1">
            <a:off x="2118995" y="2410112"/>
            <a:ext cx="69300" cy="1551600"/>
          </a:xfrm>
          <a:prstGeom prst="curvedConnector3">
            <a:avLst>
              <a:gd fmla="val 443723" name="adj1"/>
            </a:avLst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438" name="Google Shape;438;p19"/>
          <p:cNvCxnSpPr>
            <a:stCxn id="431" idx="4"/>
            <a:endCxn id="414" idx="0"/>
          </p:cNvCxnSpPr>
          <p:nvPr/>
        </p:nvCxnSpPr>
        <p:spPr>
          <a:xfrm>
            <a:off x="2208320" y="4050962"/>
            <a:ext cx="69300" cy="3417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439" name="Google Shape;439;p19"/>
          <p:cNvCxnSpPr>
            <a:stCxn id="432" idx="4"/>
            <a:endCxn id="416" idx="0"/>
          </p:cNvCxnSpPr>
          <p:nvPr/>
        </p:nvCxnSpPr>
        <p:spPr>
          <a:xfrm>
            <a:off x="2527470" y="4178775"/>
            <a:ext cx="27000" cy="22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0" name="Google Shape;440;p19"/>
          <p:cNvSpPr txBox="1"/>
          <p:nvPr/>
        </p:nvSpPr>
        <p:spPr>
          <a:xfrm>
            <a:off x="1672925" y="4662300"/>
            <a:ext cx="13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FF0000"/>
                </a:solidFill>
              </a:rPr>
              <a:t>causal graph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441" name="Google Shape;441;p19"/>
          <p:cNvCxnSpPr/>
          <p:nvPr/>
        </p:nvCxnSpPr>
        <p:spPr>
          <a:xfrm>
            <a:off x="311700" y="1635975"/>
            <a:ext cx="258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19"/>
          <p:cNvCxnSpPr/>
          <p:nvPr/>
        </p:nvCxnSpPr>
        <p:spPr>
          <a:xfrm>
            <a:off x="311700" y="2124792"/>
            <a:ext cx="258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19"/>
          <p:cNvCxnSpPr/>
          <p:nvPr/>
        </p:nvCxnSpPr>
        <p:spPr>
          <a:xfrm>
            <a:off x="311700" y="2624610"/>
            <a:ext cx="258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44" name="Google Shape;444;p19"/>
          <p:cNvCxnSpPr/>
          <p:nvPr/>
        </p:nvCxnSpPr>
        <p:spPr>
          <a:xfrm>
            <a:off x="311700" y="3156135"/>
            <a:ext cx="258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45" name="Google Shape;445;p19"/>
          <p:cNvCxnSpPr/>
          <p:nvPr/>
        </p:nvCxnSpPr>
        <p:spPr>
          <a:xfrm>
            <a:off x="311700" y="3701256"/>
            <a:ext cx="258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46" name="Google Shape;446;p19"/>
          <p:cNvCxnSpPr/>
          <p:nvPr/>
        </p:nvCxnSpPr>
        <p:spPr>
          <a:xfrm>
            <a:off x="311700" y="4221875"/>
            <a:ext cx="258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47" name="Google Shape;447;p19"/>
          <p:cNvSpPr/>
          <p:nvPr/>
        </p:nvSpPr>
        <p:spPr>
          <a:xfrm>
            <a:off x="3018707" y="191562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9"/>
          <p:cNvSpPr/>
          <p:nvPr/>
        </p:nvSpPr>
        <p:spPr>
          <a:xfrm>
            <a:off x="3063570" y="360410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9"/>
          <p:cNvSpPr/>
          <p:nvPr/>
        </p:nvSpPr>
        <p:spPr>
          <a:xfrm>
            <a:off x="3101095" y="291312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0" name="Google Shape;450;p19"/>
          <p:cNvCxnSpPr>
            <a:stCxn id="409" idx="5"/>
            <a:endCxn id="447" idx="0"/>
          </p:cNvCxnSpPr>
          <p:nvPr/>
        </p:nvCxnSpPr>
        <p:spPr>
          <a:xfrm>
            <a:off x="2851098" y="1390077"/>
            <a:ext cx="257100" cy="52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1" name="Google Shape;451;p19"/>
          <p:cNvCxnSpPr>
            <a:stCxn id="447" idx="3"/>
            <a:endCxn id="415" idx="7"/>
          </p:cNvCxnSpPr>
          <p:nvPr/>
        </p:nvCxnSpPr>
        <p:spPr>
          <a:xfrm flipH="1">
            <a:off x="2741592" y="2068240"/>
            <a:ext cx="303300" cy="24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2" name="Google Shape;452;p19"/>
          <p:cNvCxnSpPr>
            <a:stCxn id="430" idx="7"/>
            <a:endCxn id="449" idx="3"/>
          </p:cNvCxnSpPr>
          <p:nvPr/>
        </p:nvCxnSpPr>
        <p:spPr>
          <a:xfrm flipH="1" rot="10800000">
            <a:off x="2773385" y="3065859"/>
            <a:ext cx="354000" cy="26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3" name="Google Shape;453;p19"/>
          <p:cNvCxnSpPr>
            <a:stCxn id="449" idx="2"/>
            <a:endCxn id="418" idx="6"/>
          </p:cNvCxnSpPr>
          <p:nvPr/>
        </p:nvCxnSpPr>
        <p:spPr>
          <a:xfrm rot="10800000">
            <a:off x="2625595" y="2913125"/>
            <a:ext cx="475500" cy="894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454" name="Google Shape;454;p19"/>
          <p:cNvCxnSpPr>
            <a:stCxn id="449" idx="4"/>
            <a:endCxn id="448" idx="0"/>
          </p:cNvCxnSpPr>
          <p:nvPr/>
        </p:nvCxnSpPr>
        <p:spPr>
          <a:xfrm flipH="1">
            <a:off x="3152995" y="3091925"/>
            <a:ext cx="37500" cy="51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5" name="Google Shape;455;p19"/>
          <p:cNvCxnSpPr>
            <a:stCxn id="448" idx="2"/>
            <a:endCxn id="433" idx="6"/>
          </p:cNvCxnSpPr>
          <p:nvPr/>
        </p:nvCxnSpPr>
        <p:spPr>
          <a:xfrm flipH="1">
            <a:off x="2662170" y="3693500"/>
            <a:ext cx="401400" cy="13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6" name="Google Shape;456;p19"/>
          <p:cNvCxnSpPr/>
          <p:nvPr/>
        </p:nvCxnSpPr>
        <p:spPr>
          <a:xfrm>
            <a:off x="2556345" y="1915625"/>
            <a:ext cx="60600" cy="2173800"/>
          </a:xfrm>
          <a:prstGeom prst="curvedConnector3">
            <a:avLst>
              <a:gd fmla="val 808507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7" name="Google Shape;457;p19"/>
          <p:cNvCxnSpPr/>
          <p:nvPr/>
        </p:nvCxnSpPr>
        <p:spPr>
          <a:xfrm rot="10800000">
            <a:off x="2893250" y="1079150"/>
            <a:ext cx="0" cy="357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graphicFrame>
        <p:nvGraphicFramePr>
          <p:cNvPr id="458" name="Google Shape;458;p19"/>
          <p:cNvGraphicFramePr/>
          <p:nvPr/>
        </p:nvGraphicFramePr>
        <p:xfrm>
          <a:off x="3409596" y="15678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{1DD3C30C-06B7-461B-A279-907DD2700492}</a:tableStyleId>
              </a:tblPr>
              <a:tblGrid>
                <a:gridCol w="715750"/>
                <a:gridCol w="715750"/>
                <a:gridCol w="715750"/>
                <a:gridCol w="715750"/>
                <a:gridCol w="715750"/>
                <a:gridCol w="715750"/>
                <a:gridCol w="715750"/>
                <a:gridCol w="715750"/>
              </a:tblGrid>
              <a:tr h="25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wafer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 id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rgbClr val="FFFF00"/>
                          </a:solidFill>
                        </a:rPr>
                        <a:t>f1</a:t>
                      </a:r>
                      <a:endParaRPr b="1" sz="1300">
                        <a:solidFill>
                          <a:srgbClr val="FFFF00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rgbClr val="FFFF00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rgbClr val="FFFF00"/>
                          </a:solidFill>
                        </a:rPr>
                        <a:t>(M)</a:t>
                      </a:r>
                      <a:endParaRPr b="1" sz="1300"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S1_f1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(M)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S2_f2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(M)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S3_f1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(Q)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S3_f2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(M)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…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S7_f1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(Q)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TOOL1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7.3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XXX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23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…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22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1.6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XXX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45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0.4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30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0.2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24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W5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0.9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36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34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…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W97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3.7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30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23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W98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TOOL3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1.6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45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67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W99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TOOL3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0.5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64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83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W100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TOOL3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3.5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80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459" name="Google Shape;459;p19"/>
          <p:cNvGrpSpPr/>
          <p:nvPr/>
        </p:nvGrpSpPr>
        <p:grpSpPr>
          <a:xfrm>
            <a:off x="4957703" y="591750"/>
            <a:ext cx="3610886" cy="688620"/>
            <a:chOff x="4239615" y="0"/>
            <a:chExt cx="3610886" cy="688620"/>
          </a:xfrm>
        </p:grpSpPr>
        <p:grpSp>
          <p:nvGrpSpPr>
            <p:cNvPr id="460" name="Google Shape;460;p19"/>
            <p:cNvGrpSpPr/>
            <p:nvPr/>
          </p:nvGrpSpPr>
          <p:grpSpPr>
            <a:xfrm rot="-5400000">
              <a:off x="5893250" y="-1170588"/>
              <a:ext cx="300600" cy="3417817"/>
              <a:chOff x="576425" y="1230624"/>
              <a:chExt cx="300600" cy="3417817"/>
            </a:xfrm>
          </p:grpSpPr>
          <p:sp>
            <p:nvSpPr>
              <p:cNvPr id="461" name="Google Shape;461;p19"/>
              <p:cNvSpPr/>
              <p:nvPr/>
            </p:nvSpPr>
            <p:spPr>
              <a:xfrm>
                <a:off x="576425" y="1748124"/>
                <a:ext cx="300600" cy="3006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19"/>
              <p:cNvSpPr/>
              <p:nvPr/>
            </p:nvSpPr>
            <p:spPr>
              <a:xfrm>
                <a:off x="576425" y="2744923"/>
                <a:ext cx="300600" cy="3006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" name="Google Shape;463;p19"/>
              <p:cNvSpPr/>
              <p:nvPr/>
            </p:nvSpPr>
            <p:spPr>
              <a:xfrm>
                <a:off x="576425" y="3836594"/>
                <a:ext cx="300600" cy="3006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19"/>
              <p:cNvSpPr/>
              <p:nvPr/>
            </p:nvSpPr>
            <p:spPr>
              <a:xfrm>
                <a:off x="576425" y="3291026"/>
                <a:ext cx="300600" cy="3006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19"/>
              <p:cNvSpPr/>
              <p:nvPr/>
            </p:nvSpPr>
            <p:spPr>
              <a:xfrm>
                <a:off x="576425" y="4347841"/>
                <a:ext cx="300600" cy="3006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19"/>
              <p:cNvSpPr/>
              <p:nvPr/>
            </p:nvSpPr>
            <p:spPr>
              <a:xfrm>
                <a:off x="576425" y="2265487"/>
                <a:ext cx="300600" cy="3006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67" name="Google Shape;467;p19"/>
              <p:cNvCxnSpPr>
                <a:stCxn id="461" idx="4"/>
                <a:endCxn id="466" idx="0"/>
              </p:cNvCxnSpPr>
              <p:nvPr/>
            </p:nvCxnSpPr>
            <p:spPr>
              <a:xfrm rot="5400000">
                <a:off x="618275" y="2157174"/>
                <a:ext cx="216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468" name="Google Shape;468;p19"/>
              <p:cNvCxnSpPr>
                <a:stCxn id="466" idx="4"/>
                <a:endCxn id="462" idx="0"/>
              </p:cNvCxnSpPr>
              <p:nvPr/>
            </p:nvCxnSpPr>
            <p:spPr>
              <a:xfrm rot="5400000">
                <a:off x="637325" y="2655487"/>
                <a:ext cx="178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469" name="Google Shape;469;p19"/>
              <p:cNvCxnSpPr>
                <a:stCxn id="462" idx="4"/>
                <a:endCxn id="464" idx="0"/>
              </p:cNvCxnSpPr>
              <p:nvPr/>
            </p:nvCxnSpPr>
            <p:spPr>
              <a:xfrm rot="5400000">
                <a:off x="604025" y="3168223"/>
                <a:ext cx="245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470" name="Google Shape;470;p19"/>
              <p:cNvCxnSpPr>
                <a:stCxn id="464" idx="4"/>
                <a:endCxn id="463" idx="0"/>
              </p:cNvCxnSpPr>
              <p:nvPr/>
            </p:nvCxnSpPr>
            <p:spPr>
              <a:xfrm rot="5400000">
                <a:off x="604175" y="3714176"/>
                <a:ext cx="24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471" name="Google Shape;471;p19"/>
              <p:cNvCxnSpPr>
                <a:stCxn id="463" idx="4"/>
                <a:endCxn id="465" idx="0"/>
              </p:cNvCxnSpPr>
              <p:nvPr/>
            </p:nvCxnSpPr>
            <p:spPr>
              <a:xfrm rot="5400000">
                <a:off x="621425" y="4242494"/>
                <a:ext cx="210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472" name="Google Shape;472;p19"/>
              <p:cNvSpPr/>
              <p:nvPr/>
            </p:nvSpPr>
            <p:spPr>
              <a:xfrm>
                <a:off x="576425" y="1230624"/>
                <a:ext cx="300600" cy="3006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73" name="Google Shape;473;p19"/>
              <p:cNvCxnSpPr>
                <a:stCxn id="472" idx="4"/>
              </p:cNvCxnSpPr>
              <p:nvPr/>
            </p:nvCxnSpPr>
            <p:spPr>
              <a:xfrm rot="5400000">
                <a:off x="618275" y="1639674"/>
                <a:ext cx="216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474" name="Google Shape;474;p19"/>
            <p:cNvSpPr txBox="1"/>
            <p:nvPr/>
          </p:nvSpPr>
          <p:spPr>
            <a:xfrm>
              <a:off x="4239615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S1</a:t>
              </a:r>
              <a:endParaRPr/>
            </a:p>
          </p:txBody>
        </p:sp>
        <p:sp>
          <p:nvSpPr>
            <p:cNvPr id="475" name="Google Shape;475;p19"/>
            <p:cNvSpPr txBox="1"/>
            <p:nvPr/>
          </p:nvSpPr>
          <p:spPr>
            <a:xfrm>
              <a:off x="4753949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S2</a:t>
              </a:r>
              <a:endParaRPr/>
            </a:p>
          </p:txBody>
        </p:sp>
        <p:sp>
          <p:nvSpPr>
            <p:cNvPr id="476" name="Google Shape;476;p19"/>
            <p:cNvSpPr txBox="1"/>
            <p:nvPr/>
          </p:nvSpPr>
          <p:spPr>
            <a:xfrm>
              <a:off x="5268876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S3</a:t>
              </a:r>
              <a:endParaRPr/>
            </a:p>
          </p:txBody>
        </p:sp>
        <p:sp>
          <p:nvSpPr>
            <p:cNvPr id="477" name="Google Shape;477;p19"/>
            <p:cNvSpPr txBox="1"/>
            <p:nvPr/>
          </p:nvSpPr>
          <p:spPr>
            <a:xfrm>
              <a:off x="5742360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S4</a:t>
              </a:r>
              <a:endParaRPr/>
            </a:p>
          </p:txBody>
        </p:sp>
        <p:sp>
          <p:nvSpPr>
            <p:cNvPr id="478" name="Google Shape;478;p19"/>
            <p:cNvSpPr txBox="1"/>
            <p:nvPr/>
          </p:nvSpPr>
          <p:spPr>
            <a:xfrm>
              <a:off x="6298138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S5</a:t>
              </a:r>
              <a:endParaRPr/>
            </a:p>
          </p:txBody>
        </p:sp>
        <p:sp>
          <p:nvSpPr>
            <p:cNvPr id="479" name="Google Shape;479;p19"/>
            <p:cNvSpPr txBox="1"/>
            <p:nvPr/>
          </p:nvSpPr>
          <p:spPr>
            <a:xfrm>
              <a:off x="6843329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S6</a:t>
              </a:r>
              <a:endParaRPr/>
            </a:p>
          </p:txBody>
        </p:sp>
        <p:sp>
          <p:nvSpPr>
            <p:cNvPr id="480" name="Google Shape;480;p19"/>
            <p:cNvSpPr txBox="1"/>
            <p:nvPr/>
          </p:nvSpPr>
          <p:spPr>
            <a:xfrm>
              <a:off x="7350701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S7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0"/>
          <p:cNvSpPr txBox="1"/>
          <p:nvPr/>
        </p:nvSpPr>
        <p:spPr>
          <a:xfrm>
            <a:off x="6902700" y="52975"/>
            <a:ext cx="224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zh-TW" sz="1800" u="sng">
                <a:highlight>
                  <a:srgbClr val="FFE599"/>
                </a:highlight>
              </a:rPr>
              <a:t>Tabular Data</a:t>
            </a:r>
            <a:endParaRPr b="1" i="1" sz="1800" u="sng">
              <a:highlight>
                <a:srgbClr val="FFE599"/>
              </a:highlight>
            </a:endParaRPr>
          </a:p>
        </p:txBody>
      </p:sp>
      <p:sp>
        <p:nvSpPr>
          <p:cNvPr id="486" name="Google Shape;48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Individual POV</a:t>
            </a:r>
            <a:endParaRPr/>
          </a:p>
        </p:txBody>
      </p:sp>
      <p:sp>
        <p:nvSpPr>
          <p:cNvPr id="487" name="Google Shape;487;p20"/>
          <p:cNvSpPr/>
          <p:nvPr/>
        </p:nvSpPr>
        <p:spPr>
          <a:xfrm>
            <a:off x="3394350" y="4591350"/>
            <a:ext cx="5726100" cy="280200"/>
          </a:xfrm>
          <a:prstGeom prst="roundRect">
            <a:avLst>
              <a:gd fmla="val 10709" name="adj"/>
            </a:avLst>
          </a:prstGeom>
          <a:noFill/>
          <a:ln cap="flat" cmpd="sng" w="76200">
            <a:solidFill>
              <a:srgbClr val="4A86E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0"/>
          <p:cNvSpPr txBox="1"/>
          <p:nvPr/>
        </p:nvSpPr>
        <p:spPr>
          <a:xfrm>
            <a:off x="3367775" y="336109"/>
            <a:ext cx="440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chemeClr val="accent1"/>
                </a:solidFill>
              </a:rPr>
              <a:t>We treat each wafer individually</a:t>
            </a:r>
            <a:endParaRPr b="1" sz="1600">
              <a:solidFill>
                <a:schemeClr val="accent1"/>
              </a:solidFill>
            </a:endParaRPr>
          </a:p>
        </p:txBody>
      </p:sp>
      <p:graphicFrame>
        <p:nvGraphicFramePr>
          <p:cNvPr id="489" name="Google Shape;489;p20"/>
          <p:cNvGraphicFramePr/>
          <p:nvPr/>
        </p:nvGraphicFramePr>
        <p:xfrm>
          <a:off x="3409596" y="15678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{1DD3C30C-06B7-461B-A279-907DD2700492}</a:tableStyleId>
              </a:tblPr>
              <a:tblGrid>
                <a:gridCol w="715750"/>
                <a:gridCol w="715750"/>
                <a:gridCol w="715750"/>
                <a:gridCol w="715750"/>
                <a:gridCol w="715750"/>
                <a:gridCol w="715750"/>
                <a:gridCol w="715750"/>
                <a:gridCol w="715750"/>
              </a:tblGrid>
              <a:tr h="25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wafer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 id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rgbClr val="FFFF00"/>
                          </a:solidFill>
                        </a:rPr>
                        <a:t>f1</a:t>
                      </a:r>
                      <a:endParaRPr b="1" sz="1300">
                        <a:solidFill>
                          <a:srgbClr val="FFFF00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rgbClr val="FFFF00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rgbClr val="FFFF00"/>
                          </a:solidFill>
                        </a:rPr>
                        <a:t>(M)</a:t>
                      </a:r>
                      <a:endParaRPr b="1" sz="1300"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S1_f1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(M)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S2_f2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(M)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S3_f1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(Q)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S3_f2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(M)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…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S7_f1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(Q)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TOOL1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7.3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XXX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23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…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22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1.6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XXX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45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0.4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30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0.2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24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W5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0.9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36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34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…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W97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3.7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30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23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W98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TOOL3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1.6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45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67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W99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TOOL3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0.5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64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83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W100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TOOL3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3.5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80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490" name="Google Shape;490;p20"/>
          <p:cNvGrpSpPr/>
          <p:nvPr/>
        </p:nvGrpSpPr>
        <p:grpSpPr>
          <a:xfrm>
            <a:off x="4957703" y="591750"/>
            <a:ext cx="3610886" cy="688620"/>
            <a:chOff x="4239615" y="0"/>
            <a:chExt cx="3610886" cy="688620"/>
          </a:xfrm>
        </p:grpSpPr>
        <p:grpSp>
          <p:nvGrpSpPr>
            <p:cNvPr id="491" name="Google Shape;491;p20"/>
            <p:cNvGrpSpPr/>
            <p:nvPr/>
          </p:nvGrpSpPr>
          <p:grpSpPr>
            <a:xfrm rot="-5400000">
              <a:off x="5893250" y="-1170588"/>
              <a:ext cx="300600" cy="3417817"/>
              <a:chOff x="576425" y="1230624"/>
              <a:chExt cx="300600" cy="3417817"/>
            </a:xfrm>
          </p:grpSpPr>
          <p:sp>
            <p:nvSpPr>
              <p:cNvPr id="492" name="Google Shape;492;p20"/>
              <p:cNvSpPr/>
              <p:nvPr/>
            </p:nvSpPr>
            <p:spPr>
              <a:xfrm>
                <a:off x="576425" y="1748124"/>
                <a:ext cx="300600" cy="3006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" name="Google Shape;493;p20"/>
              <p:cNvSpPr/>
              <p:nvPr/>
            </p:nvSpPr>
            <p:spPr>
              <a:xfrm>
                <a:off x="576425" y="2744923"/>
                <a:ext cx="300600" cy="3006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" name="Google Shape;494;p20"/>
              <p:cNvSpPr/>
              <p:nvPr/>
            </p:nvSpPr>
            <p:spPr>
              <a:xfrm>
                <a:off x="576425" y="3836594"/>
                <a:ext cx="300600" cy="3006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" name="Google Shape;495;p20"/>
              <p:cNvSpPr/>
              <p:nvPr/>
            </p:nvSpPr>
            <p:spPr>
              <a:xfrm>
                <a:off x="576425" y="3291026"/>
                <a:ext cx="300600" cy="3006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20"/>
              <p:cNvSpPr/>
              <p:nvPr/>
            </p:nvSpPr>
            <p:spPr>
              <a:xfrm>
                <a:off x="576425" y="4347841"/>
                <a:ext cx="300600" cy="3006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20"/>
              <p:cNvSpPr/>
              <p:nvPr/>
            </p:nvSpPr>
            <p:spPr>
              <a:xfrm>
                <a:off x="576425" y="2265487"/>
                <a:ext cx="300600" cy="3006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98" name="Google Shape;498;p20"/>
              <p:cNvCxnSpPr>
                <a:stCxn id="492" idx="4"/>
                <a:endCxn id="497" idx="0"/>
              </p:cNvCxnSpPr>
              <p:nvPr/>
            </p:nvCxnSpPr>
            <p:spPr>
              <a:xfrm rot="5400000">
                <a:off x="618275" y="2157174"/>
                <a:ext cx="216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499" name="Google Shape;499;p20"/>
              <p:cNvCxnSpPr>
                <a:stCxn id="497" idx="4"/>
                <a:endCxn id="493" idx="0"/>
              </p:cNvCxnSpPr>
              <p:nvPr/>
            </p:nvCxnSpPr>
            <p:spPr>
              <a:xfrm rot="5400000">
                <a:off x="637325" y="2655487"/>
                <a:ext cx="178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00" name="Google Shape;500;p20"/>
              <p:cNvCxnSpPr>
                <a:stCxn id="493" idx="4"/>
                <a:endCxn id="495" idx="0"/>
              </p:cNvCxnSpPr>
              <p:nvPr/>
            </p:nvCxnSpPr>
            <p:spPr>
              <a:xfrm rot="5400000">
                <a:off x="604025" y="3168223"/>
                <a:ext cx="245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01" name="Google Shape;501;p20"/>
              <p:cNvCxnSpPr>
                <a:stCxn id="495" idx="4"/>
                <a:endCxn id="494" idx="0"/>
              </p:cNvCxnSpPr>
              <p:nvPr/>
            </p:nvCxnSpPr>
            <p:spPr>
              <a:xfrm rot="5400000">
                <a:off x="604175" y="3714176"/>
                <a:ext cx="24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02" name="Google Shape;502;p20"/>
              <p:cNvCxnSpPr>
                <a:stCxn id="494" idx="4"/>
                <a:endCxn id="496" idx="0"/>
              </p:cNvCxnSpPr>
              <p:nvPr/>
            </p:nvCxnSpPr>
            <p:spPr>
              <a:xfrm rot="5400000">
                <a:off x="621425" y="4242494"/>
                <a:ext cx="210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503" name="Google Shape;503;p20"/>
              <p:cNvSpPr/>
              <p:nvPr/>
            </p:nvSpPr>
            <p:spPr>
              <a:xfrm>
                <a:off x="576425" y="1230624"/>
                <a:ext cx="300600" cy="3006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504" name="Google Shape;504;p20"/>
              <p:cNvCxnSpPr>
                <a:stCxn id="503" idx="4"/>
              </p:cNvCxnSpPr>
              <p:nvPr/>
            </p:nvCxnSpPr>
            <p:spPr>
              <a:xfrm rot="5400000">
                <a:off x="618275" y="1639674"/>
                <a:ext cx="216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505" name="Google Shape;505;p20"/>
            <p:cNvSpPr txBox="1"/>
            <p:nvPr/>
          </p:nvSpPr>
          <p:spPr>
            <a:xfrm>
              <a:off x="4239615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S1</a:t>
              </a:r>
              <a:endParaRPr/>
            </a:p>
          </p:txBody>
        </p:sp>
        <p:sp>
          <p:nvSpPr>
            <p:cNvPr id="506" name="Google Shape;506;p20"/>
            <p:cNvSpPr txBox="1"/>
            <p:nvPr/>
          </p:nvSpPr>
          <p:spPr>
            <a:xfrm>
              <a:off x="4753949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S2</a:t>
              </a:r>
              <a:endParaRPr/>
            </a:p>
          </p:txBody>
        </p:sp>
        <p:sp>
          <p:nvSpPr>
            <p:cNvPr id="507" name="Google Shape;507;p20"/>
            <p:cNvSpPr txBox="1"/>
            <p:nvPr/>
          </p:nvSpPr>
          <p:spPr>
            <a:xfrm>
              <a:off x="5268876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S3</a:t>
              </a:r>
              <a:endParaRPr/>
            </a:p>
          </p:txBody>
        </p:sp>
        <p:sp>
          <p:nvSpPr>
            <p:cNvPr id="508" name="Google Shape;508;p20"/>
            <p:cNvSpPr txBox="1"/>
            <p:nvPr/>
          </p:nvSpPr>
          <p:spPr>
            <a:xfrm>
              <a:off x="5742360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S4</a:t>
              </a:r>
              <a:endParaRPr/>
            </a:p>
          </p:txBody>
        </p:sp>
        <p:sp>
          <p:nvSpPr>
            <p:cNvPr id="509" name="Google Shape;509;p20"/>
            <p:cNvSpPr txBox="1"/>
            <p:nvPr/>
          </p:nvSpPr>
          <p:spPr>
            <a:xfrm>
              <a:off x="6298138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S5</a:t>
              </a:r>
              <a:endParaRPr/>
            </a:p>
          </p:txBody>
        </p:sp>
        <p:sp>
          <p:nvSpPr>
            <p:cNvPr id="510" name="Google Shape;510;p20"/>
            <p:cNvSpPr txBox="1"/>
            <p:nvPr/>
          </p:nvSpPr>
          <p:spPr>
            <a:xfrm>
              <a:off x="6843329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S6</a:t>
              </a:r>
              <a:endParaRPr/>
            </a:p>
          </p:txBody>
        </p:sp>
        <p:sp>
          <p:nvSpPr>
            <p:cNvPr id="511" name="Google Shape;511;p20"/>
            <p:cNvSpPr txBox="1"/>
            <p:nvPr/>
          </p:nvSpPr>
          <p:spPr>
            <a:xfrm>
              <a:off x="7350701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S7</a:t>
              </a:r>
              <a:endParaRPr/>
            </a:p>
          </p:txBody>
        </p:sp>
      </p:grpSp>
      <p:sp>
        <p:nvSpPr>
          <p:cNvPr id="512" name="Google Shape;512;p20"/>
          <p:cNvSpPr/>
          <p:nvPr/>
        </p:nvSpPr>
        <p:spPr>
          <a:xfrm>
            <a:off x="1414475" y="1013575"/>
            <a:ext cx="1907400" cy="3676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0"/>
          <p:cNvSpPr/>
          <p:nvPr/>
        </p:nvSpPr>
        <p:spPr>
          <a:xfrm>
            <a:off x="576425" y="1748124"/>
            <a:ext cx="300600" cy="300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0"/>
          <p:cNvSpPr/>
          <p:nvPr/>
        </p:nvSpPr>
        <p:spPr>
          <a:xfrm>
            <a:off x="576425" y="2744923"/>
            <a:ext cx="300600" cy="300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0"/>
          <p:cNvSpPr/>
          <p:nvPr/>
        </p:nvSpPr>
        <p:spPr>
          <a:xfrm>
            <a:off x="576425" y="3836594"/>
            <a:ext cx="300600" cy="300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0"/>
          <p:cNvSpPr/>
          <p:nvPr/>
        </p:nvSpPr>
        <p:spPr>
          <a:xfrm>
            <a:off x="576425" y="3291026"/>
            <a:ext cx="300600" cy="300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0"/>
          <p:cNvSpPr/>
          <p:nvPr/>
        </p:nvSpPr>
        <p:spPr>
          <a:xfrm>
            <a:off x="576425" y="4347841"/>
            <a:ext cx="300600" cy="300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0"/>
          <p:cNvSpPr/>
          <p:nvPr/>
        </p:nvSpPr>
        <p:spPr>
          <a:xfrm>
            <a:off x="576425" y="2265487"/>
            <a:ext cx="300600" cy="300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9" name="Google Shape;519;p20"/>
          <p:cNvCxnSpPr>
            <a:stCxn id="513" idx="4"/>
            <a:endCxn id="518" idx="0"/>
          </p:cNvCxnSpPr>
          <p:nvPr/>
        </p:nvCxnSpPr>
        <p:spPr>
          <a:xfrm>
            <a:off x="726725" y="2048724"/>
            <a:ext cx="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0" name="Google Shape;520;p20"/>
          <p:cNvCxnSpPr>
            <a:stCxn id="518" idx="4"/>
            <a:endCxn id="514" idx="0"/>
          </p:cNvCxnSpPr>
          <p:nvPr/>
        </p:nvCxnSpPr>
        <p:spPr>
          <a:xfrm>
            <a:off x="726725" y="2566087"/>
            <a:ext cx="0" cy="17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1" name="Google Shape;521;p20"/>
          <p:cNvCxnSpPr>
            <a:stCxn id="514" idx="4"/>
            <a:endCxn id="516" idx="0"/>
          </p:cNvCxnSpPr>
          <p:nvPr/>
        </p:nvCxnSpPr>
        <p:spPr>
          <a:xfrm>
            <a:off x="726725" y="3045523"/>
            <a:ext cx="0" cy="24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2" name="Google Shape;522;p20"/>
          <p:cNvCxnSpPr>
            <a:stCxn id="516" idx="4"/>
            <a:endCxn id="515" idx="0"/>
          </p:cNvCxnSpPr>
          <p:nvPr/>
        </p:nvCxnSpPr>
        <p:spPr>
          <a:xfrm>
            <a:off x="726725" y="3591626"/>
            <a:ext cx="0" cy="24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3" name="Google Shape;523;p20"/>
          <p:cNvCxnSpPr>
            <a:stCxn id="515" idx="4"/>
            <a:endCxn id="517" idx="0"/>
          </p:cNvCxnSpPr>
          <p:nvPr/>
        </p:nvCxnSpPr>
        <p:spPr>
          <a:xfrm>
            <a:off x="726725" y="4137194"/>
            <a:ext cx="0" cy="21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4" name="Google Shape;524;p20"/>
          <p:cNvSpPr/>
          <p:nvPr/>
        </p:nvSpPr>
        <p:spPr>
          <a:xfrm>
            <a:off x="576425" y="1230624"/>
            <a:ext cx="300600" cy="300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5" name="Google Shape;525;p20"/>
          <p:cNvCxnSpPr>
            <a:stCxn id="524" idx="4"/>
          </p:cNvCxnSpPr>
          <p:nvPr/>
        </p:nvCxnSpPr>
        <p:spPr>
          <a:xfrm>
            <a:off x="726725" y="1531224"/>
            <a:ext cx="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6" name="Google Shape;526;p20"/>
          <p:cNvSpPr/>
          <p:nvPr/>
        </p:nvSpPr>
        <p:spPr>
          <a:xfrm>
            <a:off x="2411895" y="1068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0"/>
          <p:cNvSpPr txBox="1"/>
          <p:nvPr/>
        </p:nvSpPr>
        <p:spPr>
          <a:xfrm>
            <a:off x="1154800" y="118082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S1</a:t>
            </a:r>
            <a:endParaRPr/>
          </a:p>
        </p:txBody>
      </p:sp>
      <p:sp>
        <p:nvSpPr>
          <p:cNvPr id="528" name="Google Shape;528;p20"/>
          <p:cNvSpPr txBox="1"/>
          <p:nvPr/>
        </p:nvSpPr>
        <p:spPr>
          <a:xfrm>
            <a:off x="1154800" y="1669644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S2</a:t>
            </a:r>
            <a:endParaRPr/>
          </a:p>
        </p:txBody>
      </p:sp>
      <p:sp>
        <p:nvSpPr>
          <p:cNvPr id="529" name="Google Shape;529;p20"/>
          <p:cNvSpPr txBox="1"/>
          <p:nvPr/>
        </p:nvSpPr>
        <p:spPr>
          <a:xfrm>
            <a:off x="1154800" y="2169462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S3</a:t>
            </a:r>
            <a:endParaRPr/>
          </a:p>
        </p:txBody>
      </p:sp>
      <p:sp>
        <p:nvSpPr>
          <p:cNvPr id="530" name="Google Shape;530;p20"/>
          <p:cNvSpPr txBox="1"/>
          <p:nvPr/>
        </p:nvSpPr>
        <p:spPr>
          <a:xfrm>
            <a:off x="1154800" y="270098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S4</a:t>
            </a:r>
            <a:endParaRPr/>
          </a:p>
        </p:txBody>
      </p:sp>
      <p:sp>
        <p:nvSpPr>
          <p:cNvPr id="531" name="Google Shape;531;p20"/>
          <p:cNvSpPr txBox="1"/>
          <p:nvPr/>
        </p:nvSpPr>
        <p:spPr>
          <a:xfrm>
            <a:off x="1154800" y="324610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S5</a:t>
            </a:r>
            <a:endParaRPr/>
          </a:p>
        </p:txBody>
      </p:sp>
      <p:sp>
        <p:nvSpPr>
          <p:cNvPr id="532" name="Google Shape;532;p20"/>
          <p:cNvSpPr txBox="1"/>
          <p:nvPr/>
        </p:nvSpPr>
        <p:spPr>
          <a:xfrm>
            <a:off x="1154800" y="37667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S6</a:t>
            </a:r>
            <a:endParaRPr/>
          </a:p>
        </p:txBody>
      </p:sp>
      <p:sp>
        <p:nvSpPr>
          <p:cNvPr id="533" name="Google Shape;533;p20"/>
          <p:cNvSpPr txBox="1"/>
          <p:nvPr/>
        </p:nvSpPr>
        <p:spPr>
          <a:xfrm>
            <a:off x="1154800" y="42768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S7</a:t>
            </a:r>
            <a:endParaRPr/>
          </a:p>
        </p:txBody>
      </p:sp>
      <p:sp>
        <p:nvSpPr>
          <p:cNvPr id="534" name="Google Shape;534;p20"/>
          <p:cNvSpPr/>
          <p:nvPr/>
        </p:nvSpPr>
        <p:spPr>
          <a:xfrm>
            <a:off x="1989345" y="125430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0"/>
          <p:cNvSpPr/>
          <p:nvPr/>
        </p:nvSpPr>
        <p:spPr>
          <a:xfrm>
            <a:off x="2698483" y="12374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0"/>
          <p:cNvSpPr/>
          <p:nvPr/>
        </p:nvSpPr>
        <p:spPr>
          <a:xfrm>
            <a:off x="2388670" y="14219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0"/>
          <p:cNvSpPr/>
          <p:nvPr/>
        </p:nvSpPr>
        <p:spPr>
          <a:xfrm>
            <a:off x="2118920" y="16895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0"/>
          <p:cNvSpPr/>
          <p:nvPr/>
        </p:nvSpPr>
        <p:spPr>
          <a:xfrm>
            <a:off x="2377545" y="1826225"/>
            <a:ext cx="178800" cy="178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0"/>
          <p:cNvSpPr/>
          <p:nvPr/>
        </p:nvSpPr>
        <p:spPr>
          <a:xfrm>
            <a:off x="2188295" y="232071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0"/>
          <p:cNvSpPr/>
          <p:nvPr/>
        </p:nvSpPr>
        <p:spPr>
          <a:xfrm>
            <a:off x="2188295" y="439280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0"/>
          <p:cNvSpPr/>
          <p:nvPr/>
        </p:nvSpPr>
        <p:spPr>
          <a:xfrm>
            <a:off x="2588932" y="228530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0"/>
          <p:cNvSpPr/>
          <p:nvPr/>
        </p:nvSpPr>
        <p:spPr>
          <a:xfrm>
            <a:off x="2464982" y="4400075"/>
            <a:ext cx="178800" cy="1788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0"/>
          <p:cNvSpPr/>
          <p:nvPr/>
        </p:nvSpPr>
        <p:spPr>
          <a:xfrm>
            <a:off x="2153570" y="2800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0"/>
          <p:cNvSpPr/>
          <p:nvPr/>
        </p:nvSpPr>
        <p:spPr>
          <a:xfrm>
            <a:off x="2446670" y="282362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45" name="Google Shape;545;p20"/>
          <p:cNvCxnSpPr>
            <a:stCxn id="526" idx="2"/>
            <a:endCxn id="534" idx="7"/>
          </p:cNvCxnSpPr>
          <p:nvPr/>
        </p:nvCxnSpPr>
        <p:spPr>
          <a:xfrm flipH="1">
            <a:off x="2141895" y="1158275"/>
            <a:ext cx="270000" cy="12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6" name="Google Shape;546;p20"/>
          <p:cNvCxnSpPr>
            <a:stCxn id="526" idx="4"/>
            <a:endCxn id="536" idx="0"/>
          </p:cNvCxnSpPr>
          <p:nvPr/>
        </p:nvCxnSpPr>
        <p:spPr>
          <a:xfrm flipH="1">
            <a:off x="2478195" y="1247675"/>
            <a:ext cx="23100" cy="17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7" name="Google Shape;547;p20"/>
          <p:cNvCxnSpPr>
            <a:stCxn id="535" idx="2"/>
            <a:endCxn id="536" idx="6"/>
          </p:cNvCxnSpPr>
          <p:nvPr/>
        </p:nvCxnSpPr>
        <p:spPr>
          <a:xfrm flipH="1">
            <a:off x="2567383" y="1326862"/>
            <a:ext cx="131100" cy="18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8" name="Google Shape;548;p20"/>
          <p:cNvCxnSpPr>
            <a:stCxn id="526" idx="3"/>
            <a:endCxn id="537" idx="0"/>
          </p:cNvCxnSpPr>
          <p:nvPr/>
        </p:nvCxnSpPr>
        <p:spPr>
          <a:xfrm flipH="1">
            <a:off x="2208279" y="1221490"/>
            <a:ext cx="229800" cy="46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9" name="Google Shape;549;p20"/>
          <p:cNvCxnSpPr>
            <a:stCxn id="536" idx="4"/>
            <a:endCxn id="538" idx="0"/>
          </p:cNvCxnSpPr>
          <p:nvPr/>
        </p:nvCxnSpPr>
        <p:spPr>
          <a:xfrm flipH="1">
            <a:off x="2466970" y="1600787"/>
            <a:ext cx="11100" cy="22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0" name="Google Shape;550;p20"/>
          <p:cNvCxnSpPr>
            <a:stCxn id="538" idx="4"/>
            <a:endCxn id="541" idx="0"/>
          </p:cNvCxnSpPr>
          <p:nvPr/>
        </p:nvCxnSpPr>
        <p:spPr>
          <a:xfrm>
            <a:off x="2466945" y="2005025"/>
            <a:ext cx="211500" cy="2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1" name="Google Shape;551;p20"/>
          <p:cNvCxnSpPr>
            <a:stCxn id="537" idx="4"/>
            <a:endCxn id="539" idx="0"/>
          </p:cNvCxnSpPr>
          <p:nvPr/>
        </p:nvCxnSpPr>
        <p:spPr>
          <a:xfrm>
            <a:off x="2208320" y="1868350"/>
            <a:ext cx="69300" cy="45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2" name="Google Shape;552;p20"/>
          <p:cNvCxnSpPr>
            <a:stCxn id="541" idx="2"/>
            <a:endCxn id="539" idx="6"/>
          </p:cNvCxnSpPr>
          <p:nvPr/>
        </p:nvCxnSpPr>
        <p:spPr>
          <a:xfrm flipH="1">
            <a:off x="2367232" y="2374700"/>
            <a:ext cx="221700" cy="3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3" name="Google Shape;553;p20"/>
          <p:cNvCxnSpPr>
            <a:stCxn id="541" idx="4"/>
            <a:endCxn id="544" idx="0"/>
          </p:cNvCxnSpPr>
          <p:nvPr/>
        </p:nvCxnSpPr>
        <p:spPr>
          <a:xfrm flipH="1">
            <a:off x="2536132" y="2464100"/>
            <a:ext cx="142200" cy="35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4" name="Google Shape;554;p20"/>
          <p:cNvCxnSpPr>
            <a:stCxn id="534" idx="3"/>
            <a:endCxn id="543" idx="2"/>
          </p:cNvCxnSpPr>
          <p:nvPr/>
        </p:nvCxnSpPr>
        <p:spPr>
          <a:xfrm flipH="1" rot="-5400000">
            <a:off x="1342779" y="2079665"/>
            <a:ext cx="1483500" cy="138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5" name="Google Shape;555;p20"/>
          <p:cNvCxnSpPr>
            <a:stCxn id="538" idx="6"/>
            <a:endCxn id="544" idx="6"/>
          </p:cNvCxnSpPr>
          <p:nvPr/>
        </p:nvCxnSpPr>
        <p:spPr>
          <a:xfrm>
            <a:off x="2556345" y="1915625"/>
            <a:ext cx="69000" cy="997500"/>
          </a:xfrm>
          <a:prstGeom prst="curvedConnector3">
            <a:avLst>
              <a:gd fmla="val 44529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6" name="Google Shape;556;p20"/>
          <p:cNvSpPr/>
          <p:nvPr/>
        </p:nvSpPr>
        <p:spPr>
          <a:xfrm>
            <a:off x="2620770" y="3304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0"/>
          <p:cNvSpPr/>
          <p:nvPr/>
        </p:nvSpPr>
        <p:spPr>
          <a:xfrm>
            <a:off x="2118920" y="38721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0"/>
          <p:cNvSpPr/>
          <p:nvPr/>
        </p:nvSpPr>
        <p:spPr>
          <a:xfrm>
            <a:off x="2438070" y="3999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0"/>
          <p:cNvSpPr/>
          <p:nvPr/>
        </p:nvSpPr>
        <p:spPr>
          <a:xfrm>
            <a:off x="2483295" y="37378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60" name="Google Shape;560;p20"/>
          <p:cNvCxnSpPr>
            <a:stCxn id="544" idx="4"/>
            <a:endCxn id="559" idx="0"/>
          </p:cNvCxnSpPr>
          <p:nvPr/>
        </p:nvCxnSpPr>
        <p:spPr>
          <a:xfrm>
            <a:off x="2536070" y="3002425"/>
            <a:ext cx="36600" cy="735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561" name="Google Shape;561;p20"/>
          <p:cNvSpPr/>
          <p:nvPr/>
        </p:nvSpPr>
        <p:spPr>
          <a:xfrm>
            <a:off x="2118920" y="33392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62" name="Google Shape;562;p20"/>
          <p:cNvCxnSpPr>
            <a:stCxn id="543" idx="4"/>
            <a:endCxn id="561" idx="0"/>
          </p:cNvCxnSpPr>
          <p:nvPr/>
        </p:nvCxnSpPr>
        <p:spPr>
          <a:xfrm flipH="1">
            <a:off x="2208170" y="2979775"/>
            <a:ext cx="34800" cy="35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3" name="Google Shape;563;p20"/>
          <p:cNvCxnSpPr>
            <a:stCxn id="539" idx="2"/>
            <a:endCxn id="557" idx="2"/>
          </p:cNvCxnSpPr>
          <p:nvPr/>
        </p:nvCxnSpPr>
        <p:spPr>
          <a:xfrm flipH="1">
            <a:off x="2118995" y="2410112"/>
            <a:ext cx="69300" cy="1551600"/>
          </a:xfrm>
          <a:prstGeom prst="curvedConnector3">
            <a:avLst>
              <a:gd fmla="val 443723" name="adj1"/>
            </a:avLst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564" name="Google Shape;564;p20"/>
          <p:cNvCxnSpPr>
            <a:stCxn id="557" idx="4"/>
            <a:endCxn id="540" idx="0"/>
          </p:cNvCxnSpPr>
          <p:nvPr/>
        </p:nvCxnSpPr>
        <p:spPr>
          <a:xfrm>
            <a:off x="2208320" y="4050962"/>
            <a:ext cx="69300" cy="3417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565" name="Google Shape;565;p20"/>
          <p:cNvCxnSpPr>
            <a:stCxn id="558" idx="4"/>
            <a:endCxn id="542" idx="0"/>
          </p:cNvCxnSpPr>
          <p:nvPr/>
        </p:nvCxnSpPr>
        <p:spPr>
          <a:xfrm>
            <a:off x="2527470" y="4178775"/>
            <a:ext cx="27000" cy="22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6" name="Google Shape;566;p20"/>
          <p:cNvSpPr txBox="1"/>
          <p:nvPr/>
        </p:nvSpPr>
        <p:spPr>
          <a:xfrm>
            <a:off x="1672925" y="4662300"/>
            <a:ext cx="13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FF0000"/>
                </a:solidFill>
              </a:rPr>
              <a:t>causal graph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567" name="Google Shape;567;p20"/>
          <p:cNvCxnSpPr/>
          <p:nvPr/>
        </p:nvCxnSpPr>
        <p:spPr>
          <a:xfrm>
            <a:off x="311700" y="1635975"/>
            <a:ext cx="258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68" name="Google Shape;568;p20"/>
          <p:cNvCxnSpPr/>
          <p:nvPr/>
        </p:nvCxnSpPr>
        <p:spPr>
          <a:xfrm>
            <a:off x="311700" y="2124792"/>
            <a:ext cx="258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69" name="Google Shape;569;p20"/>
          <p:cNvCxnSpPr/>
          <p:nvPr/>
        </p:nvCxnSpPr>
        <p:spPr>
          <a:xfrm>
            <a:off x="311700" y="2624610"/>
            <a:ext cx="258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70" name="Google Shape;570;p20"/>
          <p:cNvCxnSpPr/>
          <p:nvPr/>
        </p:nvCxnSpPr>
        <p:spPr>
          <a:xfrm>
            <a:off x="311700" y="3156135"/>
            <a:ext cx="258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71" name="Google Shape;571;p20"/>
          <p:cNvCxnSpPr/>
          <p:nvPr/>
        </p:nvCxnSpPr>
        <p:spPr>
          <a:xfrm>
            <a:off x="311700" y="3701256"/>
            <a:ext cx="258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72" name="Google Shape;572;p20"/>
          <p:cNvCxnSpPr/>
          <p:nvPr/>
        </p:nvCxnSpPr>
        <p:spPr>
          <a:xfrm>
            <a:off x="311700" y="4221875"/>
            <a:ext cx="258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573" name="Google Shape;573;p20"/>
          <p:cNvSpPr/>
          <p:nvPr/>
        </p:nvSpPr>
        <p:spPr>
          <a:xfrm>
            <a:off x="3018707" y="191562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0"/>
          <p:cNvSpPr/>
          <p:nvPr/>
        </p:nvSpPr>
        <p:spPr>
          <a:xfrm>
            <a:off x="3063570" y="360410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0"/>
          <p:cNvSpPr/>
          <p:nvPr/>
        </p:nvSpPr>
        <p:spPr>
          <a:xfrm>
            <a:off x="3101095" y="291312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76" name="Google Shape;576;p20"/>
          <p:cNvCxnSpPr>
            <a:stCxn id="535" idx="5"/>
            <a:endCxn id="573" idx="0"/>
          </p:cNvCxnSpPr>
          <p:nvPr/>
        </p:nvCxnSpPr>
        <p:spPr>
          <a:xfrm>
            <a:off x="2851098" y="1390077"/>
            <a:ext cx="257100" cy="52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7" name="Google Shape;577;p20"/>
          <p:cNvCxnSpPr>
            <a:stCxn id="573" idx="3"/>
            <a:endCxn id="541" idx="7"/>
          </p:cNvCxnSpPr>
          <p:nvPr/>
        </p:nvCxnSpPr>
        <p:spPr>
          <a:xfrm flipH="1">
            <a:off x="2741592" y="2068240"/>
            <a:ext cx="303300" cy="24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8" name="Google Shape;578;p20"/>
          <p:cNvCxnSpPr>
            <a:stCxn id="556" idx="7"/>
            <a:endCxn id="575" idx="3"/>
          </p:cNvCxnSpPr>
          <p:nvPr/>
        </p:nvCxnSpPr>
        <p:spPr>
          <a:xfrm flipH="1" rot="10800000">
            <a:off x="2773385" y="3065859"/>
            <a:ext cx="354000" cy="26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9" name="Google Shape;579;p20"/>
          <p:cNvCxnSpPr>
            <a:stCxn id="575" idx="2"/>
            <a:endCxn id="544" idx="6"/>
          </p:cNvCxnSpPr>
          <p:nvPr/>
        </p:nvCxnSpPr>
        <p:spPr>
          <a:xfrm rot="10800000">
            <a:off x="2625595" y="2913125"/>
            <a:ext cx="475500" cy="894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580" name="Google Shape;580;p20"/>
          <p:cNvCxnSpPr>
            <a:stCxn id="575" idx="4"/>
            <a:endCxn id="574" idx="0"/>
          </p:cNvCxnSpPr>
          <p:nvPr/>
        </p:nvCxnSpPr>
        <p:spPr>
          <a:xfrm flipH="1">
            <a:off x="3152995" y="3091925"/>
            <a:ext cx="37500" cy="51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1" name="Google Shape;581;p20"/>
          <p:cNvCxnSpPr>
            <a:stCxn id="574" idx="2"/>
            <a:endCxn id="559" idx="6"/>
          </p:cNvCxnSpPr>
          <p:nvPr/>
        </p:nvCxnSpPr>
        <p:spPr>
          <a:xfrm flipH="1">
            <a:off x="2662170" y="3693500"/>
            <a:ext cx="401400" cy="13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2" name="Google Shape;582;p20"/>
          <p:cNvCxnSpPr/>
          <p:nvPr/>
        </p:nvCxnSpPr>
        <p:spPr>
          <a:xfrm>
            <a:off x="2556345" y="1915625"/>
            <a:ext cx="60600" cy="2173800"/>
          </a:xfrm>
          <a:prstGeom prst="curvedConnector3">
            <a:avLst>
              <a:gd fmla="val 808507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3" name="Google Shape;583;p20"/>
          <p:cNvCxnSpPr/>
          <p:nvPr/>
        </p:nvCxnSpPr>
        <p:spPr>
          <a:xfrm rot="10800000">
            <a:off x="2893250" y="1079150"/>
            <a:ext cx="0" cy="357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Similarity between tabular-data-format and AISPC</a:t>
            </a:r>
            <a:endParaRPr/>
          </a:p>
        </p:txBody>
      </p:sp>
      <p:grpSp>
        <p:nvGrpSpPr>
          <p:cNvPr id="589" name="Google Shape;589;p21"/>
          <p:cNvGrpSpPr/>
          <p:nvPr/>
        </p:nvGrpSpPr>
        <p:grpSpPr>
          <a:xfrm>
            <a:off x="278200" y="975350"/>
            <a:ext cx="3142050" cy="1195500"/>
            <a:chOff x="278200" y="975350"/>
            <a:chExt cx="3142050" cy="1195500"/>
          </a:xfrm>
        </p:grpSpPr>
        <p:cxnSp>
          <p:nvCxnSpPr>
            <p:cNvPr id="590" name="Google Shape;590;p21"/>
            <p:cNvCxnSpPr/>
            <p:nvPr/>
          </p:nvCxnSpPr>
          <p:spPr>
            <a:xfrm rot="10800000">
              <a:off x="1075200" y="1323650"/>
              <a:ext cx="0" cy="847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91" name="Google Shape;591;p21"/>
            <p:cNvCxnSpPr/>
            <p:nvPr/>
          </p:nvCxnSpPr>
          <p:spPr>
            <a:xfrm>
              <a:off x="1067650" y="2170850"/>
              <a:ext cx="2352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92" name="Google Shape;592;p21"/>
            <p:cNvSpPr/>
            <p:nvPr/>
          </p:nvSpPr>
          <p:spPr>
            <a:xfrm>
              <a:off x="1203800" y="1352805"/>
              <a:ext cx="2072525" cy="759900"/>
            </a:xfrm>
            <a:custGeom>
              <a:rect b="b" l="l" r="r" t="t"/>
              <a:pathLst>
                <a:path extrusionOk="0" h="30396" w="82901">
                  <a:moveTo>
                    <a:pt x="0" y="25764"/>
                  </a:moveTo>
                  <a:cubicBezTo>
                    <a:pt x="807" y="26067"/>
                    <a:pt x="3278" y="27529"/>
                    <a:pt x="4841" y="27579"/>
                  </a:cubicBezTo>
                  <a:cubicBezTo>
                    <a:pt x="6404" y="27629"/>
                    <a:pt x="7765" y="25915"/>
                    <a:pt x="9379" y="26066"/>
                  </a:cubicBezTo>
                  <a:cubicBezTo>
                    <a:pt x="10993" y="26217"/>
                    <a:pt x="12809" y="28588"/>
                    <a:pt x="14523" y="28487"/>
                  </a:cubicBezTo>
                  <a:cubicBezTo>
                    <a:pt x="16238" y="28386"/>
                    <a:pt x="17851" y="25713"/>
                    <a:pt x="19666" y="25461"/>
                  </a:cubicBezTo>
                  <a:cubicBezTo>
                    <a:pt x="21481" y="25209"/>
                    <a:pt x="23701" y="26419"/>
                    <a:pt x="25415" y="26974"/>
                  </a:cubicBezTo>
                  <a:cubicBezTo>
                    <a:pt x="27130" y="27529"/>
                    <a:pt x="27835" y="28739"/>
                    <a:pt x="29953" y="28789"/>
                  </a:cubicBezTo>
                  <a:cubicBezTo>
                    <a:pt x="32071" y="28839"/>
                    <a:pt x="35197" y="27276"/>
                    <a:pt x="38122" y="27276"/>
                  </a:cubicBezTo>
                  <a:cubicBezTo>
                    <a:pt x="41047" y="27276"/>
                    <a:pt x="45181" y="33025"/>
                    <a:pt x="47501" y="28789"/>
                  </a:cubicBezTo>
                  <a:cubicBezTo>
                    <a:pt x="49821" y="24553"/>
                    <a:pt x="49519" y="6248"/>
                    <a:pt x="52040" y="1861"/>
                  </a:cubicBezTo>
                  <a:cubicBezTo>
                    <a:pt x="54561" y="-2526"/>
                    <a:pt x="60410" y="2669"/>
                    <a:pt x="62629" y="2467"/>
                  </a:cubicBezTo>
                  <a:cubicBezTo>
                    <a:pt x="64848" y="2265"/>
                    <a:pt x="63789" y="651"/>
                    <a:pt x="65352" y="651"/>
                  </a:cubicBezTo>
                  <a:cubicBezTo>
                    <a:pt x="66915" y="651"/>
                    <a:pt x="70143" y="2467"/>
                    <a:pt x="72009" y="2467"/>
                  </a:cubicBezTo>
                  <a:cubicBezTo>
                    <a:pt x="73875" y="2467"/>
                    <a:pt x="74732" y="651"/>
                    <a:pt x="76547" y="651"/>
                  </a:cubicBezTo>
                  <a:cubicBezTo>
                    <a:pt x="78362" y="651"/>
                    <a:pt x="81842" y="2164"/>
                    <a:pt x="82901" y="2467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93" name="Google Shape;593;p21"/>
            <p:cNvSpPr/>
            <p:nvPr/>
          </p:nvSpPr>
          <p:spPr>
            <a:xfrm>
              <a:off x="1573875" y="1936400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21"/>
            <p:cNvSpPr txBox="1"/>
            <p:nvPr/>
          </p:nvSpPr>
          <p:spPr>
            <a:xfrm>
              <a:off x="1487025" y="1584950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A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595" name="Google Shape;595;p21"/>
            <p:cNvSpPr/>
            <p:nvPr/>
          </p:nvSpPr>
          <p:spPr>
            <a:xfrm>
              <a:off x="2088225" y="1936400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21"/>
            <p:cNvSpPr txBox="1"/>
            <p:nvPr/>
          </p:nvSpPr>
          <p:spPr>
            <a:xfrm>
              <a:off x="2001375" y="1584950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B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597" name="Google Shape;597;p21"/>
            <p:cNvSpPr/>
            <p:nvPr/>
          </p:nvSpPr>
          <p:spPr>
            <a:xfrm>
              <a:off x="2876550" y="1326800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21"/>
            <p:cNvSpPr txBox="1"/>
            <p:nvPr/>
          </p:nvSpPr>
          <p:spPr>
            <a:xfrm>
              <a:off x="2789700" y="975350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C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599" name="Google Shape;599;p21"/>
            <p:cNvSpPr txBox="1"/>
            <p:nvPr/>
          </p:nvSpPr>
          <p:spPr>
            <a:xfrm>
              <a:off x="278200" y="1584950"/>
              <a:ext cx="363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/>
                <a:t>f</a:t>
              </a:r>
              <a:r>
                <a:rPr baseline="-25000" lang="zh-TW" sz="2000"/>
                <a:t>1</a:t>
              </a:r>
              <a:endParaRPr baseline="-25000" sz="2000"/>
            </a:p>
          </p:txBody>
        </p:sp>
        <p:sp>
          <p:nvSpPr>
            <p:cNvPr id="600" name="Google Shape;600;p21"/>
            <p:cNvSpPr txBox="1"/>
            <p:nvPr/>
          </p:nvSpPr>
          <p:spPr>
            <a:xfrm>
              <a:off x="549550" y="1191050"/>
              <a:ext cx="58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#req</a:t>
              </a:r>
              <a:endParaRPr/>
            </a:p>
          </p:txBody>
        </p:sp>
      </p:grpSp>
      <p:grpSp>
        <p:nvGrpSpPr>
          <p:cNvPr id="601" name="Google Shape;601;p21"/>
          <p:cNvGrpSpPr/>
          <p:nvPr/>
        </p:nvGrpSpPr>
        <p:grpSpPr>
          <a:xfrm>
            <a:off x="278200" y="2481125"/>
            <a:ext cx="3142050" cy="1119300"/>
            <a:chOff x="278200" y="2481125"/>
            <a:chExt cx="3142050" cy="1119300"/>
          </a:xfrm>
        </p:grpSpPr>
        <p:cxnSp>
          <p:nvCxnSpPr>
            <p:cNvPr id="602" name="Google Shape;602;p21"/>
            <p:cNvCxnSpPr/>
            <p:nvPr/>
          </p:nvCxnSpPr>
          <p:spPr>
            <a:xfrm rot="10800000">
              <a:off x="1075200" y="2753225"/>
              <a:ext cx="0" cy="847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03" name="Google Shape;603;p21"/>
            <p:cNvCxnSpPr/>
            <p:nvPr/>
          </p:nvCxnSpPr>
          <p:spPr>
            <a:xfrm>
              <a:off x="1067650" y="3600425"/>
              <a:ext cx="2352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04" name="Google Shape;604;p21"/>
            <p:cNvSpPr/>
            <p:nvPr/>
          </p:nvSpPr>
          <p:spPr>
            <a:xfrm>
              <a:off x="1203800" y="2904511"/>
              <a:ext cx="2045900" cy="634375"/>
            </a:xfrm>
            <a:custGeom>
              <a:rect b="b" l="l" r="r" t="t"/>
              <a:pathLst>
                <a:path extrusionOk="0" h="25375" w="81836">
                  <a:moveTo>
                    <a:pt x="0" y="20879"/>
                  </a:moveTo>
                  <a:cubicBezTo>
                    <a:pt x="807" y="21182"/>
                    <a:pt x="3278" y="22644"/>
                    <a:pt x="4841" y="22694"/>
                  </a:cubicBezTo>
                  <a:cubicBezTo>
                    <a:pt x="6404" y="22744"/>
                    <a:pt x="7765" y="21030"/>
                    <a:pt x="9379" y="21181"/>
                  </a:cubicBezTo>
                  <a:cubicBezTo>
                    <a:pt x="10993" y="21332"/>
                    <a:pt x="13036" y="27132"/>
                    <a:pt x="14523" y="23602"/>
                  </a:cubicBezTo>
                  <a:cubicBezTo>
                    <a:pt x="16010" y="20072"/>
                    <a:pt x="16484" y="255"/>
                    <a:pt x="18299" y="3"/>
                  </a:cubicBezTo>
                  <a:cubicBezTo>
                    <a:pt x="20114" y="-249"/>
                    <a:pt x="23473" y="18106"/>
                    <a:pt x="25415" y="22089"/>
                  </a:cubicBezTo>
                  <a:cubicBezTo>
                    <a:pt x="27357" y="26073"/>
                    <a:pt x="28063" y="26123"/>
                    <a:pt x="29953" y="23904"/>
                  </a:cubicBezTo>
                  <a:cubicBezTo>
                    <a:pt x="31843" y="21685"/>
                    <a:pt x="33830" y="8777"/>
                    <a:pt x="36755" y="8777"/>
                  </a:cubicBezTo>
                  <a:cubicBezTo>
                    <a:pt x="39680" y="8777"/>
                    <a:pt x="44828" y="21887"/>
                    <a:pt x="47501" y="23904"/>
                  </a:cubicBezTo>
                  <a:cubicBezTo>
                    <a:pt x="50174" y="25921"/>
                    <a:pt x="50800" y="21232"/>
                    <a:pt x="52791" y="20879"/>
                  </a:cubicBezTo>
                  <a:cubicBezTo>
                    <a:pt x="54782" y="20526"/>
                    <a:pt x="57481" y="21686"/>
                    <a:pt x="59447" y="21787"/>
                  </a:cubicBezTo>
                  <a:cubicBezTo>
                    <a:pt x="61414" y="21888"/>
                    <a:pt x="62775" y="21585"/>
                    <a:pt x="64590" y="21484"/>
                  </a:cubicBezTo>
                  <a:cubicBezTo>
                    <a:pt x="66405" y="21383"/>
                    <a:pt x="68524" y="21232"/>
                    <a:pt x="70339" y="21182"/>
                  </a:cubicBezTo>
                  <a:cubicBezTo>
                    <a:pt x="72155" y="21132"/>
                    <a:pt x="73567" y="21182"/>
                    <a:pt x="75483" y="21182"/>
                  </a:cubicBezTo>
                  <a:cubicBezTo>
                    <a:pt x="77399" y="21182"/>
                    <a:pt x="80777" y="21182"/>
                    <a:pt x="81836" y="2118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05" name="Google Shape;605;p21"/>
            <p:cNvSpPr/>
            <p:nvPr/>
          </p:nvSpPr>
          <p:spPr>
            <a:xfrm>
              <a:off x="1573875" y="2832575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21"/>
            <p:cNvSpPr txBox="1"/>
            <p:nvPr/>
          </p:nvSpPr>
          <p:spPr>
            <a:xfrm>
              <a:off x="1487025" y="2481125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A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07" name="Google Shape;607;p21"/>
            <p:cNvSpPr/>
            <p:nvPr/>
          </p:nvSpPr>
          <p:spPr>
            <a:xfrm>
              <a:off x="2088225" y="3053611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21"/>
            <p:cNvSpPr txBox="1"/>
            <p:nvPr/>
          </p:nvSpPr>
          <p:spPr>
            <a:xfrm>
              <a:off x="2001375" y="2702161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B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09" name="Google Shape;609;p21"/>
            <p:cNvSpPr/>
            <p:nvPr/>
          </p:nvSpPr>
          <p:spPr>
            <a:xfrm>
              <a:off x="2876550" y="3365975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21"/>
            <p:cNvSpPr txBox="1"/>
            <p:nvPr/>
          </p:nvSpPr>
          <p:spPr>
            <a:xfrm>
              <a:off x="2789700" y="3014525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C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11" name="Google Shape;611;p21"/>
            <p:cNvSpPr txBox="1"/>
            <p:nvPr/>
          </p:nvSpPr>
          <p:spPr>
            <a:xfrm>
              <a:off x="278200" y="3014525"/>
              <a:ext cx="363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/>
                <a:t>f</a:t>
              </a:r>
              <a:r>
                <a:rPr baseline="-25000" lang="zh-TW" sz="2000"/>
                <a:t>2</a:t>
              </a:r>
              <a:endParaRPr baseline="-25000" sz="2000"/>
            </a:p>
          </p:txBody>
        </p:sp>
        <p:sp>
          <p:nvSpPr>
            <p:cNvPr id="612" name="Google Shape;612;p21"/>
            <p:cNvSpPr txBox="1"/>
            <p:nvPr/>
          </p:nvSpPr>
          <p:spPr>
            <a:xfrm>
              <a:off x="549550" y="2620625"/>
              <a:ext cx="58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#err</a:t>
              </a:r>
              <a:endParaRPr/>
            </a:p>
          </p:txBody>
        </p:sp>
      </p:grpSp>
      <p:grpSp>
        <p:nvGrpSpPr>
          <p:cNvPr id="613" name="Google Shape;613;p21"/>
          <p:cNvGrpSpPr/>
          <p:nvPr/>
        </p:nvGrpSpPr>
        <p:grpSpPr>
          <a:xfrm>
            <a:off x="278200" y="3834500"/>
            <a:ext cx="3142050" cy="1195500"/>
            <a:chOff x="278200" y="3834500"/>
            <a:chExt cx="3142050" cy="1195500"/>
          </a:xfrm>
        </p:grpSpPr>
        <p:cxnSp>
          <p:nvCxnSpPr>
            <p:cNvPr id="614" name="Google Shape;614;p21"/>
            <p:cNvCxnSpPr/>
            <p:nvPr/>
          </p:nvCxnSpPr>
          <p:spPr>
            <a:xfrm rot="10800000">
              <a:off x="1075200" y="4182800"/>
              <a:ext cx="0" cy="847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15" name="Google Shape;615;p21"/>
            <p:cNvCxnSpPr/>
            <p:nvPr/>
          </p:nvCxnSpPr>
          <p:spPr>
            <a:xfrm>
              <a:off x="1067650" y="5030000"/>
              <a:ext cx="2352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16" name="Google Shape;616;p21"/>
            <p:cNvSpPr/>
            <p:nvPr/>
          </p:nvSpPr>
          <p:spPr>
            <a:xfrm>
              <a:off x="1203800" y="4214333"/>
              <a:ext cx="2072525" cy="759725"/>
            </a:xfrm>
            <a:custGeom>
              <a:rect b="b" l="l" r="r" t="t"/>
              <a:pathLst>
                <a:path extrusionOk="0" h="30389" w="82901">
                  <a:moveTo>
                    <a:pt x="0" y="25669"/>
                  </a:moveTo>
                  <a:cubicBezTo>
                    <a:pt x="807" y="25972"/>
                    <a:pt x="3278" y="27434"/>
                    <a:pt x="4841" y="27484"/>
                  </a:cubicBezTo>
                  <a:cubicBezTo>
                    <a:pt x="6404" y="27534"/>
                    <a:pt x="7765" y="25820"/>
                    <a:pt x="9379" y="25971"/>
                  </a:cubicBezTo>
                  <a:cubicBezTo>
                    <a:pt x="10993" y="26122"/>
                    <a:pt x="13289" y="32426"/>
                    <a:pt x="14523" y="28392"/>
                  </a:cubicBezTo>
                  <a:cubicBezTo>
                    <a:pt x="15758" y="24358"/>
                    <a:pt x="14971" y="2020"/>
                    <a:pt x="16786" y="1768"/>
                  </a:cubicBezTo>
                  <a:cubicBezTo>
                    <a:pt x="18601" y="1516"/>
                    <a:pt x="23221" y="22391"/>
                    <a:pt x="25415" y="26879"/>
                  </a:cubicBezTo>
                  <a:cubicBezTo>
                    <a:pt x="27610" y="31367"/>
                    <a:pt x="27962" y="31064"/>
                    <a:pt x="29953" y="28694"/>
                  </a:cubicBezTo>
                  <a:cubicBezTo>
                    <a:pt x="31944" y="26324"/>
                    <a:pt x="34435" y="12660"/>
                    <a:pt x="37360" y="12660"/>
                  </a:cubicBezTo>
                  <a:cubicBezTo>
                    <a:pt x="40285" y="12660"/>
                    <a:pt x="45054" y="30510"/>
                    <a:pt x="47501" y="28694"/>
                  </a:cubicBezTo>
                  <a:cubicBezTo>
                    <a:pt x="49948" y="26878"/>
                    <a:pt x="49519" y="6153"/>
                    <a:pt x="52040" y="1766"/>
                  </a:cubicBezTo>
                  <a:cubicBezTo>
                    <a:pt x="54561" y="-2621"/>
                    <a:pt x="60410" y="2574"/>
                    <a:pt x="62629" y="2372"/>
                  </a:cubicBezTo>
                  <a:cubicBezTo>
                    <a:pt x="64848" y="2170"/>
                    <a:pt x="63789" y="556"/>
                    <a:pt x="65352" y="556"/>
                  </a:cubicBezTo>
                  <a:cubicBezTo>
                    <a:pt x="66915" y="556"/>
                    <a:pt x="70143" y="2372"/>
                    <a:pt x="72009" y="2372"/>
                  </a:cubicBezTo>
                  <a:cubicBezTo>
                    <a:pt x="73875" y="2372"/>
                    <a:pt x="74732" y="556"/>
                    <a:pt x="76547" y="556"/>
                  </a:cubicBezTo>
                  <a:cubicBezTo>
                    <a:pt x="78362" y="556"/>
                    <a:pt x="81842" y="2069"/>
                    <a:pt x="82901" y="237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17" name="Google Shape;617;p21"/>
            <p:cNvSpPr/>
            <p:nvPr/>
          </p:nvSpPr>
          <p:spPr>
            <a:xfrm>
              <a:off x="1573875" y="4231334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21"/>
            <p:cNvSpPr txBox="1"/>
            <p:nvPr/>
          </p:nvSpPr>
          <p:spPr>
            <a:xfrm>
              <a:off x="1487025" y="3879884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A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19" name="Google Shape;619;p21"/>
            <p:cNvSpPr/>
            <p:nvPr/>
          </p:nvSpPr>
          <p:spPr>
            <a:xfrm>
              <a:off x="2088225" y="4483186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21"/>
            <p:cNvSpPr txBox="1"/>
            <p:nvPr/>
          </p:nvSpPr>
          <p:spPr>
            <a:xfrm>
              <a:off x="2001375" y="4131736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B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21" name="Google Shape;621;p21"/>
            <p:cNvSpPr/>
            <p:nvPr/>
          </p:nvSpPr>
          <p:spPr>
            <a:xfrm>
              <a:off x="2876550" y="4185950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21"/>
            <p:cNvSpPr txBox="1"/>
            <p:nvPr/>
          </p:nvSpPr>
          <p:spPr>
            <a:xfrm>
              <a:off x="2789700" y="3834500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C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23" name="Google Shape;623;p21"/>
            <p:cNvSpPr txBox="1"/>
            <p:nvPr/>
          </p:nvSpPr>
          <p:spPr>
            <a:xfrm>
              <a:off x="278200" y="4444100"/>
              <a:ext cx="363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/>
                <a:t>f</a:t>
              </a:r>
              <a:r>
                <a:rPr baseline="-25000" lang="zh-TW" sz="2000"/>
                <a:t>T</a:t>
              </a:r>
              <a:endParaRPr baseline="-25000" sz="2000"/>
            </a:p>
          </p:txBody>
        </p:sp>
        <p:sp>
          <p:nvSpPr>
            <p:cNvPr id="624" name="Google Shape;624;p21"/>
            <p:cNvSpPr txBox="1"/>
            <p:nvPr/>
          </p:nvSpPr>
          <p:spPr>
            <a:xfrm>
              <a:off x="549550" y="4050200"/>
              <a:ext cx="58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cpu</a:t>
              </a:r>
              <a:endParaRPr/>
            </a:p>
          </p:txBody>
        </p:sp>
      </p:grpSp>
      <p:grpSp>
        <p:nvGrpSpPr>
          <p:cNvPr id="625" name="Google Shape;625;p21"/>
          <p:cNvGrpSpPr/>
          <p:nvPr/>
        </p:nvGrpSpPr>
        <p:grpSpPr>
          <a:xfrm>
            <a:off x="5646675" y="975350"/>
            <a:ext cx="3142050" cy="1195500"/>
            <a:chOff x="5646675" y="975350"/>
            <a:chExt cx="3142050" cy="1195500"/>
          </a:xfrm>
        </p:grpSpPr>
        <p:cxnSp>
          <p:nvCxnSpPr>
            <p:cNvPr id="626" name="Google Shape;626;p21"/>
            <p:cNvCxnSpPr/>
            <p:nvPr/>
          </p:nvCxnSpPr>
          <p:spPr>
            <a:xfrm rot="10800000">
              <a:off x="6443675" y="1323650"/>
              <a:ext cx="0" cy="847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27" name="Google Shape;627;p21"/>
            <p:cNvCxnSpPr/>
            <p:nvPr/>
          </p:nvCxnSpPr>
          <p:spPr>
            <a:xfrm>
              <a:off x="6436125" y="2170850"/>
              <a:ext cx="2352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28" name="Google Shape;628;p21"/>
            <p:cNvSpPr/>
            <p:nvPr/>
          </p:nvSpPr>
          <p:spPr>
            <a:xfrm>
              <a:off x="6942350" y="1936400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21"/>
            <p:cNvSpPr txBox="1"/>
            <p:nvPr/>
          </p:nvSpPr>
          <p:spPr>
            <a:xfrm>
              <a:off x="6855500" y="1584950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A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30" name="Google Shape;630;p21"/>
            <p:cNvSpPr/>
            <p:nvPr/>
          </p:nvSpPr>
          <p:spPr>
            <a:xfrm>
              <a:off x="8245025" y="1326800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21"/>
            <p:cNvSpPr txBox="1"/>
            <p:nvPr/>
          </p:nvSpPr>
          <p:spPr>
            <a:xfrm>
              <a:off x="8158175" y="975350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C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32" name="Google Shape;632;p21"/>
            <p:cNvSpPr txBox="1"/>
            <p:nvPr/>
          </p:nvSpPr>
          <p:spPr>
            <a:xfrm>
              <a:off x="5646675" y="1584950"/>
              <a:ext cx="363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/>
                <a:t>f</a:t>
              </a:r>
              <a:r>
                <a:rPr baseline="-25000" lang="zh-TW" sz="2000"/>
                <a:t>1</a:t>
              </a:r>
              <a:endParaRPr baseline="-25000" sz="2000"/>
            </a:p>
          </p:txBody>
        </p:sp>
        <p:sp>
          <p:nvSpPr>
            <p:cNvPr id="633" name="Google Shape;633;p21"/>
            <p:cNvSpPr txBox="1"/>
            <p:nvPr/>
          </p:nvSpPr>
          <p:spPr>
            <a:xfrm>
              <a:off x="5918025" y="1191050"/>
              <a:ext cx="58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#req</a:t>
              </a:r>
              <a:endParaRPr/>
            </a:p>
          </p:txBody>
        </p:sp>
      </p:grpSp>
      <p:grpSp>
        <p:nvGrpSpPr>
          <p:cNvPr id="634" name="Google Shape;634;p21"/>
          <p:cNvGrpSpPr/>
          <p:nvPr/>
        </p:nvGrpSpPr>
        <p:grpSpPr>
          <a:xfrm>
            <a:off x="5646675" y="2481125"/>
            <a:ext cx="3142050" cy="1119300"/>
            <a:chOff x="5646675" y="2481125"/>
            <a:chExt cx="3142050" cy="1119300"/>
          </a:xfrm>
        </p:grpSpPr>
        <p:cxnSp>
          <p:nvCxnSpPr>
            <p:cNvPr id="635" name="Google Shape;635;p21"/>
            <p:cNvCxnSpPr/>
            <p:nvPr/>
          </p:nvCxnSpPr>
          <p:spPr>
            <a:xfrm rot="10800000">
              <a:off x="6443675" y="2753225"/>
              <a:ext cx="0" cy="847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36" name="Google Shape;636;p21"/>
            <p:cNvCxnSpPr/>
            <p:nvPr/>
          </p:nvCxnSpPr>
          <p:spPr>
            <a:xfrm>
              <a:off x="6436125" y="3600425"/>
              <a:ext cx="2352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37" name="Google Shape;637;p21"/>
            <p:cNvSpPr/>
            <p:nvPr/>
          </p:nvSpPr>
          <p:spPr>
            <a:xfrm>
              <a:off x="6942350" y="2832575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21"/>
            <p:cNvSpPr txBox="1"/>
            <p:nvPr/>
          </p:nvSpPr>
          <p:spPr>
            <a:xfrm>
              <a:off x="6855500" y="2481125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A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39" name="Google Shape;639;p21"/>
            <p:cNvSpPr/>
            <p:nvPr/>
          </p:nvSpPr>
          <p:spPr>
            <a:xfrm>
              <a:off x="8245025" y="3365975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21"/>
            <p:cNvSpPr txBox="1"/>
            <p:nvPr/>
          </p:nvSpPr>
          <p:spPr>
            <a:xfrm>
              <a:off x="8158175" y="3014525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C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41" name="Google Shape;641;p21"/>
            <p:cNvSpPr txBox="1"/>
            <p:nvPr/>
          </p:nvSpPr>
          <p:spPr>
            <a:xfrm>
              <a:off x="5646675" y="3014525"/>
              <a:ext cx="363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/>
                <a:t>f</a:t>
              </a:r>
              <a:r>
                <a:rPr baseline="-25000" lang="zh-TW" sz="2000"/>
                <a:t>2</a:t>
              </a:r>
              <a:endParaRPr baseline="-25000" sz="2000"/>
            </a:p>
          </p:txBody>
        </p:sp>
        <p:sp>
          <p:nvSpPr>
            <p:cNvPr id="642" name="Google Shape;642;p21"/>
            <p:cNvSpPr txBox="1"/>
            <p:nvPr/>
          </p:nvSpPr>
          <p:spPr>
            <a:xfrm>
              <a:off x="5918025" y="2620625"/>
              <a:ext cx="58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#err</a:t>
              </a:r>
              <a:endParaRPr/>
            </a:p>
          </p:txBody>
        </p:sp>
      </p:grpSp>
      <p:grpSp>
        <p:nvGrpSpPr>
          <p:cNvPr id="643" name="Google Shape;643;p21"/>
          <p:cNvGrpSpPr/>
          <p:nvPr/>
        </p:nvGrpSpPr>
        <p:grpSpPr>
          <a:xfrm>
            <a:off x="5646675" y="3834500"/>
            <a:ext cx="3142050" cy="1195500"/>
            <a:chOff x="5646675" y="3834500"/>
            <a:chExt cx="3142050" cy="1195500"/>
          </a:xfrm>
        </p:grpSpPr>
        <p:cxnSp>
          <p:nvCxnSpPr>
            <p:cNvPr id="644" name="Google Shape;644;p21"/>
            <p:cNvCxnSpPr/>
            <p:nvPr/>
          </p:nvCxnSpPr>
          <p:spPr>
            <a:xfrm rot="10800000">
              <a:off x="6443675" y="4182800"/>
              <a:ext cx="0" cy="847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45" name="Google Shape;645;p21"/>
            <p:cNvCxnSpPr/>
            <p:nvPr/>
          </p:nvCxnSpPr>
          <p:spPr>
            <a:xfrm>
              <a:off x="6436125" y="5030000"/>
              <a:ext cx="2352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46" name="Google Shape;646;p21"/>
            <p:cNvSpPr/>
            <p:nvPr/>
          </p:nvSpPr>
          <p:spPr>
            <a:xfrm>
              <a:off x="6942350" y="4231334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21"/>
            <p:cNvSpPr txBox="1"/>
            <p:nvPr/>
          </p:nvSpPr>
          <p:spPr>
            <a:xfrm>
              <a:off x="6855500" y="3879884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A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48" name="Google Shape;648;p21"/>
            <p:cNvSpPr/>
            <p:nvPr/>
          </p:nvSpPr>
          <p:spPr>
            <a:xfrm>
              <a:off x="8245025" y="4185950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21"/>
            <p:cNvSpPr txBox="1"/>
            <p:nvPr/>
          </p:nvSpPr>
          <p:spPr>
            <a:xfrm>
              <a:off x="8158175" y="3834500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C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50" name="Google Shape;650;p21"/>
            <p:cNvSpPr txBox="1"/>
            <p:nvPr/>
          </p:nvSpPr>
          <p:spPr>
            <a:xfrm>
              <a:off x="5646675" y="4444100"/>
              <a:ext cx="363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/>
                <a:t>f</a:t>
              </a:r>
              <a:r>
                <a:rPr baseline="-25000" lang="zh-TW" sz="2000"/>
                <a:t>T</a:t>
              </a:r>
              <a:endParaRPr baseline="-25000" sz="2000"/>
            </a:p>
          </p:txBody>
        </p:sp>
        <p:sp>
          <p:nvSpPr>
            <p:cNvPr id="651" name="Google Shape;651;p21"/>
            <p:cNvSpPr txBox="1"/>
            <p:nvPr/>
          </p:nvSpPr>
          <p:spPr>
            <a:xfrm>
              <a:off x="5918025" y="4050200"/>
              <a:ext cx="58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cpu</a:t>
              </a:r>
              <a:endParaRPr/>
            </a:p>
          </p:txBody>
        </p:sp>
      </p:grpSp>
      <p:grpSp>
        <p:nvGrpSpPr>
          <p:cNvPr id="652" name="Google Shape;652;p21"/>
          <p:cNvGrpSpPr/>
          <p:nvPr/>
        </p:nvGrpSpPr>
        <p:grpSpPr>
          <a:xfrm>
            <a:off x="3831625" y="2119188"/>
            <a:ext cx="1364300" cy="1329900"/>
            <a:chOff x="4073650" y="1574588"/>
            <a:chExt cx="1364300" cy="1329900"/>
          </a:xfrm>
        </p:grpSpPr>
        <p:sp>
          <p:nvSpPr>
            <p:cNvPr id="653" name="Google Shape;653;p21"/>
            <p:cNvSpPr/>
            <p:nvPr/>
          </p:nvSpPr>
          <p:spPr>
            <a:xfrm>
              <a:off x="4073650" y="1574588"/>
              <a:ext cx="513300" cy="51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chemeClr val="dk1"/>
                  </a:solidFill>
                </a:rPr>
                <a:t>f</a:t>
              </a:r>
              <a:r>
                <a:rPr baseline="-25000" lang="zh-TW" sz="2000">
                  <a:solidFill>
                    <a:schemeClr val="dk1"/>
                  </a:solidFill>
                </a:rPr>
                <a:t>1</a:t>
              </a:r>
              <a:endParaRPr/>
            </a:p>
          </p:txBody>
        </p:sp>
        <p:sp>
          <p:nvSpPr>
            <p:cNvPr id="654" name="Google Shape;654;p21"/>
            <p:cNvSpPr/>
            <p:nvPr/>
          </p:nvSpPr>
          <p:spPr>
            <a:xfrm>
              <a:off x="4073650" y="2391188"/>
              <a:ext cx="513300" cy="51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chemeClr val="dk1"/>
                  </a:solidFill>
                </a:rPr>
                <a:t>f</a:t>
              </a:r>
              <a:r>
                <a:rPr baseline="-25000" lang="zh-TW" sz="2000">
                  <a:solidFill>
                    <a:schemeClr val="dk1"/>
                  </a:solidFill>
                </a:rPr>
                <a:t>2</a:t>
              </a:r>
              <a:endParaRPr/>
            </a:p>
          </p:txBody>
        </p:sp>
        <p:sp>
          <p:nvSpPr>
            <p:cNvPr id="655" name="Google Shape;655;p21"/>
            <p:cNvSpPr/>
            <p:nvPr/>
          </p:nvSpPr>
          <p:spPr>
            <a:xfrm>
              <a:off x="4924650" y="1985138"/>
              <a:ext cx="513300" cy="51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chemeClr val="dk1"/>
                  </a:solidFill>
                </a:rPr>
                <a:t>f</a:t>
              </a:r>
              <a:r>
                <a:rPr baseline="-25000" lang="zh-TW" sz="2000">
                  <a:solidFill>
                    <a:schemeClr val="dk1"/>
                  </a:solidFill>
                </a:rPr>
                <a:t>T</a:t>
              </a:r>
              <a:endParaRPr/>
            </a:p>
          </p:txBody>
        </p:sp>
        <p:cxnSp>
          <p:nvCxnSpPr>
            <p:cNvPr id="656" name="Google Shape;656;p21"/>
            <p:cNvCxnSpPr>
              <a:stCxn id="653" idx="6"/>
              <a:endCxn id="655" idx="1"/>
            </p:cNvCxnSpPr>
            <p:nvPr/>
          </p:nvCxnSpPr>
          <p:spPr>
            <a:xfrm>
              <a:off x="4586950" y="1831238"/>
              <a:ext cx="412800" cy="229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57" name="Google Shape;657;p21"/>
            <p:cNvCxnSpPr>
              <a:stCxn id="654" idx="6"/>
              <a:endCxn id="655" idx="3"/>
            </p:cNvCxnSpPr>
            <p:nvPr/>
          </p:nvCxnSpPr>
          <p:spPr>
            <a:xfrm flipH="1" rot="10800000">
              <a:off x="4586950" y="2423138"/>
              <a:ext cx="4128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658" name="Google Shape;658;p21"/>
          <p:cNvSpPr txBox="1"/>
          <p:nvPr/>
        </p:nvSpPr>
        <p:spPr>
          <a:xfrm>
            <a:off x="3630700" y="4145050"/>
            <a:ext cx="1959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highlight>
                  <a:srgbClr val="FFFF00"/>
                </a:highlight>
              </a:rPr>
              <a:t>The root cause of C should be different from A's root cause.</a:t>
            </a:r>
            <a:endParaRPr b="1">
              <a:highlight>
                <a:srgbClr val="FFFF00"/>
              </a:highlight>
            </a:endParaRPr>
          </a:p>
        </p:txBody>
      </p:sp>
      <p:sp>
        <p:nvSpPr>
          <p:cNvPr id="659" name="Google Shape;659;p21"/>
          <p:cNvSpPr/>
          <p:nvPr/>
        </p:nvSpPr>
        <p:spPr>
          <a:xfrm>
            <a:off x="207861" y="1035546"/>
            <a:ext cx="5214475" cy="4088300"/>
          </a:xfrm>
          <a:custGeom>
            <a:rect b="b" l="l" r="r" t="t"/>
            <a:pathLst>
              <a:path extrusionOk="0" h="163532" w="208579">
                <a:moveTo>
                  <a:pt x="4545" y="162481"/>
                </a:moveTo>
                <a:cubicBezTo>
                  <a:pt x="32101" y="162481"/>
                  <a:pt x="59652" y="163400"/>
                  <a:pt x="87208" y="163400"/>
                </a:cubicBezTo>
                <a:cubicBezTo>
                  <a:pt x="97418" y="163400"/>
                  <a:pt x="107676" y="163608"/>
                  <a:pt x="117824" y="162481"/>
                </a:cubicBezTo>
                <a:cubicBezTo>
                  <a:pt x="122398" y="161973"/>
                  <a:pt x="129234" y="165510"/>
                  <a:pt x="131601" y="161563"/>
                </a:cubicBezTo>
                <a:cubicBezTo>
                  <a:pt x="134547" y="156649"/>
                  <a:pt x="132826" y="150148"/>
                  <a:pt x="132826" y="144418"/>
                </a:cubicBezTo>
                <a:cubicBezTo>
                  <a:pt x="132826" y="134049"/>
                  <a:pt x="133467" y="123499"/>
                  <a:pt x="136194" y="113495"/>
                </a:cubicBezTo>
                <a:cubicBezTo>
                  <a:pt x="137153" y="109977"/>
                  <a:pt x="136434" y="104961"/>
                  <a:pt x="139562" y="103086"/>
                </a:cubicBezTo>
                <a:cubicBezTo>
                  <a:pt x="158082" y="91981"/>
                  <a:pt x="185544" y="106573"/>
                  <a:pt x="203855" y="95126"/>
                </a:cubicBezTo>
                <a:cubicBezTo>
                  <a:pt x="208746" y="92069"/>
                  <a:pt x="207196" y="84019"/>
                  <a:pt x="207835" y="78287"/>
                </a:cubicBezTo>
                <a:cubicBezTo>
                  <a:pt x="209235" y="65719"/>
                  <a:pt x="208895" y="51941"/>
                  <a:pt x="203243" y="40629"/>
                </a:cubicBezTo>
                <a:cubicBezTo>
                  <a:pt x="201242" y="36625"/>
                  <a:pt x="195439" y="35673"/>
                  <a:pt x="190997" y="35118"/>
                </a:cubicBezTo>
                <a:cubicBezTo>
                  <a:pt x="181882" y="33979"/>
                  <a:pt x="172535" y="33514"/>
                  <a:pt x="163442" y="34812"/>
                </a:cubicBezTo>
                <a:cubicBezTo>
                  <a:pt x="157675" y="35635"/>
                  <a:pt x="150985" y="38730"/>
                  <a:pt x="145991" y="35731"/>
                </a:cubicBezTo>
                <a:cubicBezTo>
                  <a:pt x="143884" y="34465"/>
                  <a:pt x="145684" y="30822"/>
                  <a:pt x="145379" y="28383"/>
                </a:cubicBezTo>
                <a:cubicBezTo>
                  <a:pt x="144697" y="22921"/>
                  <a:pt x="142924" y="17627"/>
                  <a:pt x="142317" y="12156"/>
                </a:cubicBezTo>
                <a:cubicBezTo>
                  <a:pt x="141956" y="8909"/>
                  <a:pt x="144103" y="4869"/>
                  <a:pt x="142011" y="2359"/>
                </a:cubicBezTo>
                <a:cubicBezTo>
                  <a:pt x="138089" y="-2347"/>
                  <a:pt x="129768" y="1747"/>
                  <a:pt x="123641" y="1747"/>
                </a:cubicBezTo>
                <a:cubicBezTo>
                  <a:pt x="107823" y="1747"/>
                  <a:pt x="92004" y="1747"/>
                  <a:pt x="76186" y="1747"/>
                </a:cubicBezTo>
                <a:cubicBezTo>
                  <a:pt x="60057" y="1747"/>
                  <a:pt x="43942" y="2971"/>
                  <a:pt x="27813" y="2971"/>
                </a:cubicBezTo>
                <a:cubicBezTo>
                  <a:pt x="22803" y="2971"/>
                  <a:pt x="17821" y="3890"/>
                  <a:pt x="12811" y="3890"/>
                </a:cubicBezTo>
                <a:cubicBezTo>
                  <a:pt x="9952" y="3890"/>
                  <a:pt x="6410" y="2335"/>
                  <a:pt x="4239" y="4196"/>
                </a:cubicBezTo>
                <a:cubicBezTo>
                  <a:pt x="-1470" y="9090"/>
                  <a:pt x="-59" y="19129"/>
                  <a:pt x="1177" y="26546"/>
                </a:cubicBezTo>
                <a:cubicBezTo>
                  <a:pt x="2671" y="35510"/>
                  <a:pt x="3156" y="44768"/>
                  <a:pt x="2095" y="53794"/>
                </a:cubicBezTo>
                <a:cubicBezTo>
                  <a:pt x="-849" y="78829"/>
                  <a:pt x="463" y="104283"/>
                  <a:pt x="2402" y="129416"/>
                </a:cubicBezTo>
                <a:cubicBezTo>
                  <a:pt x="3275" y="140733"/>
                  <a:pt x="959" y="152631"/>
                  <a:pt x="4545" y="163400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60" name="Google Shape;660;p21"/>
          <p:cNvSpPr txBox="1"/>
          <p:nvPr/>
        </p:nvSpPr>
        <p:spPr>
          <a:xfrm>
            <a:off x="3974713" y="1140425"/>
            <a:ext cx="1117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FF0000"/>
                </a:solidFill>
              </a:rPr>
              <a:t>Causal Discovery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Two cases at TSMC</a:t>
            </a:r>
            <a:endParaRPr/>
          </a:p>
        </p:txBody>
      </p:sp>
      <p:graphicFrame>
        <p:nvGraphicFramePr>
          <p:cNvPr id="666" name="Google Shape;666;p22"/>
          <p:cNvGraphicFramePr/>
          <p:nvPr/>
        </p:nvGraphicFramePr>
        <p:xfrm>
          <a:off x="171405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{1DD3C30C-06B7-461B-A279-907DD2700492}</a:tableStyleId>
              </a:tblPr>
              <a:tblGrid>
                <a:gridCol w="2159150"/>
                <a:gridCol w="2159150"/>
                <a:gridCol w="2159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case 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case 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M features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(may contain categorical features)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Q features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Shared features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Sequential steps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Causal Discovery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Causal Inference / RCA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67" name="Google Shape;667;p22"/>
          <p:cNvSpPr txBox="1"/>
          <p:nvPr/>
        </p:nvSpPr>
        <p:spPr>
          <a:xfrm>
            <a:off x="5550" y="2297350"/>
            <a:ext cx="155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highlight>
                  <a:srgbClr val="FFFF00"/>
                </a:highlight>
              </a:rPr>
              <a:t>Edge Existence Constraints</a:t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668" name="Google Shape;668;p22"/>
          <p:cNvSpPr/>
          <p:nvPr/>
        </p:nvSpPr>
        <p:spPr>
          <a:xfrm>
            <a:off x="1454275" y="1852275"/>
            <a:ext cx="206700" cy="1507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Two cases at TSMC</a:t>
            </a:r>
            <a:endParaRPr/>
          </a:p>
        </p:txBody>
      </p:sp>
      <p:graphicFrame>
        <p:nvGraphicFramePr>
          <p:cNvPr id="674" name="Google Shape;674;p23"/>
          <p:cNvGraphicFramePr/>
          <p:nvPr/>
        </p:nvGraphicFramePr>
        <p:xfrm>
          <a:off x="171405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{1DD3C30C-06B7-461B-A279-907DD2700492}</a:tableStyleId>
              </a:tblPr>
              <a:tblGrid>
                <a:gridCol w="2159150"/>
                <a:gridCol w="2159150"/>
                <a:gridCol w="2159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case 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case 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# </a:t>
                      </a:r>
                      <a:r>
                        <a:rPr lang="zh-TW"/>
                        <a:t>M features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537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# </a:t>
                      </a:r>
                      <a:r>
                        <a:rPr lang="zh-TW"/>
                        <a:t>Q features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39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178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Shared features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lot_id, part_id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# </a:t>
                      </a:r>
                      <a:r>
                        <a:rPr lang="zh-TW"/>
                        <a:t>Sequential steps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36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18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# Wafers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1~12782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75" name="Google Shape;675;p23"/>
          <p:cNvSpPr txBox="1"/>
          <p:nvPr/>
        </p:nvSpPr>
        <p:spPr>
          <a:xfrm>
            <a:off x="6510300" y="671100"/>
            <a:ext cx="127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Many part6</a:t>
            </a:r>
            <a:endParaRPr/>
          </a:p>
        </p:txBody>
      </p:sp>
      <p:cxnSp>
        <p:nvCxnSpPr>
          <p:cNvPr id="676" name="Google Shape;676;p23"/>
          <p:cNvCxnSpPr/>
          <p:nvPr/>
        </p:nvCxnSpPr>
        <p:spPr>
          <a:xfrm>
            <a:off x="7140525" y="1056250"/>
            <a:ext cx="0" cy="27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 Two-Stage Solution</a:t>
            </a:r>
            <a:endParaRPr/>
          </a:p>
        </p:txBody>
      </p:sp>
      <p:sp>
        <p:nvSpPr>
          <p:cNvPr id="682" name="Google Shape;682;p24"/>
          <p:cNvSpPr txBox="1"/>
          <p:nvPr>
            <p:ph idx="1" type="body"/>
          </p:nvPr>
        </p:nvSpPr>
        <p:spPr>
          <a:xfrm>
            <a:off x="311700" y="1152475"/>
            <a:ext cx="8520600" cy="38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(Causal Discovery) When creating the causal graph, we can add some constraints on edges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Some edges shouldn’t exist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next step → previous step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measurement feature → manufacturing feature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Some edges should exist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domain knowledge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(Causal Inference) Use learned [causal graph/…] to perform root cause analysis (RCA)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Evaluation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Open </a:t>
            </a:r>
            <a:r>
              <a:rPr lang="zh-TW"/>
              <a:t>manufacturing </a:t>
            </a:r>
            <a:r>
              <a:rPr lang="zh-TW"/>
              <a:t>dataset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Open irregular time-series dataset with self-added constraints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Synthetic dataset</a:t>
            </a:r>
            <a:endParaRPr/>
          </a:p>
        </p:txBody>
      </p:sp>
      <p:sp>
        <p:nvSpPr>
          <p:cNvPr id="683" name="Google Shape;683;p24"/>
          <p:cNvSpPr txBox="1"/>
          <p:nvPr/>
        </p:nvSpPr>
        <p:spPr>
          <a:xfrm>
            <a:off x="5878275" y="1898200"/>
            <a:ext cx="2870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rgbClr val="FF0000"/>
                </a:solidFill>
              </a:rPr>
              <a:t>Extend from CUTS, CUTS+</a:t>
            </a:r>
            <a:endParaRPr b="1" sz="1600">
              <a:solidFill>
                <a:srgbClr val="FF0000"/>
              </a:solidFill>
            </a:endParaRPr>
          </a:p>
        </p:txBody>
      </p:sp>
      <p:sp>
        <p:nvSpPr>
          <p:cNvPr id="684" name="Google Shape;684;p24"/>
          <p:cNvSpPr txBox="1"/>
          <p:nvPr/>
        </p:nvSpPr>
        <p:spPr>
          <a:xfrm>
            <a:off x="5878275" y="3209775"/>
            <a:ext cx="2870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rgbClr val="FF0000"/>
                </a:solidFill>
              </a:rPr>
              <a:t>Extend from …</a:t>
            </a:r>
            <a:endParaRPr b="1" sz="16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Thanks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Few Data secnario</a:t>
            </a:r>
            <a:endParaRPr/>
          </a:p>
        </p:txBody>
      </p:sp>
      <p:sp>
        <p:nvSpPr>
          <p:cNvPr id="695" name="Google Shape;69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74 wafers for this “case”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For AISPC (non-causal kernel), it only needs to have these 74 wafers to get the prediction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We can have a lot of cases, but for each case, the number of wafers is limited (?)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Ideas</a:t>
            </a:r>
            <a:endParaRPr/>
          </a:p>
        </p:txBody>
      </p:sp>
      <p:sp>
        <p:nvSpPr>
          <p:cNvPr id="701" name="Google Shape;701;p27"/>
          <p:cNvSpPr txBox="1"/>
          <p:nvPr>
            <p:ph idx="1" type="body"/>
          </p:nvPr>
        </p:nvSpPr>
        <p:spPr>
          <a:xfrm>
            <a:off x="311700" y="1152475"/>
            <a:ext cx="8750700" cy="37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Edge Existence Constraints (should or should not exist)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Diffusion model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Reinforcement learning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GNN’s edge detection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Few Data Scenario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Meta learning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Pretrained model with few-shot learning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Diffusion Causal Models for Counterfactural Estimation (CLeaR 2022)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Diffusion Models for Causal Discovery via Topological Ordering (ICLR 2023)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A Survey on Causal Reinforcement Learning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A Meta-Reinforcement Learning Algorithm for Causal Discovery (CLeaR 2023)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RCA vs. Causal Learning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Connections</a:t>
            </a:r>
            <a:endParaRPr/>
          </a:p>
        </p:txBody>
      </p:sp>
      <p:sp>
        <p:nvSpPr>
          <p:cNvPr id="712" name="Google Shape;71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Causal Inference ⟷ Root Cause Analysis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(CIRCA) Causal Inference-Based Root Cause Analysis for </a:t>
            </a:r>
            <a:r>
              <a:rPr lang="zh-TW">
                <a:highlight>
                  <a:srgbClr val="FFFF00"/>
                </a:highlight>
              </a:rPr>
              <a:t>Online Service Systems</a:t>
            </a:r>
            <a:r>
              <a:rPr lang="zh-TW"/>
              <a:t> with Intervention Recognition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KDD 2022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Causal Discovery ⟷ Root Cause Analysis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(RCD) Root Cause Analysis of Failures in </a:t>
            </a:r>
            <a:r>
              <a:rPr lang="zh-TW">
                <a:highlight>
                  <a:srgbClr val="FFFF00"/>
                </a:highlight>
              </a:rPr>
              <a:t>Microservices</a:t>
            </a:r>
            <a:r>
              <a:rPr lang="zh-TW"/>
              <a:t> through Causal Discovery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NeruIPS 2022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9E9E9E"/>
              </a:buClr>
              <a:buSzPts val="1800"/>
              <a:buChar char="●"/>
            </a:pPr>
            <a:r>
              <a:rPr lang="zh-TW">
                <a:solidFill>
                  <a:srgbClr val="9E9E9E"/>
                </a:solidFill>
              </a:rPr>
              <a:t>SCM ⟷ GNN</a:t>
            </a:r>
            <a:endParaRPr>
              <a:solidFill>
                <a:srgbClr val="9E9E9E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400"/>
              <a:buChar char="○"/>
            </a:pPr>
            <a:r>
              <a:rPr lang="zh-TW">
                <a:solidFill>
                  <a:srgbClr val="9E9E9E"/>
                </a:solidFill>
              </a:rPr>
              <a:t>Relating Graph Neural Networks to Structural Causal Models</a:t>
            </a:r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Problem Encountered at TSMC</a:t>
            </a:r>
            <a:endParaRPr/>
          </a:p>
        </p:txBody>
      </p:sp>
      <p:sp>
        <p:nvSpPr>
          <p:cNvPr id="718" name="Google Shape;71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Categorical and numerical features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Out-of-vocabulary in categorical features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Enormous</a:t>
            </a:r>
            <a:r>
              <a:rPr lang="zh-TW"/>
              <a:t> amount of features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Missing Data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Baseline</a:t>
            </a:r>
            <a:endParaRPr/>
          </a:p>
        </p:txBody>
      </p:sp>
      <p:sp>
        <p:nvSpPr>
          <p:cNvPr id="724" name="Google Shape;724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Causal Discovery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Score-based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NOTEARS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DAGMA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Constraint-based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PC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FCI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Functional-based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Causal Inference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Root Cause Analysis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paper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