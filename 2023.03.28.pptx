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33163BE-9A71-4101-8F6A-F2285E46B901}">
  <a:tblStyle styleId="{133163BE-9A71-4101-8F6A-F2285E46B90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0f19a2d99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0f19a2d99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0f1a2479b4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0f1a2479b4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f1a2479b4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f1a2479b4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0f1a2479b4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0f1a2479b4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0f1a2479b4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0f1a2479b4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0f1a2479b4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0f1a2479b4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0f1a2479b4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0f1a2479b4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0f1a2479b4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0f1a2479b4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0f1a2479b4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0f1a2479b4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0f1a2479b4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0f1a2479b4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0f1a2479b4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0f1a2479b4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0f1a2479b4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0f1a2479b4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0f1a2479b4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0f1a2479b4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0f1a2479b4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0f1a2479b4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0f1a2479b4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0f1a2479b4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0f1a2479b4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0f1a2479b4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zh-TW"/>
              <a:t>2023 JDP –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AI Causality Inferences for TSMC Operations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zh-TW"/>
              <a:t>Advisor: Wen-Chih Peng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zh-TW"/>
              <a:t>Student: Zheng-Ming (Paul) Lin, Ching (Jason) Chang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Date: 2023/03/28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Outline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Problem Definition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Preliminaries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My understandings on RCA in industrial </a:t>
            </a:r>
            <a:r>
              <a:rPr lang="zh-TW"/>
              <a:t>manufacturing</a:t>
            </a:r>
            <a:r>
              <a:rPr lang="zh-TW"/>
              <a:t> data analysis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trike="sngStrike"/>
              <a:t>Open datasets</a:t>
            </a:r>
            <a:endParaRPr strike="sng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Problem Definition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Problem Settings</a:t>
            </a:r>
            <a:endParaRPr/>
          </a:p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73" name="Google Shape;73;p16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{133163BE-9A71-4101-8F6A-F2285E46B901}</a:tableStyleId>
              </a:tblPr>
              <a:tblGrid>
                <a:gridCol w="2687000"/>
                <a:gridCol w="4552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Supervised or Unsupervised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Unsupervised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AD or RCA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RCA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9E9E9E"/>
                          </a:solidFill>
                        </a:rPr>
                        <a:t>Offline or Online</a:t>
                      </a:r>
                      <a:endParaRPr>
                        <a:solidFill>
                          <a:srgbClr val="9E9E9E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9E9E9E"/>
                          </a:solidFill>
                        </a:rPr>
                        <a:t>Online</a:t>
                      </a:r>
                      <a:endParaRPr>
                        <a:solidFill>
                          <a:srgbClr val="9E9E9E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Data Source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Metric </a:t>
                      </a:r>
                      <a:r>
                        <a:rPr lang="zh-TW" strike="sngStrike"/>
                        <a:t>+ Log + Trace + Activities</a:t>
                      </a:r>
                      <a:endParaRPr strike="sng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Others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chemeClr val="accent5"/>
                          </a:solidFill>
                        </a:rPr>
                        <a:t>Graph-based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chemeClr val="accent5"/>
                          </a:solidFill>
                        </a:rPr>
                        <a:t>GNN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chemeClr val="accent5"/>
                          </a:solidFill>
                        </a:rPr>
                        <a:t>Self-supervised Learning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74" name="Google Shape;74;p16"/>
          <p:cNvSpPr txBox="1"/>
          <p:nvPr/>
        </p:nvSpPr>
        <p:spPr>
          <a:xfrm>
            <a:off x="1040675" y="4110300"/>
            <a:ext cx="6131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trike="sngStrike"/>
              <a:t>Metric: intra-service, inter-service</a:t>
            </a:r>
            <a:endParaRPr strike="sng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trike="sngStrike"/>
              <a:t>Activities: code deployment, ML model deployment, configuration changes</a:t>
            </a:r>
            <a:endParaRPr strike="sngStrike"/>
          </a:p>
        </p:txBody>
      </p:sp>
      <p:sp>
        <p:nvSpPr>
          <p:cNvPr id="75" name="Google Shape;75;p16"/>
          <p:cNvSpPr txBox="1"/>
          <p:nvPr/>
        </p:nvSpPr>
        <p:spPr>
          <a:xfrm>
            <a:off x="4115550" y="295000"/>
            <a:ext cx="435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Microservices → Industrial time-series data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Preliminaries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Survey Papers for “Causality”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Don’t want to spend a lot of time understanding the whole survey papers (if it’s not deep-learning-based)</a:t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41112"/>
            <a:ext cx="9143999" cy="118897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/>
          <p:nvPr/>
        </p:nvSpPr>
        <p:spPr>
          <a:xfrm>
            <a:off x="0" y="2148200"/>
            <a:ext cx="9144000" cy="257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Preliminaries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Correlation → Causation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Causal Discovery vs. </a:t>
            </a:r>
            <a:r>
              <a:rPr lang="zh-TW"/>
              <a:t>Causal Inference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Root Cause Analysis (RCA)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Correlation → Causation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Correlation: A statistical measure that describes the degree to which two variables move in relation to each other.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Correlation coefficient (r) ranges from -1 (perfect negative correlation) to 1 (perfect positive correlation).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Example: A positive correlation between </a:t>
            </a:r>
            <a:r>
              <a:rPr b="1" i="1" lang="zh-TW" u="sng"/>
              <a:t>ice cream sales</a:t>
            </a:r>
            <a:r>
              <a:rPr lang="zh-TW"/>
              <a:t> (S) and </a:t>
            </a:r>
            <a:r>
              <a:rPr b="1" i="1" lang="zh-TW" u="sng"/>
              <a:t>crime rate</a:t>
            </a:r>
            <a:r>
              <a:rPr lang="zh-TW"/>
              <a:t> (C).</a:t>
            </a:r>
            <a:endParaRPr/>
          </a:p>
        </p:txBody>
      </p:sp>
      <p:sp>
        <p:nvSpPr>
          <p:cNvPr id="101" name="Google Shape;101;p20"/>
          <p:cNvSpPr txBox="1"/>
          <p:nvPr/>
        </p:nvSpPr>
        <p:spPr>
          <a:xfrm>
            <a:off x="4039175" y="2881875"/>
            <a:ext cx="91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0000"/>
                </a:solidFill>
              </a:rPr>
              <a:t>S </a:t>
            </a:r>
            <a:r>
              <a:rPr lang="zh-TW" sz="1800">
                <a:solidFill>
                  <a:srgbClr val="FF0000"/>
                </a:solidFill>
              </a:rPr>
              <a:t>⟷ C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Correlation → Causation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Causation: The relationship between two events where one event (the cause) directly brings about another event (the effect).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Spurious correlations and confounding variables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>
                <a:highlight>
                  <a:srgbClr val="FFFF00"/>
                </a:highlight>
              </a:rPr>
              <a:t>Correlations can be misleading if there is a hidden variable affecting both observed variables.</a:t>
            </a:r>
            <a:endParaRPr>
              <a:highlight>
                <a:srgbClr val="FFFF00"/>
              </a:highlight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Example: The correlation between ice cream sales (S) and crime rate (C) disappears when considering temperature (T) as a confounding variable.</a:t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 rotWithShape="1">
          <a:blip r:embed="rId3">
            <a:alphaModFix/>
          </a:blip>
          <a:srcRect b="4556" l="29117" r="8759" t="40149"/>
          <a:stretch/>
        </p:blipFill>
        <p:spPr>
          <a:xfrm>
            <a:off x="756425" y="3182100"/>
            <a:ext cx="3539926" cy="177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1"/>
          <p:cNvSpPr txBox="1"/>
          <p:nvPr/>
        </p:nvSpPr>
        <p:spPr>
          <a:xfrm>
            <a:off x="5514150" y="3570200"/>
            <a:ext cx="140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0000"/>
                </a:solidFill>
              </a:rPr>
              <a:t>S ← T → C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Causal Discovery vs. Causal Inference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i="1" lang="zh-TW" u="sng"/>
              <a:t>Causal Discovery</a:t>
            </a:r>
            <a:r>
              <a:rPr lang="zh-TW"/>
              <a:t> focuses on obtaining causal knowledge directly from observational data.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i="1" lang="zh-TW" u="sng"/>
              <a:t>Causal Inference</a:t>
            </a:r>
            <a:r>
              <a:rPr lang="zh-TW"/>
              <a:t> aims to estimate the impact deriving from a change of a certain variable over an outcome of interest.</a:t>
            </a:r>
            <a:endParaRPr/>
          </a:p>
        </p:txBody>
      </p:sp>
      <p:sp>
        <p:nvSpPr>
          <p:cNvPr id="116" name="Google Shape;116;p22"/>
          <p:cNvSpPr txBox="1"/>
          <p:nvPr/>
        </p:nvSpPr>
        <p:spPr>
          <a:xfrm>
            <a:off x="311700" y="4703625"/>
            <a:ext cx="766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E1D7C8"/>
                </a:solidFill>
              </a:rPr>
              <a:t>Deng, Zizhen, et al. "Deep Causal Learning: Representation, Discovery and Inference." </a:t>
            </a:r>
            <a:r>
              <a:rPr i="1" lang="zh-TW" sz="1000">
                <a:solidFill>
                  <a:srgbClr val="E1D7C8"/>
                </a:solidFill>
              </a:rPr>
              <a:t>arXiv preprint arXiv:2211.03374</a:t>
            </a:r>
            <a:r>
              <a:rPr lang="zh-TW" sz="1000">
                <a:solidFill>
                  <a:srgbClr val="E1D7C8"/>
                </a:solidFill>
              </a:rPr>
              <a:t> (2022).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Causal Discovery vs. Causal Inference</a:t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Causal Discovery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The process of </a:t>
            </a:r>
            <a:r>
              <a:rPr b="1" i="1" lang="zh-TW" u="sng"/>
              <a:t>identifying causal relationships</a:t>
            </a:r>
            <a:r>
              <a:rPr lang="zh-TW"/>
              <a:t> between variables using data and statistical models.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Result: A DAG and SCM representing the causal relationships between variables.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Example: Ice Cream Sales (S), Crime Rate (C), and Temperature (T)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Input: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/>
              <a:t>Data on ice cream sales (S), crime rate (C), and temperature (T).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Output: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/>
              <a:t>DAG (S ← T → C)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/>
              <a:t>SCM (S = aT + e1; C = bT + e2) representing the causal relationships.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Causal Discovery vs. Causal Inference</a:t>
            </a:r>
            <a:endParaRPr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Causal Inference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The process of </a:t>
            </a:r>
            <a:r>
              <a:rPr b="1" i="1" lang="zh-TW" u="sng"/>
              <a:t>using the discovered causal relationships to make predictions</a:t>
            </a:r>
            <a:r>
              <a:rPr lang="zh-TW"/>
              <a:t> or estimate the effects of </a:t>
            </a:r>
            <a:r>
              <a:rPr lang="zh-TW">
                <a:highlight>
                  <a:srgbClr val="FFFF00"/>
                </a:highlight>
              </a:rPr>
              <a:t>interventions</a:t>
            </a:r>
            <a:r>
              <a:rPr lang="zh-TW"/>
              <a:t> on variables.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Result: An expected change in the outcome variable due to the intervention.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Example: Ice Cream Sales (S), Crime Rate (C), and Temperature (T)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Input: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/>
              <a:t>Causal model (DAG or SCM) and hypothetical intervention (e.g., setting ice cream sales to a fixed value S = s).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Output: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/>
              <a:t>Expected change in crime rate (C) due to the intervention (no effect in this case, as the intervention on S does not influence C based on the model).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Causal Inference vs. Root Cause Analysis</a:t>
            </a:r>
            <a:endParaRPr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CIRCA formulates RCA as Intervention Recognition (IR)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Definition 2.1 (Intervention Recognition, IR): For a given SCM M, let L1 be the observational distribution of M and 𝑃𝑚 = 𝑃(V | 𝑑𝑜(m)) be the interventional distribution of a certain intervention 𝑑𝑜(m). Intervention recognition is to find m based on L1 and 𝑃𝑚.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Definition 2.2 (Root Cause): The root cause is the intervened variables (M). Each element of M is named a root cause variable.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Input: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Observational distribution (L1), interventional distribution (𝑃𝑚), and an SCM M.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Output: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The identified intervention (m) and root cause variables (M).</a:t>
            </a:r>
            <a:endParaRPr/>
          </a:p>
        </p:txBody>
      </p:sp>
      <p:sp>
        <p:nvSpPr>
          <p:cNvPr id="135" name="Google Shape;135;p25"/>
          <p:cNvSpPr txBox="1"/>
          <p:nvPr/>
        </p:nvSpPr>
        <p:spPr>
          <a:xfrm>
            <a:off x="311700" y="4650900"/>
            <a:ext cx="852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E1D7C8"/>
                </a:solidFill>
              </a:rPr>
              <a:t>Li, Mingjie, et al. "Causal Inference-Based Root Cause Analysis for Online Service Systems with Intervention Recognition." </a:t>
            </a:r>
            <a:r>
              <a:rPr i="1" lang="zh-TW" sz="1000">
                <a:solidFill>
                  <a:srgbClr val="E1D7C8"/>
                </a:solidFill>
              </a:rPr>
              <a:t>arXiv preprint arXiv:2206.05871</a:t>
            </a:r>
            <a:r>
              <a:rPr lang="zh-TW" sz="1000">
                <a:solidFill>
                  <a:srgbClr val="E1D7C8"/>
                </a:solidFill>
              </a:rPr>
              <a:t> (2022).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My understandings on RCA in industrial manufacturing data analysis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Invariant Network - Ranking Causal Anomalies</a:t>
            </a:r>
            <a:endParaRPr/>
          </a:p>
        </p:txBody>
      </p:sp>
      <p:sp>
        <p:nvSpPr>
          <p:cNvPr id="146" name="Google Shape;14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Problem Definition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Input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Multivariate time series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Output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Multiple abnormal nodes in 𝑔_𝑖 that are most responsible for causing the broken edges in 𝑔_𝑏 (multifaceted causal anomalies)</a:t>
            </a:r>
            <a:endParaRPr/>
          </a:p>
        </p:txBody>
      </p:sp>
      <p:sp>
        <p:nvSpPr>
          <p:cNvPr id="147" name="Google Shape;147;p27"/>
          <p:cNvSpPr txBox="1"/>
          <p:nvPr/>
        </p:nvSpPr>
        <p:spPr>
          <a:xfrm>
            <a:off x="311700" y="4650900"/>
            <a:ext cx="852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E1D7C8"/>
                </a:solidFill>
              </a:rPr>
              <a:t>Ni, Jingchao, et al. "Ranking causal anomalies by modeling local propagations on networked systems." </a:t>
            </a:r>
            <a:r>
              <a:rPr i="1" lang="zh-TW" sz="1000">
                <a:solidFill>
                  <a:srgbClr val="E1D7C8"/>
                </a:solidFill>
              </a:rPr>
              <a:t>2017 IEEE International Conference on Data Mining (ICDM)</a:t>
            </a:r>
            <a:r>
              <a:rPr lang="zh-TW" sz="1000">
                <a:solidFill>
                  <a:srgbClr val="E1D7C8"/>
                </a:solidFill>
              </a:rPr>
              <a:t>. IEEE, 2017.</a:t>
            </a:r>
            <a:endParaRPr/>
          </a:p>
        </p:txBody>
      </p:sp>
      <p:pic>
        <p:nvPicPr>
          <p:cNvPr id="148" name="Google Shape;14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5325" y="2903149"/>
            <a:ext cx="4020675" cy="17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7"/>
          <p:cNvSpPr txBox="1"/>
          <p:nvPr/>
        </p:nvSpPr>
        <p:spPr>
          <a:xfrm>
            <a:off x="8047275" y="44825"/>
            <a:ext cx="102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00"/>
                </a:solidFill>
              </a:rPr>
              <a:t>ML-based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Connections</a:t>
            </a:r>
            <a:endParaRPr/>
          </a:p>
        </p:txBody>
      </p:sp>
      <p:sp>
        <p:nvSpPr>
          <p:cNvPr id="155" name="Google Shape;15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Causal Inference ⟷ Root Cause Analysis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Causal Inference-Based Root Cause Analysis for Online Service Systems with Intervention Recognition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SCM ⟷ GNN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Relating Graph Neural Networks to Structural Causal Models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Dataset format</a:t>
            </a:r>
            <a:endParaRPr/>
          </a:p>
        </p:txBody>
      </p:sp>
      <p:sp>
        <p:nvSpPr>
          <p:cNvPr id="161" name="Google Shape;16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Time-series only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For each “stage”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Different features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Different time length</a:t>
            </a:r>
            <a:endParaRPr/>
          </a:p>
        </p:txBody>
      </p:sp>
      <p:grpSp>
        <p:nvGrpSpPr>
          <p:cNvPr id="162" name="Google Shape;162;p29"/>
          <p:cNvGrpSpPr/>
          <p:nvPr/>
        </p:nvGrpSpPr>
        <p:grpSpPr>
          <a:xfrm>
            <a:off x="3169325" y="2700350"/>
            <a:ext cx="4523325" cy="1958950"/>
            <a:chOff x="1278325" y="2359950"/>
            <a:chExt cx="4523325" cy="1958950"/>
          </a:xfrm>
        </p:grpSpPr>
        <p:cxnSp>
          <p:nvCxnSpPr>
            <p:cNvPr id="163" name="Google Shape;163;p29"/>
            <p:cNvCxnSpPr/>
            <p:nvPr/>
          </p:nvCxnSpPr>
          <p:spPr>
            <a:xfrm rot="10800000">
              <a:off x="1565725" y="2367450"/>
              <a:ext cx="0" cy="1338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4" name="Google Shape;164;p29"/>
            <p:cNvSpPr txBox="1"/>
            <p:nvPr/>
          </p:nvSpPr>
          <p:spPr>
            <a:xfrm>
              <a:off x="1278325" y="2832450"/>
              <a:ext cx="242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f</a:t>
              </a:r>
              <a:endParaRPr/>
            </a:p>
          </p:txBody>
        </p:sp>
        <p:cxnSp>
          <p:nvCxnSpPr>
            <p:cNvPr id="165" name="Google Shape;165;p29"/>
            <p:cNvCxnSpPr/>
            <p:nvPr/>
          </p:nvCxnSpPr>
          <p:spPr>
            <a:xfrm>
              <a:off x="1732150" y="3896575"/>
              <a:ext cx="40695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6" name="Google Shape;166;p29"/>
            <p:cNvSpPr txBox="1"/>
            <p:nvPr/>
          </p:nvSpPr>
          <p:spPr>
            <a:xfrm>
              <a:off x="3645850" y="3918700"/>
              <a:ext cx="242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t</a:t>
              </a:r>
              <a:endParaRPr/>
            </a:p>
          </p:txBody>
        </p:sp>
        <p:sp>
          <p:nvSpPr>
            <p:cNvPr id="167" name="Google Shape;167;p29"/>
            <p:cNvSpPr/>
            <p:nvPr/>
          </p:nvSpPr>
          <p:spPr>
            <a:xfrm>
              <a:off x="1762400" y="2359950"/>
              <a:ext cx="1134600" cy="400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9"/>
            <p:cNvSpPr/>
            <p:nvPr/>
          </p:nvSpPr>
          <p:spPr>
            <a:xfrm>
              <a:off x="2897000" y="2859175"/>
              <a:ext cx="1527900" cy="400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9"/>
            <p:cNvSpPr/>
            <p:nvPr/>
          </p:nvSpPr>
          <p:spPr>
            <a:xfrm>
              <a:off x="4424900" y="3343975"/>
              <a:ext cx="741300" cy="400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