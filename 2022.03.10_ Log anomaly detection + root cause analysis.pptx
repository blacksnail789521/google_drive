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B28DA0-5FD1-425B-A94F-EF772268244D}">
  <a:tblStyle styleId="{82B28DA0-5FD1-425B-A94F-EF77226824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14228b19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14228b19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439e00e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439e00e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4228b195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14228b195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9045a246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9045a24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439e00e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439e00e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1439e00e2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1439e00e2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439e00e21_1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11439e00e21_1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1439e00e21_12_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11439e00e21_1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195ffd1c58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1195ffd1c5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1439e00e21_12_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11439e00e21_12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439e00e21_12_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11439e00e21_12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439e00e21_12_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11439e00e21_12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1439e00e21_12_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11439e00e21_1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1439e00e21_12_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11439e00e21_12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439e00e21_12_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11439e00e21_12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439e00e21_12_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11439e00e21_12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439e00e21_12_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11439e00e21_12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439e00e21_12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11439e00e21_1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1439e00e21_12_1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11439e00e21_12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195ffd1c58_7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1195ffd1c58_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1439e00e21_12_2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11439e00e21_12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439e00e21_12_2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11439e00e21_12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1439e00e21_12_2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11439e00e21_12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1439e00e21_12_2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11439e00e21_12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1439e00e21_12_2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11439e00e21_12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1439e00e21_12_2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11439e00e21_12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1439e00e21_12_2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11439e00e21_12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1439e00e21_12_2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11439e00e21_12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1439e00e21_12_2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11439e00e21_12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1439e00e21_12_2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11439e00e21_12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39e00e21_12_2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11439e00e21_12_2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1439e00e21_12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11439e00e21_12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14228b195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14228b195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14228b195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114228b195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14228b195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14228b195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14228b195b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14228b195b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14228b195b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14228b195b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14228b195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14228b195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14228b195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14228b195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augmented normalizing flow 就是多了這個adjacency matrix 當作 condition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factorize  1 series domain -&gt; bayesian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	    2 temporal dimension -&gt; conditional normalizing flow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14228b195b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114228b195b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14228b195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14228b195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14228b195b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14228b195b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14228b195b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14228b195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14228b195b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14228b195b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14228b195b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14228b195b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14228b195b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114228b195b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14228b195b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14228b195b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14228b195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14228b195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14228b195b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14228b195b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14228b195b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114228b195b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14228b195b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14228b195b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14228b195b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14228b195b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14228b195b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14228b195b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14228b195b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14228b195b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14228b195b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14228b195b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14228b195b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14228b195b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14228b195b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14228b195b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14228b195b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14228b195b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SMAP and MSL are spacecraft datasets collected by NASA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TSA is a dataset collected from our own time-series anomaly detection system that processes time-series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TSA gathered two months metrics of services and hardwares from the Flink cluster of the system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14228b195b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14228b195b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14228b195b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14228b195b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14228b195b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114228b195b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2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2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5" name="Google Shape;115;p2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3.png"/><Relationship Id="rId13" Type="http://schemas.openxmlformats.org/officeDocument/2006/relationships/image" Target="../media/image21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Relationship Id="rId1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2022 JDP -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AI Detection and Causality Inferences for Fab Operations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7"/>
          <p:cNvSpPr txBox="1"/>
          <p:nvPr>
            <p:ph idx="1" type="subTitle"/>
          </p:nvPr>
        </p:nvSpPr>
        <p:spPr>
          <a:xfrm>
            <a:off x="727950" y="3205450"/>
            <a:ext cx="7688100" cy="6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Advisor: Wen-Chih Peng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Student: Zheng-Ming (Paul) Lin, Ching (Jason) Chang, (Ivan Kakhaev)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latin typeface="Calibri"/>
                <a:ea typeface="Calibri"/>
                <a:cs typeface="Calibri"/>
                <a:sym typeface="Calibri"/>
              </a:rPr>
              <a:t>Date: 2022/03/10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Paper Survey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Log anomaly detection -- log parsing, log mining, log dataset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Log anomaly detection with GNN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Root cause analysis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Paper Survey – </a:t>
            </a: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Log anomaly detection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025" y="976100"/>
            <a:ext cx="7203949" cy="416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</a:t>
            </a:r>
            <a:r>
              <a:rPr lang="zh-TW"/>
              <a:t>og Parsing, Log Mining, Log Dataset</a:t>
            </a:r>
            <a:endParaRPr/>
          </a:p>
        </p:txBody>
      </p:sp>
      <p:graphicFrame>
        <p:nvGraphicFramePr>
          <p:cNvPr id="163" name="Google Shape;163;p3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{82B28DA0-5FD1-425B-A94F-EF772268244D}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Log Parsing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Log Mining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Log Dataset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DRAIN,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Logram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LogCluster,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DeepLog, LogAnomaly,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GLAD-PAW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HDFS,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BGL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Paper Survey – Log anomaly detection with GNN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GLAD-PAW: Graph-Based Log Anomaly Detection by Position Aware Weighted Graph Attention Network [PAKDD 2021]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200">
                <a:latin typeface="Calibri"/>
                <a:ea typeface="Calibri"/>
                <a:cs typeface="Calibri"/>
                <a:sym typeface="Calibri"/>
              </a:rPr>
              <a:t>GLAD-PAW: Graph-Based Log Anomaly Detection by Position Aware Weighted Graph Attention Network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2"/>
          <p:cNvSpPr txBox="1"/>
          <p:nvPr>
            <p:ph idx="1" type="subTitle"/>
          </p:nvPr>
        </p:nvSpPr>
        <p:spPr>
          <a:xfrm>
            <a:off x="-96200" y="4434325"/>
            <a:ext cx="933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 sz="160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Wan, Yi, et al. "GLAD-PAW: Graph-Based Log Anomaly Detection by Position Aware Weighted Graph Attention Network." Pacific-Asia Conference on Knowledge Discovery and Data Mining. Springer, Cham, 2021.</a:t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Log Parsing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Most of the existing log mining tools require </a:t>
            </a:r>
            <a:r>
              <a:rPr lang="zh-TW">
                <a:solidFill>
                  <a:srgbClr val="FF0000"/>
                </a:solidFill>
              </a:rPr>
              <a:t>structured</a:t>
            </a:r>
            <a:r>
              <a:rPr lang="zh-TW"/>
              <a:t> input data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We need to parse the </a:t>
            </a:r>
            <a:r>
              <a:rPr lang="zh-TW">
                <a:solidFill>
                  <a:srgbClr val="FF0000"/>
                </a:solidFill>
              </a:rPr>
              <a:t>semi-structured</a:t>
            </a:r>
            <a:r>
              <a:rPr lang="zh-TW"/>
              <a:t> log messages into </a:t>
            </a:r>
            <a:r>
              <a:rPr lang="zh-TW">
                <a:solidFill>
                  <a:srgbClr val="FF0000"/>
                </a:solidFill>
              </a:rPr>
              <a:t>structured</a:t>
            </a:r>
            <a:r>
              <a:rPr lang="zh-TW"/>
              <a:t> log events</a:t>
            </a:r>
            <a:endParaRPr u="sng"/>
          </a:p>
        </p:txBody>
      </p:sp>
      <p:sp>
        <p:nvSpPr>
          <p:cNvPr id="183" name="Google Shape;183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9505" y="2389973"/>
            <a:ext cx="5604989" cy="251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Log Partition (or Session Creation)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Parsed logs are usually grouped by one of the three following windows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fixed window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sliding window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</a:pPr>
            <a:r>
              <a:rPr lang="zh-TW">
                <a:solidFill>
                  <a:srgbClr val="FF0000"/>
                </a:solidFill>
              </a:rPr>
              <a:t>session window</a:t>
            </a:r>
            <a:br>
              <a:rPr lang="zh-TW">
                <a:solidFill>
                  <a:srgbClr val="FF0000"/>
                </a:solidFill>
              </a:rPr>
            </a:br>
            <a:r>
              <a:rPr lang="zh-TW">
                <a:solidFill>
                  <a:srgbClr val="FF0000"/>
                </a:solidFill>
              </a:rPr>
              <a:t>(this paper)</a:t>
            </a:r>
            <a:endParaRPr/>
          </a:p>
        </p:txBody>
      </p:sp>
      <p:sp>
        <p:nvSpPr>
          <p:cNvPr id="191" name="Google Shape;191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6691" y="1829197"/>
            <a:ext cx="5847131" cy="28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100"/>
              <a:t>‹#›</a:t>
            </a:fld>
            <a:endParaRPr sz="1100"/>
          </a:p>
        </p:txBody>
      </p:sp>
      <p:sp>
        <p:nvSpPr>
          <p:cNvPr id="198" name="Google Shape;198;p35"/>
          <p:cNvSpPr txBox="1"/>
          <p:nvPr/>
        </p:nvSpPr>
        <p:spPr>
          <a:xfrm>
            <a:off x="3279615" y="1911413"/>
            <a:ext cx="4569737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L1, L2, L3, L4, L5, L6, L7, L8, L9, L10 </a:t>
            </a:r>
            <a:endParaRPr sz="1100"/>
          </a:p>
        </p:txBody>
      </p:sp>
      <p:sp>
        <p:nvSpPr>
          <p:cNvPr id="199" name="Google Shape;199;p35"/>
          <p:cNvSpPr txBox="1"/>
          <p:nvPr/>
        </p:nvSpPr>
        <p:spPr>
          <a:xfrm>
            <a:off x="3279615" y="3000860"/>
            <a:ext cx="4569737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v1, v2, v1, v3, v4, v1, v2, v4, v3, v3 </a:t>
            </a:r>
            <a:endParaRPr sz="1100"/>
          </a:p>
        </p:txBody>
      </p:sp>
      <p:sp>
        <p:nvSpPr>
          <p:cNvPr id="200" name="Google Shape;200;p35"/>
          <p:cNvSpPr txBox="1"/>
          <p:nvPr/>
        </p:nvSpPr>
        <p:spPr>
          <a:xfrm>
            <a:off x="3279614" y="2487854"/>
            <a:ext cx="4569737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b2, </a:t>
            </a:r>
            <a:r>
              <a:rPr lang="zh-TW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zh-TW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b2, </a:t>
            </a:r>
            <a:r>
              <a:rPr lang="zh-TW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b2, </a:t>
            </a:r>
            <a:r>
              <a:rPr lang="zh-TW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b2, b2 </a:t>
            </a:r>
            <a:endParaRPr sz="1100"/>
          </a:p>
        </p:txBody>
      </p:sp>
      <p:sp>
        <p:nvSpPr>
          <p:cNvPr id="201" name="Google Shape;201;p35"/>
          <p:cNvSpPr txBox="1"/>
          <p:nvPr/>
        </p:nvSpPr>
        <p:spPr>
          <a:xfrm>
            <a:off x="1364243" y="1911413"/>
            <a:ext cx="89007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Logs:</a:t>
            </a:r>
            <a:endParaRPr sz="1100"/>
          </a:p>
        </p:txBody>
      </p:sp>
      <p:sp>
        <p:nvSpPr>
          <p:cNvPr id="202" name="Google Shape;202;p35"/>
          <p:cNvSpPr txBox="1"/>
          <p:nvPr/>
        </p:nvSpPr>
        <p:spPr>
          <a:xfrm>
            <a:off x="1364243" y="3007019"/>
            <a:ext cx="1460438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Templates:</a:t>
            </a:r>
            <a:endParaRPr sz="1100"/>
          </a:p>
        </p:txBody>
      </p:sp>
      <p:sp>
        <p:nvSpPr>
          <p:cNvPr id="203" name="Google Shape;203;p35"/>
          <p:cNvSpPr txBox="1"/>
          <p:nvPr/>
        </p:nvSpPr>
        <p:spPr>
          <a:xfrm>
            <a:off x="1364243" y="2465265"/>
            <a:ext cx="1161673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Blocks:</a:t>
            </a:r>
            <a:endParaRPr sz="1100"/>
          </a:p>
        </p:txBody>
      </p:sp>
      <p:sp>
        <p:nvSpPr>
          <p:cNvPr id="204" name="Google Shape;204;p35"/>
          <p:cNvSpPr/>
          <p:nvPr/>
        </p:nvSpPr>
        <p:spPr>
          <a:xfrm>
            <a:off x="7075277" y="2157551"/>
            <a:ext cx="801232" cy="1045675"/>
          </a:xfrm>
          <a:prstGeom prst="arc">
            <a:avLst>
              <a:gd fmla="val 16200000" name="adj1"/>
              <a:gd fmla="val 5525711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5"/>
          <p:cNvSpPr/>
          <p:nvPr/>
        </p:nvSpPr>
        <p:spPr>
          <a:xfrm>
            <a:off x="1208638" y="2438368"/>
            <a:ext cx="6206150" cy="95490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3147776" y="3744824"/>
            <a:ext cx="2562697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v1, v1, v3, v1, v4</a:t>
            </a:r>
            <a:endParaRPr sz="1100"/>
          </a:p>
        </p:txBody>
      </p:sp>
      <p:sp>
        <p:nvSpPr>
          <p:cNvPr id="207" name="Google Shape;207;p35"/>
          <p:cNvSpPr txBox="1"/>
          <p:nvPr/>
        </p:nvSpPr>
        <p:spPr>
          <a:xfrm>
            <a:off x="3147776" y="4234770"/>
            <a:ext cx="2562697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b2: v2, v4, v2, v3, v3</a:t>
            </a:r>
            <a:endParaRPr sz="1100"/>
          </a:p>
        </p:txBody>
      </p:sp>
      <p:cxnSp>
        <p:nvCxnSpPr>
          <p:cNvPr id="208" name="Google Shape;208;p35"/>
          <p:cNvCxnSpPr>
            <a:stCxn id="205" idx="2"/>
          </p:cNvCxnSpPr>
          <p:nvPr/>
        </p:nvCxnSpPr>
        <p:spPr>
          <a:xfrm>
            <a:off x="4311713" y="3393275"/>
            <a:ext cx="0" cy="346200"/>
          </a:xfrm>
          <a:prstGeom prst="straightConnector1">
            <a:avLst/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9" name="Google Shape;209;p35"/>
          <p:cNvSpPr txBox="1"/>
          <p:nvPr/>
        </p:nvSpPr>
        <p:spPr>
          <a:xfrm>
            <a:off x="50925" y="4668890"/>
            <a:ext cx="8521575" cy="4134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5272" l="-1072" r="0" t="-9888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210" name="Google Shape;210;p35"/>
          <p:cNvSpPr txBox="1"/>
          <p:nvPr/>
        </p:nvSpPr>
        <p:spPr>
          <a:xfrm>
            <a:off x="6009803" y="3784331"/>
            <a:ext cx="2369179" cy="7155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3638" r="0" t="-5659"/>
            </a:stretch>
          </a:blip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211" name="Google Shape;211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Log Partition (or Session Creation)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Group events into session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Related Work – Log Anomaly Detection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Maching Learning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zh-TW" u="sng"/>
              <a:t>Principal component analysis (PCA)</a:t>
            </a:r>
            <a:r>
              <a:rPr lang="zh-TW"/>
              <a:t> constructs normal and abnormal subspaces, and computes the squared distance of the projection of event frequency vectors onto the anomaly subspace.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zh-TW" u="sng"/>
              <a:t>Invariant Mining</a:t>
            </a:r>
            <a:r>
              <a:rPr lang="zh-TW"/>
              <a:t> method tries to estimate the invariant space via singular value decomposition (SVD) on the input matrix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zh-TW" u="sng"/>
              <a:t>Log Clustering</a:t>
            </a:r>
            <a:r>
              <a:rPr lang="zh-TW"/>
              <a:t> clusters the logs to ease log-based problem identification and utilizes a knowledge base to check if the log sequences occurred before.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zh-TW" u="sng"/>
              <a:t>Isolation Forest</a:t>
            </a:r>
            <a:r>
              <a:rPr lang="zh-TW"/>
              <a:t> constructs isolation trees assuming that anomalies are more susceptible to isolation.</a:t>
            </a:r>
            <a:endParaRPr/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Related Work – Log Anomaly Detection</a:t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Deep Learning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zh-TW" u="sng"/>
              <a:t>DeepLog</a:t>
            </a:r>
            <a:r>
              <a:rPr lang="zh-TW"/>
              <a:t> models log sequences as natural language and utilize Long Short-Term Memory (LSTM) architecture to learn log patterns from normal executions.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i="1" lang="zh-TW" u="sng"/>
              <a:t>LogAnomaly</a:t>
            </a:r>
            <a:r>
              <a:rPr lang="zh-TW"/>
              <a:t> adds attention mechanism and frequency features to DeepLog</a:t>
            </a:r>
            <a:endParaRPr/>
          </a:p>
        </p:txBody>
      </p:sp>
      <p:sp>
        <p:nvSpPr>
          <p:cNvPr id="226" name="Google Shape;226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Related Work – GNN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GAT</a:t>
            </a:r>
            <a:endParaRPr/>
          </a:p>
        </p:txBody>
      </p:sp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4" name="Google Shape;2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050" y="1677075"/>
            <a:ext cx="7029151" cy="32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Problem Formulation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-230" t="-22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 </a:t>
            </a:r>
            <a:endParaRPr/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Problem Formulation</a:t>
            </a:r>
            <a:endParaRPr/>
          </a:p>
        </p:txBody>
      </p:sp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39" r="0" t="-223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 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The overall architecture of GLAD-PAW</a:t>
            </a:r>
            <a:endParaRPr/>
          </a:p>
        </p:txBody>
      </p:sp>
      <p:sp>
        <p:nvSpPr>
          <p:cNvPr id="254" name="Google Shape;254;p4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5" name="Google Shape;25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515" y="1682825"/>
            <a:ext cx="8650970" cy="22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Session Graph Construction</a:t>
            </a:r>
            <a:endParaRPr/>
          </a:p>
        </p:txBody>
      </p:sp>
      <p:sp>
        <p:nvSpPr>
          <p:cNvPr id="261" name="Google Shape;261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2"/>
          <p:cNvSpPr/>
          <p:nvPr/>
        </p:nvSpPr>
        <p:spPr>
          <a:xfrm>
            <a:off x="5445443" y="101852"/>
            <a:ext cx="652066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41" r="-56" t="-22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 </a:t>
            </a:r>
            <a:endParaRPr/>
          </a:p>
        </p:txBody>
      </p:sp>
      <p:pic>
        <p:nvPicPr>
          <p:cNvPr id="265" name="Google Shape;265;p42"/>
          <p:cNvPicPr preferRelativeResize="0"/>
          <p:nvPr/>
        </p:nvPicPr>
        <p:blipFill rotWithShape="1">
          <a:blip r:embed="rId5">
            <a:alphaModFix/>
          </a:blip>
          <a:srcRect b="25435" l="8337" r="68952" t="25471"/>
          <a:stretch/>
        </p:blipFill>
        <p:spPr>
          <a:xfrm>
            <a:off x="5571842" y="1780703"/>
            <a:ext cx="1914808" cy="1582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PAWGAT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2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 </a:t>
            </a:r>
            <a:endParaRPr/>
          </a:p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73" name="Google Shape;27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3"/>
          <p:cNvSpPr/>
          <p:nvPr/>
        </p:nvSpPr>
        <p:spPr>
          <a:xfrm>
            <a:off x="6104079" y="101852"/>
            <a:ext cx="1337870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PAWGAT</a:t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2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 </a:t>
            </a:r>
            <a:endParaRPr/>
          </a:p>
        </p:txBody>
      </p:sp>
      <p:sp>
        <p:nvSpPr>
          <p:cNvPr id="281" name="Google Shape;281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82" name="Google Shape;28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4"/>
          <p:cNvSpPr/>
          <p:nvPr/>
        </p:nvSpPr>
        <p:spPr>
          <a:xfrm>
            <a:off x="6104079" y="101852"/>
            <a:ext cx="1337870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4"/>
          <p:cNvSpPr txBox="1"/>
          <p:nvPr/>
        </p:nvSpPr>
        <p:spPr>
          <a:xfrm>
            <a:off x="3176352" y="3168725"/>
            <a:ext cx="2018075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v1, v3, v4, v2, v3, v3, </a:t>
            </a:r>
            <a:r>
              <a:rPr lang="zh-TW" sz="15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v2</a:t>
            </a:r>
            <a:endParaRPr sz="1100"/>
          </a:p>
        </p:txBody>
      </p:sp>
      <p:sp>
        <p:nvSpPr>
          <p:cNvPr id="285" name="Google Shape;285;p44"/>
          <p:cNvSpPr txBox="1"/>
          <p:nvPr/>
        </p:nvSpPr>
        <p:spPr>
          <a:xfrm>
            <a:off x="5557697" y="2822476"/>
            <a:ext cx="431171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v1: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v2: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v3: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v4:</a:t>
            </a:r>
            <a:endParaRPr sz="150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4"/>
          <p:cNvSpPr txBox="1"/>
          <p:nvPr/>
        </p:nvSpPr>
        <p:spPr>
          <a:xfrm>
            <a:off x="5888714" y="3284257"/>
            <a:ext cx="27330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5888714" y="3057919"/>
            <a:ext cx="27330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4"/>
          <p:cNvSpPr txBox="1"/>
          <p:nvPr/>
        </p:nvSpPr>
        <p:spPr>
          <a:xfrm>
            <a:off x="5888714" y="3510596"/>
            <a:ext cx="27330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4"/>
          <p:cNvSpPr txBox="1"/>
          <p:nvPr/>
        </p:nvSpPr>
        <p:spPr>
          <a:xfrm>
            <a:off x="5888714" y="2822123"/>
            <a:ext cx="273301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PAWGAT</a:t>
            </a:r>
            <a:endParaRPr/>
          </a:p>
        </p:txBody>
      </p:sp>
      <p:sp>
        <p:nvSpPr>
          <p:cNvPr id="295" name="Google Shape;295;p4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18" l="-1039" r="-1339" t="-223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96" name="Google Shape;296;p4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97" name="Google Shape;29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5"/>
          <p:cNvSpPr/>
          <p:nvPr/>
        </p:nvSpPr>
        <p:spPr>
          <a:xfrm>
            <a:off x="6104079" y="101852"/>
            <a:ext cx="1337870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100"/>
              <a:t>‹#›</a:t>
            </a:fld>
            <a:endParaRPr sz="1100"/>
          </a:p>
        </p:txBody>
      </p:sp>
      <p:pic>
        <p:nvPicPr>
          <p:cNvPr id="304" name="Google Shape;30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6"/>
          <p:cNvSpPr/>
          <p:nvPr/>
        </p:nvSpPr>
        <p:spPr>
          <a:xfrm>
            <a:off x="6104079" y="101852"/>
            <a:ext cx="1337870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587" y="1847690"/>
            <a:ext cx="2528759" cy="333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587" y="2283922"/>
            <a:ext cx="3226623" cy="524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7685" y="2775023"/>
            <a:ext cx="4700076" cy="627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086" y="3540224"/>
            <a:ext cx="2515128" cy="770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4090" y="4251991"/>
            <a:ext cx="2815034" cy="811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4333" y="1765042"/>
            <a:ext cx="1614713" cy="378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21942" y="2231375"/>
            <a:ext cx="2900768" cy="49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21942" y="2724363"/>
            <a:ext cx="3722058" cy="71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28732" y="3486648"/>
            <a:ext cx="1786186" cy="793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442311" y="4310463"/>
            <a:ext cx="2157713" cy="70733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6"/>
          <p:cNvSpPr/>
          <p:nvPr/>
        </p:nvSpPr>
        <p:spPr>
          <a:xfrm>
            <a:off x="2204760" y="1894867"/>
            <a:ext cx="402638" cy="276349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6"/>
          <p:cNvSpPr txBox="1"/>
          <p:nvPr/>
        </p:nvSpPr>
        <p:spPr>
          <a:xfrm>
            <a:off x="2002583" y="1158732"/>
            <a:ext cx="3109512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only difference: here they also consider the edge’s weight</a:t>
            </a:r>
            <a:endParaRPr sz="1100"/>
          </a:p>
        </p:txBody>
      </p:sp>
      <p:pic>
        <p:nvPicPr>
          <p:cNvPr id="318" name="Google Shape;318;p46"/>
          <p:cNvPicPr preferRelativeResize="0"/>
          <p:nvPr/>
        </p:nvPicPr>
        <p:blipFill rotWithShape="1">
          <a:blip r:embed="rId14">
            <a:alphaModFix/>
          </a:blip>
          <a:srcRect b="0" l="0" r="58472" t="0"/>
          <a:stretch/>
        </p:blipFill>
        <p:spPr>
          <a:xfrm>
            <a:off x="162734" y="2363932"/>
            <a:ext cx="2061570" cy="2325459"/>
          </a:xfrm>
          <a:prstGeom prst="rect">
            <a:avLst/>
          </a:prstGeom>
          <a:noFill/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46"/>
          <p:cNvPicPr preferRelativeResize="0"/>
          <p:nvPr/>
        </p:nvPicPr>
        <p:blipFill rotWithShape="1">
          <a:blip r:embed="rId14">
            <a:alphaModFix/>
          </a:blip>
          <a:srcRect b="0" l="42144" r="0" t="0"/>
          <a:stretch/>
        </p:blipFill>
        <p:spPr>
          <a:xfrm>
            <a:off x="2367955" y="2372974"/>
            <a:ext cx="2872241" cy="2325459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0" name="Google Shape;320;p46"/>
          <p:cNvSpPr/>
          <p:nvPr/>
        </p:nvSpPr>
        <p:spPr>
          <a:xfrm>
            <a:off x="5421943" y="4295207"/>
            <a:ext cx="2190179" cy="74589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6"/>
          <p:cNvSpPr/>
          <p:nvPr/>
        </p:nvSpPr>
        <p:spPr>
          <a:xfrm>
            <a:off x="5408390" y="1788802"/>
            <a:ext cx="3663183" cy="2463189"/>
          </a:xfrm>
          <a:prstGeom prst="roundRect">
            <a:avLst>
              <a:gd fmla="val 8948" name="adj"/>
            </a:avLst>
          </a:prstGeom>
          <a:noFill/>
          <a:ln cap="flat" cmpd="sng" w="381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PAWGAT</a:t>
            </a:r>
            <a:endParaRPr/>
          </a:p>
        </p:txBody>
      </p:sp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194086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In this Paper</a:t>
            </a:r>
            <a:endParaRPr/>
          </a:p>
        </p:txBody>
      </p:sp>
      <p:sp>
        <p:nvSpPr>
          <p:cNvPr id="324" name="Google Shape;324;p46"/>
          <p:cNvSpPr txBox="1"/>
          <p:nvPr>
            <p:ph idx="2" type="body"/>
          </p:nvPr>
        </p:nvSpPr>
        <p:spPr>
          <a:xfrm>
            <a:off x="5396429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GAT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Session Embeddings</a:t>
            </a:r>
            <a:endParaRPr/>
          </a:p>
        </p:txBody>
      </p:sp>
      <p:sp>
        <p:nvSpPr>
          <p:cNvPr id="330" name="Google Shape;330;p4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-22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331" name="Google Shape;331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32" name="Google Shape;33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7"/>
          <p:cNvSpPr/>
          <p:nvPr/>
        </p:nvSpPr>
        <p:spPr>
          <a:xfrm>
            <a:off x="7373820" y="101852"/>
            <a:ext cx="448374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Session Embeddings</a:t>
            </a:r>
            <a:endParaRPr/>
          </a:p>
        </p:txBody>
      </p:sp>
      <p:sp>
        <p:nvSpPr>
          <p:cNvPr id="339" name="Google Shape;339;p4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-288" t="-224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 </a:t>
            </a:r>
            <a:endParaRPr/>
          </a:p>
        </p:txBody>
      </p:sp>
      <p:sp>
        <p:nvSpPr>
          <p:cNvPr id="340" name="Google Shape;340;p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41" name="Google Shape;34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8"/>
          <p:cNvSpPr/>
          <p:nvPr/>
        </p:nvSpPr>
        <p:spPr>
          <a:xfrm>
            <a:off x="7373820" y="101852"/>
            <a:ext cx="448374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2193" y="1875046"/>
            <a:ext cx="4572638" cy="835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Prediction and </a:t>
            </a:r>
            <a:br>
              <a:rPr lang="zh-TW"/>
            </a:br>
            <a:r>
              <a:rPr lang="zh-TW"/>
              <a:t>Anomaly Detection</a:t>
            </a:r>
            <a:endParaRPr/>
          </a:p>
        </p:txBody>
      </p:sp>
      <p:sp>
        <p:nvSpPr>
          <p:cNvPr id="349" name="Google Shape;349;p49"/>
          <p:cNvSpPr txBox="1"/>
          <p:nvPr>
            <p:ph idx="1" type="body"/>
          </p:nvPr>
        </p:nvSpPr>
        <p:spPr>
          <a:xfrm>
            <a:off x="628650" y="1369219"/>
            <a:ext cx="7886700" cy="35004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-462" t="-1566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 </a:t>
            </a:r>
            <a:endParaRPr/>
          </a:p>
        </p:txBody>
      </p:sp>
      <p:sp>
        <p:nvSpPr>
          <p:cNvPr id="350" name="Google Shape;350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51" name="Google Shape;35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9"/>
          <p:cNvSpPr/>
          <p:nvPr/>
        </p:nvSpPr>
        <p:spPr>
          <a:xfrm>
            <a:off x="7774432" y="101852"/>
            <a:ext cx="1256400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4410" y="2491055"/>
            <a:ext cx="1582486" cy="56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64410" y="3593318"/>
            <a:ext cx="1832801" cy="406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Prediction and </a:t>
            </a:r>
            <a:br>
              <a:rPr lang="zh-TW"/>
            </a:br>
            <a:r>
              <a:rPr lang="zh-TW"/>
              <a:t>Anomaly Detection</a:t>
            </a:r>
            <a:endParaRPr/>
          </a:p>
        </p:txBody>
      </p:sp>
      <p:sp>
        <p:nvSpPr>
          <p:cNvPr id="360" name="Google Shape;360;p50"/>
          <p:cNvSpPr txBox="1"/>
          <p:nvPr>
            <p:ph idx="1" type="body"/>
          </p:nvPr>
        </p:nvSpPr>
        <p:spPr>
          <a:xfrm>
            <a:off x="628650" y="1369219"/>
            <a:ext cx="7886700" cy="35004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-810" t="-2088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 </a:t>
            </a:r>
            <a:endParaRPr/>
          </a:p>
        </p:txBody>
      </p:sp>
      <p:sp>
        <p:nvSpPr>
          <p:cNvPr id="361" name="Google Shape;361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62" name="Google Shape;36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0754" y="0"/>
            <a:ext cx="3773246" cy="99417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0"/>
          <p:cNvSpPr/>
          <p:nvPr/>
        </p:nvSpPr>
        <p:spPr>
          <a:xfrm>
            <a:off x="7774432" y="101852"/>
            <a:ext cx="1256400" cy="83518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Evaluation</a:t>
            </a:r>
            <a:endParaRPr/>
          </a:p>
        </p:txBody>
      </p:sp>
      <p:sp>
        <p:nvSpPr>
          <p:cNvPr id="369" name="Google Shape;369;p5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Does GLAD-PAW achieve the state-of-the-art performance?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How does PAWGAT layer work for anomaly detection problem com-pared with other graph layers (including ablation test)?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How do the key hyperparameters affect model performance, such as the graph layer and number of heads?</a:t>
            </a:r>
            <a:endParaRPr/>
          </a:p>
        </p:txBody>
      </p:sp>
      <p:sp>
        <p:nvSpPr>
          <p:cNvPr id="370" name="Google Shape;370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Dataset</a:t>
            </a:r>
            <a:endParaRPr/>
          </a:p>
        </p:txBody>
      </p:sp>
      <p:sp>
        <p:nvSpPr>
          <p:cNvPr id="376" name="Google Shape;376;p5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HDFS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HDFS dataset is generated and collected from Amazon EC2 platform through running Hadoop-based map-reduce jobs.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BGL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BGL dataset is Blue Gene/L supercomputer system logs, which consists of 128K processors and is deployed at Lawrence Livermore National Laboratory (LLNL)</a:t>
            </a:r>
            <a:endParaRPr/>
          </a:p>
        </p:txBody>
      </p:sp>
      <p:sp>
        <p:nvSpPr>
          <p:cNvPr id="377" name="Google Shape;377;p5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78" name="Google Shape;37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772" y="3635914"/>
            <a:ext cx="7402456" cy="1233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Things to be aware of</a:t>
            </a:r>
            <a:endParaRPr/>
          </a:p>
        </p:txBody>
      </p:sp>
      <p:sp>
        <p:nvSpPr>
          <p:cNvPr id="384" name="Google Shape;384;p5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They randomly take 80% of normal sessions as training data and the rest 20% normal sessions along with all abnormal sessions as test data.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Since anomalies are rare in real life, instead of using Accuracy (very likely to achieve values close to 1), they use </a:t>
            </a:r>
            <a:r>
              <a:rPr lang="zh-TW">
                <a:solidFill>
                  <a:srgbClr val="FF0000"/>
                </a:solidFill>
              </a:rPr>
              <a:t>Precision, Recall and F1-measure</a:t>
            </a:r>
            <a:r>
              <a:rPr lang="zh-TW"/>
              <a:t> as the evaluation metrics in their experiments.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BGL dataset contains a number of </a:t>
            </a:r>
            <a:r>
              <a:rPr lang="zh-TW">
                <a:solidFill>
                  <a:srgbClr val="FF0000"/>
                </a:solidFill>
              </a:rPr>
              <a:t>out-of-vocabulary (OOV) events</a:t>
            </a:r>
            <a:r>
              <a:rPr lang="zh-TW"/>
              <a:t>, which are events that have never seen in the training set.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385" name="Google Shape;385;p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Comparison with Baseline Models</a:t>
            </a:r>
            <a:endParaRPr/>
          </a:p>
        </p:txBody>
      </p:sp>
      <p:pic>
        <p:nvPicPr>
          <p:cNvPr id="391" name="Google Shape;391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685" y="1643468"/>
            <a:ext cx="6694628" cy="271500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Comparison with Other GNN Layers</a:t>
            </a:r>
            <a:endParaRPr/>
          </a:p>
        </p:txBody>
      </p:sp>
      <p:sp>
        <p:nvSpPr>
          <p:cNvPr id="398" name="Google Shape;398;p5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99" name="Google Shape;3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075" y="1429679"/>
            <a:ext cx="6912542" cy="3385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Parameter Sensitivity</a:t>
            </a:r>
            <a:endParaRPr/>
          </a:p>
        </p:txBody>
      </p:sp>
      <p:sp>
        <p:nvSpPr>
          <p:cNvPr id="405" name="Google Shape;405;p5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Number of layers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Number of heads</a:t>
            </a:r>
            <a:endParaRPr/>
          </a:p>
        </p:txBody>
      </p:sp>
      <p:sp>
        <p:nvSpPr>
          <p:cNvPr id="406" name="Google Shape;406;p5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07" name="Google Shape;4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0379" y="1189086"/>
            <a:ext cx="5185763" cy="3578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Conclusion</a:t>
            </a:r>
            <a:endParaRPr/>
          </a:p>
        </p:txBody>
      </p:sp>
      <p:sp>
        <p:nvSpPr>
          <p:cNvPr id="413" name="Google Shape;413;p5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P</a:t>
            </a:r>
            <a:r>
              <a:rPr b="0" i="0" lang="zh-TW"/>
              <a:t>ropose a novel architecture GLAD-PAW for log-based anomaly detection that incorporates graph models in representing log sessions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GLAD-PAW constructs directed session graphs from log records and applies a novel position aware weighted graph attention network (PAWGAT) to generate informative representations for all events.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Extensive evaluation on large system logs have clearly demonstrated the superior effectiveness of GLAD-PAW compared with previous methods.</a:t>
            </a:r>
            <a:endParaRPr/>
          </a:p>
        </p:txBody>
      </p:sp>
      <p:sp>
        <p:nvSpPr>
          <p:cNvPr id="414" name="Google Shape;414;p5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zh-TW"/>
              <a:t>My opinions</a:t>
            </a:r>
            <a:endParaRPr/>
          </a:p>
        </p:txBody>
      </p:sp>
      <p:sp>
        <p:nvSpPr>
          <p:cNvPr id="420" name="Google Shape;420;p58"/>
          <p:cNvSpPr txBox="1"/>
          <p:nvPr>
            <p:ph idx="1" type="body"/>
          </p:nvPr>
        </p:nvSpPr>
        <p:spPr>
          <a:xfrm>
            <a:off x="628650" y="1369218"/>
            <a:ext cx="7886700" cy="3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Pros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The very first paper to use GNN in log anomaly detection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It uses the unsupervised manner to train the model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They consider the position information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TW"/>
              <a:t>Cons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It’s an offline method (must have the “event bank”, so it cannot deal with unseen events)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Didn’t try other log parsing techniques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Didn’t consider the most important hyperparameters N in their experiments</a:t>
            </a:r>
            <a:endParaRPr/>
          </a:p>
          <a:p>
            <a:pPr indent="-1778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zh-TW"/>
              <a:t>They only use normal sessions to train the model, which is not right under the unsupervised premise</a:t>
            </a:r>
            <a:endParaRPr/>
          </a:p>
          <a:p>
            <a:pPr indent="-635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21" name="Google Shape;421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Paper Survey – Root cause analysis 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AutoMAP: Diagnose Your Microservice-based Web Applications Automatically [WWW 2020]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CloudRCA: A Root Cause Analysis Framework for Cloud Computing Platforms     [CIKM 2021]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200">
                <a:latin typeface="Calibri"/>
                <a:ea typeface="Calibri"/>
                <a:cs typeface="Calibri"/>
                <a:sym typeface="Calibri"/>
              </a:rPr>
              <a:t>AutoMAP: Diagnose Your Microservice-based Web Applications Automatically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Meng Ma, Jingmin Xu, Yuan Wang, Pengfei Chen, Zonghua Zhang, Ping Wang</a:t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WWW 2020</a:t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600"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121" y="1313646"/>
            <a:ext cx="4922550" cy="21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62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 anomaly propagation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type of metric is not enough to characterize the anomalies occur in diverse services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63"/>
          <p:cNvSpPr txBox="1"/>
          <p:nvPr>
            <p:ph idx="1" type="body"/>
          </p:nvPr>
        </p:nvSpPr>
        <p:spPr>
          <a:xfrm>
            <a:off x="311700" y="1152475"/>
            <a:ext cx="51168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ront-end service 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v(fe) ∈ V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during the incident 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period ℓ</a:t>
            </a:r>
            <a:endParaRPr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|V| = n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number of services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service has 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types of metrics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 ∈ 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 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l</a:t>
            </a:r>
            <a:endParaRPr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identify 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a set of services v(rc) ⊂ V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causes the observed anomaly in v(fe)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aseline="30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457" name="Google Shape;45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875" y="1909988"/>
            <a:ext cx="3805274" cy="186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600"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9" name="Google Shape;46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AutoMAP Framework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01" y="1152473"/>
            <a:ext cx="3927000" cy="351778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>
            <p:ph idx="4294967295" type="body"/>
          </p:nvPr>
        </p:nvSpPr>
        <p:spPr>
          <a:xfrm>
            <a:off x="4226350" y="1152475"/>
            <a:ext cx="4794900" cy="3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P1: Select a sampling interval parameter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P2: Construct the anomaly behavior graph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P3: Extract the profile of anomaly using “+” and “−” operations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P4: Conduct root cause detection algorithm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P5: Verify the result and calculate the precision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P6: Update the metric-weight matrix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baseline="30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Select sampling interval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8" name="Google Shape;478;p66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may produce redundant fluctuatuions due to sampling too frequently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effective metric changes will be lost because of a larger interval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compute the interval by a frequency-weighted average of request interval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25" y="2281675"/>
            <a:ext cx="51812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Behavior Graph Construction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6" name="Google Shape;486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Step1: Generate a complete, undirected and fully weighted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i,j,k = 1 for ∀ i, j ∈ [1, n] and ∀ k ∈ [1, m]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Step2: For each type of metric </a:t>
            </a:r>
            <a:r>
              <a:rPr lang="zh-TW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aseline="-25000" lang="zh-TW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test conditional indepedence of any pairs of vi, vj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W i,j,k = 0 if they are conditional indepedence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Step3: Remove edge e i,j  if W i,j,k = 0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Step4: Orientation test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625" y="2400225"/>
            <a:ext cx="3788976" cy="22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3675750"/>
            <a:ext cx="4371600" cy="7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Addition Operation and Subtraction Operation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5" name="Google Shape;495;p68"/>
          <p:cNvSpPr txBox="1"/>
          <p:nvPr>
            <p:ph idx="1" type="body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any prior knowledge, it’s a challenge to classify various services according to their characteristics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multiple historical observations of metrics in normal status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Aggregate the behavior graphs using normal metrics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small number of services contribute to the anomaly propagation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the redundant correlations from the behavior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275" y="2462175"/>
            <a:ext cx="4572000" cy="8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275" y="4070000"/>
            <a:ext cx="4572001" cy="194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3275" y="4301048"/>
            <a:ext cx="4501862" cy="8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400" y="2732447"/>
            <a:ext cx="4046088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Root Cause detection algorithm 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6" name="Google Shape;506;p69"/>
          <p:cNvSpPr txBox="1"/>
          <p:nvPr>
            <p:ph idx="1" type="body"/>
          </p:nvPr>
        </p:nvSpPr>
        <p:spPr>
          <a:xfrm>
            <a:off x="311700" y="1126850"/>
            <a:ext cx="8520600" cy="40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correlation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walk algorithm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Transition: A random visitor walks from service vi to vj with probability pi,j if eij = 1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 Transition: The visitor to stay longer on its currently-visiting service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Backward Transition: The visitor is visiting a particular service with low correlation score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400" y="1555300"/>
            <a:ext cx="5764200" cy="63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399" y="3548999"/>
            <a:ext cx="31291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6397" y="4484125"/>
            <a:ext cx="156391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6" name="Google Shape;516;p70"/>
          <p:cNvSpPr txBox="1"/>
          <p:nvPr>
            <p:ph idx="1" type="body"/>
          </p:nvPr>
        </p:nvSpPr>
        <p:spPr>
          <a:xfrm>
            <a:off x="311700" y="1152475"/>
            <a:ext cx="8709600" cy="3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type of metric is not enough to characterize the anomalies occur in diverse services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behavior graph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random walk to determine which service is root cause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200">
                <a:latin typeface="Calibri"/>
                <a:ea typeface="Calibri"/>
                <a:cs typeface="Calibri"/>
                <a:sym typeface="Calibri"/>
              </a:rPr>
              <a:t>CloudRCA: A Root Cause Analysis Framework for Cloud Computing Platforms 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7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Yingying Zhang</a:t>
            </a:r>
            <a:r>
              <a:rPr lang="zh-TW" sz="160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, Zhengxiong Guan, Huajie Qian, Leili Xu, Hengbo Liu, Qingsong Wen, Liang Sun, Junwei Jiang, Lunting Fan, Min Ke</a:t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zh-TW" sz="160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CIKM 2021</a:t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600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600"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73"/>
          <p:cNvSpPr txBox="1"/>
          <p:nvPr>
            <p:ph idx="1" type="body"/>
          </p:nvPr>
        </p:nvSpPr>
        <p:spPr>
          <a:xfrm>
            <a:off x="313200" y="1152525"/>
            <a:ext cx="80124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limited coverage of log features makes it difficult for log-based methods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analysis-based methods don’t consider the topology of infrastructures and other domain knowledge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 </a:t>
            </a:r>
            <a:r>
              <a:rPr lang="zh-TW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N constituent series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zh-TW">
                <a:solidFill>
                  <a:schemeClr val="dk1"/>
                </a:solidFill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D attributes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of </a:t>
            </a:r>
            <a:r>
              <a:rPr lang="zh-TW">
                <a:solidFill>
                  <a:schemeClr val="dk1"/>
                </a:solidFill>
                <a:highlight>
                  <a:srgbClr val="EAD1DC"/>
                </a:highlight>
                <a:latin typeface="Calibri"/>
                <a:ea typeface="Calibri"/>
                <a:cs typeface="Calibri"/>
                <a:sym typeface="Calibri"/>
              </a:rPr>
              <a:t>length T</a:t>
            </a:r>
            <a:endParaRPr>
              <a:solidFill>
                <a:schemeClr val="dk1"/>
              </a:solidFill>
              <a:highlight>
                <a:srgbClr val="EAD1D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(X1 , X2 , . . . , Xn)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Xi ∈ R </a:t>
            </a:r>
            <a:r>
              <a:rPr baseline="30000"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×T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A set of T</a:t>
            </a:r>
            <a:r>
              <a:rPr baseline="-25000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labels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y(t) ∈ { 0, 1 }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aseline="30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44" name="Google Shape;5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771" y="2255209"/>
            <a:ext cx="2469750" cy="12109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74"/>
          <p:cNvSpPr txBox="1"/>
          <p:nvPr/>
        </p:nvSpPr>
        <p:spPr>
          <a:xfrm>
            <a:off x="4083650" y="2660575"/>
            <a:ext cx="11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 attribute</a:t>
            </a:r>
            <a:endParaRPr/>
          </a:p>
        </p:txBody>
      </p:sp>
      <p:sp>
        <p:nvSpPr>
          <p:cNvPr id="546" name="Google Shape;546;p74"/>
          <p:cNvSpPr txBox="1"/>
          <p:nvPr/>
        </p:nvSpPr>
        <p:spPr>
          <a:xfrm>
            <a:off x="5836725" y="3536675"/>
            <a:ext cx="11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 length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600"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675" y="819500"/>
            <a:ext cx="6566650" cy="42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9" name="Google Shape;559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CloudRCA Framework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Metric Anomaly Detection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6" name="Google Shape;566;p77"/>
          <p:cNvSpPr txBox="1"/>
          <p:nvPr>
            <p:ph idx="1" type="body"/>
          </p:nvPr>
        </p:nvSpPr>
        <p:spPr>
          <a:xfrm>
            <a:off x="311700" y="1180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detect periodicity, apply a simplified RobustPeriod algorithm[1]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Adopt wavelet transform to isolate single periodicity and then identifies the exact period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Decompose the time series into trend, seasonality, and remainder components by RobustSTL[2]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 the trend components by solving a regression problem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Estimates the seasonality component with a non-local seasonal filtering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decomposed time series, the author identify those anomalies in a “divide-and-conquer” manner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77"/>
          <p:cNvSpPr txBox="1"/>
          <p:nvPr/>
        </p:nvSpPr>
        <p:spPr>
          <a:xfrm>
            <a:off x="475650" y="4028050"/>
            <a:ext cx="8192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Qingsong Wen, Kai He, Liang Sun, Yingying Zhang, Min Ke, and Huan Xu. 2021. RobustPeriod: Robust Time-Frequency Mining for Multiple Periodicity Detection. In Proceedings of the 2021 International Conference on Management of Data (SIGMOD)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[2] Qingsong Wen, Jingkun Gao, Xiaomin Song, Liang Sun, Huan Xu, and Shenghuo Zhu. 2019. RobustSTL: A robust seasonal-trend decomposition algorithm for long time series. In Proceedings of the AAAI Conference on Artificial Intelligence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8" name="Google Shape;56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950" y="3551475"/>
            <a:ext cx="6346101" cy="1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Log Templates Extraction and Clustering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5" name="Google Shape;575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Adaptive Frequent Template tree based on FT-tree[1] to obtain log templates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dictionaries to store children of nodes instead of lists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number of leaves of a node for pruning instead of the number of children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them by the semantics with NLP algorithms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Word2vec to obtain vector-representations of the logs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hirearchical clustering based on the cosine similarity to aggregate logs into different clusters, which the author call log patterns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78"/>
          <p:cNvSpPr txBox="1"/>
          <p:nvPr/>
        </p:nvSpPr>
        <p:spPr>
          <a:xfrm>
            <a:off x="345450" y="4568875"/>
            <a:ext cx="8453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[1] Shenglin Zhang, Ying Liu, Weibin Meng, Zhiling Luo, Jiahao Bu, Sen Yang, Peixian Liang, Dan Pei, Jun Xu, Yuzhi Zhang, et al. 2018. Prefix: Switch failure prediction in datacenter networks. Proceedings of the ACM on Measurement and Analysis of Computing Systems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175" y="3947196"/>
            <a:ext cx="3063375" cy="71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Clustering algorithm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4" name="Google Shape;584;p79"/>
          <p:cNvSpPr txBox="1"/>
          <p:nvPr>
            <p:ph idx="1" type="body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First, conduct a offline training to obtain clusters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a representative log by choosing the center of the cluster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a score for each log in a cluster based on its average distance to other logs within the same cluster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online mode, when a new log s comes, compute the similarity of the input log s with the representatives of existing clusters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similarity is above a threshold 𝜃, assign the input log to the cluster with the greatest similarity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■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Threshold can be calculated as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 create a new cluster for 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5" name="Google Shape;58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0175" y="2255988"/>
            <a:ext cx="3277399" cy="6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Configuration Management Database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2" name="Google Shape;592;p80"/>
          <p:cNvSpPr txBox="1"/>
          <p:nvPr>
            <p:ph idx="1" type="body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addition to logs and monitoring metrics, the author also have tree-based data stored in Configuration Management Database(CMDB)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Complicated depedency relationships between modules and root cause types for issue-tracking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 the logging and monitoring data into standard feature 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time series for log patterns indicating whether a certain log pattern appears (marked 1) or not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monitoring item is marked 1 if it’s deemed as an anomaly by the algorithm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Knowledge-informed Hierarchical Bayesian Network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9" name="Google Shape;599;p81"/>
          <p:cNvSpPr txBox="1"/>
          <p:nvPr>
            <p:ph idx="1" type="body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0" name="Google Shape;60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234" y="1061350"/>
            <a:ext cx="5349533" cy="39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Knowledge-informed Hierarchical Bayesian Network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07" name="Google Shape;607;p82"/>
          <p:cNvSpPr txBox="1"/>
          <p:nvPr>
            <p:ph idx="1" type="body"/>
          </p:nvPr>
        </p:nvSpPr>
        <p:spPr>
          <a:xfrm>
            <a:off x="311700" y="1152475"/>
            <a:ext cx="8520600" cy="37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Causal relationship between nodes are constructed based on system metrics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PC algorithm[1]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topology information from CMDB to generate the edge between nodes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alculate the conditional probability table of each node using the maximum likelihood estimate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system fails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those feature data into KHBN model  trained with historical data,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the node from the root cause types layer with the highest probability as the root cause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82"/>
          <p:cNvSpPr txBox="1"/>
          <p:nvPr/>
        </p:nvSpPr>
        <p:spPr>
          <a:xfrm>
            <a:off x="172800" y="4600675"/>
            <a:ext cx="87984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lang="zh-TW" sz="1200">
                <a:latin typeface="Calibri"/>
                <a:ea typeface="Calibri"/>
                <a:cs typeface="Calibri"/>
                <a:sym typeface="Calibri"/>
              </a:rPr>
              <a:t>Ping Wang, Jingmin Xu, Meng Ma, Weilan Lin, Disheng Pan, Yuan Wang, and Pengfei Chen. 2018. Cloudranger: Root cause identification for cloud native systems. In 2018 18th IEEE/ACM International Symposium on Cluster, Cloud and Grid Computing (CCGRID)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125" y="3712288"/>
            <a:ext cx="618172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600"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22" name="Google Shape;622;p84"/>
          <p:cNvSpPr txBox="1"/>
          <p:nvPr>
            <p:ph idx="1" type="body"/>
          </p:nvPr>
        </p:nvSpPr>
        <p:spPr>
          <a:xfrm>
            <a:off x="311700" y="1152475"/>
            <a:ext cx="436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Big data cloud computing platforms of Alibaba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MaxCompute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Realtime Compute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Hologres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zh-TW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Data over the past five years, including time series metrics, logs and tree-based data from CMDB, are collected from each platform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81938"/>
            <a:ext cx="4449150" cy="33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System Modules and Corresponding Root Cause Types of the Three Platforms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30" name="Google Shape;63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950" y="1322525"/>
            <a:ext cx="574807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820">
                <a:latin typeface="Calibri"/>
                <a:ea typeface="Calibri"/>
                <a:cs typeface="Calibri"/>
                <a:sym typeface="Calibri"/>
              </a:rPr>
              <a:t>Performance of RCA methods</a:t>
            </a:r>
            <a:endParaRPr sz="28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37" name="Google Shape;63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388" y="1322525"/>
            <a:ext cx="67260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4" name="Google Shape;644;p87"/>
          <p:cNvSpPr txBox="1"/>
          <p:nvPr>
            <p:ph idx="1" type="body"/>
          </p:nvPr>
        </p:nvSpPr>
        <p:spPr>
          <a:xfrm>
            <a:off x="311700" y="1152475"/>
            <a:ext cx="8709600" cy="3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limited coverage of log features makes it difficult for log-based methods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analysis-based methods don’t consider domain knowledge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metric and log feature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them with Configuration Management Database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zh-TW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KHBN performs better than other methods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